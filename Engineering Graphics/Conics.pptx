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gif" ContentType="image/gif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udio/unknown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411" r:id="rId2"/>
    <p:sldId id="412" r:id="rId3"/>
    <p:sldId id="413" r:id="rId4"/>
    <p:sldId id="260" r:id="rId5"/>
    <p:sldId id="256" r:id="rId6"/>
    <p:sldId id="397" r:id="rId7"/>
    <p:sldId id="267" r:id="rId8"/>
    <p:sldId id="268" r:id="rId9"/>
    <p:sldId id="279" r:id="rId10"/>
    <p:sldId id="278" r:id="rId11"/>
    <p:sldId id="286" r:id="rId12"/>
    <p:sldId id="283" r:id="rId13"/>
    <p:sldId id="293" r:id="rId14"/>
    <p:sldId id="280" r:id="rId15"/>
    <p:sldId id="281" r:id="rId16"/>
    <p:sldId id="282" r:id="rId17"/>
    <p:sldId id="287" r:id="rId18"/>
    <p:sldId id="288" r:id="rId19"/>
    <p:sldId id="289" r:id="rId20"/>
    <p:sldId id="290" r:id="rId21"/>
    <p:sldId id="291" r:id="rId22"/>
    <p:sldId id="284" r:id="rId23"/>
    <p:sldId id="285" r:id="rId24"/>
    <p:sldId id="294" r:id="rId25"/>
    <p:sldId id="295" r:id="rId26"/>
    <p:sldId id="400" r:id="rId27"/>
    <p:sldId id="399" r:id="rId28"/>
    <p:sldId id="401" r:id="rId29"/>
    <p:sldId id="402" r:id="rId30"/>
    <p:sldId id="403" r:id="rId31"/>
    <p:sldId id="404" r:id="rId32"/>
    <p:sldId id="405" r:id="rId33"/>
    <p:sldId id="406" r:id="rId34"/>
    <p:sldId id="407" r:id="rId35"/>
    <p:sldId id="408" r:id="rId36"/>
    <p:sldId id="409" r:id="rId37"/>
    <p:sldId id="410" r:id="rId3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rgbClr val="6E4B8B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4319">
          <p15:clr>
            <a:srgbClr val="A4A3A4"/>
          </p15:clr>
        </p15:guide>
        <p15:guide id="2" pos="45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FF99"/>
    <a:srgbClr val="FFFF00"/>
    <a:srgbClr val="FF0000"/>
    <a:srgbClr val="996600"/>
    <a:srgbClr val="CC00FF"/>
    <a:srgbClr val="000066"/>
    <a:srgbClr val="3399FF"/>
    <a:srgbClr val="FF9966"/>
    <a:srgbClr val="FFFF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609" autoAdjust="0"/>
    <p:restoredTop sz="96059" autoAdjust="0"/>
  </p:normalViewPr>
  <p:slideViewPr>
    <p:cSldViewPr snapToGrid="0" snapToObjects="1">
      <p:cViewPr varScale="1">
        <p:scale>
          <a:sx n="70" d="100"/>
          <a:sy n="70" d="100"/>
        </p:scale>
        <p:origin x="-1590" y="-102"/>
      </p:cViewPr>
      <p:guideLst>
        <p:guide orient="horz" pos="4319"/>
        <p:guide pos="4572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882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 smtClean="0"/>
              <a:t>Click to edit Master text styles</a:t>
            </a:r>
          </a:p>
          <a:p>
            <a:pPr lvl="1"/>
            <a:r>
              <a:rPr lang="en-GB" altLang="en-US" noProof="0" smtClean="0"/>
              <a:t>Second level</a:t>
            </a:r>
          </a:p>
          <a:p>
            <a:pPr lvl="2"/>
            <a:r>
              <a:rPr lang="en-GB" altLang="en-US" noProof="0" smtClean="0"/>
              <a:t>Third level</a:t>
            </a:r>
          </a:p>
          <a:p>
            <a:pPr lvl="3"/>
            <a:r>
              <a:rPr lang="en-GB" altLang="en-US" noProof="0" smtClean="0"/>
              <a:t>Fourth level</a:t>
            </a:r>
          </a:p>
          <a:p>
            <a:pPr lvl="4"/>
            <a:r>
              <a:rPr lang="en-GB" altLang="en-US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fld id="{4D141372-6B9A-4BE2-850D-DE2DA9C6F29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="" xmlns:p14="http://schemas.microsoft.com/office/powerpoint/2010/main" val="12068459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rgbClr val="6E4B8B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rgbClr val="6E4B8B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rgbClr val="6E4B8B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rgbClr val="6E4B8B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rgbClr val="6E4B8B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6E4B8B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6E4B8B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6E4B8B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rgbClr val="6E4B8B"/>
                </a:solidFill>
                <a:latin typeface="Times New Roman" panose="02020603050405020304" pitchFamily="18" charset="0"/>
              </a:defRPr>
            </a:lvl9pPr>
          </a:lstStyle>
          <a:p>
            <a:fld id="{71E549C9-2209-444A-94F1-D0DA54C22431}" type="slidenum">
              <a:rPr lang="en-GB" altLang="en-US" b="0" smtClean="0">
                <a:solidFill>
                  <a:schemeClr val="tx1"/>
                </a:solidFill>
              </a:rPr>
              <a:pPr/>
              <a:t>7</a:t>
            </a:fld>
            <a:endParaRPr lang="en-GB" altLang="en-US" b="0" smtClean="0">
              <a:solidFill>
                <a:schemeClr val="tx1"/>
              </a:solidFill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smtClean="0"/>
              <a:t>there is no objection</a:t>
            </a:r>
          </a:p>
        </p:txBody>
      </p:sp>
    </p:spTree>
    <p:extLst>
      <p:ext uri="{BB962C8B-B14F-4D97-AF65-F5344CB8AC3E}">
        <p14:creationId xmlns="" xmlns:p14="http://schemas.microsoft.com/office/powerpoint/2010/main" val="1728288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D8DA57-A4A9-435A-B495-8DCD8932E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807475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DDE6D1-DD0B-4D8D-86A5-5046F3DD30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892273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F3D726-A849-4EA0-8F59-D828D6B7ED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54509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E300D-492B-4431-AF9D-784D5740EF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84852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BA99DF-583B-4D6A-9B6A-3592BFEF26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127572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202C2-E4E8-441D-B70E-1E7A91452D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80515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55F8F-4F5C-466C-8314-18731BA029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286268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D5B68-5DF4-452C-88D3-E29ED312A8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101527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8D3831-54ED-4477-AC8C-771BCAB7A7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35439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341617-7CDB-4FD8-A3D4-9580526684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111554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7AECE8-DF06-45CE-9BF4-3069D3584A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3989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fld id="{9F80D7C7-4654-4CA6-8A7E-B0C4BE4B92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../gdb02/New%20Folder/classification%20of%20clcloid%20curve.ppt" TargetMode="External"/><Relationship Id="rId7" Type="http://schemas.openxmlformats.org/officeDocument/2006/relationships/slide" Target="slide9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hyperlink" Target="../gdb02/New%20Folder/claffication%20of%20helix.ppt" TargetMode="External"/><Relationship Id="rId5" Type="http://schemas.openxmlformats.org/officeDocument/2006/relationships/hyperlink" Target="../gdb02/New%20Folder/classicfication%20of%20spiral.ppt" TargetMode="External"/><Relationship Id="rId4" Type="http://schemas.openxmlformats.org/officeDocument/2006/relationships/hyperlink" Target="../gdb02/New%20Folder/classifaction%20of%20involute.ppt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gif"/><Relationship Id="rId3" Type="http://schemas.openxmlformats.org/officeDocument/2006/relationships/hyperlink" Target="../gdb02/New%20Folder/classification%20of%20clcloid%20curve.ppt" TargetMode="External"/><Relationship Id="rId7" Type="http://schemas.openxmlformats.org/officeDocument/2006/relationships/slide" Target="slide9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hyperlink" Target="../gdb02/New%20Folder/claffication%20of%20helix.ppt" TargetMode="External"/><Relationship Id="rId5" Type="http://schemas.openxmlformats.org/officeDocument/2006/relationships/hyperlink" Target="../gdb02/New%20Folder/classicfication%20of%20spiral.ppt" TargetMode="External"/><Relationship Id="rId4" Type="http://schemas.openxmlformats.org/officeDocument/2006/relationships/hyperlink" Target="../gdb02/New%20Folder/classifaction%20of%20involute.pp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4" Type="http://schemas.openxmlformats.org/officeDocument/2006/relationships/hyperlink" Target="../Engg.%20Curves/New%20Folder/conic%20classification.ppt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slide" Target="slide36.xml"/><Relationship Id="rId4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14488"/>
            <a:ext cx="91439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ENGINEERING CURVES</a:t>
            </a:r>
          </a:p>
          <a:p>
            <a:pPr algn="ctr"/>
            <a:endParaRPr lang="en-US" sz="4800" dirty="0" smtClean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sz="6000" u="sng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CONICS</a:t>
            </a:r>
            <a:endParaRPr lang="en-US" sz="6000" u="sng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71773" y="6445804"/>
            <a:ext cx="634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0" i="1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All copyrights/credits belong to respective owners</a:t>
            </a:r>
            <a:endParaRPr lang="en-US" b="0" i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71182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 bwMode="auto">
          <a:xfrm>
            <a:off x="571500" y="1085850"/>
            <a:ext cx="6572250" cy="15144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rgbClr val="6E4B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42950" y="1581477"/>
            <a:ext cx="6286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Lucida Calligraphy" panose="03010101010101010101" pitchFamily="66" charset="0"/>
              </a:rPr>
              <a:t>What are Engineering Curves ?</a:t>
            </a:r>
            <a:endParaRPr lang="en-US" sz="2800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8523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 bwMode="auto">
          <a:xfrm>
            <a:off x="571500" y="1085850"/>
            <a:ext cx="6572250" cy="15144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rgbClr val="6E4B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42950" y="1581477"/>
            <a:ext cx="6286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Lucida Calligraphy" panose="03010101010101010101" pitchFamily="66" charset="0"/>
              </a:rPr>
              <a:t>What are Engineering Curves ?</a:t>
            </a:r>
            <a:endParaRPr lang="en-US" sz="2800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" name="Rounded Rectangle 4"/>
          <p:cNvSpPr/>
          <p:nvPr/>
        </p:nvSpPr>
        <p:spPr bwMode="auto">
          <a:xfrm>
            <a:off x="2302668" y="4018568"/>
            <a:ext cx="6572250" cy="1514475"/>
          </a:xfrm>
          <a:prstGeom prst="round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rgbClr val="6E4B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95575" y="4514196"/>
            <a:ext cx="5786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Lucida Calligraphy" panose="03010101010101010101" pitchFamily="66" charset="0"/>
              </a:rPr>
              <a:t>Why it is required to learn ?</a:t>
            </a:r>
            <a:endParaRPr lang="en-US" sz="2800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8988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457200" y="1828800"/>
            <a:ext cx="830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2800">
                <a:solidFill>
                  <a:srgbClr val="6E4B8B"/>
                </a:solidFill>
                <a:latin typeface="Comic Sans MS" panose="030F0702030302020204" pitchFamily="66" charset="0"/>
              </a:rPr>
              <a:t>  </a:t>
            </a:r>
            <a:r>
              <a:rPr lang="en-US" altLang="en-US" sz="2800">
                <a:latin typeface="Comic Sans MS" panose="030F0702030302020204" pitchFamily="66" charset="0"/>
              </a:rPr>
              <a:t>Useful by their nature  &amp; characteristics.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457200" y="2605088"/>
            <a:ext cx="807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2800">
                <a:solidFill>
                  <a:srgbClr val="6E4B8B"/>
                </a:solidFill>
                <a:latin typeface="Comic Sans MS" panose="030F0702030302020204" pitchFamily="66" charset="0"/>
              </a:rPr>
              <a:t>  </a:t>
            </a:r>
            <a:r>
              <a:rPr lang="en-US" altLang="en-US" sz="2800">
                <a:latin typeface="Comic Sans MS" panose="030F0702030302020204" pitchFamily="66" charset="0"/>
              </a:rPr>
              <a:t>Laws of nature represented on graph.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457200" y="3454400"/>
            <a:ext cx="7772400" cy="287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71500" indent="-5715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2800">
                <a:latin typeface="Comic Sans MS" panose="030F0702030302020204" pitchFamily="66" charset="0"/>
              </a:rPr>
              <a:t>Useful in engineering in understanding                    laws, manufacturing of various items, designing mechanisms analysis of forces, construction of bridges, dams, water tanks etc.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285750" y="476250"/>
            <a:ext cx="8477250" cy="64135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600" dirty="0">
                <a:solidFill>
                  <a:srgbClr val="FFFF00"/>
                </a:solidFill>
                <a:latin typeface="Comic Sans MS" panose="030F0702030302020204" pitchFamily="66" charset="0"/>
              </a:rPr>
              <a:t>  USES OF ENGINEERING CURVES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utoUpdateAnimBg="0"/>
      <p:bldP spid="6148" grpId="0" autoUpdateAnimBg="0"/>
      <p:bldP spid="6149" grpId="0" autoUpdateAnimBg="0"/>
      <p:bldP spid="615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609600" y="1752600"/>
            <a:ext cx="3505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6E4B8B"/>
                </a:solidFill>
                <a:latin typeface="Comic Sans MS" panose="030F0702030302020204" pitchFamily="66" charset="0"/>
              </a:rPr>
              <a:t>1.  CONICS</a:t>
            </a:r>
          </a:p>
        </p:txBody>
      </p:sp>
      <p:sp>
        <p:nvSpPr>
          <p:cNvPr id="2065" name="Text Box 17"/>
          <p:cNvSpPr txBox="1">
            <a:spLocks noChangeArrowheads="1"/>
          </p:cNvSpPr>
          <p:nvPr/>
        </p:nvSpPr>
        <p:spPr bwMode="auto">
          <a:xfrm>
            <a:off x="609600" y="2514600"/>
            <a:ext cx="510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6E4B8B"/>
                </a:solidFill>
                <a:latin typeface="Comic Sans MS" panose="030F0702030302020204" pitchFamily="66" charset="0"/>
              </a:rPr>
              <a:t>2.  CYCLOIDAL CURVES</a:t>
            </a:r>
          </a:p>
        </p:txBody>
      </p:sp>
      <p:sp>
        <p:nvSpPr>
          <p:cNvPr id="2066" name="Text Box 18"/>
          <p:cNvSpPr txBox="1">
            <a:spLocks noChangeArrowheads="1"/>
          </p:cNvSpPr>
          <p:nvPr/>
        </p:nvSpPr>
        <p:spPr bwMode="auto">
          <a:xfrm>
            <a:off x="609600" y="3352800"/>
            <a:ext cx="3505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6E4B8B"/>
                </a:solidFill>
                <a:latin typeface="Comic Sans MS" panose="030F0702030302020204" pitchFamily="66" charset="0"/>
              </a:rPr>
              <a:t>3.  INVOLUTE</a:t>
            </a:r>
          </a:p>
        </p:txBody>
      </p:sp>
      <p:sp>
        <p:nvSpPr>
          <p:cNvPr id="2067" name="Text Box 19"/>
          <p:cNvSpPr txBox="1">
            <a:spLocks noChangeArrowheads="1"/>
          </p:cNvSpPr>
          <p:nvPr/>
        </p:nvSpPr>
        <p:spPr bwMode="auto">
          <a:xfrm>
            <a:off x="609600" y="4267200"/>
            <a:ext cx="3505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6E4B8B"/>
                </a:solidFill>
                <a:latin typeface="Comic Sans MS" panose="030F0702030302020204" pitchFamily="66" charset="0"/>
              </a:rPr>
              <a:t>4.  SPIRAL</a:t>
            </a:r>
          </a:p>
        </p:txBody>
      </p:sp>
      <p:sp>
        <p:nvSpPr>
          <p:cNvPr id="2068" name="Text Box 20"/>
          <p:cNvSpPr txBox="1">
            <a:spLocks noChangeArrowheads="1"/>
          </p:cNvSpPr>
          <p:nvPr/>
        </p:nvSpPr>
        <p:spPr bwMode="auto">
          <a:xfrm>
            <a:off x="609600" y="5105400"/>
            <a:ext cx="3505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6E4B8B"/>
                </a:solidFill>
                <a:latin typeface="Comic Sans MS" panose="030F0702030302020204" pitchFamily="66" charset="0"/>
              </a:rPr>
              <a:t>5.  HELIX</a:t>
            </a:r>
          </a:p>
        </p:txBody>
      </p:sp>
      <p:sp>
        <p:nvSpPr>
          <p:cNvPr id="2077" name="AutoShape 2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277100" y="1828800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2083" name="AutoShape 35">
            <a:hlinkClick r:id="rId3" action="ppaction://hlinkpres?slideindex=1&amp;slidetitle=" highlightClick="1"/>
          </p:cNvPr>
          <p:cNvSpPr>
            <a:spLocks noChangeArrowheads="1"/>
          </p:cNvSpPr>
          <p:nvPr/>
        </p:nvSpPr>
        <p:spPr bwMode="auto">
          <a:xfrm>
            <a:off x="7277100" y="2590800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2084" name="AutoShape 36">
            <a:hlinkClick r:id="rId4" action="ppaction://hlinkpres?slideindex=1&amp;slidetitle=" highlightClick="1"/>
          </p:cNvPr>
          <p:cNvSpPr>
            <a:spLocks noChangeArrowheads="1"/>
          </p:cNvSpPr>
          <p:nvPr/>
        </p:nvSpPr>
        <p:spPr bwMode="auto">
          <a:xfrm>
            <a:off x="7277100" y="3429000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2085" name="AutoShape 37">
            <a:hlinkClick r:id="rId5" action="ppaction://hlinkpres?slideindex=1&amp;slidetitle=" highlightClick="1"/>
          </p:cNvPr>
          <p:cNvSpPr>
            <a:spLocks noChangeArrowheads="1"/>
          </p:cNvSpPr>
          <p:nvPr/>
        </p:nvSpPr>
        <p:spPr bwMode="auto">
          <a:xfrm>
            <a:off x="7277100" y="4267200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2086" name="AutoShape 38">
            <a:hlinkClick r:id="rId6" action="ppaction://hlinkpres?slideindex=1&amp;slidetitle=" highlightClick="1"/>
          </p:cNvPr>
          <p:cNvSpPr>
            <a:spLocks noChangeArrowheads="1"/>
          </p:cNvSpPr>
          <p:nvPr/>
        </p:nvSpPr>
        <p:spPr bwMode="auto">
          <a:xfrm>
            <a:off x="7277100" y="5105400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2089" name="AutoShape 41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09600" y="1752600"/>
            <a:ext cx="2667000" cy="6096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91" name="AutoShape 43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409700" y="3429000"/>
            <a:ext cx="2381250" cy="503238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92" name="Text Box 44"/>
          <p:cNvSpPr txBox="1">
            <a:spLocks noChangeArrowheads="1"/>
          </p:cNvSpPr>
          <p:nvPr/>
        </p:nvSpPr>
        <p:spPr bwMode="auto">
          <a:xfrm>
            <a:off x="-57150" y="533400"/>
            <a:ext cx="9239250" cy="625475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500">
                <a:solidFill>
                  <a:srgbClr val="FFFF00"/>
                </a:solidFill>
                <a:latin typeface="Copperplate Gothic Bold" panose="020E0705020206020404" pitchFamily="34" charset="0"/>
              </a:rPr>
              <a:t>CLASSIFICATION OF ENGG. CURVES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9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 autoUpdateAnimBg="0"/>
      <p:bldP spid="2065" grpId="0" autoUpdateAnimBg="0"/>
      <p:bldP spid="2066" grpId="0" autoUpdateAnimBg="0"/>
      <p:bldP spid="2067" grpId="0" autoUpdateAnimBg="0"/>
      <p:bldP spid="2068" grpId="0" autoUpdateAnimBg="0"/>
      <p:bldP spid="2077" grpId="0" animBg="1" autoUpdateAnimBg="0"/>
      <p:bldP spid="2083" grpId="0" animBg="1" autoUpdateAnimBg="0"/>
      <p:bldP spid="2084" grpId="0" animBg="1"/>
      <p:bldP spid="2085" grpId="0" animBg="1"/>
      <p:bldP spid="2086" grpId="0" animBg="1"/>
      <p:bldP spid="209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609600" y="1752600"/>
            <a:ext cx="3505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6E4B8B"/>
                </a:solidFill>
                <a:latin typeface="Comic Sans MS" panose="030F0702030302020204" pitchFamily="66" charset="0"/>
              </a:rPr>
              <a:t>1.  CONICS</a:t>
            </a:r>
          </a:p>
        </p:txBody>
      </p:sp>
      <p:sp>
        <p:nvSpPr>
          <p:cNvPr id="2065" name="Text Box 17"/>
          <p:cNvSpPr txBox="1">
            <a:spLocks noChangeArrowheads="1"/>
          </p:cNvSpPr>
          <p:nvPr/>
        </p:nvSpPr>
        <p:spPr bwMode="auto">
          <a:xfrm>
            <a:off x="609600" y="2514600"/>
            <a:ext cx="510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6E4B8B"/>
                </a:solidFill>
                <a:latin typeface="Comic Sans MS" panose="030F0702030302020204" pitchFamily="66" charset="0"/>
              </a:rPr>
              <a:t>2.  CYCLOIDAL CURVES</a:t>
            </a:r>
          </a:p>
        </p:txBody>
      </p:sp>
      <p:sp>
        <p:nvSpPr>
          <p:cNvPr id="2066" name="Text Box 18"/>
          <p:cNvSpPr txBox="1">
            <a:spLocks noChangeArrowheads="1"/>
          </p:cNvSpPr>
          <p:nvPr/>
        </p:nvSpPr>
        <p:spPr bwMode="auto">
          <a:xfrm>
            <a:off x="609600" y="3352800"/>
            <a:ext cx="3505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6E4B8B"/>
                </a:solidFill>
                <a:latin typeface="Comic Sans MS" panose="030F0702030302020204" pitchFamily="66" charset="0"/>
              </a:rPr>
              <a:t>3.  INVOLUTE</a:t>
            </a:r>
          </a:p>
        </p:txBody>
      </p:sp>
      <p:sp>
        <p:nvSpPr>
          <p:cNvPr id="2067" name="Text Box 19"/>
          <p:cNvSpPr txBox="1">
            <a:spLocks noChangeArrowheads="1"/>
          </p:cNvSpPr>
          <p:nvPr/>
        </p:nvSpPr>
        <p:spPr bwMode="auto">
          <a:xfrm>
            <a:off x="609600" y="4267200"/>
            <a:ext cx="3505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6E4B8B"/>
                </a:solidFill>
                <a:latin typeface="Comic Sans MS" panose="030F0702030302020204" pitchFamily="66" charset="0"/>
              </a:rPr>
              <a:t>4.  SPIRAL</a:t>
            </a:r>
          </a:p>
        </p:txBody>
      </p:sp>
      <p:sp>
        <p:nvSpPr>
          <p:cNvPr id="2068" name="Text Box 20"/>
          <p:cNvSpPr txBox="1">
            <a:spLocks noChangeArrowheads="1"/>
          </p:cNvSpPr>
          <p:nvPr/>
        </p:nvSpPr>
        <p:spPr bwMode="auto">
          <a:xfrm>
            <a:off x="609600" y="5105400"/>
            <a:ext cx="3505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6E4B8B"/>
                </a:solidFill>
                <a:latin typeface="Comic Sans MS" panose="030F0702030302020204" pitchFamily="66" charset="0"/>
              </a:rPr>
              <a:t>5.  HELIX</a:t>
            </a:r>
          </a:p>
        </p:txBody>
      </p:sp>
      <p:sp>
        <p:nvSpPr>
          <p:cNvPr id="2077" name="AutoShape 2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277100" y="1828800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2083" name="AutoShape 35">
            <a:hlinkClick r:id="rId3" action="ppaction://hlinkpres?slideindex=1&amp;slidetitle=" highlightClick="1"/>
          </p:cNvPr>
          <p:cNvSpPr>
            <a:spLocks noChangeArrowheads="1"/>
          </p:cNvSpPr>
          <p:nvPr/>
        </p:nvSpPr>
        <p:spPr bwMode="auto">
          <a:xfrm>
            <a:off x="7277100" y="2590800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2084" name="AutoShape 36">
            <a:hlinkClick r:id="rId4" action="ppaction://hlinkpres?slideindex=1&amp;slidetitle=" highlightClick="1"/>
          </p:cNvPr>
          <p:cNvSpPr>
            <a:spLocks noChangeArrowheads="1"/>
          </p:cNvSpPr>
          <p:nvPr/>
        </p:nvSpPr>
        <p:spPr bwMode="auto">
          <a:xfrm>
            <a:off x="7277100" y="3429000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2085" name="AutoShape 37">
            <a:hlinkClick r:id="rId5" action="ppaction://hlinkpres?slideindex=1&amp;slidetitle=" highlightClick="1"/>
          </p:cNvPr>
          <p:cNvSpPr>
            <a:spLocks noChangeArrowheads="1"/>
          </p:cNvSpPr>
          <p:nvPr/>
        </p:nvSpPr>
        <p:spPr bwMode="auto">
          <a:xfrm>
            <a:off x="7277100" y="4267200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2086" name="AutoShape 38">
            <a:hlinkClick r:id="rId6" action="ppaction://hlinkpres?slideindex=1&amp;slidetitle=" highlightClick="1"/>
          </p:cNvPr>
          <p:cNvSpPr>
            <a:spLocks noChangeArrowheads="1"/>
          </p:cNvSpPr>
          <p:nvPr/>
        </p:nvSpPr>
        <p:spPr bwMode="auto">
          <a:xfrm>
            <a:off x="7277100" y="5105400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2089" name="AutoShape 41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609600" y="1752600"/>
            <a:ext cx="2667000" cy="6096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91" name="AutoShape 43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409700" y="3429000"/>
            <a:ext cx="2381250" cy="503238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92" name="Text Box 44"/>
          <p:cNvSpPr txBox="1">
            <a:spLocks noChangeArrowheads="1"/>
          </p:cNvSpPr>
          <p:nvPr/>
        </p:nvSpPr>
        <p:spPr bwMode="auto">
          <a:xfrm>
            <a:off x="-57150" y="533400"/>
            <a:ext cx="9239250" cy="625475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500">
                <a:solidFill>
                  <a:srgbClr val="FFFF00"/>
                </a:solidFill>
                <a:latin typeface="Copperplate Gothic Bold" panose="020E0705020206020404" pitchFamily="34" charset="0"/>
              </a:rPr>
              <a:t>CLASSIFICATION OF ENGG. CURVES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71475" y="1643063"/>
            <a:ext cx="3214688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8"/>
              </a:buBlip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rgbClr val="6E4B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 bwMode="auto">
          <a:xfrm>
            <a:off x="583406" y="1457325"/>
            <a:ext cx="2790825" cy="1057275"/>
          </a:xfrm>
          <a:prstGeom prst="roundRect">
            <a:avLst/>
          </a:prstGeom>
          <a:noFill/>
          <a:ln w="76200">
            <a:solidFill>
              <a:srgbClr val="FF0000"/>
            </a:solidFill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8"/>
              </a:buBlip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rgbClr val="6E4B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160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0" y="692150"/>
            <a:ext cx="8915400" cy="160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en-US" sz="3000">
                <a:latin typeface="Comic Sans MS" panose="030F0702030302020204" pitchFamily="66" charset="0"/>
              </a:rPr>
              <a:t>It is a surface generated by moving a Straight line keeping one of its end fixed &amp; other end makes </a:t>
            </a:r>
            <a:r>
              <a:rPr lang="en-US" altLang="en-US" sz="3000">
                <a:solidFill>
                  <a:srgbClr val="0000FF"/>
                </a:solidFill>
                <a:latin typeface="Comic Sans MS" panose="030F0702030302020204" pitchFamily="66" charset="0"/>
              </a:rPr>
              <a:t>a closed curve</a:t>
            </a:r>
            <a:r>
              <a:rPr lang="en-US" altLang="en-US" sz="300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14363" y="106363"/>
            <a:ext cx="3957637" cy="579437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286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FFFF00"/>
                </a:solidFill>
                <a:latin typeface="Comic Sans MS" panose="030F0702030302020204" pitchFamily="66" charset="0"/>
              </a:rPr>
              <a:t>What is Cone ?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7938" y="5264150"/>
            <a:ext cx="4995862" cy="160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en-US" sz="3000">
                <a:latin typeface="Comic Sans MS" panose="030F0702030302020204" pitchFamily="66" charset="0"/>
              </a:rPr>
              <a:t>If the base/closed curve is a polygon, we get </a:t>
            </a:r>
            <a:r>
              <a:rPr lang="en-US" altLang="en-US" sz="3000">
                <a:solidFill>
                  <a:srgbClr val="0000FF"/>
                </a:solidFill>
                <a:latin typeface="Comic Sans MS" panose="030F0702030302020204" pitchFamily="66" charset="0"/>
              </a:rPr>
              <a:t>a pyramid</a:t>
            </a:r>
            <a:r>
              <a:rPr lang="en-US" altLang="en-US" sz="300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0" y="4062413"/>
            <a:ext cx="5435600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en-US" sz="2900">
                <a:latin typeface="Comic Sans MS" panose="030F0702030302020204" pitchFamily="66" charset="0"/>
              </a:rPr>
              <a:t>If the base/closed curve is a circle, we get </a:t>
            </a:r>
            <a:r>
              <a:rPr lang="en-US" altLang="en-US" sz="2900">
                <a:solidFill>
                  <a:srgbClr val="0000FF"/>
                </a:solidFill>
                <a:latin typeface="Comic Sans MS" panose="030F0702030302020204" pitchFamily="66" charset="0"/>
              </a:rPr>
              <a:t>a cone</a:t>
            </a:r>
            <a:r>
              <a:rPr lang="en-US" altLang="en-US" sz="290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25400" y="2922588"/>
            <a:ext cx="5218113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en-US" sz="3000">
                <a:latin typeface="Comic Sans MS" panose="030F0702030302020204" pitchFamily="66" charset="0"/>
              </a:rPr>
              <a:t>The closed curve is known as </a:t>
            </a:r>
            <a:r>
              <a:rPr lang="en-US" altLang="en-US" sz="3000">
                <a:solidFill>
                  <a:srgbClr val="0000FF"/>
                </a:solidFill>
                <a:latin typeface="Comic Sans MS" panose="030F0702030302020204" pitchFamily="66" charset="0"/>
              </a:rPr>
              <a:t>base</a:t>
            </a:r>
            <a:r>
              <a:rPr lang="en-US" altLang="en-US" sz="300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0" y="2260600"/>
            <a:ext cx="861060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en-US" sz="2900">
                <a:latin typeface="Comic Sans MS" panose="030F0702030302020204" pitchFamily="66" charset="0"/>
              </a:rPr>
              <a:t>The fixed point is known as vertex or </a:t>
            </a:r>
            <a:r>
              <a:rPr lang="en-US" altLang="en-US" sz="2900">
                <a:solidFill>
                  <a:srgbClr val="0000FF"/>
                </a:solidFill>
                <a:latin typeface="Comic Sans MS" panose="030F0702030302020204" pitchFamily="66" charset="0"/>
              </a:rPr>
              <a:t>apex</a:t>
            </a:r>
            <a:r>
              <a:rPr lang="en-US" altLang="en-US" sz="290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15371" name="Line 11"/>
          <p:cNvSpPr>
            <a:spLocks noChangeShapeType="1"/>
          </p:cNvSpPr>
          <p:nvPr/>
        </p:nvSpPr>
        <p:spPr bwMode="auto">
          <a:xfrm flipH="1">
            <a:off x="0" y="304800"/>
            <a:ext cx="304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7" name="AutoShape 1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001000" y="6534150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15373" name="AutoShape 1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277100" y="6534150"/>
            <a:ext cx="685800" cy="304800"/>
          </a:xfrm>
          <a:prstGeom prst="actionButtonBackPreviou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5432" name="Group 72"/>
          <p:cNvGrpSpPr>
            <a:grpSpLocks/>
          </p:cNvGrpSpPr>
          <p:nvPr/>
        </p:nvGrpSpPr>
        <p:grpSpPr bwMode="auto">
          <a:xfrm>
            <a:off x="6564313" y="2852738"/>
            <a:ext cx="3143250" cy="627062"/>
            <a:chOff x="4147" y="1797"/>
            <a:chExt cx="1980" cy="395"/>
          </a:xfrm>
        </p:grpSpPr>
        <p:sp>
          <p:nvSpPr>
            <p:cNvPr id="15419" name="Line 59"/>
            <p:cNvSpPr>
              <a:spLocks noChangeShapeType="1"/>
            </p:cNvSpPr>
            <p:nvPr/>
          </p:nvSpPr>
          <p:spPr bwMode="auto">
            <a:xfrm flipH="1">
              <a:off x="4147" y="1983"/>
              <a:ext cx="2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95" name="Text Box 60"/>
            <p:cNvSpPr txBox="1">
              <a:spLocks noChangeArrowheads="1"/>
            </p:cNvSpPr>
            <p:nvPr/>
          </p:nvSpPr>
          <p:spPr bwMode="auto">
            <a:xfrm>
              <a:off x="4377" y="1797"/>
              <a:ext cx="1750" cy="3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700">
                  <a:solidFill>
                    <a:srgbClr val="6E4B8B"/>
                  </a:solidFill>
                  <a:latin typeface="Comic Sans MS" panose="030F0702030302020204" pitchFamily="66" charset="0"/>
                </a:rPr>
                <a:t>Vertex/Apex</a:t>
              </a:r>
            </a:p>
          </p:txBody>
        </p:sp>
      </p:grpSp>
      <p:grpSp>
        <p:nvGrpSpPr>
          <p:cNvPr id="15431" name="Group 71"/>
          <p:cNvGrpSpPr>
            <a:grpSpLocks/>
          </p:cNvGrpSpPr>
          <p:nvPr/>
        </p:nvGrpSpPr>
        <p:grpSpPr bwMode="auto">
          <a:xfrm>
            <a:off x="5211763" y="3148013"/>
            <a:ext cx="2743200" cy="2895600"/>
            <a:chOff x="3283" y="1983"/>
            <a:chExt cx="1728" cy="1824"/>
          </a:xfrm>
        </p:grpSpPr>
        <p:sp>
          <p:nvSpPr>
            <p:cNvPr id="15415" name="Oval 55"/>
            <p:cNvSpPr>
              <a:spLocks noChangeArrowheads="1"/>
            </p:cNvSpPr>
            <p:nvPr/>
          </p:nvSpPr>
          <p:spPr bwMode="auto">
            <a:xfrm>
              <a:off x="3283" y="3471"/>
              <a:ext cx="1728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407" name="Line 47"/>
            <p:cNvSpPr>
              <a:spLocks noChangeShapeType="1"/>
            </p:cNvSpPr>
            <p:nvPr/>
          </p:nvSpPr>
          <p:spPr bwMode="auto">
            <a:xfrm>
              <a:off x="4147" y="3663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7186" name="Group 48"/>
            <p:cNvGrpSpPr>
              <a:grpSpLocks/>
            </p:cNvGrpSpPr>
            <p:nvPr/>
          </p:nvGrpSpPr>
          <p:grpSpPr bwMode="auto">
            <a:xfrm>
              <a:off x="4147" y="3567"/>
              <a:ext cx="96" cy="96"/>
              <a:chOff x="2880" y="3984"/>
              <a:chExt cx="48" cy="48"/>
            </a:xfrm>
          </p:grpSpPr>
          <p:sp>
            <p:nvSpPr>
              <p:cNvPr id="15409" name="Line 49"/>
              <p:cNvSpPr>
                <a:spLocks noChangeShapeType="1"/>
              </p:cNvSpPr>
              <p:nvPr/>
            </p:nvSpPr>
            <p:spPr bwMode="auto">
              <a:xfrm>
                <a:off x="2928" y="3984"/>
                <a:ext cx="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5410" name="Line 50"/>
              <p:cNvSpPr>
                <a:spLocks noChangeShapeType="1"/>
              </p:cNvSpPr>
              <p:nvPr/>
            </p:nvSpPr>
            <p:spPr bwMode="auto">
              <a:xfrm>
                <a:off x="2880" y="3984"/>
                <a:ext cx="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5411" name="Line 51"/>
              <p:cNvSpPr>
                <a:spLocks noChangeShapeType="1"/>
              </p:cNvSpPr>
              <p:nvPr/>
            </p:nvSpPr>
            <p:spPr bwMode="auto">
              <a:xfrm>
                <a:off x="2928" y="3984"/>
                <a:ext cx="0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5412" name="Line 52"/>
            <p:cNvSpPr>
              <a:spLocks noChangeShapeType="1"/>
            </p:cNvSpPr>
            <p:nvPr/>
          </p:nvSpPr>
          <p:spPr bwMode="auto">
            <a:xfrm>
              <a:off x="4147" y="1983"/>
              <a:ext cx="864" cy="16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413" name="Line 53"/>
            <p:cNvSpPr>
              <a:spLocks noChangeShapeType="1"/>
            </p:cNvSpPr>
            <p:nvPr/>
          </p:nvSpPr>
          <p:spPr bwMode="auto">
            <a:xfrm flipH="1">
              <a:off x="3283" y="1983"/>
              <a:ext cx="864" cy="16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417" name="Line 57"/>
            <p:cNvSpPr>
              <a:spLocks noChangeShapeType="1"/>
            </p:cNvSpPr>
            <p:nvPr/>
          </p:nvSpPr>
          <p:spPr bwMode="auto">
            <a:xfrm>
              <a:off x="4147" y="1983"/>
              <a:ext cx="0" cy="16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90" name="Text Box 64"/>
            <p:cNvSpPr txBox="1">
              <a:spLocks noChangeArrowheads="1"/>
            </p:cNvSpPr>
            <p:nvPr/>
          </p:nvSpPr>
          <p:spPr bwMode="auto">
            <a:xfrm>
              <a:off x="4147" y="3158"/>
              <a:ext cx="480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b="0">
                  <a:latin typeface="Comic Sans MS" panose="030F0702030302020204" pitchFamily="66" charset="0"/>
                </a:rPr>
                <a:t>90º</a:t>
              </a:r>
            </a:p>
          </p:txBody>
        </p:sp>
      </p:grpSp>
      <p:grpSp>
        <p:nvGrpSpPr>
          <p:cNvPr id="15430" name="Group 70"/>
          <p:cNvGrpSpPr>
            <a:grpSpLocks/>
          </p:cNvGrpSpPr>
          <p:nvPr/>
        </p:nvGrpSpPr>
        <p:grpSpPr bwMode="auto">
          <a:xfrm>
            <a:off x="5211763" y="5848350"/>
            <a:ext cx="1271587" cy="965200"/>
            <a:chOff x="3283" y="3684"/>
            <a:chExt cx="801" cy="608"/>
          </a:xfrm>
        </p:grpSpPr>
        <p:sp>
          <p:nvSpPr>
            <p:cNvPr id="7182" name="Text Box 56"/>
            <p:cNvSpPr txBox="1">
              <a:spLocks noChangeArrowheads="1"/>
            </p:cNvSpPr>
            <p:nvPr/>
          </p:nvSpPr>
          <p:spPr bwMode="auto">
            <a:xfrm>
              <a:off x="3283" y="3884"/>
              <a:ext cx="801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solidFill>
                    <a:srgbClr val="6E4B8B"/>
                  </a:solidFill>
                  <a:latin typeface="Comic Sans MS" panose="030F0702030302020204" pitchFamily="66" charset="0"/>
                </a:rPr>
                <a:t>Base</a:t>
              </a:r>
            </a:p>
          </p:txBody>
        </p:sp>
        <p:sp>
          <p:nvSpPr>
            <p:cNvPr id="15425" name="Line 65"/>
            <p:cNvSpPr>
              <a:spLocks noChangeShapeType="1"/>
            </p:cNvSpPr>
            <p:nvPr/>
          </p:nvSpPr>
          <p:spPr bwMode="auto">
            <a:xfrm flipV="1">
              <a:off x="3779" y="3684"/>
              <a:ext cx="78" cy="3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utoUpdateAnimBg="0"/>
      <p:bldP spid="15364" grpId="0" animBg="1" autoUpdateAnimBg="0"/>
      <p:bldP spid="15366" grpId="0" autoUpdateAnimBg="0"/>
      <p:bldP spid="15368" grpId="0" autoUpdateAnimBg="0"/>
      <p:bldP spid="15369" grpId="0" autoUpdateAnimBg="0"/>
      <p:bldP spid="1537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2690813"/>
            <a:ext cx="5797550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2800">
                <a:latin typeface="Comic Sans MS" panose="030F0702030302020204" pitchFamily="66" charset="0"/>
              </a:rPr>
              <a:t>If axis of cone is not perpendicular to base, it is called as </a:t>
            </a:r>
            <a:r>
              <a:rPr lang="en-US" altLang="en-US" sz="2800">
                <a:solidFill>
                  <a:srgbClr val="0000FF"/>
                </a:solidFill>
                <a:latin typeface="Comic Sans MS" panose="030F0702030302020204" pitchFamily="66" charset="0"/>
              </a:rPr>
              <a:t>oblique cone</a:t>
            </a:r>
            <a:r>
              <a:rPr lang="en-US" altLang="en-US" sz="280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4763" y="4581525"/>
            <a:ext cx="51435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2800">
                <a:latin typeface="Comic Sans MS" panose="030F0702030302020204" pitchFamily="66" charset="0"/>
              </a:rPr>
              <a:t>The line joins vertex/ apex to the circumference of a cone is known as </a:t>
            </a:r>
            <a:r>
              <a:rPr lang="en-US" altLang="en-US" sz="2800">
                <a:solidFill>
                  <a:srgbClr val="0000FF"/>
                </a:solidFill>
                <a:latin typeface="Comic Sans MS" panose="030F0702030302020204" pitchFamily="66" charset="0"/>
              </a:rPr>
              <a:t>generator</a:t>
            </a:r>
            <a:r>
              <a:rPr lang="en-US" altLang="en-US" sz="280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0" y="1447800"/>
            <a:ext cx="89154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572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715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2800">
                <a:latin typeface="Comic Sans MS" panose="030F0702030302020204" pitchFamily="66" charset="0"/>
              </a:rPr>
              <a:t>If axes is perpendicular to base, it is called as </a:t>
            </a:r>
            <a:r>
              <a:rPr lang="en-US" altLang="en-US" sz="2800">
                <a:solidFill>
                  <a:srgbClr val="0000FF"/>
                </a:solidFill>
                <a:latin typeface="Comic Sans MS" panose="030F0702030302020204" pitchFamily="66" charset="0"/>
              </a:rPr>
              <a:t>right</a:t>
            </a:r>
            <a:r>
              <a:rPr lang="en-US" altLang="en-US" sz="2800">
                <a:latin typeface="Comic Sans MS" panose="030F0702030302020204" pitchFamily="66" charset="0"/>
              </a:rPr>
              <a:t> </a:t>
            </a:r>
            <a:r>
              <a:rPr lang="en-US" altLang="en-US" sz="2800">
                <a:solidFill>
                  <a:srgbClr val="0000FF"/>
                </a:solidFill>
                <a:latin typeface="Comic Sans MS" panose="030F0702030302020204" pitchFamily="66" charset="0"/>
              </a:rPr>
              <a:t>circular cone</a:t>
            </a:r>
            <a:r>
              <a:rPr lang="en-US" altLang="en-US" sz="2800">
                <a:latin typeface="Comic Sans MS" panose="030F0702030302020204" pitchFamily="66" charset="0"/>
              </a:rPr>
              <a:t>.</a:t>
            </a:r>
          </a:p>
        </p:txBody>
      </p:sp>
      <p:grpSp>
        <p:nvGrpSpPr>
          <p:cNvPr id="16450" name="Group 66"/>
          <p:cNvGrpSpPr>
            <a:grpSpLocks/>
          </p:cNvGrpSpPr>
          <p:nvPr/>
        </p:nvGrpSpPr>
        <p:grpSpPr bwMode="auto">
          <a:xfrm>
            <a:off x="7392988" y="3846513"/>
            <a:ext cx="1768475" cy="920750"/>
            <a:chOff x="4649" y="2523"/>
            <a:chExt cx="1114" cy="580"/>
          </a:xfrm>
        </p:grpSpPr>
        <p:sp>
          <p:nvSpPr>
            <p:cNvPr id="16403" name="Line 19"/>
            <p:cNvSpPr>
              <a:spLocks noChangeShapeType="1"/>
            </p:cNvSpPr>
            <p:nvPr/>
          </p:nvSpPr>
          <p:spPr bwMode="auto">
            <a:xfrm rot="10868759" flipV="1">
              <a:off x="4682" y="2863"/>
              <a:ext cx="33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46" name="Text Box 20"/>
            <p:cNvSpPr txBox="1">
              <a:spLocks noChangeArrowheads="1"/>
            </p:cNvSpPr>
            <p:nvPr/>
          </p:nvSpPr>
          <p:spPr bwMode="auto">
            <a:xfrm>
              <a:off x="4649" y="2523"/>
              <a:ext cx="1114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b="0">
                  <a:solidFill>
                    <a:srgbClr val="6E4B8B"/>
                  </a:solidFill>
                  <a:latin typeface="Comic Sans MS" panose="030F0702030302020204" pitchFamily="66" charset="0"/>
                </a:rPr>
                <a:t>Generator</a:t>
              </a:r>
            </a:p>
          </p:txBody>
        </p:sp>
      </p:grpSp>
      <p:grpSp>
        <p:nvGrpSpPr>
          <p:cNvPr id="16449" name="Group 65"/>
          <p:cNvGrpSpPr>
            <a:grpSpLocks/>
          </p:cNvGrpSpPr>
          <p:nvPr/>
        </p:nvGrpSpPr>
        <p:grpSpPr bwMode="auto">
          <a:xfrm>
            <a:off x="6523038" y="3355975"/>
            <a:ext cx="2293937" cy="608013"/>
            <a:chOff x="4038" y="2160"/>
            <a:chExt cx="1445" cy="383"/>
          </a:xfrm>
        </p:grpSpPr>
        <p:sp>
          <p:nvSpPr>
            <p:cNvPr id="16412" name="Line 28"/>
            <p:cNvSpPr>
              <a:spLocks noChangeShapeType="1"/>
            </p:cNvSpPr>
            <p:nvPr/>
          </p:nvSpPr>
          <p:spPr bwMode="auto">
            <a:xfrm rot="32400000">
              <a:off x="4038" y="2370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44" name="Text Box 29"/>
            <p:cNvSpPr txBox="1">
              <a:spLocks noChangeArrowheads="1"/>
            </p:cNvSpPr>
            <p:nvPr/>
          </p:nvSpPr>
          <p:spPr bwMode="auto">
            <a:xfrm>
              <a:off x="4304" y="2160"/>
              <a:ext cx="1179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b="0">
                  <a:solidFill>
                    <a:srgbClr val="6E4B8B"/>
                  </a:solidFill>
                  <a:latin typeface="Comic Sans MS" panose="030F0702030302020204" pitchFamily="66" charset="0"/>
                </a:rPr>
                <a:t>Cone Axis</a:t>
              </a:r>
            </a:p>
          </p:txBody>
        </p:sp>
      </p:grpSp>
      <p:sp>
        <p:nvSpPr>
          <p:cNvPr id="16433" name="AutoShape 4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258050" y="6559550"/>
            <a:ext cx="685800" cy="304800"/>
          </a:xfrm>
          <a:prstGeom prst="actionButtonBackPrevious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434" name="Text Box 50"/>
          <p:cNvSpPr txBox="1">
            <a:spLocks noChangeArrowheads="1"/>
          </p:cNvSpPr>
          <p:nvPr/>
        </p:nvSpPr>
        <p:spPr bwMode="auto">
          <a:xfrm>
            <a:off x="49213" y="265113"/>
            <a:ext cx="89154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286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2800">
                <a:latin typeface="Comic Sans MS" panose="030F0702030302020204" pitchFamily="66" charset="0"/>
              </a:rPr>
              <a:t>The line joins apex to the center of base is called </a:t>
            </a:r>
            <a:r>
              <a:rPr lang="en-US" altLang="en-US" sz="2800">
                <a:solidFill>
                  <a:srgbClr val="0000FF"/>
                </a:solidFill>
                <a:latin typeface="Comic Sans MS" panose="030F0702030302020204" pitchFamily="66" charset="0"/>
              </a:rPr>
              <a:t>axis</a:t>
            </a:r>
            <a:r>
              <a:rPr lang="en-US" altLang="en-US" sz="2800">
                <a:latin typeface="Comic Sans MS" panose="030F0702030302020204" pitchFamily="66" charset="0"/>
              </a:rPr>
              <a:t>.</a:t>
            </a:r>
          </a:p>
        </p:txBody>
      </p:sp>
      <p:grpSp>
        <p:nvGrpSpPr>
          <p:cNvPr id="16454" name="Group 70"/>
          <p:cNvGrpSpPr>
            <a:grpSpLocks/>
          </p:cNvGrpSpPr>
          <p:nvPr/>
        </p:nvGrpSpPr>
        <p:grpSpPr bwMode="auto">
          <a:xfrm>
            <a:off x="6519863" y="5518150"/>
            <a:ext cx="1371600" cy="152400"/>
            <a:chOff x="4107" y="3476"/>
            <a:chExt cx="864" cy="96"/>
          </a:xfrm>
        </p:grpSpPr>
        <p:sp>
          <p:nvSpPr>
            <p:cNvPr id="16396" name="Line 12"/>
            <p:cNvSpPr>
              <a:spLocks noChangeShapeType="1"/>
            </p:cNvSpPr>
            <p:nvPr/>
          </p:nvSpPr>
          <p:spPr bwMode="auto">
            <a:xfrm>
              <a:off x="4107" y="3572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9239" name="Group 55"/>
            <p:cNvGrpSpPr>
              <a:grpSpLocks/>
            </p:cNvGrpSpPr>
            <p:nvPr/>
          </p:nvGrpSpPr>
          <p:grpSpPr bwMode="auto">
            <a:xfrm>
              <a:off x="4107" y="3476"/>
              <a:ext cx="96" cy="96"/>
              <a:chOff x="2880" y="3984"/>
              <a:chExt cx="48" cy="48"/>
            </a:xfrm>
          </p:grpSpPr>
          <p:sp>
            <p:nvSpPr>
              <p:cNvPr id="16397" name="Line 13"/>
              <p:cNvSpPr>
                <a:spLocks noChangeShapeType="1"/>
              </p:cNvSpPr>
              <p:nvPr/>
            </p:nvSpPr>
            <p:spPr bwMode="auto">
              <a:xfrm>
                <a:off x="2928" y="3984"/>
                <a:ext cx="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6398" name="Line 14"/>
              <p:cNvSpPr>
                <a:spLocks noChangeShapeType="1"/>
              </p:cNvSpPr>
              <p:nvPr/>
            </p:nvSpPr>
            <p:spPr bwMode="auto">
              <a:xfrm>
                <a:off x="2880" y="3984"/>
                <a:ext cx="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6400" name="Line 16"/>
              <p:cNvSpPr>
                <a:spLocks noChangeShapeType="1"/>
              </p:cNvSpPr>
              <p:nvPr/>
            </p:nvSpPr>
            <p:spPr bwMode="auto">
              <a:xfrm>
                <a:off x="2928" y="3984"/>
                <a:ext cx="0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6440" name="Text Box 56"/>
          <p:cNvSpPr txBox="1">
            <a:spLocks noChangeArrowheads="1"/>
          </p:cNvSpPr>
          <p:nvPr/>
        </p:nvSpPr>
        <p:spPr bwMode="auto">
          <a:xfrm>
            <a:off x="6505575" y="4854575"/>
            <a:ext cx="762000" cy="60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 b="0">
                <a:latin typeface="Comic Sans MS" panose="030F0702030302020204" pitchFamily="66" charset="0"/>
              </a:rPr>
              <a:t>90º</a:t>
            </a:r>
          </a:p>
        </p:txBody>
      </p:sp>
      <p:grpSp>
        <p:nvGrpSpPr>
          <p:cNvPr id="16453" name="Group 69"/>
          <p:cNvGrpSpPr>
            <a:grpSpLocks/>
          </p:cNvGrpSpPr>
          <p:nvPr/>
        </p:nvGrpSpPr>
        <p:grpSpPr bwMode="auto">
          <a:xfrm>
            <a:off x="5148263" y="2708275"/>
            <a:ext cx="4025900" cy="4117975"/>
            <a:chOff x="3243" y="1706"/>
            <a:chExt cx="2536" cy="2594"/>
          </a:xfrm>
        </p:grpSpPr>
        <p:sp>
          <p:nvSpPr>
            <p:cNvPr id="16393" name="Line 9"/>
            <p:cNvSpPr>
              <a:spLocks noChangeShapeType="1"/>
            </p:cNvSpPr>
            <p:nvPr/>
          </p:nvSpPr>
          <p:spPr bwMode="auto">
            <a:xfrm>
              <a:off x="4107" y="1892"/>
              <a:ext cx="864" cy="16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392" name="Line 8"/>
            <p:cNvSpPr>
              <a:spLocks noChangeShapeType="1"/>
            </p:cNvSpPr>
            <p:nvPr/>
          </p:nvSpPr>
          <p:spPr bwMode="auto">
            <a:xfrm flipH="1">
              <a:off x="3243" y="1892"/>
              <a:ext cx="864" cy="16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9230" name="Group 67"/>
            <p:cNvGrpSpPr>
              <a:grpSpLocks/>
            </p:cNvGrpSpPr>
            <p:nvPr/>
          </p:nvGrpSpPr>
          <p:grpSpPr bwMode="auto">
            <a:xfrm>
              <a:off x="3243" y="3380"/>
              <a:ext cx="1728" cy="920"/>
              <a:chOff x="3172" y="3426"/>
              <a:chExt cx="1728" cy="920"/>
            </a:xfrm>
          </p:grpSpPr>
          <p:sp>
            <p:nvSpPr>
              <p:cNvPr id="16394" name="Oval 10"/>
              <p:cNvSpPr>
                <a:spLocks noChangeArrowheads="1"/>
              </p:cNvSpPr>
              <p:nvPr/>
            </p:nvSpPr>
            <p:spPr bwMode="auto">
              <a:xfrm>
                <a:off x="3172" y="3426"/>
                <a:ext cx="1728" cy="33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237" name="Text Box 23"/>
              <p:cNvSpPr txBox="1">
                <a:spLocks noChangeArrowheads="1"/>
              </p:cNvSpPr>
              <p:nvPr/>
            </p:nvSpPr>
            <p:spPr bwMode="auto">
              <a:xfrm>
                <a:off x="3172" y="3963"/>
                <a:ext cx="801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600" b="0">
                    <a:solidFill>
                      <a:srgbClr val="6E4B8B"/>
                    </a:solidFill>
                    <a:latin typeface="Comic Sans MS" panose="030F0702030302020204" pitchFamily="66" charset="0"/>
                  </a:rPr>
                  <a:t>Base</a:t>
                </a:r>
              </a:p>
            </p:txBody>
          </p:sp>
        </p:grpSp>
        <p:sp>
          <p:nvSpPr>
            <p:cNvPr id="16395" name="Line 11"/>
            <p:cNvSpPr>
              <a:spLocks noChangeShapeType="1"/>
            </p:cNvSpPr>
            <p:nvPr/>
          </p:nvSpPr>
          <p:spPr bwMode="auto">
            <a:xfrm>
              <a:off x="4107" y="1892"/>
              <a:ext cx="0" cy="16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9232" name="Group 64"/>
            <p:cNvGrpSpPr>
              <a:grpSpLocks/>
            </p:cNvGrpSpPr>
            <p:nvPr/>
          </p:nvGrpSpPr>
          <p:grpSpPr bwMode="auto">
            <a:xfrm>
              <a:off x="4107" y="1706"/>
              <a:ext cx="1672" cy="357"/>
              <a:chOff x="4036" y="1752"/>
              <a:chExt cx="1672" cy="357"/>
            </a:xfrm>
          </p:grpSpPr>
          <p:sp>
            <p:nvSpPr>
              <p:cNvPr id="16410" name="Line 26"/>
              <p:cNvSpPr>
                <a:spLocks noChangeShapeType="1"/>
              </p:cNvSpPr>
              <p:nvPr/>
            </p:nvSpPr>
            <p:spPr bwMode="auto">
              <a:xfrm flipH="1">
                <a:off x="4036" y="1938"/>
                <a:ext cx="38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235" name="Text Box 27"/>
              <p:cNvSpPr txBox="1">
                <a:spLocks noChangeArrowheads="1"/>
              </p:cNvSpPr>
              <p:nvPr/>
            </p:nvSpPr>
            <p:spPr bwMode="auto">
              <a:xfrm>
                <a:off x="4341" y="1752"/>
                <a:ext cx="1367" cy="3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>
                    <a:solidFill>
                      <a:srgbClr val="6E4B8B"/>
                    </a:solidFill>
                    <a:latin typeface="Comic Sans MS" panose="030F0702030302020204" pitchFamily="66" charset="0"/>
                  </a:rPr>
                  <a:t>Vertex/Apex</a:t>
                </a:r>
              </a:p>
            </p:txBody>
          </p:sp>
        </p:grpSp>
        <p:sp>
          <p:nvSpPr>
            <p:cNvPr id="16447" name="Line 63"/>
            <p:cNvSpPr>
              <a:spLocks noChangeShapeType="1"/>
            </p:cNvSpPr>
            <p:nvPr/>
          </p:nvSpPr>
          <p:spPr bwMode="auto">
            <a:xfrm flipV="1">
              <a:off x="3723" y="3524"/>
              <a:ext cx="110" cy="4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  <p:bldP spid="16389" grpId="0" autoUpdateAnimBg="0"/>
      <p:bldP spid="16391" grpId="0" autoUpdateAnimBg="0"/>
      <p:bldP spid="16433" grpId="0" animBg="1"/>
      <p:bldP spid="16434" grpId="0" autoUpdateAnimBg="0"/>
      <p:bldP spid="16440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52" name="Freeform 152"/>
          <p:cNvSpPr>
            <a:spLocks/>
          </p:cNvSpPr>
          <p:nvPr/>
        </p:nvSpPr>
        <p:spPr bwMode="auto">
          <a:xfrm>
            <a:off x="4024313" y="3816350"/>
            <a:ext cx="1139825" cy="2270125"/>
          </a:xfrm>
          <a:custGeom>
            <a:avLst/>
            <a:gdLst>
              <a:gd name="T0" fmla="*/ 0 w 3316"/>
              <a:gd name="T1" fmla="*/ 0 h 5994"/>
              <a:gd name="T2" fmla="*/ 3315 w 3316"/>
              <a:gd name="T3" fmla="*/ 5994 h 5994"/>
              <a:gd name="T4" fmla="*/ 3316 w 3316"/>
              <a:gd name="T5" fmla="*/ 5994 h 59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16" h="5994">
                <a:moveTo>
                  <a:pt x="0" y="0"/>
                </a:moveTo>
                <a:lnTo>
                  <a:pt x="3315" y="5994"/>
                </a:lnTo>
                <a:lnTo>
                  <a:pt x="3316" y="5994"/>
                </a:lnTo>
              </a:path>
            </a:pathLst>
          </a:custGeom>
          <a:noFill/>
          <a:ln w="2222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323850" y="836613"/>
            <a:ext cx="8496300" cy="237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9263" indent="-4492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286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3000" i="1">
                <a:solidFill>
                  <a:srgbClr val="9900CC"/>
                </a:solidFill>
                <a:latin typeface="Comic Sans MS" panose="030F0702030302020204" pitchFamily="66" charset="0"/>
              </a:rPr>
              <a:t>Definition :-</a:t>
            </a:r>
            <a:r>
              <a:rPr lang="en-US" altLang="en-US" sz="3000">
                <a:solidFill>
                  <a:srgbClr val="6E4B8B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3000">
                <a:latin typeface="Comic Sans MS" panose="030F0702030302020204" pitchFamily="66" charset="0"/>
              </a:rPr>
              <a:t>The section obtained by the intersection of a right circular cone by a cutting plane in different position relative to the axis of the cone are called </a:t>
            </a:r>
            <a:r>
              <a:rPr lang="en-US" altLang="en-US" sz="3000">
                <a:solidFill>
                  <a:srgbClr val="0000FF"/>
                </a:solidFill>
                <a:latin typeface="Comic Sans MS" panose="030F0702030302020204" pitchFamily="66" charset="0"/>
              </a:rPr>
              <a:t>CONICS.</a:t>
            </a:r>
            <a:endParaRPr lang="en-GB" altLang="en-US" sz="3000">
              <a:solidFill>
                <a:srgbClr val="0000FF"/>
              </a:solidFill>
              <a:latin typeface="Comic Sans MS" panose="030F0702030302020204" pitchFamily="66" charset="0"/>
            </a:endParaRP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3276600" y="152400"/>
            <a:ext cx="2590800" cy="64135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600">
                <a:solidFill>
                  <a:srgbClr val="FFFF00"/>
                </a:solidFill>
                <a:latin typeface="Comic Sans MS" panose="030F0702030302020204" pitchFamily="66" charset="0"/>
              </a:rPr>
              <a:t>CONICS</a:t>
            </a:r>
          </a:p>
        </p:txBody>
      </p:sp>
      <p:sp>
        <p:nvSpPr>
          <p:cNvPr id="51204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262813" y="6537325"/>
            <a:ext cx="733425" cy="317500"/>
          </a:xfrm>
          <a:prstGeom prst="actionButtonBackPrevious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207" name="Freeform 7"/>
          <p:cNvSpPr>
            <a:spLocks/>
          </p:cNvSpPr>
          <p:nvPr/>
        </p:nvSpPr>
        <p:spPr bwMode="auto">
          <a:xfrm>
            <a:off x="34925" y="3468688"/>
            <a:ext cx="2519363" cy="752475"/>
          </a:xfrm>
          <a:custGeom>
            <a:avLst/>
            <a:gdLst>
              <a:gd name="T0" fmla="*/ 0 w 10671"/>
              <a:gd name="T1" fmla="*/ 3313 h 3313"/>
              <a:gd name="T2" fmla="*/ 10671 w 10671"/>
              <a:gd name="T3" fmla="*/ 3313 h 3313"/>
              <a:gd name="T4" fmla="*/ 8312 w 10671"/>
              <a:gd name="T5" fmla="*/ 30 h 3313"/>
              <a:gd name="T6" fmla="*/ 2475 w 10671"/>
              <a:gd name="T7" fmla="*/ 0 h 3313"/>
              <a:gd name="T8" fmla="*/ 0 w 10671"/>
              <a:gd name="T9" fmla="*/ 3313 h 3313"/>
              <a:gd name="T10" fmla="*/ 1 w 10671"/>
              <a:gd name="T11" fmla="*/ 3313 h 3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71" h="3313">
                <a:moveTo>
                  <a:pt x="0" y="3313"/>
                </a:moveTo>
                <a:lnTo>
                  <a:pt x="10671" y="3313"/>
                </a:lnTo>
                <a:lnTo>
                  <a:pt x="8312" y="30"/>
                </a:lnTo>
                <a:lnTo>
                  <a:pt x="2475" y="0"/>
                </a:lnTo>
                <a:lnTo>
                  <a:pt x="0" y="3313"/>
                </a:lnTo>
                <a:lnTo>
                  <a:pt x="1" y="3313"/>
                </a:lnTo>
              </a:path>
            </a:pathLst>
          </a:custGeom>
          <a:solidFill>
            <a:srgbClr val="CCFFFF"/>
          </a:solidFill>
          <a:ln w="2222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2254" name="Group 1054"/>
          <p:cNvGrpSpPr>
            <a:grpSpLocks/>
          </p:cNvGrpSpPr>
          <p:nvPr/>
        </p:nvGrpSpPr>
        <p:grpSpPr bwMode="auto">
          <a:xfrm>
            <a:off x="939800" y="3625850"/>
            <a:ext cx="790575" cy="411163"/>
            <a:chOff x="592" y="2284"/>
            <a:chExt cx="498" cy="259"/>
          </a:xfrm>
        </p:grpSpPr>
        <p:sp>
          <p:nvSpPr>
            <p:cNvPr id="51211" name="Freeform 11"/>
            <p:cNvSpPr>
              <a:spLocks/>
            </p:cNvSpPr>
            <p:nvPr/>
          </p:nvSpPr>
          <p:spPr bwMode="auto">
            <a:xfrm>
              <a:off x="592" y="2284"/>
              <a:ext cx="496" cy="187"/>
            </a:xfrm>
            <a:custGeom>
              <a:avLst/>
              <a:gdLst>
                <a:gd name="T0" fmla="*/ 0 w 3335"/>
                <a:gd name="T1" fmla="*/ 688 h 1300"/>
                <a:gd name="T2" fmla="*/ 34 w 3335"/>
                <a:gd name="T3" fmla="*/ 811 h 1300"/>
                <a:gd name="T4" fmla="*/ 126 w 3335"/>
                <a:gd name="T5" fmla="*/ 927 h 1300"/>
                <a:gd name="T6" fmla="*/ 274 w 3335"/>
                <a:gd name="T7" fmla="*/ 1034 h 1300"/>
                <a:gd name="T8" fmla="*/ 473 w 3335"/>
                <a:gd name="T9" fmla="*/ 1126 h 1300"/>
                <a:gd name="T10" fmla="*/ 714 w 3335"/>
                <a:gd name="T11" fmla="*/ 1201 h 1300"/>
                <a:gd name="T12" fmla="*/ 991 w 3335"/>
                <a:gd name="T13" fmla="*/ 1256 h 1300"/>
                <a:gd name="T14" fmla="*/ 1291 w 3335"/>
                <a:gd name="T15" fmla="*/ 1290 h 1300"/>
                <a:gd name="T16" fmla="*/ 1607 w 3335"/>
                <a:gd name="T17" fmla="*/ 1300 h 1300"/>
                <a:gd name="T18" fmla="*/ 1924 w 3335"/>
                <a:gd name="T19" fmla="*/ 1287 h 1300"/>
                <a:gd name="T20" fmla="*/ 2232 w 3335"/>
                <a:gd name="T21" fmla="*/ 1251 h 1300"/>
                <a:gd name="T22" fmla="*/ 2519 w 3335"/>
                <a:gd name="T23" fmla="*/ 1192 h 1300"/>
                <a:gd name="T24" fmla="*/ 2776 w 3335"/>
                <a:gd name="T25" fmla="*/ 1114 h 1300"/>
                <a:gd name="T26" fmla="*/ 2993 w 3335"/>
                <a:gd name="T27" fmla="*/ 1020 h 1300"/>
                <a:gd name="T28" fmla="*/ 3162 w 3335"/>
                <a:gd name="T29" fmla="*/ 911 h 1300"/>
                <a:gd name="T30" fmla="*/ 3278 w 3335"/>
                <a:gd name="T31" fmla="*/ 794 h 1300"/>
                <a:gd name="T32" fmla="*/ 3335 w 3335"/>
                <a:gd name="T33" fmla="*/ 671 h 1300"/>
                <a:gd name="T34" fmla="*/ 3332 w 3335"/>
                <a:gd name="T35" fmla="*/ 548 h 1300"/>
                <a:gd name="T36" fmla="*/ 3269 w 3335"/>
                <a:gd name="T37" fmla="*/ 428 h 1300"/>
                <a:gd name="T38" fmla="*/ 3149 w 3335"/>
                <a:gd name="T39" fmla="*/ 316 h 1300"/>
                <a:gd name="T40" fmla="*/ 2974 w 3335"/>
                <a:gd name="T41" fmla="*/ 217 h 1300"/>
                <a:gd name="T42" fmla="*/ 2753 w 3335"/>
                <a:gd name="T43" fmla="*/ 133 h 1300"/>
                <a:gd name="T44" fmla="*/ 2493 w 3335"/>
                <a:gd name="T45" fmla="*/ 67 h 1300"/>
                <a:gd name="T46" fmla="*/ 2203 w 3335"/>
                <a:gd name="T47" fmla="*/ 23 h 1300"/>
                <a:gd name="T48" fmla="*/ 1893 w 3335"/>
                <a:gd name="T49" fmla="*/ 0 h 1300"/>
                <a:gd name="T50" fmla="*/ 1576 w 3335"/>
                <a:gd name="T51" fmla="*/ 3 h 1300"/>
                <a:gd name="T52" fmla="*/ 1262 w 3335"/>
                <a:gd name="T53" fmla="*/ 27 h 1300"/>
                <a:gd name="T54" fmla="*/ 963 w 3335"/>
                <a:gd name="T55" fmla="*/ 74 h 1300"/>
                <a:gd name="T56" fmla="*/ 689 w 3335"/>
                <a:gd name="T57" fmla="*/ 143 h 1300"/>
                <a:gd name="T58" fmla="*/ 452 w 3335"/>
                <a:gd name="T59" fmla="*/ 230 h 1300"/>
                <a:gd name="T60" fmla="*/ 257 w 3335"/>
                <a:gd name="T61" fmla="*/ 331 h 1300"/>
                <a:gd name="T62" fmla="*/ 114 w 3335"/>
                <a:gd name="T63" fmla="*/ 444 h 1300"/>
                <a:gd name="T64" fmla="*/ 27 w 3335"/>
                <a:gd name="T65" fmla="*/ 565 h 1300"/>
                <a:gd name="T66" fmla="*/ 0 w 3335"/>
                <a:gd name="T67" fmla="*/ 688 h 1300"/>
                <a:gd name="T68" fmla="*/ 1 w 3335"/>
                <a:gd name="T69" fmla="*/ 688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35" h="1300">
                  <a:moveTo>
                    <a:pt x="0" y="688"/>
                  </a:moveTo>
                  <a:lnTo>
                    <a:pt x="34" y="811"/>
                  </a:lnTo>
                  <a:lnTo>
                    <a:pt x="126" y="927"/>
                  </a:lnTo>
                  <a:lnTo>
                    <a:pt x="274" y="1034"/>
                  </a:lnTo>
                  <a:lnTo>
                    <a:pt x="473" y="1126"/>
                  </a:lnTo>
                  <a:lnTo>
                    <a:pt x="714" y="1201"/>
                  </a:lnTo>
                  <a:lnTo>
                    <a:pt x="991" y="1256"/>
                  </a:lnTo>
                  <a:lnTo>
                    <a:pt x="1291" y="1290"/>
                  </a:lnTo>
                  <a:lnTo>
                    <a:pt x="1607" y="1300"/>
                  </a:lnTo>
                  <a:lnTo>
                    <a:pt x="1924" y="1287"/>
                  </a:lnTo>
                  <a:lnTo>
                    <a:pt x="2232" y="1251"/>
                  </a:lnTo>
                  <a:lnTo>
                    <a:pt x="2519" y="1192"/>
                  </a:lnTo>
                  <a:lnTo>
                    <a:pt x="2776" y="1114"/>
                  </a:lnTo>
                  <a:lnTo>
                    <a:pt x="2993" y="1020"/>
                  </a:lnTo>
                  <a:lnTo>
                    <a:pt x="3162" y="911"/>
                  </a:lnTo>
                  <a:lnTo>
                    <a:pt x="3278" y="794"/>
                  </a:lnTo>
                  <a:lnTo>
                    <a:pt x="3335" y="671"/>
                  </a:lnTo>
                  <a:lnTo>
                    <a:pt x="3332" y="548"/>
                  </a:lnTo>
                  <a:lnTo>
                    <a:pt x="3269" y="428"/>
                  </a:lnTo>
                  <a:lnTo>
                    <a:pt x="3149" y="316"/>
                  </a:lnTo>
                  <a:lnTo>
                    <a:pt x="2974" y="217"/>
                  </a:lnTo>
                  <a:lnTo>
                    <a:pt x="2753" y="133"/>
                  </a:lnTo>
                  <a:lnTo>
                    <a:pt x="2493" y="67"/>
                  </a:lnTo>
                  <a:lnTo>
                    <a:pt x="2203" y="23"/>
                  </a:lnTo>
                  <a:lnTo>
                    <a:pt x="1893" y="0"/>
                  </a:lnTo>
                  <a:lnTo>
                    <a:pt x="1576" y="3"/>
                  </a:lnTo>
                  <a:lnTo>
                    <a:pt x="1262" y="27"/>
                  </a:lnTo>
                  <a:lnTo>
                    <a:pt x="963" y="74"/>
                  </a:lnTo>
                  <a:lnTo>
                    <a:pt x="689" y="143"/>
                  </a:lnTo>
                  <a:lnTo>
                    <a:pt x="452" y="230"/>
                  </a:lnTo>
                  <a:lnTo>
                    <a:pt x="257" y="331"/>
                  </a:lnTo>
                  <a:lnTo>
                    <a:pt x="114" y="444"/>
                  </a:lnTo>
                  <a:lnTo>
                    <a:pt x="27" y="565"/>
                  </a:lnTo>
                  <a:lnTo>
                    <a:pt x="0" y="688"/>
                  </a:lnTo>
                  <a:lnTo>
                    <a:pt x="1" y="688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13" name="Freeform 13"/>
            <p:cNvSpPr>
              <a:spLocks/>
            </p:cNvSpPr>
            <p:nvPr/>
          </p:nvSpPr>
          <p:spPr bwMode="auto">
            <a:xfrm>
              <a:off x="1089" y="2372"/>
              <a:ext cx="1" cy="11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8 h 78"/>
                <a:gd name="T4" fmla="*/ 1 w 1"/>
                <a:gd name="T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8">
                  <a:moveTo>
                    <a:pt x="0" y="0"/>
                  </a:moveTo>
                  <a:lnTo>
                    <a:pt x="0" y="78"/>
                  </a:lnTo>
                  <a:lnTo>
                    <a:pt x="1" y="78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14" name="Freeform 14"/>
            <p:cNvSpPr>
              <a:spLocks/>
            </p:cNvSpPr>
            <p:nvPr/>
          </p:nvSpPr>
          <p:spPr bwMode="auto">
            <a:xfrm>
              <a:off x="840" y="2377"/>
              <a:ext cx="1" cy="49"/>
            </a:xfrm>
            <a:custGeom>
              <a:avLst/>
              <a:gdLst>
                <a:gd name="T0" fmla="*/ 0 w 1"/>
                <a:gd name="T1" fmla="*/ 0 h 341"/>
                <a:gd name="T2" fmla="*/ 0 w 1"/>
                <a:gd name="T3" fmla="*/ 341 h 341"/>
                <a:gd name="T4" fmla="*/ 1 w 1"/>
                <a:gd name="T5" fmla="*/ 341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41">
                  <a:moveTo>
                    <a:pt x="0" y="0"/>
                  </a:moveTo>
                  <a:lnTo>
                    <a:pt x="0" y="341"/>
                  </a:lnTo>
                  <a:lnTo>
                    <a:pt x="1" y="341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15" name="Freeform 15"/>
            <p:cNvSpPr>
              <a:spLocks/>
            </p:cNvSpPr>
            <p:nvPr/>
          </p:nvSpPr>
          <p:spPr bwMode="auto">
            <a:xfrm>
              <a:off x="840" y="2439"/>
              <a:ext cx="1" cy="13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16" name="Freeform 16"/>
            <p:cNvSpPr>
              <a:spLocks/>
            </p:cNvSpPr>
            <p:nvPr/>
          </p:nvSpPr>
          <p:spPr bwMode="auto">
            <a:xfrm>
              <a:off x="840" y="2465"/>
              <a:ext cx="1" cy="78"/>
            </a:xfrm>
            <a:custGeom>
              <a:avLst/>
              <a:gdLst>
                <a:gd name="T0" fmla="*/ 0 w 1"/>
                <a:gd name="T1" fmla="*/ 0 h 544"/>
                <a:gd name="T2" fmla="*/ 0 w 1"/>
                <a:gd name="T3" fmla="*/ 544 h 544"/>
                <a:gd name="T4" fmla="*/ 1 w 1"/>
                <a:gd name="T5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4">
                  <a:moveTo>
                    <a:pt x="0" y="0"/>
                  </a:moveTo>
                  <a:lnTo>
                    <a:pt x="0" y="544"/>
                  </a:lnTo>
                  <a:lnTo>
                    <a:pt x="1" y="544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27" name="Freeform 27"/>
            <p:cNvSpPr>
              <a:spLocks/>
            </p:cNvSpPr>
            <p:nvPr/>
          </p:nvSpPr>
          <p:spPr bwMode="auto">
            <a:xfrm>
              <a:off x="592" y="2383"/>
              <a:ext cx="497" cy="1"/>
            </a:xfrm>
            <a:custGeom>
              <a:avLst/>
              <a:gdLst>
                <a:gd name="T0" fmla="*/ 0 w 3342"/>
                <a:gd name="T1" fmla="*/ 3341 w 3342"/>
                <a:gd name="T2" fmla="*/ 3342 w 334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342">
                  <a:moveTo>
                    <a:pt x="0" y="0"/>
                  </a:moveTo>
                  <a:lnTo>
                    <a:pt x="3341" y="0"/>
                  </a:lnTo>
                  <a:lnTo>
                    <a:pt x="3342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28" name="Freeform 28"/>
            <p:cNvSpPr>
              <a:spLocks/>
            </p:cNvSpPr>
            <p:nvPr/>
          </p:nvSpPr>
          <p:spPr bwMode="auto">
            <a:xfrm>
              <a:off x="592" y="2383"/>
              <a:ext cx="497" cy="1"/>
            </a:xfrm>
            <a:custGeom>
              <a:avLst/>
              <a:gdLst>
                <a:gd name="T0" fmla="*/ 3341 w 3341"/>
                <a:gd name="T1" fmla="*/ 0 w 3341"/>
                <a:gd name="T2" fmla="*/ 1 w 334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341">
                  <a:moveTo>
                    <a:pt x="334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32" name="Freeform 32"/>
            <p:cNvSpPr>
              <a:spLocks/>
            </p:cNvSpPr>
            <p:nvPr/>
          </p:nvSpPr>
          <p:spPr bwMode="auto">
            <a:xfrm>
              <a:off x="610" y="2330"/>
              <a:ext cx="23" cy="21"/>
            </a:xfrm>
            <a:custGeom>
              <a:avLst/>
              <a:gdLst>
                <a:gd name="T0" fmla="*/ 0 w 152"/>
                <a:gd name="T1" fmla="*/ 151 h 151"/>
                <a:gd name="T2" fmla="*/ 151 w 152"/>
                <a:gd name="T3" fmla="*/ 0 h 151"/>
                <a:gd name="T4" fmla="*/ 152 w 152"/>
                <a:gd name="T5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151">
                  <a:moveTo>
                    <a:pt x="0" y="151"/>
                  </a:moveTo>
                  <a:lnTo>
                    <a:pt x="151" y="0"/>
                  </a:lnTo>
                  <a:lnTo>
                    <a:pt x="152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33" name="Freeform 33"/>
            <p:cNvSpPr>
              <a:spLocks/>
            </p:cNvSpPr>
            <p:nvPr/>
          </p:nvSpPr>
          <p:spPr bwMode="auto">
            <a:xfrm>
              <a:off x="597" y="2303"/>
              <a:ext cx="102" cy="98"/>
            </a:xfrm>
            <a:custGeom>
              <a:avLst/>
              <a:gdLst>
                <a:gd name="T0" fmla="*/ 0 w 682"/>
                <a:gd name="T1" fmla="*/ 680 h 680"/>
                <a:gd name="T2" fmla="*/ 127 w 682"/>
                <a:gd name="T3" fmla="*/ 553 h 680"/>
                <a:gd name="T4" fmla="*/ 681 w 682"/>
                <a:gd name="T5" fmla="*/ 0 h 680"/>
                <a:gd name="T6" fmla="*/ 682 w 682"/>
                <a:gd name="T7" fmla="*/ 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2" h="680">
                  <a:moveTo>
                    <a:pt x="0" y="680"/>
                  </a:moveTo>
                  <a:lnTo>
                    <a:pt x="127" y="553"/>
                  </a:lnTo>
                  <a:lnTo>
                    <a:pt x="681" y="0"/>
                  </a:lnTo>
                  <a:lnTo>
                    <a:pt x="682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34" name="Freeform 34"/>
            <p:cNvSpPr>
              <a:spLocks/>
            </p:cNvSpPr>
            <p:nvPr/>
          </p:nvSpPr>
          <p:spPr bwMode="auto">
            <a:xfrm>
              <a:off x="615" y="2293"/>
              <a:ext cx="133" cy="128"/>
            </a:xfrm>
            <a:custGeom>
              <a:avLst/>
              <a:gdLst>
                <a:gd name="T0" fmla="*/ 0 w 896"/>
                <a:gd name="T1" fmla="*/ 894 h 894"/>
                <a:gd name="T2" fmla="*/ 265 w 896"/>
                <a:gd name="T3" fmla="*/ 629 h 894"/>
                <a:gd name="T4" fmla="*/ 895 w 896"/>
                <a:gd name="T5" fmla="*/ 0 h 894"/>
                <a:gd name="T6" fmla="*/ 896 w 896"/>
                <a:gd name="T7" fmla="*/ 0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6" h="894">
                  <a:moveTo>
                    <a:pt x="0" y="894"/>
                  </a:moveTo>
                  <a:lnTo>
                    <a:pt x="265" y="629"/>
                  </a:lnTo>
                  <a:lnTo>
                    <a:pt x="895" y="0"/>
                  </a:lnTo>
                  <a:lnTo>
                    <a:pt x="896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35" name="Freeform 35"/>
            <p:cNvSpPr>
              <a:spLocks/>
            </p:cNvSpPr>
            <p:nvPr/>
          </p:nvSpPr>
          <p:spPr bwMode="auto">
            <a:xfrm>
              <a:off x="638" y="2287"/>
              <a:ext cx="155" cy="149"/>
            </a:xfrm>
            <a:custGeom>
              <a:avLst/>
              <a:gdLst>
                <a:gd name="T0" fmla="*/ 0 w 1036"/>
                <a:gd name="T1" fmla="*/ 1036 h 1036"/>
                <a:gd name="T2" fmla="*/ 365 w 1036"/>
                <a:gd name="T3" fmla="*/ 670 h 1036"/>
                <a:gd name="T4" fmla="*/ 1035 w 1036"/>
                <a:gd name="T5" fmla="*/ 0 h 1036"/>
                <a:gd name="T6" fmla="*/ 1036 w 1036"/>
                <a:gd name="T7" fmla="*/ 0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6" h="1036">
                  <a:moveTo>
                    <a:pt x="0" y="1036"/>
                  </a:moveTo>
                  <a:lnTo>
                    <a:pt x="365" y="670"/>
                  </a:lnTo>
                  <a:lnTo>
                    <a:pt x="1035" y="0"/>
                  </a:lnTo>
                  <a:lnTo>
                    <a:pt x="1036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36" name="Freeform 36"/>
            <p:cNvSpPr>
              <a:spLocks/>
            </p:cNvSpPr>
            <p:nvPr/>
          </p:nvSpPr>
          <p:spPr bwMode="auto">
            <a:xfrm>
              <a:off x="664" y="2284"/>
              <a:ext cx="169" cy="163"/>
            </a:xfrm>
            <a:custGeom>
              <a:avLst/>
              <a:gdLst>
                <a:gd name="T0" fmla="*/ 0 w 1133"/>
                <a:gd name="T1" fmla="*/ 1132 h 1132"/>
                <a:gd name="T2" fmla="*/ 444 w 1133"/>
                <a:gd name="T3" fmla="*/ 688 h 1132"/>
                <a:gd name="T4" fmla="*/ 1132 w 1133"/>
                <a:gd name="T5" fmla="*/ 0 h 1132"/>
                <a:gd name="T6" fmla="*/ 1133 w 1133"/>
                <a:gd name="T7" fmla="*/ 0 h 1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33" h="1132">
                  <a:moveTo>
                    <a:pt x="0" y="1132"/>
                  </a:moveTo>
                  <a:lnTo>
                    <a:pt x="444" y="688"/>
                  </a:lnTo>
                  <a:lnTo>
                    <a:pt x="1132" y="0"/>
                  </a:lnTo>
                  <a:lnTo>
                    <a:pt x="1133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37" name="Freeform 37"/>
            <p:cNvSpPr>
              <a:spLocks/>
            </p:cNvSpPr>
            <p:nvPr/>
          </p:nvSpPr>
          <p:spPr bwMode="auto">
            <a:xfrm>
              <a:off x="694" y="2284"/>
              <a:ext cx="177" cy="171"/>
            </a:xfrm>
            <a:custGeom>
              <a:avLst/>
              <a:gdLst>
                <a:gd name="T0" fmla="*/ 0 w 1195"/>
                <a:gd name="T1" fmla="*/ 1194 h 1194"/>
                <a:gd name="T2" fmla="*/ 506 w 1195"/>
                <a:gd name="T3" fmla="*/ 688 h 1194"/>
                <a:gd name="T4" fmla="*/ 1194 w 1195"/>
                <a:gd name="T5" fmla="*/ 0 h 1194"/>
                <a:gd name="T6" fmla="*/ 1195 w 1195"/>
                <a:gd name="T7" fmla="*/ 0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5" h="1194">
                  <a:moveTo>
                    <a:pt x="0" y="1194"/>
                  </a:moveTo>
                  <a:lnTo>
                    <a:pt x="506" y="688"/>
                  </a:lnTo>
                  <a:lnTo>
                    <a:pt x="1194" y="0"/>
                  </a:lnTo>
                  <a:lnTo>
                    <a:pt x="1195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38" name="Freeform 38"/>
            <p:cNvSpPr>
              <a:spLocks/>
            </p:cNvSpPr>
            <p:nvPr/>
          </p:nvSpPr>
          <p:spPr bwMode="auto">
            <a:xfrm>
              <a:off x="725" y="2286"/>
              <a:ext cx="183" cy="176"/>
            </a:xfrm>
            <a:custGeom>
              <a:avLst/>
              <a:gdLst>
                <a:gd name="T0" fmla="*/ 0 w 1227"/>
                <a:gd name="T1" fmla="*/ 1226 h 1226"/>
                <a:gd name="T2" fmla="*/ 552 w 1227"/>
                <a:gd name="T3" fmla="*/ 674 h 1226"/>
                <a:gd name="T4" fmla="*/ 1226 w 1227"/>
                <a:gd name="T5" fmla="*/ 0 h 1226"/>
                <a:gd name="T6" fmla="*/ 1227 w 1227"/>
                <a:gd name="T7" fmla="*/ 0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7" h="1226">
                  <a:moveTo>
                    <a:pt x="0" y="1226"/>
                  </a:moveTo>
                  <a:lnTo>
                    <a:pt x="552" y="674"/>
                  </a:lnTo>
                  <a:lnTo>
                    <a:pt x="1226" y="0"/>
                  </a:lnTo>
                  <a:lnTo>
                    <a:pt x="1227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39" name="Freeform 39"/>
            <p:cNvSpPr>
              <a:spLocks/>
            </p:cNvSpPr>
            <p:nvPr/>
          </p:nvSpPr>
          <p:spPr bwMode="auto">
            <a:xfrm>
              <a:off x="758" y="2388"/>
              <a:ext cx="83" cy="79"/>
            </a:xfrm>
            <a:custGeom>
              <a:avLst/>
              <a:gdLst>
                <a:gd name="T0" fmla="*/ 0 w 552"/>
                <a:gd name="T1" fmla="*/ 552 h 552"/>
                <a:gd name="T2" fmla="*/ 551 w 552"/>
                <a:gd name="T3" fmla="*/ 0 h 552"/>
                <a:gd name="T4" fmla="*/ 552 w 552"/>
                <a:gd name="T5" fmla="*/ 0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2" h="552">
                  <a:moveTo>
                    <a:pt x="0" y="552"/>
                  </a:moveTo>
                  <a:lnTo>
                    <a:pt x="551" y="0"/>
                  </a:lnTo>
                  <a:lnTo>
                    <a:pt x="552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40" name="Freeform 40"/>
            <p:cNvSpPr>
              <a:spLocks/>
            </p:cNvSpPr>
            <p:nvPr/>
          </p:nvSpPr>
          <p:spPr bwMode="auto">
            <a:xfrm>
              <a:off x="845" y="2290"/>
              <a:ext cx="97" cy="93"/>
            </a:xfrm>
            <a:custGeom>
              <a:avLst/>
              <a:gdLst>
                <a:gd name="T0" fmla="*/ 0 w 647"/>
                <a:gd name="T1" fmla="*/ 645 h 645"/>
                <a:gd name="T2" fmla="*/ 646 w 647"/>
                <a:gd name="T3" fmla="*/ 0 h 645"/>
                <a:gd name="T4" fmla="*/ 647 w 647"/>
                <a:gd name="T5" fmla="*/ 0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47" h="645">
                  <a:moveTo>
                    <a:pt x="0" y="645"/>
                  </a:moveTo>
                  <a:lnTo>
                    <a:pt x="646" y="0"/>
                  </a:lnTo>
                  <a:lnTo>
                    <a:pt x="647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41" name="Freeform 41"/>
            <p:cNvSpPr>
              <a:spLocks/>
            </p:cNvSpPr>
            <p:nvPr/>
          </p:nvSpPr>
          <p:spPr bwMode="auto">
            <a:xfrm>
              <a:off x="840" y="2383"/>
              <a:ext cx="5" cy="5"/>
            </a:xfrm>
            <a:custGeom>
              <a:avLst/>
              <a:gdLst>
                <a:gd name="T0" fmla="*/ 0 w 35"/>
                <a:gd name="T1" fmla="*/ 34 h 34"/>
                <a:gd name="T2" fmla="*/ 34 w 35"/>
                <a:gd name="T3" fmla="*/ 0 h 34"/>
                <a:gd name="T4" fmla="*/ 35 w 35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34">
                  <a:moveTo>
                    <a:pt x="0" y="34"/>
                  </a:moveTo>
                  <a:lnTo>
                    <a:pt x="34" y="0"/>
                  </a:lnTo>
                  <a:lnTo>
                    <a:pt x="35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42" name="Freeform 42"/>
            <p:cNvSpPr>
              <a:spLocks/>
            </p:cNvSpPr>
            <p:nvPr/>
          </p:nvSpPr>
          <p:spPr bwMode="auto">
            <a:xfrm>
              <a:off x="794" y="2424"/>
              <a:ext cx="47" cy="45"/>
            </a:xfrm>
            <a:custGeom>
              <a:avLst/>
              <a:gdLst>
                <a:gd name="T0" fmla="*/ 0 w 315"/>
                <a:gd name="T1" fmla="*/ 314 h 314"/>
                <a:gd name="T2" fmla="*/ 314 w 315"/>
                <a:gd name="T3" fmla="*/ 0 h 314"/>
                <a:gd name="T4" fmla="*/ 315 w 315"/>
                <a:gd name="T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5" h="314">
                  <a:moveTo>
                    <a:pt x="0" y="314"/>
                  </a:moveTo>
                  <a:lnTo>
                    <a:pt x="314" y="0"/>
                  </a:lnTo>
                  <a:lnTo>
                    <a:pt x="315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43" name="Freeform 43"/>
            <p:cNvSpPr>
              <a:spLocks/>
            </p:cNvSpPr>
            <p:nvPr/>
          </p:nvSpPr>
          <p:spPr bwMode="auto">
            <a:xfrm>
              <a:off x="884" y="2296"/>
              <a:ext cx="90" cy="87"/>
            </a:xfrm>
            <a:custGeom>
              <a:avLst/>
              <a:gdLst>
                <a:gd name="T0" fmla="*/ 0 w 607"/>
                <a:gd name="T1" fmla="*/ 605 h 605"/>
                <a:gd name="T2" fmla="*/ 606 w 607"/>
                <a:gd name="T3" fmla="*/ 0 h 605"/>
                <a:gd name="T4" fmla="*/ 607 w 607"/>
                <a:gd name="T5" fmla="*/ 0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7" h="605">
                  <a:moveTo>
                    <a:pt x="0" y="605"/>
                  </a:moveTo>
                  <a:lnTo>
                    <a:pt x="606" y="0"/>
                  </a:lnTo>
                  <a:lnTo>
                    <a:pt x="607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44" name="Freeform 44"/>
            <p:cNvSpPr>
              <a:spLocks/>
            </p:cNvSpPr>
            <p:nvPr/>
          </p:nvSpPr>
          <p:spPr bwMode="auto">
            <a:xfrm>
              <a:off x="840" y="2383"/>
              <a:ext cx="44" cy="41"/>
            </a:xfrm>
            <a:custGeom>
              <a:avLst/>
              <a:gdLst>
                <a:gd name="T0" fmla="*/ 0 w 292"/>
                <a:gd name="T1" fmla="*/ 292 h 292"/>
                <a:gd name="T2" fmla="*/ 291 w 292"/>
                <a:gd name="T3" fmla="*/ 0 h 292"/>
                <a:gd name="T4" fmla="*/ 292 w 292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2" h="292">
                  <a:moveTo>
                    <a:pt x="0" y="292"/>
                  </a:moveTo>
                  <a:lnTo>
                    <a:pt x="291" y="0"/>
                  </a:lnTo>
                  <a:lnTo>
                    <a:pt x="292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45" name="Freeform 45"/>
            <p:cNvSpPr>
              <a:spLocks/>
            </p:cNvSpPr>
            <p:nvPr/>
          </p:nvSpPr>
          <p:spPr bwMode="auto">
            <a:xfrm>
              <a:off x="831" y="2461"/>
              <a:ext cx="10" cy="10"/>
            </a:xfrm>
            <a:custGeom>
              <a:avLst/>
              <a:gdLst>
                <a:gd name="T0" fmla="*/ 0 w 64"/>
                <a:gd name="T1" fmla="*/ 63 h 63"/>
                <a:gd name="T2" fmla="*/ 63 w 64"/>
                <a:gd name="T3" fmla="*/ 0 h 63"/>
                <a:gd name="T4" fmla="*/ 64 w 64"/>
                <a:gd name="T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4" h="63">
                  <a:moveTo>
                    <a:pt x="0" y="63"/>
                  </a:moveTo>
                  <a:lnTo>
                    <a:pt x="63" y="0"/>
                  </a:lnTo>
                  <a:lnTo>
                    <a:pt x="64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46" name="Freeform 46"/>
            <p:cNvSpPr>
              <a:spLocks/>
            </p:cNvSpPr>
            <p:nvPr/>
          </p:nvSpPr>
          <p:spPr bwMode="auto">
            <a:xfrm>
              <a:off x="922" y="2304"/>
              <a:ext cx="82" cy="79"/>
            </a:xfrm>
            <a:custGeom>
              <a:avLst/>
              <a:gdLst>
                <a:gd name="T0" fmla="*/ 0 w 552"/>
                <a:gd name="T1" fmla="*/ 550 h 550"/>
                <a:gd name="T2" fmla="*/ 551 w 552"/>
                <a:gd name="T3" fmla="*/ 0 h 550"/>
                <a:gd name="T4" fmla="*/ 552 w 552"/>
                <a:gd name="T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2" h="550">
                  <a:moveTo>
                    <a:pt x="0" y="550"/>
                  </a:moveTo>
                  <a:lnTo>
                    <a:pt x="551" y="0"/>
                  </a:lnTo>
                  <a:lnTo>
                    <a:pt x="552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47" name="Freeform 47"/>
            <p:cNvSpPr>
              <a:spLocks/>
            </p:cNvSpPr>
            <p:nvPr/>
          </p:nvSpPr>
          <p:spPr bwMode="auto">
            <a:xfrm>
              <a:off x="840" y="2383"/>
              <a:ext cx="82" cy="78"/>
            </a:xfrm>
            <a:custGeom>
              <a:avLst/>
              <a:gdLst>
                <a:gd name="T0" fmla="*/ 0 w 549"/>
                <a:gd name="T1" fmla="*/ 549 h 549"/>
                <a:gd name="T2" fmla="*/ 548 w 549"/>
                <a:gd name="T3" fmla="*/ 0 h 549"/>
                <a:gd name="T4" fmla="*/ 549 w 549"/>
                <a:gd name="T5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9" h="549">
                  <a:moveTo>
                    <a:pt x="0" y="549"/>
                  </a:moveTo>
                  <a:lnTo>
                    <a:pt x="548" y="0"/>
                  </a:lnTo>
                  <a:lnTo>
                    <a:pt x="549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48" name="Freeform 48"/>
            <p:cNvSpPr>
              <a:spLocks/>
            </p:cNvSpPr>
            <p:nvPr/>
          </p:nvSpPr>
          <p:spPr bwMode="auto">
            <a:xfrm>
              <a:off x="870" y="2314"/>
              <a:ext cx="162" cy="155"/>
            </a:xfrm>
            <a:custGeom>
              <a:avLst/>
              <a:gdLst>
                <a:gd name="T0" fmla="*/ 0 w 1083"/>
                <a:gd name="T1" fmla="*/ 1081 h 1081"/>
                <a:gd name="T2" fmla="*/ 602 w 1083"/>
                <a:gd name="T3" fmla="*/ 479 h 1081"/>
                <a:gd name="T4" fmla="*/ 1082 w 1083"/>
                <a:gd name="T5" fmla="*/ 0 h 1081"/>
                <a:gd name="T6" fmla="*/ 1083 w 1083"/>
                <a:gd name="T7" fmla="*/ 0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3" h="1081">
                  <a:moveTo>
                    <a:pt x="0" y="1081"/>
                  </a:moveTo>
                  <a:lnTo>
                    <a:pt x="602" y="479"/>
                  </a:lnTo>
                  <a:lnTo>
                    <a:pt x="1082" y="0"/>
                  </a:lnTo>
                  <a:lnTo>
                    <a:pt x="1083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49" name="Freeform 49"/>
            <p:cNvSpPr>
              <a:spLocks/>
            </p:cNvSpPr>
            <p:nvPr/>
          </p:nvSpPr>
          <p:spPr bwMode="auto">
            <a:xfrm>
              <a:off x="913" y="2327"/>
              <a:ext cx="143" cy="138"/>
            </a:xfrm>
            <a:custGeom>
              <a:avLst/>
              <a:gdLst>
                <a:gd name="T0" fmla="*/ 0 w 962"/>
                <a:gd name="T1" fmla="*/ 963 h 963"/>
                <a:gd name="T2" fmla="*/ 572 w 962"/>
                <a:gd name="T3" fmla="*/ 390 h 963"/>
                <a:gd name="T4" fmla="*/ 961 w 962"/>
                <a:gd name="T5" fmla="*/ 0 h 963"/>
                <a:gd name="T6" fmla="*/ 962 w 962"/>
                <a:gd name="T7" fmla="*/ 0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2" h="963">
                  <a:moveTo>
                    <a:pt x="0" y="963"/>
                  </a:moveTo>
                  <a:lnTo>
                    <a:pt x="572" y="390"/>
                  </a:lnTo>
                  <a:lnTo>
                    <a:pt x="961" y="0"/>
                  </a:lnTo>
                  <a:lnTo>
                    <a:pt x="962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50" name="Freeform 50"/>
            <p:cNvSpPr>
              <a:spLocks/>
            </p:cNvSpPr>
            <p:nvPr/>
          </p:nvSpPr>
          <p:spPr bwMode="auto">
            <a:xfrm>
              <a:off x="960" y="2346"/>
              <a:ext cx="115" cy="110"/>
            </a:xfrm>
            <a:custGeom>
              <a:avLst/>
              <a:gdLst>
                <a:gd name="T0" fmla="*/ 0 w 769"/>
                <a:gd name="T1" fmla="*/ 768 h 768"/>
                <a:gd name="T2" fmla="*/ 514 w 769"/>
                <a:gd name="T3" fmla="*/ 253 h 768"/>
                <a:gd name="T4" fmla="*/ 768 w 769"/>
                <a:gd name="T5" fmla="*/ 0 h 768"/>
                <a:gd name="T6" fmla="*/ 769 w 769"/>
                <a:gd name="T7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9" h="768">
                  <a:moveTo>
                    <a:pt x="0" y="768"/>
                  </a:moveTo>
                  <a:lnTo>
                    <a:pt x="514" y="253"/>
                  </a:lnTo>
                  <a:lnTo>
                    <a:pt x="768" y="0"/>
                  </a:lnTo>
                  <a:lnTo>
                    <a:pt x="769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51" name="Freeform 51"/>
            <p:cNvSpPr>
              <a:spLocks/>
            </p:cNvSpPr>
            <p:nvPr/>
          </p:nvSpPr>
          <p:spPr bwMode="auto">
            <a:xfrm>
              <a:off x="1016" y="2370"/>
              <a:ext cx="72" cy="70"/>
            </a:xfrm>
            <a:custGeom>
              <a:avLst/>
              <a:gdLst>
                <a:gd name="T0" fmla="*/ 0 w 488"/>
                <a:gd name="T1" fmla="*/ 487 h 487"/>
                <a:gd name="T2" fmla="*/ 398 w 488"/>
                <a:gd name="T3" fmla="*/ 88 h 487"/>
                <a:gd name="T4" fmla="*/ 487 w 488"/>
                <a:gd name="T5" fmla="*/ 0 h 487"/>
                <a:gd name="T6" fmla="*/ 488 w 488"/>
                <a:gd name="T7" fmla="*/ 0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8" h="487">
                  <a:moveTo>
                    <a:pt x="0" y="487"/>
                  </a:moveTo>
                  <a:lnTo>
                    <a:pt x="398" y="88"/>
                  </a:lnTo>
                  <a:lnTo>
                    <a:pt x="487" y="0"/>
                  </a:lnTo>
                  <a:lnTo>
                    <a:pt x="488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51259" name="Group 59"/>
          <p:cNvGrpSpPr>
            <a:grpSpLocks/>
          </p:cNvGrpSpPr>
          <p:nvPr/>
        </p:nvGrpSpPr>
        <p:grpSpPr bwMode="auto">
          <a:xfrm>
            <a:off x="936625" y="5905500"/>
            <a:ext cx="795338" cy="908050"/>
            <a:chOff x="590" y="3720"/>
            <a:chExt cx="501" cy="572"/>
          </a:xfrm>
        </p:grpSpPr>
        <p:sp>
          <p:nvSpPr>
            <p:cNvPr id="51260" name="Freeform 60"/>
            <p:cNvSpPr>
              <a:spLocks/>
            </p:cNvSpPr>
            <p:nvPr/>
          </p:nvSpPr>
          <p:spPr bwMode="auto">
            <a:xfrm>
              <a:off x="592" y="4038"/>
              <a:ext cx="497" cy="1"/>
            </a:xfrm>
            <a:custGeom>
              <a:avLst/>
              <a:gdLst>
                <a:gd name="T0" fmla="*/ 0 w 3342"/>
                <a:gd name="T1" fmla="*/ 3341 w 3342"/>
                <a:gd name="T2" fmla="*/ 3342 w 334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342">
                  <a:moveTo>
                    <a:pt x="0" y="0"/>
                  </a:moveTo>
                  <a:lnTo>
                    <a:pt x="3341" y="0"/>
                  </a:lnTo>
                  <a:lnTo>
                    <a:pt x="334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61" name="Freeform 61"/>
            <p:cNvSpPr>
              <a:spLocks/>
            </p:cNvSpPr>
            <p:nvPr/>
          </p:nvSpPr>
          <p:spPr bwMode="auto">
            <a:xfrm>
              <a:off x="590" y="3796"/>
              <a:ext cx="501" cy="482"/>
            </a:xfrm>
            <a:custGeom>
              <a:avLst/>
              <a:gdLst>
                <a:gd name="T0" fmla="*/ 3367 w 3368"/>
                <a:gd name="T1" fmla="*/ 1683 h 3366"/>
                <a:gd name="T2" fmla="*/ 3284 w 3368"/>
                <a:gd name="T3" fmla="*/ 1163 h 3366"/>
                <a:gd name="T4" fmla="*/ 3045 w 3368"/>
                <a:gd name="T5" fmla="*/ 693 h 3366"/>
                <a:gd name="T6" fmla="*/ 2673 w 3368"/>
                <a:gd name="T7" fmla="*/ 321 h 3366"/>
                <a:gd name="T8" fmla="*/ 2204 w 3368"/>
                <a:gd name="T9" fmla="*/ 83 h 3366"/>
                <a:gd name="T10" fmla="*/ 1684 w 3368"/>
                <a:gd name="T11" fmla="*/ 0 h 3366"/>
                <a:gd name="T12" fmla="*/ 1164 w 3368"/>
                <a:gd name="T13" fmla="*/ 83 h 3366"/>
                <a:gd name="T14" fmla="*/ 694 w 3368"/>
                <a:gd name="T15" fmla="*/ 321 h 3366"/>
                <a:gd name="T16" fmla="*/ 322 w 3368"/>
                <a:gd name="T17" fmla="*/ 693 h 3366"/>
                <a:gd name="T18" fmla="*/ 83 w 3368"/>
                <a:gd name="T19" fmla="*/ 1163 h 3366"/>
                <a:gd name="T20" fmla="*/ 0 w 3368"/>
                <a:gd name="T21" fmla="*/ 1683 h 3366"/>
                <a:gd name="T22" fmla="*/ 83 w 3368"/>
                <a:gd name="T23" fmla="*/ 2204 h 3366"/>
                <a:gd name="T24" fmla="*/ 322 w 3368"/>
                <a:gd name="T25" fmla="*/ 2673 h 3366"/>
                <a:gd name="T26" fmla="*/ 694 w 3368"/>
                <a:gd name="T27" fmla="*/ 3045 h 3366"/>
                <a:gd name="T28" fmla="*/ 1164 w 3368"/>
                <a:gd name="T29" fmla="*/ 3284 h 3366"/>
                <a:gd name="T30" fmla="*/ 1684 w 3368"/>
                <a:gd name="T31" fmla="*/ 3366 h 3366"/>
                <a:gd name="T32" fmla="*/ 2204 w 3368"/>
                <a:gd name="T33" fmla="*/ 3284 h 3366"/>
                <a:gd name="T34" fmla="*/ 2673 w 3368"/>
                <a:gd name="T35" fmla="*/ 3045 h 3366"/>
                <a:gd name="T36" fmla="*/ 3045 w 3368"/>
                <a:gd name="T37" fmla="*/ 2673 h 3366"/>
                <a:gd name="T38" fmla="*/ 3284 w 3368"/>
                <a:gd name="T39" fmla="*/ 2204 h 3366"/>
                <a:gd name="T40" fmla="*/ 3367 w 3368"/>
                <a:gd name="T41" fmla="*/ 1683 h 3366"/>
                <a:gd name="T42" fmla="*/ 3368 w 3368"/>
                <a:gd name="T43" fmla="*/ 1683 h 3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368" h="3366">
                  <a:moveTo>
                    <a:pt x="3367" y="1683"/>
                  </a:moveTo>
                  <a:lnTo>
                    <a:pt x="3284" y="1163"/>
                  </a:lnTo>
                  <a:lnTo>
                    <a:pt x="3045" y="693"/>
                  </a:lnTo>
                  <a:lnTo>
                    <a:pt x="2673" y="321"/>
                  </a:lnTo>
                  <a:lnTo>
                    <a:pt x="2204" y="83"/>
                  </a:lnTo>
                  <a:lnTo>
                    <a:pt x="1684" y="0"/>
                  </a:lnTo>
                  <a:lnTo>
                    <a:pt x="1164" y="83"/>
                  </a:lnTo>
                  <a:lnTo>
                    <a:pt x="694" y="321"/>
                  </a:lnTo>
                  <a:lnTo>
                    <a:pt x="322" y="693"/>
                  </a:lnTo>
                  <a:lnTo>
                    <a:pt x="83" y="1163"/>
                  </a:lnTo>
                  <a:lnTo>
                    <a:pt x="0" y="1683"/>
                  </a:lnTo>
                  <a:lnTo>
                    <a:pt x="83" y="2204"/>
                  </a:lnTo>
                  <a:lnTo>
                    <a:pt x="322" y="2673"/>
                  </a:lnTo>
                  <a:lnTo>
                    <a:pt x="694" y="3045"/>
                  </a:lnTo>
                  <a:lnTo>
                    <a:pt x="1164" y="3284"/>
                  </a:lnTo>
                  <a:lnTo>
                    <a:pt x="1684" y="3366"/>
                  </a:lnTo>
                  <a:lnTo>
                    <a:pt x="2204" y="3284"/>
                  </a:lnTo>
                  <a:lnTo>
                    <a:pt x="2673" y="3045"/>
                  </a:lnTo>
                  <a:lnTo>
                    <a:pt x="3045" y="2673"/>
                  </a:lnTo>
                  <a:lnTo>
                    <a:pt x="3284" y="2204"/>
                  </a:lnTo>
                  <a:lnTo>
                    <a:pt x="3367" y="1683"/>
                  </a:lnTo>
                  <a:lnTo>
                    <a:pt x="3368" y="1683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62" name="Freeform 62"/>
            <p:cNvSpPr>
              <a:spLocks/>
            </p:cNvSpPr>
            <p:nvPr/>
          </p:nvSpPr>
          <p:spPr bwMode="auto">
            <a:xfrm>
              <a:off x="621" y="3826"/>
              <a:ext cx="100" cy="97"/>
            </a:xfrm>
            <a:custGeom>
              <a:avLst/>
              <a:gdLst>
                <a:gd name="T0" fmla="*/ 0 w 675"/>
                <a:gd name="T1" fmla="*/ 673 h 673"/>
                <a:gd name="T2" fmla="*/ 674 w 675"/>
                <a:gd name="T3" fmla="*/ 0 h 673"/>
                <a:gd name="T4" fmla="*/ 675 w 675"/>
                <a:gd name="T5" fmla="*/ 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5" h="673">
                  <a:moveTo>
                    <a:pt x="0" y="673"/>
                  </a:moveTo>
                  <a:lnTo>
                    <a:pt x="674" y="0"/>
                  </a:lnTo>
                  <a:lnTo>
                    <a:pt x="67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63" name="Freeform 63"/>
            <p:cNvSpPr>
              <a:spLocks/>
            </p:cNvSpPr>
            <p:nvPr/>
          </p:nvSpPr>
          <p:spPr bwMode="auto">
            <a:xfrm>
              <a:off x="600" y="3807"/>
              <a:ext cx="170" cy="162"/>
            </a:xfrm>
            <a:custGeom>
              <a:avLst/>
              <a:gdLst>
                <a:gd name="T0" fmla="*/ 0 w 1140"/>
                <a:gd name="T1" fmla="*/ 1138 h 1138"/>
                <a:gd name="T2" fmla="*/ 1139 w 1140"/>
                <a:gd name="T3" fmla="*/ 0 h 1138"/>
                <a:gd name="T4" fmla="*/ 1140 w 1140"/>
                <a:gd name="T5" fmla="*/ 0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40" h="1138">
                  <a:moveTo>
                    <a:pt x="0" y="1138"/>
                  </a:moveTo>
                  <a:lnTo>
                    <a:pt x="1139" y="0"/>
                  </a:lnTo>
                  <a:lnTo>
                    <a:pt x="114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64" name="Freeform 64"/>
            <p:cNvSpPr>
              <a:spLocks/>
            </p:cNvSpPr>
            <p:nvPr/>
          </p:nvSpPr>
          <p:spPr bwMode="auto">
            <a:xfrm>
              <a:off x="592" y="3799"/>
              <a:ext cx="214" cy="205"/>
            </a:xfrm>
            <a:custGeom>
              <a:avLst/>
              <a:gdLst>
                <a:gd name="T0" fmla="*/ 0 w 1439"/>
                <a:gd name="T1" fmla="*/ 1437 h 1437"/>
                <a:gd name="T2" fmla="*/ 1437 w 1439"/>
                <a:gd name="T3" fmla="*/ 0 h 1437"/>
                <a:gd name="T4" fmla="*/ 1439 w 1439"/>
                <a:gd name="T5" fmla="*/ 0 h 1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39" h="1437">
                  <a:moveTo>
                    <a:pt x="0" y="1437"/>
                  </a:moveTo>
                  <a:lnTo>
                    <a:pt x="1437" y="0"/>
                  </a:lnTo>
                  <a:lnTo>
                    <a:pt x="143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65" name="Freeform 65"/>
            <p:cNvSpPr>
              <a:spLocks/>
            </p:cNvSpPr>
            <p:nvPr/>
          </p:nvSpPr>
          <p:spPr bwMode="auto">
            <a:xfrm>
              <a:off x="590" y="3796"/>
              <a:ext cx="247" cy="238"/>
            </a:xfrm>
            <a:custGeom>
              <a:avLst/>
              <a:gdLst>
                <a:gd name="T0" fmla="*/ 0 w 1663"/>
                <a:gd name="T1" fmla="*/ 1661 h 1661"/>
                <a:gd name="T2" fmla="*/ 1662 w 1663"/>
                <a:gd name="T3" fmla="*/ 0 h 1661"/>
                <a:gd name="T4" fmla="*/ 1663 w 1663"/>
                <a:gd name="T5" fmla="*/ 0 h 1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3" h="1661">
                  <a:moveTo>
                    <a:pt x="0" y="1661"/>
                  </a:moveTo>
                  <a:lnTo>
                    <a:pt x="1662" y="0"/>
                  </a:lnTo>
                  <a:lnTo>
                    <a:pt x="166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66" name="Freeform 66"/>
            <p:cNvSpPr>
              <a:spLocks/>
            </p:cNvSpPr>
            <p:nvPr/>
          </p:nvSpPr>
          <p:spPr bwMode="auto">
            <a:xfrm>
              <a:off x="591" y="3797"/>
              <a:ext cx="274" cy="264"/>
            </a:xfrm>
            <a:custGeom>
              <a:avLst/>
              <a:gdLst>
                <a:gd name="T0" fmla="*/ 0 w 1839"/>
                <a:gd name="T1" fmla="*/ 1838 h 1838"/>
                <a:gd name="T2" fmla="*/ 1838 w 1839"/>
                <a:gd name="T3" fmla="*/ 0 h 1838"/>
                <a:gd name="T4" fmla="*/ 1839 w 1839"/>
                <a:gd name="T5" fmla="*/ 0 h 1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39" h="1838">
                  <a:moveTo>
                    <a:pt x="0" y="1838"/>
                  </a:moveTo>
                  <a:lnTo>
                    <a:pt x="1838" y="0"/>
                  </a:lnTo>
                  <a:lnTo>
                    <a:pt x="183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67" name="Freeform 67"/>
            <p:cNvSpPr>
              <a:spLocks/>
            </p:cNvSpPr>
            <p:nvPr/>
          </p:nvSpPr>
          <p:spPr bwMode="auto">
            <a:xfrm>
              <a:off x="595" y="3801"/>
              <a:ext cx="295" cy="284"/>
            </a:xfrm>
            <a:custGeom>
              <a:avLst/>
              <a:gdLst>
                <a:gd name="T0" fmla="*/ 0 w 1983"/>
                <a:gd name="T1" fmla="*/ 1980 h 1980"/>
                <a:gd name="T2" fmla="*/ 1982 w 1983"/>
                <a:gd name="T3" fmla="*/ 0 h 1980"/>
                <a:gd name="T4" fmla="*/ 1983 w 1983"/>
                <a:gd name="T5" fmla="*/ 0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3" h="1980">
                  <a:moveTo>
                    <a:pt x="0" y="1980"/>
                  </a:moveTo>
                  <a:lnTo>
                    <a:pt x="1982" y="0"/>
                  </a:lnTo>
                  <a:lnTo>
                    <a:pt x="198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68" name="Freeform 68"/>
            <p:cNvSpPr>
              <a:spLocks/>
            </p:cNvSpPr>
            <p:nvPr/>
          </p:nvSpPr>
          <p:spPr bwMode="auto">
            <a:xfrm>
              <a:off x="601" y="3807"/>
              <a:ext cx="311" cy="299"/>
            </a:xfrm>
            <a:custGeom>
              <a:avLst/>
              <a:gdLst>
                <a:gd name="T0" fmla="*/ 0 w 2097"/>
                <a:gd name="T1" fmla="*/ 2097 h 2097"/>
                <a:gd name="T2" fmla="*/ 2096 w 2097"/>
                <a:gd name="T3" fmla="*/ 0 h 2097"/>
                <a:gd name="T4" fmla="*/ 2097 w 2097"/>
                <a:gd name="T5" fmla="*/ 0 h 2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97" h="2097">
                  <a:moveTo>
                    <a:pt x="0" y="2097"/>
                  </a:moveTo>
                  <a:lnTo>
                    <a:pt x="2096" y="0"/>
                  </a:lnTo>
                  <a:lnTo>
                    <a:pt x="209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69" name="Freeform 69"/>
            <p:cNvSpPr>
              <a:spLocks/>
            </p:cNvSpPr>
            <p:nvPr/>
          </p:nvSpPr>
          <p:spPr bwMode="auto">
            <a:xfrm>
              <a:off x="608" y="3814"/>
              <a:ext cx="326" cy="313"/>
            </a:xfrm>
            <a:custGeom>
              <a:avLst/>
              <a:gdLst>
                <a:gd name="T0" fmla="*/ 0 w 2190"/>
                <a:gd name="T1" fmla="*/ 2188 h 2188"/>
                <a:gd name="T2" fmla="*/ 2189 w 2190"/>
                <a:gd name="T3" fmla="*/ 0 h 2188"/>
                <a:gd name="T4" fmla="*/ 2190 w 2190"/>
                <a:gd name="T5" fmla="*/ 0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0" h="2188">
                  <a:moveTo>
                    <a:pt x="0" y="2188"/>
                  </a:moveTo>
                  <a:lnTo>
                    <a:pt x="2189" y="0"/>
                  </a:lnTo>
                  <a:lnTo>
                    <a:pt x="219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70" name="Freeform 70"/>
            <p:cNvSpPr>
              <a:spLocks/>
            </p:cNvSpPr>
            <p:nvPr/>
          </p:nvSpPr>
          <p:spPr bwMode="auto">
            <a:xfrm>
              <a:off x="617" y="3822"/>
              <a:ext cx="336" cy="324"/>
            </a:xfrm>
            <a:custGeom>
              <a:avLst/>
              <a:gdLst>
                <a:gd name="T0" fmla="*/ 0 w 2264"/>
                <a:gd name="T1" fmla="*/ 2262 h 2262"/>
                <a:gd name="T2" fmla="*/ 2262 w 2264"/>
                <a:gd name="T3" fmla="*/ 0 h 2262"/>
                <a:gd name="T4" fmla="*/ 2264 w 2264"/>
                <a:gd name="T5" fmla="*/ 0 h 2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64" h="2262">
                  <a:moveTo>
                    <a:pt x="0" y="2262"/>
                  </a:moveTo>
                  <a:lnTo>
                    <a:pt x="2262" y="0"/>
                  </a:lnTo>
                  <a:lnTo>
                    <a:pt x="226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71" name="Freeform 71"/>
            <p:cNvSpPr>
              <a:spLocks/>
            </p:cNvSpPr>
            <p:nvPr/>
          </p:nvSpPr>
          <p:spPr bwMode="auto">
            <a:xfrm>
              <a:off x="627" y="3832"/>
              <a:ext cx="345" cy="332"/>
            </a:xfrm>
            <a:custGeom>
              <a:avLst/>
              <a:gdLst>
                <a:gd name="T0" fmla="*/ 0 w 2317"/>
                <a:gd name="T1" fmla="*/ 2316 h 2316"/>
                <a:gd name="T2" fmla="*/ 2316 w 2317"/>
                <a:gd name="T3" fmla="*/ 0 h 2316"/>
                <a:gd name="T4" fmla="*/ 2317 w 2317"/>
                <a:gd name="T5" fmla="*/ 0 h 2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17" h="2316">
                  <a:moveTo>
                    <a:pt x="0" y="2316"/>
                  </a:moveTo>
                  <a:lnTo>
                    <a:pt x="2316" y="0"/>
                  </a:lnTo>
                  <a:lnTo>
                    <a:pt x="231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72" name="Freeform 72"/>
            <p:cNvSpPr>
              <a:spLocks/>
            </p:cNvSpPr>
            <p:nvPr/>
          </p:nvSpPr>
          <p:spPr bwMode="auto">
            <a:xfrm>
              <a:off x="639" y="3844"/>
              <a:ext cx="350" cy="336"/>
            </a:xfrm>
            <a:custGeom>
              <a:avLst/>
              <a:gdLst>
                <a:gd name="T0" fmla="*/ 0 w 2355"/>
                <a:gd name="T1" fmla="*/ 2352 h 2352"/>
                <a:gd name="T2" fmla="*/ 2353 w 2355"/>
                <a:gd name="T3" fmla="*/ 0 h 2352"/>
                <a:gd name="T4" fmla="*/ 2355 w 2355"/>
                <a:gd name="T5" fmla="*/ 0 h 2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5" h="2352">
                  <a:moveTo>
                    <a:pt x="0" y="2352"/>
                  </a:moveTo>
                  <a:lnTo>
                    <a:pt x="2353" y="0"/>
                  </a:lnTo>
                  <a:lnTo>
                    <a:pt x="235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73" name="Freeform 73"/>
            <p:cNvSpPr>
              <a:spLocks/>
            </p:cNvSpPr>
            <p:nvPr/>
          </p:nvSpPr>
          <p:spPr bwMode="auto">
            <a:xfrm>
              <a:off x="652" y="3856"/>
              <a:ext cx="353" cy="340"/>
            </a:xfrm>
            <a:custGeom>
              <a:avLst/>
              <a:gdLst>
                <a:gd name="T0" fmla="*/ 0 w 2375"/>
                <a:gd name="T1" fmla="*/ 2375 h 2375"/>
                <a:gd name="T2" fmla="*/ 2374 w 2375"/>
                <a:gd name="T3" fmla="*/ 0 h 2375"/>
                <a:gd name="T4" fmla="*/ 2375 w 2375"/>
                <a:gd name="T5" fmla="*/ 0 h 2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75" h="2375">
                  <a:moveTo>
                    <a:pt x="0" y="2375"/>
                  </a:moveTo>
                  <a:lnTo>
                    <a:pt x="2374" y="0"/>
                  </a:lnTo>
                  <a:lnTo>
                    <a:pt x="237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74" name="Freeform 74"/>
            <p:cNvSpPr>
              <a:spLocks/>
            </p:cNvSpPr>
            <p:nvPr/>
          </p:nvSpPr>
          <p:spPr bwMode="auto">
            <a:xfrm>
              <a:off x="665" y="3869"/>
              <a:ext cx="354" cy="341"/>
            </a:xfrm>
            <a:custGeom>
              <a:avLst/>
              <a:gdLst>
                <a:gd name="T0" fmla="*/ 0 w 2382"/>
                <a:gd name="T1" fmla="*/ 2380 h 2380"/>
                <a:gd name="T2" fmla="*/ 2381 w 2382"/>
                <a:gd name="T3" fmla="*/ 0 h 2380"/>
                <a:gd name="T4" fmla="*/ 2382 w 2382"/>
                <a:gd name="T5" fmla="*/ 0 h 2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82" h="2380">
                  <a:moveTo>
                    <a:pt x="0" y="2380"/>
                  </a:moveTo>
                  <a:lnTo>
                    <a:pt x="2381" y="0"/>
                  </a:lnTo>
                  <a:lnTo>
                    <a:pt x="238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75" name="Freeform 75"/>
            <p:cNvSpPr>
              <a:spLocks/>
            </p:cNvSpPr>
            <p:nvPr/>
          </p:nvSpPr>
          <p:spPr bwMode="auto">
            <a:xfrm>
              <a:off x="680" y="3884"/>
              <a:ext cx="353" cy="339"/>
            </a:xfrm>
            <a:custGeom>
              <a:avLst/>
              <a:gdLst>
                <a:gd name="T0" fmla="*/ 0 w 2372"/>
                <a:gd name="T1" fmla="*/ 2370 h 2370"/>
                <a:gd name="T2" fmla="*/ 2371 w 2372"/>
                <a:gd name="T3" fmla="*/ 0 h 2370"/>
                <a:gd name="T4" fmla="*/ 2372 w 2372"/>
                <a:gd name="T5" fmla="*/ 0 h 2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72" h="2370">
                  <a:moveTo>
                    <a:pt x="0" y="2370"/>
                  </a:moveTo>
                  <a:lnTo>
                    <a:pt x="2371" y="0"/>
                  </a:lnTo>
                  <a:lnTo>
                    <a:pt x="237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76" name="Freeform 76"/>
            <p:cNvSpPr>
              <a:spLocks/>
            </p:cNvSpPr>
            <p:nvPr/>
          </p:nvSpPr>
          <p:spPr bwMode="auto">
            <a:xfrm>
              <a:off x="697" y="3899"/>
              <a:ext cx="348" cy="336"/>
            </a:xfrm>
            <a:custGeom>
              <a:avLst/>
              <a:gdLst>
                <a:gd name="T0" fmla="*/ 0 w 2345"/>
                <a:gd name="T1" fmla="*/ 2344 h 2344"/>
                <a:gd name="T2" fmla="*/ 2344 w 2345"/>
                <a:gd name="T3" fmla="*/ 0 h 2344"/>
                <a:gd name="T4" fmla="*/ 2345 w 2345"/>
                <a:gd name="T5" fmla="*/ 0 h 2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5" h="2344">
                  <a:moveTo>
                    <a:pt x="0" y="2344"/>
                  </a:moveTo>
                  <a:lnTo>
                    <a:pt x="2344" y="0"/>
                  </a:lnTo>
                  <a:lnTo>
                    <a:pt x="234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77" name="Freeform 77"/>
            <p:cNvSpPr>
              <a:spLocks/>
            </p:cNvSpPr>
            <p:nvPr/>
          </p:nvSpPr>
          <p:spPr bwMode="auto">
            <a:xfrm>
              <a:off x="714" y="3917"/>
              <a:ext cx="343" cy="329"/>
            </a:xfrm>
            <a:custGeom>
              <a:avLst/>
              <a:gdLst>
                <a:gd name="T0" fmla="*/ 0 w 2302"/>
                <a:gd name="T1" fmla="*/ 2302 h 2302"/>
                <a:gd name="T2" fmla="*/ 2301 w 2302"/>
                <a:gd name="T3" fmla="*/ 0 h 2302"/>
                <a:gd name="T4" fmla="*/ 2302 w 2302"/>
                <a:gd name="T5" fmla="*/ 0 h 2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02" h="2302">
                  <a:moveTo>
                    <a:pt x="0" y="2302"/>
                  </a:moveTo>
                  <a:lnTo>
                    <a:pt x="2301" y="0"/>
                  </a:lnTo>
                  <a:lnTo>
                    <a:pt x="230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78" name="Freeform 78"/>
            <p:cNvSpPr>
              <a:spLocks/>
            </p:cNvSpPr>
            <p:nvPr/>
          </p:nvSpPr>
          <p:spPr bwMode="auto">
            <a:xfrm>
              <a:off x="733" y="3935"/>
              <a:ext cx="334" cy="320"/>
            </a:xfrm>
            <a:custGeom>
              <a:avLst/>
              <a:gdLst>
                <a:gd name="T0" fmla="*/ 0 w 2243"/>
                <a:gd name="T1" fmla="*/ 2241 h 2241"/>
                <a:gd name="T2" fmla="*/ 2242 w 2243"/>
                <a:gd name="T3" fmla="*/ 0 h 2241"/>
                <a:gd name="T4" fmla="*/ 2243 w 2243"/>
                <a:gd name="T5" fmla="*/ 0 h 2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43" h="2241">
                  <a:moveTo>
                    <a:pt x="0" y="2241"/>
                  </a:moveTo>
                  <a:lnTo>
                    <a:pt x="2242" y="0"/>
                  </a:lnTo>
                  <a:lnTo>
                    <a:pt x="224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79" name="Freeform 79"/>
            <p:cNvSpPr>
              <a:spLocks/>
            </p:cNvSpPr>
            <p:nvPr/>
          </p:nvSpPr>
          <p:spPr bwMode="auto">
            <a:xfrm>
              <a:off x="754" y="3954"/>
              <a:ext cx="322" cy="310"/>
            </a:xfrm>
            <a:custGeom>
              <a:avLst/>
              <a:gdLst>
                <a:gd name="T0" fmla="*/ 0 w 2165"/>
                <a:gd name="T1" fmla="*/ 2163 h 2163"/>
                <a:gd name="T2" fmla="*/ 2164 w 2165"/>
                <a:gd name="T3" fmla="*/ 0 h 2163"/>
                <a:gd name="T4" fmla="*/ 2165 w 2165"/>
                <a:gd name="T5" fmla="*/ 0 h 2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5" h="2163">
                  <a:moveTo>
                    <a:pt x="0" y="2163"/>
                  </a:moveTo>
                  <a:lnTo>
                    <a:pt x="2164" y="0"/>
                  </a:lnTo>
                  <a:lnTo>
                    <a:pt x="216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80" name="Freeform 80"/>
            <p:cNvSpPr>
              <a:spLocks/>
            </p:cNvSpPr>
            <p:nvPr/>
          </p:nvSpPr>
          <p:spPr bwMode="auto">
            <a:xfrm>
              <a:off x="775" y="3975"/>
              <a:ext cx="307" cy="295"/>
            </a:xfrm>
            <a:custGeom>
              <a:avLst/>
              <a:gdLst>
                <a:gd name="T0" fmla="*/ 0 w 2066"/>
                <a:gd name="T1" fmla="*/ 2064 h 2064"/>
                <a:gd name="T2" fmla="*/ 2065 w 2066"/>
                <a:gd name="T3" fmla="*/ 0 h 2064"/>
                <a:gd name="T4" fmla="*/ 2066 w 2066"/>
                <a:gd name="T5" fmla="*/ 0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66" h="2064">
                  <a:moveTo>
                    <a:pt x="0" y="2064"/>
                  </a:moveTo>
                  <a:lnTo>
                    <a:pt x="2065" y="0"/>
                  </a:lnTo>
                  <a:lnTo>
                    <a:pt x="206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81" name="Freeform 81"/>
            <p:cNvSpPr>
              <a:spLocks/>
            </p:cNvSpPr>
            <p:nvPr/>
          </p:nvSpPr>
          <p:spPr bwMode="auto">
            <a:xfrm>
              <a:off x="798" y="3997"/>
              <a:ext cx="289" cy="278"/>
            </a:xfrm>
            <a:custGeom>
              <a:avLst/>
              <a:gdLst>
                <a:gd name="T0" fmla="*/ 0 w 1942"/>
                <a:gd name="T1" fmla="*/ 1941 h 1941"/>
                <a:gd name="T2" fmla="*/ 1941 w 1942"/>
                <a:gd name="T3" fmla="*/ 0 h 1941"/>
                <a:gd name="T4" fmla="*/ 1942 w 1942"/>
                <a:gd name="T5" fmla="*/ 0 h 19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2" h="1941">
                  <a:moveTo>
                    <a:pt x="0" y="1941"/>
                  </a:moveTo>
                  <a:lnTo>
                    <a:pt x="1941" y="0"/>
                  </a:lnTo>
                  <a:lnTo>
                    <a:pt x="194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82" name="Freeform 82"/>
            <p:cNvSpPr>
              <a:spLocks/>
            </p:cNvSpPr>
            <p:nvPr/>
          </p:nvSpPr>
          <p:spPr bwMode="auto">
            <a:xfrm>
              <a:off x="824" y="4022"/>
              <a:ext cx="266" cy="256"/>
            </a:xfrm>
            <a:custGeom>
              <a:avLst/>
              <a:gdLst>
                <a:gd name="T0" fmla="*/ 0 w 1790"/>
                <a:gd name="T1" fmla="*/ 1788 h 1788"/>
                <a:gd name="T2" fmla="*/ 1789 w 1790"/>
                <a:gd name="T3" fmla="*/ 0 h 1788"/>
                <a:gd name="T4" fmla="*/ 1790 w 1790"/>
                <a:gd name="T5" fmla="*/ 0 h 1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90" h="1788">
                  <a:moveTo>
                    <a:pt x="0" y="1788"/>
                  </a:moveTo>
                  <a:lnTo>
                    <a:pt x="1789" y="0"/>
                  </a:lnTo>
                  <a:lnTo>
                    <a:pt x="179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83" name="Freeform 83"/>
            <p:cNvSpPr>
              <a:spLocks/>
            </p:cNvSpPr>
            <p:nvPr/>
          </p:nvSpPr>
          <p:spPr bwMode="auto">
            <a:xfrm>
              <a:off x="853" y="4050"/>
              <a:ext cx="238" cy="228"/>
            </a:xfrm>
            <a:custGeom>
              <a:avLst/>
              <a:gdLst>
                <a:gd name="T0" fmla="*/ 0 w 1599"/>
                <a:gd name="T1" fmla="*/ 1598 h 1598"/>
                <a:gd name="T2" fmla="*/ 1598 w 1599"/>
                <a:gd name="T3" fmla="*/ 0 h 1598"/>
                <a:gd name="T4" fmla="*/ 1599 w 1599"/>
                <a:gd name="T5" fmla="*/ 0 h 1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9" h="1598">
                  <a:moveTo>
                    <a:pt x="0" y="1598"/>
                  </a:moveTo>
                  <a:lnTo>
                    <a:pt x="1598" y="0"/>
                  </a:lnTo>
                  <a:lnTo>
                    <a:pt x="159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84" name="Freeform 84"/>
            <p:cNvSpPr>
              <a:spLocks/>
            </p:cNvSpPr>
            <p:nvPr/>
          </p:nvSpPr>
          <p:spPr bwMode="auto">
            <a:xfrm>
              <a:off x="885" y="4081"/>
              <a:ext cx="202" cy="194"/>
            </a:xfrm>
            <a:custGeom>
              <a:avLst/>
              <a:gdLst>
                <a:gd name="T0" fmla="*/ 0 w 1357"/>
                <a:gd name="T1" fmla="*/ 1355 h 1355"/>
                <a:gd name="T2" fmla="*/ 1356 w 1357"/>
                <a:gd name="T3" fmla="*/ 0 h 1355"/>
                <a:gd name="T4" fmla="*/ 1357 w 1357"/>
                <a:gd name="T5" fmla="*/ 0 h 1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57" h="1355">
                  <a:moveTo>
                    <a:pt x="0" y="1355"/>
                  </a:moveTo>
                  <a:lnTo>
                    <a:pt x="1356" y="0"/>
                  </a:lnTo>
                  <a:lnTo>
                    <a:pt x="135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85" name="Freeform 85"/>
            <p:cNvSpPr>
              <a:spLocks/>
            </p:cNvSpPr>
            <p:nvPr/>
          </p:nvSpPr>
          <p:spPr bwMode="auto">
            <a:xfrm>
              <a:off x="924" y="4118"/>
              <a:ext cx="153" cy="147"/>
            </a:xfrm>
            <a:custGeom>
              <a:avLst/>
              <a:gdLst>
                <a:gd name="T0" fmla="*/ 0 w 1025"/>
                <a:gd name="T1" fmla="*/ 1023 h 1023"/>
                <a:gd name="T2" fmla="*/ 1024 w 1025"/>
                <a:gd name="T3" fmla="*/ 0 h 1023"/>
                <a:gd name="T4" fmla="*/ 1025 w 1025"/>
                <a:gd name="T5" fmla="*/ 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5" h="1023">
                  <a:moveTo>
                    <a:pt x="0" y="1023"/>
                  </a:moveTo>
                  <a:lnTo>
                    <a:pt x="1024" y="0"/>
                  </a:lnTo>
                  <a:lnTo>
                    <a:pt x="102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86" name="Freeform 86"/>
            <p:cNvSpPr>
              <a:spLocks/>
            </p:cNvSpPr>
            <p:nvPr/>
          </p:nvSpPr>
          <p:spPr bwMode="auto">
            <a:xfrm>
              <a:off x="983" y="4174"/>
              <a:ext cx="63" cy="61"/>
            </a:xfrm>
            <a:custGeom>
              <a:avLst/>
              <a:gdLst>
                <a:gd name="T0" fmla="*/ 0 w 428"/>
                <a:gd name="T1" fmla="*/ 426 h 426"/>
                <a:gd name="T2" fmla="*/ 426 w 428"/>
                <a:gd name="T3" fmla="*/ 0 h 426"/>
                <a:gd name="T4" fmla="*/ 428 w 428"/>
                <a:gd name="T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" h="426">
                  <a:moveTo>
                    <a:pt x="0" y="426"/>
                  </a:moveTo>
                  <a:lnTo>
                    <a:pt x="426" y="0"/>
                  </a:lnTo>
                  <a:lnTo>
                    <a:pt x="42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87" name="Freeform 87"/>
            <p:cNvSpPr>
              <a:spLocks/>
            </p:cNvSpPr>
            <p:nvPr/>
          </p:nvSpPr>
          <p:spPr bwMode="auto">
            <a:xfrm>
              <a:off x="840" y="3720"/>
              <a:ext cx="1" cy="13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88" name="Freeform 88"/>
            <p:cNvSpPr>
              <a:spLocks/>
            </p:cNvSpPr>
            <p:nvPr/>
          </p:nvSpPr>
          <p:spPr bwMode="auto">
            <a:xfrm>
              <a:off x="840" y="3746"/>
              <a:ext cx="1" cy="78"/>
            </a:xfrm>
            <a:custGeom>
              <a:avLst/>
              <a:gdLst>
                <a:gd name="T0" fmla="*/ 0 w 1"/>
                <a:gd name="T1" fmla="*/ 0 h 546"/>
                <a:gd name="T2" fmla="*/ 0 w 1"/>
                <a:gd name="T3" fmla="*/ 546 h 546"/>
                <a:gd name="T4" fmla="*/ 1 w 1"/>
                <a:gd name="T5" fmla="*/ 546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6">
                  <a:moveTo>
                    <a:pt x="0" y="0"/>
                  </a:moveTo>
                  <a:lnTo>
                    <a:pt x="0" y="546"/>
                  </a:lnTo>
                  <a:lnTo>
                    <a:pt x="1" y="546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89" name="Freeform 89"/>
            <p:cNvSpPr>
              <a:spLocks/>
            </p:cNvSpPr>
            <p:nvPr/>
          </p:nvSpPr>
          <p:spPr bwMode="auto">
            <a:xfrm>
              <a:off x="840" y="3837"/>
              <a:ext cx="1" cy="13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90" name="Freeform 90"/>
            <p:cNvSpPr>
              <a:spLocks/>
            </p:cNvSpPr>
            <p:nvPr/>
          </p:nvSpPr>
          <p:spPr bwMode="auto">
            <a:xfrm>
              <a:off x="840" y="3863"/>
              <a:ext cx="1" cy="78"/>
            </a:xfrm>
            <a:custGeom>
              <a:avLst/>
              <a:gdLst>
                <a:gd name="T0" fmla="*/ 0 w 1"/>
                <a:gd name="T1" fmla="*/ 0 h 544"/>
                <a:gd name="T2" fmla="*/ 0 w 1"/>
                <a:gd name="T3" fmla="*/ 544 h 544"/>
                <a:gd name="T4" fmla="*/ 1 w 1"/>
                <a:gd name="T5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4">
                  <a:moveTo>
                    <a:pt x="0" y="0"/>
                  </a:moveTo>
                  <a:lnTo>
                    <a:pt x="0" y="544"/>
                  </a:lnTo>
                  <a:lnTo>
                    <a:pt x="1" y="544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91" name="Freeform 91"/>
            <p:cNvSpPr>
              <a:spLocks/>
            </p:cNvSpPr>
            <p:nvPr/>
          </p:nvSpPr>
          <p:spPr bwMode="auto">
            <a:xfrm>
              <a:off x="840" y="3954"/>
              <a:ext cx="1" cy="13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92" name="Freeform 92"/>
            <p:cNvSpPr>
              <a:spLocks/>
            </p:cNvSpPr>
            <p:nvPr/>
          </p:nvSpPr>
          <p:spPr bwMode="auto">
            <a:xfrm>
              <a:off x="840" y="3980"/>
              <a:ext cx="1" cy="78"/>
            </a:xfrm>
            <a:custGeom>
              <a:avLst/>
              <a:gdLst>
                <a:gd name="T0" fmla="*/ 0 w 1"/>
                <a:gd name="T1" fmla="*/ 0 h 545"/>
                <a:gd name="T2" fmla="*/ 0 w 1"/>
                <a:gd name="T3" fmla="*/ 545 h 545"/>
                <a:gd name="T4" fmla="*/ 1 w 1"/>
                <a:gd name="T5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5">
                  <a:moveTo>
                    <a:pt x="0" y="0"/>
                  </a:moveTo>
                  <a:lnTo>
                    <a:pt x="0" y="545"/>
                  </a:lnTo>
                  <a:lnTo>
                    <a:pt x="1" y="545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93" name="Freeform 93"/>
            <p:cNvSpPr>
              <a:spLocks/>
            </p:cNvSpPr>
            <p:nvPr/>
          </p:nvSpPr>
          <p:spPr bwMode="auto">
            <a:xfrm>
              <a:off x="840" y="4071"/>
              <a:ext cx="1" cy="13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94" name="Freeform 94"/>
            <p:cNvSpPr>
              <a:spLocks/>
            </p:cNvSpPr>
            <p:nvPr/>
          </p:nvSpPr>
          <p:spPr bwMode="auto">
            <a:xfrm>
              <a:off x="840" y="4097"/>
              <a:ext cx="1" cy="78"/>
            </a:xfrm>
            <a:custGeom>
              <a:avLst/>
              <a:gdLst>
                <a:gd name="T0" fmla="*/ 0 w 1"/>
                <a:gd name="T1" fmla="*/ 0 h 545"/>
                <a:gd name="T2" fmla="*/ 0 w 1"/>
                <a:gd name="T3" fmla="*/ 545 h 545"/>
                <a:gd name="T4" fmla="*/ 1 w 1"/>
                <a:gd name="T5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5">
                  <a:moveTo>
                    <a:pt x="0" y="0"/>
                  </a:moveTo>
                  <a:lnTo>
                    <a:pt x="0" y="545"/>
                  </a:lnTo>
                  <a:lnTo>
                    <a:pt x="1" y="545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95" name="Freeform 95"/>
            <p:cNvSpPr>
              <a:spLocks/>
            </p:cNvSpPr>
            <p:nvPr/>
          </p:nvSpPr>
          <p:spPr bwMode="auto">
            <a:xfrm>
              <a:off x="840" y="4188"/>
              <a:ext cx="1" cy="13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96" name="Freeform 96"/>
            <p:cNvSpPr>
              <a:spLocks/>
            </p:cNvSpPr>
            <p:nvPr/>
          </p:nvSpPr>
          <p:spPr bwMode="auto">
            <a:xfrm>
              <a:off x="840" y="4214"/>
              <a:ext cx="1" cy="78"/>
            </a:xfrm>
            <a:custGeom>
              <a:avLst/>
              <a:gdLst>
                <a:gd name="T0" fmla="*/ 0 w 1"/>
                <a:gd name="T1" fmla="*/ 0 h 545"/>
                <a:gd name="T2" fmla="*/ 0 w 1"/>
                <a:gd name="T3" fmla="*/ 545 h 545"/>
                <a:gd name="T4" fmla="*/ 1 w 1"/>
                <a:gd name="T5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5">
                  <a:moveTo>
                    <a:pt x="0" y="0"/>
                  </a:moveTo>
                  <a:lnTo>
                    <a:pt x="0" y="545"/>
                  </a:lnTo>
                  <a:lnTo>
                    <a:pt x="1" y="545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1298" name="Freeform 98"/>
          <p:cNvSpPr>
            <a:spLocks/>
          </p:cNvSpPr>
          <p:nvPr/>
        </p:nvSpPr>
        <p:spPr bwMode="auto">
          <a:xfrm>
            <a:off x="2627313" y="3365500"/>
            <a:ext cx="1919287" cy="1417638"/>
          </a:xfrm>
          <a:custGeom>
            <a:avLst/>
            <a:gdLst>
              <a:gd name="T0" fmla="*/ 0 w 6978"/>
              <a:gd name="T1" fmla="*/ 2869 h 4576"/>
              <a:gd name="T2" fmla="*/ 4892 w 6978"/>
              <a:gd name="T3" fmla="*/ 0 h 4576"/>
              <a:gd name="T4" fmla="*/ 6978 w 6978"/>
              <a:gd name="T5" fmla="*/ 1845 h 4576"/>
              <a:gd name="T6" fmla="*/ 1711 w 6978"/>
              <a:gd name="T7" fmla="*/ 4576 h 4576"/>
              <a:gd name="T8" fmla="*/ 0 w 6978"/>
              <a:gd name="T9" fmla="*/ 2869 h 4576"/>
              <a:gd name="T10" fmla="*/ 1 w 6978"/>
              <a:gd name="T11" fmla="*/ 2869 h 4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978" h="4576">
                <a:moveTo>
                  <a:pt x="0" y="2869"/>
                </a:moveTo>
                <a:lnTo>
                  <a:pt x="4892" y="0"/>
                </a:lnTo>
                <a:lnTo>
                  <a:pt x="6978" y="1845"/>
                </a:lnTo>
                <a:lnTo>
                  <a:pt x="1711" y="4576"/>
                </a:lnTo>
                <a:lnTo>
                  <a:pt x="0" y="2869"/>
                </a:lnTo>
                <a:lnTo>
                  <a:pt x="1" y="2869"/>
                </a:lnTo>
              </a:path>
            </a:pathLst>
          </a:custGeom>
          <a:solidFill>
            <a:srgbClr val="00FFFF">
              <a:alpha val="47000"/>
            </a:srgbClr>
          </a:solidFill>
          <a:ln w="22225" cmpd="sng">
            <a:solidFill>
              <a:schemeClr val="tx2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349" name="Freeform 149"/>
          <p:cNvSpPr>
            <a:spLocks/>
          </p:cNvSpPr>
          <p:nvPr/>
        </p:nvSpPr>
        <p:spPr bwMode="auto">
          <a:xfrm>
            <a:off x="3695700" y="6727825"/>
            <a:ext cx="1588" cy="85725"/>
          </a:xfrm>
          <a:custGeom>
            <a:avLst/>
            <a:gdLst>
              <a:gd name="T0" fmla="*/ 0 w 1"/>
              <a:gd name="T1" fmla="*/ 0 h 224"/>
              <a:gd name="T2" fmla="*/ 0 w 1"/>
              <a:gd name="T3" fmla="*/ 224 h 224"/>
              <a:gd name="T4" fmla="*/ 1 w 1"/>
              <a:gd name="T5" fmla="*/ 224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24">
                <a:moveTo>
                  <a:pt x="0" y="0"/>
                </a:moveTo>
                <a:lnTo>
                  <a:pt x="0" y="224"/>
                </a:lnTo>
                <a:lnTo>
                  <a:pt x="1" y="224"/>
                </a:lnTo>
              </a:path>
            </a:pathLst>
          </a:custGeom>
          <a:noFill/>
          <a:ln w="2222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1353" name="Group 153"/>
          <p:cNvGrpSpPr>
            <a:grpSpLocks/>
          </p:cNvGrpSpPr>
          <p:nvPr/>
        </p:nvGrpSpPr>
        <p:grpSpPr bwMode="auto">
          <a:xfrm>
            <a:off x="4202113" y="5935663"/>
            <a:ext cx="984250" cy="819150"/>
            <a:chOff x="2647" y="3739"/>
            <a:chExt cx="620" cy="516"/>
          </a:xfrm>
        </p:grpSpPr>
        <p:sp>
          <p:nvSpPr>
            <p:cNvPr id="51354" name="Freeform 154"/>
            <p:cNvSpPr>
              <a:spLocks/>
            </p:cNvSpPr>
            <p:nvPr/>
          </p:nvSpPr>
          <p:spPr bwMode="auto">
            <a:xfrm>
              <a:off x="2647" y="3739"/>
              <a:ext cx="620" cy="516"/>
            </a:xfrm>
            <a:custGeom>
              <a:avLst/>
              <a:gdLst>
                <a:gd name="T0" fmla="*/ 57 w 2863"/>
                <a:gd name="T1" fmla="*/ 1764 h 2162"/>
                <a:gd name="T2" fmla="*/ 160 w 2863"/>
                <a:gd name="T3" fmla="*/ 1911 h 2162"/>
                <a:gd name="T4" fmla="*/ 309 w 2863"/>
                <a:gd name="T5" fmla="*/ 2028 h 2162"/>
                <a:gd name="T6" fmla="*/ 499 w 2863"/>
                <a:gd name="T7" fmla="*/ 2111 h 2162"/>
                <a:gd name="T8" fmla="*/ 723 w 2863"/>
                <a:gd name="T9" fmla="*/ 2156 h 2162"/>
                <a:gd name="T10" fmla="*/ 972 w 2863"/>
                <a:gd name="T11" fmla="*/ 2162 h 2162"/>
                <a:gd name="T12" fmla="*/ 1238 w 2863"/>
                <a:gd name="T13" fmla="*/ 2130 h 2162"/>
                <a:gd name="T14" fmla="*/ 1511 w 2863"/>
                <a:gd name="T15" fmla="*/ 2060 h 2162"/>
                <a:gd name="T16" fmla="*/ 1781 w 2863"/>
                <a:gd name="T17" fmla="*/ 1954 h 2162"/>
                <a:gd name="T18" fmla="*/ 2038 w 2863"/>
                <a:gd name="T19" fmla="*/ 1817 h 2162"/>
                <a:gd name="T20" fmla="*/ 2272 w 2863"/>
                <a:gd name="T21" fmla="*/ 1654 h 2162"/>
                <a:gd name="T22" fmla="*/ 2476 w 2863"/>
                <a:gd name="T23" fmla="*/ 1469 h 2162"/>
                <a:gd name="T24" fmla="*/ 2643 w 2863"/>
                <a:gd name="T25" fmla="*/ 1271 h 2162"/>
                <a:gd name="T26" fmla="*/ 2765 w 2863"/>
                <a:gd name="T27" fmla="*/ 1066 h 2162"/>
                <a:gd name="T28" fmla="*/ 2840 w 2863"/>
                <a:gd name="T29" fmla="*/ 861 h 2162"/>
                <a:gd name="T30" fmla="*/ 2863 w 2863"/>
                <a:gd name="T31" fmla="*/ 665 h 2162"/>
                <a:gd name="T32" fmla="*/ 2834 w 2863"/>
                <a:gd name="T33" fmla="*/ 484 h 2162"/>
                <a:gd name="T34" fmla="*/ 2756 w 2863"/>
                <a:gd name="T35" fmla="*/ 323 h 2162"/>
                <a:gd name="T36" fmla="*/ 2628 w 2863"/>
                <a:gd name="T37" fmla="*/ 191 h 2162"/>
                <a:gd name="T38" fmla="*/ 2457 w 2863"/>
                <a:gd name="T39" fmla="*/ 91 h 2162"/>
                <a:gd name="T40" fmla="*/ 2249 w 2863"/>
                <a:gd name="T41" fmla="*/ 27 h 2162"/>
                <a:gd name="T42" fmla="*/ 2012 w 2863"/>
                <a:gd name="T43" fmla="*/ 0 h 2162"/>
                <a:gd name="T44" fmla="*/ 1754 w 2863"/>
                <a:gd name="T45" fmla="*/ 13 h 2162"/>
                <a:gd name="T46" fmla="*/ 1483 w 2863"/>
                <a:gd name="T47" fmla="*/ 64 h 2162"/>
                <a:gd name="T48" fmla="*/ 1211 w 2863"/>
                <a:gd name="T49" fmla="*/ 153 h 2162"/>
                <a:gd name="T50" fmla="*/ 947 w 2863"/>
                <a:gd name="T51" fmla="*/ 275 h 2162"/>
                <a:gd name="T52" fmla="*/ 699 w 2863"/>
                <a:gd name="T53" fmla="*/ 426 h 2162"/>
                <a:gd name="T54" fmla="*/ 479 w 2863"/>
                <a:gd name="T55" fmla="*/ 601 h 2162"/>
                <a:gd name="T56" fmla="*/ 293 w 2863"/>
                <a:gd name="T57" fmla="*/ 793 h 2162"/>
                <a:gd name="T58" fmla="*/ 148 w 2863"/>
                <a:gd name="T59" fmla="*/ 995 h 2162"/>
                <a:gd name="T60" fmla="*/ 49 w 2863"/>
                <a:gd name="T61" fmla="*/ 1202 h 2162"/>
                <a:gd name="T62" fmla="*/ 0 w 2863"/>
                <a:gd name="T63" fmla="*/ 1403 h 2162"/>
                <a:gd name="T64" fmla="*/ 2 w 2863"/>
                <a:gd name="T65" fmla="*/ 1593 h 2162"/>
                <a:gd name="T66" fmla="*/ 57 w 2863"/>
                <a:gd name="T67" fmla="*/ 1764 h 2162"/>
                <a:gd name="T68" fmla="*/ 58 w 2863"/>
                <a:gd name="T69" fmla="*/ 1764 h 2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63" h="2162">
                  <a:moveTo>
                    <a:pt x="57" y="1764"/>
                  </a:moveTo>
                  <a:lnTo>
                    <a:pt x="160" y="1911"/>
                  </a:lnTo>
                  <a:lnTo>
                    <a:pt x="309" y="2028"/>
                  </a:lnTo>
                  <a:lnTo>
                    <a:pt x="499" y="2111"/>
                  </a:lnTo>
                  <a:lnTo>
                    <a:pt x="723" y="2156"/>
                  </a:lnTo>
                  <a:lnTo>
                    <a:pt x="972" y="2162"/>
                  </a:lnTo>
                  <a:lnTo>
                    <a:pt x="1238" y="2130"/>
                  </a:lnTo>
                  <a:lnTo>
                    <a:pt x="1511" y="2060"/>
                  </a:lnTo>
                  <a:lnTo>
                    <a:pt x="1781" y="1954"/>
                  </a:lnTo>
                  <a:lnTo>
                    <a:pt x="2038" y="1817"/>
                  </a:lnTo>
                  <a:lnTo>
                    <a:pt x="2272" y="1654"/>
                  </a:lnTo>
                  <a:lnTo>
                    <a:pt x="2476" y="1469"/>
                  </a:lnTo>
                  <a:lnTo>
                    <a:pt x="2643" y="1271"/>
                  </a:lnTo>
                  <a:lnTo>
                    <a:pt x="2765" y="1066"/>
                  </a:lnTo>
                  <a:lnTo>
                    <a:pt x="2840" y="861"/>
                  </a:lnTo>
                  <a:lnTo>
                    <a:pt x="2863" y="665"/>
                  </a:lnTo>
                  <a:lnTo>
                    <a:pt x="2834" y="484"/>
                  </a:lnTo>
                  <a:lnTo>
                    <a:pt x="2756" y="323"/>
                  </a:lnTo>
                  <a:lnTo>
                    <a:pt x="2628" y="191"/>
                  </a:lnTo>
                  <a:lnTo>
                    <a:pt x="2457" y="91"/>
                  </a:lnTo>
                  <a:lnTo>
                    <a:pt x="2249" y="27"/>
                  </a:lnTo>
                  <a:lnTo>
                    <a:pt x="2012" y="0"/>
                  </a:lnTo>
                  <a:lnTo>
                    <a:pt x="1754" y="13"/>
                  </a:lnTo>
                  <a:lnTo>
                    <a:pt x="1483" y="64"/>
                  </a:lnTo>
                  <a:lnTo>
                    <a:pt x="1211" y="153"/>
                  </a:lnTo>
                  <a:lnTo>
                    <a:pt x="947" y="275"/>
                  </a:lnTo>
                  <a:lnTo>
                    <a:pt x="699" y="426"/>
                  </a:lnTo>
                  <a:lnTo>
                    <a:pt x="479" y="601"/>
                  </a:lnTo>
                  <a:lnTo>
                    <a:pt x="293" y="793"/>
                  </a:lnTo>
                  <a:lnTo>
                    <a:pt x="148" y="995"/>
                  </a:lnTo>
                  <a:lnTo>
                    <a:pt x="49" y="1202"/>
                  </a:lnTo>
                  <a:lnTo>
                    <a:pt x="0" y="1403"/>
                  </a:lnTo>
                  <a:lnTo>
                    <a:pt x="2" y="1593"/>
                  </a:lnTo>
                  <a:lnTo>
                    <a:pt x="57" y="1764"/>
                  </a:lnTo>
                  <a:lnTo>
                    <a:pt x="58" y="1764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55" name="Freeform 155"/>
            <p:cNvSpPr>
              <a:spLocks/>
            </p:cNvSpPr>
            <p:nvPr/>
          </p:nvSpPr>
          <p:spPr bwMode="auto">
            <a:xfrm>
              <a:off x="2867" y="3796"/>
              <a:ext cx="22" cy="49"/>
            </a:xfrm>
            <a:custGeom>
              <a:avLst/>
              <a:gdLst>
                <a:gd name="T0" fmla="*/ 0 w 103"/>
                <a:gd name="T1" fmla="*/ 0 h 204"/>
                <a:gd name="T2" fmla="*/ 102 w 103"/>
                <a:gd name="T3" fmla="*/ 204 h 204"/>
                <a:gd name="T4" fmla="*/ 103 w 103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3" h="204">
                  <a:moveTo>
                    <a:pt x="0" y="0"/>
                  </a:moveTo>
                  <a:lnTo>
                    <a:pt x="102" y="204"/>
                  </a:lnTo>
                  <a:lnTo>
                    <a:pt x="103" y="204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56" name="Freeform 156"/>
            <p:cNvSpPr>
              <a:spLocks/>
            </p:cNvSpPr>
            <p:nvPr/>
          </p:nvSpPr>
          <p:spPr bwMode="auto">
            <a:xfrm>
              <a:off x="2896" y="3861"/>
              <a:ext cx="7" cy="15"/>
            </a:xfrm>
            <a:custGeom>
              <a:avLst/>
              <a:gdLst>
                <a:gd name="T0" fmla="*/ 0 w 34"/>
                <a:gd name="T1" fmla="*/ 0 h 66"/>
                <a:gd name="T2" fmla="*/ 33 w 34"/>
                <a:gd name="T3" fmla="*/ 66 h 66"/>
                <a:gd name="T4" fmla="*/ 34 w 34"/>
                <a:gd name="T5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66">
                  <a:moveTo>
                    <a:pt x="0" y="0"/>
                  </a:moveTo>
                  <a:lnTo>
                    <a:pt x="33" y="66"/>
                  </a:lnTo>
                  <a:lnTo>
                    <a:pt x="34" y="66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57" name="Freeform 157"/>
            <p:cNvSpPr>
              <a:spLocks/>
            </p:cNvSpPr>
            <p:nvPr/>
          </p:nvSpPr>
          <p:spPr bwMode="auto">
            <a:xfrm>
              <a:off x="2910" y="3894"/>
              <a:ext cx="36" cy="79"/>
            </a:xfrm>
            <a:custGeom>
              <a:avLst/>
              <a:gdLst>
                <a:gd name="T0" fmla="*/ 0 w 167"/>
                <a:gd name="T1" fmla="*/ 0 h 335"/>
                <a:gd name="T2" fmla="*/ 166 w 167"/>
                <a:gd name="T3" fmla="*/ 335 h 335"/>
                <a:gd name="T4" fmla="*/ 167 w 167"/>
                <a:gd name="T5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7" h="335">
                  <a:moveTo>
                    <a:pt x="0" y="0"/>
                  </a:moveTo>
                  <a:lnTo>
                    <a:pt x="166" y="335"/>
                  </a:lnTo>
                  <a:lnTo>
                    <a:pt x="167" y="335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58" name="Freeform 158"/>
            <p:cNvSpPr>
              <a:spLocks/>
            </p:cNvSpPr>
            <p:nvPr/>
          </p:nvSpPr>
          <p:spPr bwMode="auto">
            <a:xfrm>
              <a:off x="2953" y="3989"/>
              <a:ext cx="7" cy="16"/>
            </a:xfrm>
            <a:custGeom>
              <a:avLst/>
              <a:gdLst>
                <a:gd name="T0" fmla="*/ 0 w 34"/>
                <a:gd name="T1" fmla="*/ 0 h 67"/>
                <a:gd name="T2" fmla="*/ 33 w 34"/>
                <a:gd name="T3" fmla="*/ 67 h 67"/>
                <a:gd name="T4" fmla="*/ 34 w 34"/>
                <a:gd name="T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67">
                  <a:moveTo>
                    <a:pt x="0" y="0"/>
                  </a:moveTo>
                  <a:lnTo>
                    <a:pt x="33" y="67"/>
                  </a:lnTo>
                  <a:lnTo>
                    <a:pt x="34" y="67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59" name="Freeform 159"/>
            <p:cNvSpPr>
              <a:spLocks/>
            </p:cNvSpPr>
            <p:nvPr/>
          </p:nvSpPr>
          <p:spPr bwMode="auto">
            <a:xfrm>
              <a:off x="2967" y="4021"/>
              <a:ext cx="36" cy="80"/>
            </a:xfrm>
            <a:custGeom>
              <a:avLst/>
              <a:gdLst>
                <a:gd name="T0" fmla="*/ 0 w 166"/>
                <a:gd name="T1" fmla="*/ 0 h 336"/>
                <a:gd name="T2" fmla="*/ 165 w 166"/>
                <a:gd name="T3" fmla="*/ 336 h 336"/>
                <a:gd name="T4" fmla="*/ 166 w 166"/>
                <a:gd name="T5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36">
                  <a:moveTo>
                    <a:pt x="0" y="0"/>
                  </a:moveTo>
                  <a:lnTo>
                    <a:pt x="165" y="336"/>
                  </a:lnTo>
                  <a:lnTo>
                    <a:pt x="166" y="336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60" name="Freeform 160"/>
            <p:cNvSpPr>
              <a:spLocks/>
            </p:cNvSpPr>
            <p:nvPr/>
          </p:nvSpPr>
          <p:spPr bwMode="auto">
            <a:xfrm>
              <a:off x="3011" y="4117"/>
              <a:ext cx="7" cy="16"/>
            </a:xfrm>
            <a:custGeom>
              <a:avLst/>
              <a:gdLst>
                <a:gd name="T0" fmla="*/ 0 w 34"/>
                <a:gd name="T1" fmla="*/ 0 h 67"/>
                <a:gd name="T2" fmla="*/ 33 w 34"/>
                <a:gd name="T3" fmla="*/ 67 h 67"/>
                <a:gd name="T4" fmla="*/ 34 w 34"/>
                <a:gd name="T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67">
                  <a:moveTo>
                    <a:pt x="0" y="0"/>
                  </a:moveTo>
                  <a:lnTo>
                    <a:pt x="33" y="67"/>
                  </a:lnTo>
                  <a:lnTo>
                    <a:pt x="34" y="67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61" name="Freeform 161"/>
            <p:cNvSpPr>
              <a:spLocks/>
            </p:cNvSpPr>
            <p:nvPr/>
          </p:nvSpPr>
          <p:spPr bwMode="auto">
            <a:xfrm>
              <a:off x="3026" y="4149"/>
              <a:ext cx="22" cy="49"/>
            </a:xfrm>
            <a:custGeom>
              <a:avLst/>
              <a:gdLst>
                <a:gd name="T0" fmla="*/ 0 w 103"/>
                <a:gd name="T1" fmla="*/ 0 h 204"/>
                <a:gd name="T2" fmla="*/ 102 w 103"/>
                <a:gd name="T3" fmla="*/ 204 h 204"/>
                <a:gd name="T4" fmla="*/ 103 w 103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3" h="204">
                  <a:moveTo>
                    <a:pt x="0" y="0"/>
                  </a:moveTo>
                  <a:lnTo>
                    <a:pt x="102" y="204"/>
                  </a:lnTo>
                  <a:lnTo>
                    <a:pt x="103" y="204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62" name="Freeform 162"/>
            <p:cNvSpPr>
              <a:spLocks/>
            </p:cNvSpPr>
            <p:nvPr/>
          </p:nvSpPr>
          <p:spPr bwMode="auto">
            <a:xfrm>
              <a:off x="2659" y="4136"/>
              <a:ext cx="44" cy="25"/>
            </a:xfrm>
            <a:custGeom>
              <a:avLst/>
              <a:gdLst>
                <a:gd name="T0" fmla="*/ 0 w 202"/>
                <a:gd name="T1" fmla="*/ 100 h 100"/>
                <a:gd name="T2" fmla="*/ 201 w 202"/>
                <a:gd name="T3" fmla="*/ 0 h 100"/>
                <a:gd name="T4" fmla="*/ 202 w 202"/>
                <a:gd name="T5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2" h="100">
                  <a:moveTo>
                    <a:pt x="0" y="100"/>
                  </a:moveTo>
                  <a:lnTo>
                    <a:pt x="201" y="0"/>
                  </a:lnTo>
                  <a:lnTo>
                    <a:pt x="20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63" name="Freeform 163"/>
            <p:cNvSpPr>
              <a:spLocks/>
            </p:cNvSpPr>
            <p:nvPr/>
          </p:nvSpPr>
          <p:spPr bwMode="auto">
            <a:xfrm>
              <a:off x="2718" y="4119"/>
              <a:ext cx="16" cy="8"/>
            </a:xfrm>
            <a:custGeom>
              <a:avLst/>
              <a:gdLst>
                <a:gd name="T0" fmla="*/ 0 w 69"/>
                <a:gd name="T1" fmla="*/ 33 h 33"/>
                <a:gd name="T2" fmla="*/ 68 w 69"/>
                <a:gd name="T3" fmla="*/ 0 h 33"/>
                <a:gd name="T4" fmla="*/ 69 w 69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33">
                  <a:moveTo>
                    <a:pt x="0" y="33"/>
                  </a:moveTo>
                  <a:lnTo>
                    <a:pt x="68" y="0"/>
                  </a:lnTo>
                  <a:lnTo>
                    <a:pt x="6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64" name="Freeform 164"/>
            <p:cNvSpPr>
              <a:spLocks/>
            </p:cNvSpPr>
            <p:nvPr/>
          </p:nvSpPr>
          <p:spPr bwMode="auto">
            <a:xfrm>
              <a:off x="2746" y="4072"/>
              <a:ext cx="73" cy="40"/>
            </a:xfrm>
            <a:custGeom>
              <a:avLst/>
              <a:gdLst>
                <a:gd name="T0" fmla="*/ 0 w 335"/>
                <a:gd name="T1" fmla="*/ 167 h 167"/>
                <a:gd name="T2" fmla="*/ 334 w 335"/>
                <a:gd name="T3" fmla="*/ 0 h 167"/>
                <a:gd name="T4" fmla="*/ 335 w 335"/>
                <a:gd name="T5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5" h="167">
                  <a:moveTo>
                    <a:pt x="0" y="167"/>
                  </a:moveTo>
                  <a:lnTo>
                    <a:pt x="334" y="0"/>
                  </a:lnTo>
                  <a:lnTo>
                    <a:pt x="33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65" name="Freeform 165"/>
            <p:cNvSpPr>
              <a:spLocks/>
            </p:cNvSpPr>
            <p:nvPr/>
          </p:nvSpPr>
          <p:spPr bwMode="auto">
            <a:xfrm>
              <a:off x="2833" y="4058"/>
              <a:ext cx="15" cy="6"/>
            </a:xfrm>
            <a:custGeom>
              <a:avLst/>
              <a:gdLst>
                <a:gd name="T0" fmla="*/ 0 w 68"/>
                <a:gd name="T1" fmla="*/ 33 h 33"/>
                <a:gd name="T2" fmla="*/ 67 w 68"/>
                <a:gd name="T3" fmla="*/ 0 h 33"/>
                <a:gd name="T4" fmla="*/ 68 w 68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33">
                  <a:moveTo>
                    <a:pt x="0" y="33"/>
                  </a:moveTo>
                  <a:lnTo>
                    <a:pt x="67" y="0"/>
                  </a:lnTo>
                  <a:lnTo>
                    <a:pt x="6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66" name="Freeform 166"/>
            <p:cNvSpPr>
              <a:spLocks/>
            </p:cNvSpPr>
            <p:nvPr/>
          </p:nvSpPr>
          <p:spPr bwMode="auto">
            <a:xfrm>
              <a:off x="2864" y="4008"/>
              <a:ext cx="71" cy="40"/>
            </a:xfrm>
            <a:custGeom>
              <a:avLst/>
              <a:gdLst>
                <a:gd name="T0" fmla="*/ 0 w 335"/>
                <a:gd name="T1" fmla="*/ 166 h 166"/>
                <a:gd name="T2" fmla="*/ 334 w 335"/>
                <a:gd name="T3" fmla="*/ 0 h 166"/>
                <a:gd name="T4" fmla="*/ 335 w 335"/>
                <a:gd name="T5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5" h="166">
                  <a:moveTo>
                    <a:pt x="0" y="166"/>
                  </a:moveTo>
                  <a:lnTo>
                    <a:pt x="334" y="0"/>
                  </a:lnTo>
                  <a:lnTo>
                    <a:pt x="33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67" name="Freeform 167"/>
            <p:cNvSpPr>
              <a:spLocks/>
            </p:cNvSpPr>
            <p:nvPr/>
          </p:nvSpPr>
          <p:spPr bwMode="auto">
            <a:xfrm>
              <a:off x="2949" y="3992"/>
              <a:ext cx="15" cy="9"/>
            </a:xfrm>
            <a:custGeom>
              <a:avLst/>
              <a:gdLst>
                <a:gd name="T0" fmla="*/ 0 w 69"/>
                <a:gd name="T1" fmla="*/ 33 h 33"/>
                <a:gd name="T2" fmla="*/ 68 w 69"/>
                <a:gd name="T3" fmla="*/ 0 h 33"/>
                <a:gd name="T4" fmla="*/ 69 w 69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33">
                  <a:moveTo>
                    <a:pt x="0" y="33"/>
                  </a:moveTo>
                  <a:lnTo>
                    <a:pt x="68" y="0"/>
                  </a:lnTo>
                  <a:lnTo>
                    <a:pt x="6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68" name="Freeform 168"/>
            <p:cNvSpPr>
              <a:spLocks/>
            </p:cNvSpPr>
            <p:nvPr/>
          </p:nvSpPr>
          <p:spPr bwMode="auto">
            <a:xfrm>
              <a:off x="2978" y="3945"/>
              <a:ext cx="74" cy="41"/>
            </a:xfrm>
            <a:custGeom>
              <a:avLst/>
              <a:gdLst>
                <a:gd name="T0" fmla="*/ 0 w 336"/>
                <a:gd name="T1" fmla="*/ 167 h 167"/>
                <a:gd name="T2" fmla="*/ 335 w 336"/>
                <a:gd name="T3" fmla="*/ 0 h 167"/>
                <a:gd name="T4" fmla="*/ 336 w 336"/>
                <a:gd name="T5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6" h="167">
                  <a:moveTo>
                    <a:pt x="0" y="167"/>
                  </a:moveTo>
                  <a:lnTo>
                    <a:pt x="335" y="0"/>
                  </a:lnTo>
                  <a:lnTo>
                    <a:pt x="33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69" name="Freeform 169"/>
            <p:cNvSpPr>
              <a:spLocks/>
            </p:cNvSpPr>
            <p:nvPr/>
          </p:nvSpPr>
          <p:spPr bwMode="auto">
            <a:xfrm>
              <a:off x="3065" y="3929"/>
              <a:ext cx="15" cy="8"/>
            </a:xfrm>
            <a:custGeom>
              <a:avLst/>
              <a:gdLst>
                <a:gd name="T0" fmla="*/ 0 w 69"/>
                <a:gd name="T1" fmla="*/ 33 h 33"/>
                <a:gd name="T2" fmla="*/ 68 w 69"/>
                <a:gd name="T3" fmla="*/ 0 h 33"/>
                <a:gd name="T4" fmla="*/ 69 w 69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33">
                  <a:moveTo>
                    <a:pt x="0" y="33"/>
                  </a:moveTo>
                  <a:lnTo>
                    <a:pt x="68" y="0"/>
                  </a:lnTo>
                  <a:lnTo>
                    <a:pt x="6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70" name="Freeform 170"/>
            <p:cNvSpPr>
              <a:spLocks/>
            </p:cNvSpPr>
            <p:nvPr/>
          </p:nvSpPr>
          <p:spPr bwMode="auto">
            <a:xfrm>
              <a:off x="3094" y="3882"/>
              <a:ext cx="73" cy="40"/>
            </a:xfrm>
            <a:custGeom>
              <a:avLst/>
              <a:gdLst>
                <a:gd name="T0" fmla="*/ 0 w 335"/>
                <a:gd name="T1" fmla="*/ 166 h 166"/>
                <a:gd name="T2" fmla="*/ 334 w 335"/>
                <a:gd name="T3" fmla="*/ 0 h 166"/>
                <a:gd name="T4" fmla="*/ 335 w 335"/>
                <a:gd name="T5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5" h="166">
                  <a:moveTo>
                    <a:pt x="0" y="166"/>
                  </a:moveTo>
                  <a:lnTo>
                    <a:pt x="334" y="0"/>
                  </a:lnTo>
                  <a:lnTo>
                    <a:pt x="33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71" name="Freeform 171"/>
            <p:cNvSpPr>
              <a:spLocks/>
            </p:cNvSpPr>
            <p:nvPr/>
          </p:nvSpPr>
          <p:spPr bwMode="auto">
            <a:xfrm>
              <a:off x="3182" y="3867"/>
              <a:ext cx="13" cy="7"/>
            </a:xfrm>
            <a:custGeom>
              <a:avLst/>
              <a:gdLst>
                <a:gd name="T0" fmla="*/ 0 w 69"/>
                <a:gd name="T1" fmla="*/ 32 h 32"/>
                <a:gd name="T2" fmla="*/ 68 w 69"/>
                <a:gd name="T3" fmla="*/ 0 h 32"/>
                <a:gd name="T4" fmla="*/ 69 w 69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32">
                  <a:moveTo>
                    <a:pt x="0" y="32"/>
                  </a:moveTo>
                  <a:lnTo>
                    <a:pt x="68" y="0"/>
                  </a:lnTo>
                  <a:lnTo>
                    <a:pt x="6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72" name="Freeform 172"/>
            <p:cNvSpPr>
              <a:spLocks/>
            </p:cNvSpPr>
            <p:nvPr/>
          </p:nvSpPr>
          <p:spPr bwMode="auto">
            <a:xfrm>
              <a:off x="3210" y="3834"/>
              <a:ext cx="43" cy="24"/>
            </a:xfrm>
            <a:custGeom>
              <a:avLst/>
              <a:gdLst>
                <a:gd name="T0" fmla="*/ 0 w 202"/>
                <a:gd name="T1" fmla="*/ 101 h 101"/>
                <a:gd name="T2" fmla="*/ 201 w 202"/>
                <a:gd name="T3" fmla="*/ 0 h 101"/>
                <a:gd name="T4" fmla="*/ 202 w 202"/>
                <a:gd name="T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2" h="101">
                  <a:moveTo>
                    <a:pt x="0" y="101"/>
                  </a:moveTo>
                  <a:lnTo>
                    <a:pt x="201" y="0"/>
                  </a:lnTo>
                  <a:lnTo>
                    <a:pt x="20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73" name="Freeform 173"/>
            <p:cNvSpPr>
              <a:spLocks/>
            </p:cNvSpPr>
            <p:nvPr/>
          </p:nvSpPr>
          <p:spPr bwMode="auto">
            <a:xfrm>
              <a:off x="2677" y="3830"/>
              <a:ext cx="137" cy="150"/>
            </a:xfrm>
            <a:custGeom>
              <a:avLst/>
              <a:gdLst>
                <a:gd name="T0" fmla="*/ 0 w 629"/>
                <a:gd name="T1" fmla="*/ 628 h 628"/>
                <a:gd name="T2" fmla="*/ 628 w 629"/>
                <a:gd name="T3" fmla="*/ 0 h 628"/>
                <a:gd name="T4" fmla="*/ 629 w 629"/>
                <a:gd name="T5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9" h="628">
                  <a:moveTo>
                    <a:pt x="0" y="628"/>
                  </a:moveTo>
                  <a:lnTo>
                    <a:pt x="628" y="0"/>
                  </a:lnTo>
                  <a:lnTo>
                    <a:pt x="62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74" name="Freeform 174"/>
            <p:cNvSpPr>
              <a:spLocks/>
            </p:cNvSpPr>
            <p:nvPr/>
          </p:nvSpPr>
          <p:spPr bwMode="auto">
            <a:xfrm>
              <a:off x="2658" y="3796"/>
              <a:ext cx="209" cy="231"/>
            </a:xfrm>
            <a:custGeom>
              <a:avLst/>
              <a:gdLst>
                <a:gd name="T0" fmla="*/ 0 w 967"/>
                <a:gd name="T1" fmla="*/ 967 h 967"/>
                <a:gd name="T2" fmla="*/ 965 w 967"/>
                <a:gd name="T3" fmla="*/ 1 h 967"/>
                <a:gd name="T4" fmla="*/ 966 w 967"/>
                <a:gd name="T5" fmla="*/ 0 h 967"/>
                <a:gd name="T6" fmla="*/ 967 w 967"/>
                <a:gd name="T7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7" h="967">
                  <a:moveTo>
                    <a:pt x="0" y="967"/>
                  </a:moveTo>
                  <a:lnTo>
                    <a:pt x="965" y="1"/>
                  </a:lnTo>
                  <a:lnTo>
                    <a:pt x="966" y="0"/>
                  </a:lnTo>
                  <a:lnTo>
                    <a:pt x="96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75" name="Freeform 175"/>
            <p:cNvSpPr>
              <a:spLocks/>
            </p:cNvSpPr>
            <p:nvPr/>
          </p:nvSpPr>
          <p:spPr bwMode="auto">
            <a:xfrm>
              <a:off x="2648" y="3776"/>
              <a:ext cx="260" cy="285"/>
            </a:xfrm>
            <a:custGeom>
              <a:avLst/>
              <a:gdLst>
                <a:gd name="T0" fmla="*/ 0 w 1198"/>
                <a:gd name="T1" fmla="*/ 1197 h 1197"/>
                <a:gd name="T2" fmla="*/ 1040 w 1198"/>
                <a:gd name="T3" fmla="*/ 157 h 1197"/>
                <a:gd name="T4" fmla="*/ 1197 w 1198"/>
                <a:gd name="T5" fmla="*/ 0 h 1197"/>
                <a:gd name="T6" fmla="*/ 1198 w 1198"/>
                <a:gd name="T7" fmla="*/ 0 h 1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197">
                  <a:moveTo>
                    <a:pt x="0" y="1197"/>
                  </a:moveTo>
                  <a:lnTo>
                    <a:pt x="1040" y="157"/>
                  </a:lnTo>
                  <a:lnTo>
                    <a:pt x="1197" y="0"/>
                  </a:lnTo>
                  <a:lnTo>
                    <a:pt x="119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76" name="Freeform 176"/>
            <p:cNvSpPr>
              <a:spLocks/>
            </p:cNvSpPr>
            <p:nvPr/>
          </p:nvSpPr>
          <p:spPr bwMode="auto">
            <a:xfrm>
              <a:off x="2647" y="3763"/>
              <a:ext cx="297" cy="327"/>
            </a:xfrm>
            <a:custGeom>
              <a:avLst/>
              <a:gdLst>
                <a:gd name="T0" fmla="*/ 0 w 1374"/>
                <a:gd name="T1" fmla="*/ 1373 h 1373"/>
                <a:gd name="T2" fmla="*/ 1088 w 1374"/>
                <a:gd name="T3" fmla="*/ 286 h 1373"/>
                <a:gd name="T4" fmla="*/ 1373 w 1374"/>
                <a:gd name="T5" fmla="*/ 0 h 1373"/>
                <a:gd name="T6" fmla="*/ 1374 w 1374"/>
                <a:gd name="T7" fmla="*/ 0 h 1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4" h="1373">
                  <a:moveTo>
                    <a:pt x="0" y="1373"/>
                  </a:moveTo>
                  <a:lnTo>
                    <a:pt x="1088" y="286"/>
                  </a:lnTo>
                  <a:lnTo>
                    <a:pt x="1373" y="0"/>
                  </a:lnTo>
                  <a:lnTo>
                    <a:pt x="137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77" name="Freeform 177"/>
            <p:cNvSpPr>
              <a:spLocks/>
            </p:cNvSpPr>
            <p:nvPr/>
          </p:nvSpPr>
          <p:spPr bwMode="auto">
            <a:xfrm>
              <a:off x="2647" y="3752"/>
              <a:ext cx="327" cy="362"/>
            </a:xfrm>
            <a:custGeom>
              <a:avLst/>
              <a:gdLst>
                <a:gd name="T0" fmla="*/ 0 w 1514"/>
                <a:gd name="T1" fmla="*/ 1515 h 1515"/>
                <a:gd name="T2" fmla="*/ 1116 w 1514"/>
                <a:gd name="T3" fmla="*/ 397 h 1515"/>
                <a:gd name="T4" fmla="*/ 1513 w 1514"/>
                <a:gd name="T5" fmla="*/ 0 h 1515"/>
                <a:gd name="T6" fmla="*/ 1514 w 1514"/>
                <a:gd name="T7" fmla="*/ 0 h 1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14" h="1515">
                  <a:moveTo>
                    <a:pt x="0" y="1515"/>
                  </a:moveTo>
                  <a:lnTo>
                    <a:pt x="1116" y="397"/>
                  </a:lnTo>
                  <a:lnTo>
                    <a:pt x="1513" y="0"/>
                  </a:lnTo>
                  <a:lnTo>
                    <a:pt x="151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78" name="Freeform 178"/>
            <p:cNvSpPr>
              <a:spLocks/>
            </p:cNvSpPr>
            <p:nvPr/>
          </p:nvSpPr>
          <p:spPr bwMode="auto">
            <a:xfrm>
              <a:off x="2651" y="3747"/>
              <a:ext cx="354" cy="387"/>
            </a:xfrm>
            <a:custGeom>
              <a:avLst/>
              <a:gdLst>
                <a:gd name="T0" fmla="*/ 0 w 1632"/>
                <a:gd name="T1" fmla="*/ 1632 h 1632"/>
                <a:gd name="T2" fmla="*/ 1135 w 1632"/>
                <a:gd name="T3" fmla="*/ 495 h 1632"/>
                <a:gd name="T4" fmla="*/ 1630 w 1632"/>
                <a:gd name="T5" fmla="*/ 0 h 1632"/>
                <a:gd name="T6" fmla="*/ 1632 w 1632"/>
                <a:gd name="T7" fmla="*/ 0 h 1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1632">
                  <a:moveTo>
                    <a:pt x="0" y="1632"/>
                  </a:moveTo>
                  <a:lnTo>
                    <a:pt x="1135" y="495"/>
                  </a:lnTo>
                  <a:lnTo>
                    <a:pt x="1630" y="0"/>
                  </a:lnTo>
                  <a:lnTo>
                    <a:pt x="163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79" name="Freeform 179"/>
            <p:cNvSpPr>
              <a:spLocks/>
            </p:cNvSpPr>
            <p:nvPr/>
          </p:nvSpPr>
          <p:spPr bwMode="auto">
            <a:xfrm>
              <a:off x="2656" y="3741"/>
              <a:ext cx="375" cy="412"/>
            </a:xfrm>
            <a:custGeom>
              <a:avLst/>
              <a:gdLst>
                <a:gd name="T0" fmla="*/ 0 w 1727"/>
                <a:gd name="T1" fmla="*/ 1727 h 1727"/>
                <a:gd name="T2" fmla="*/ 1142 w 1727"/>
                <a:gd name="T3" fmla="*/ 584 h 1727"/>
                <a:gd name="T4" fmla="*/ 1726 w 1727"/>
                <a:gd name="T5" fmla="*/ 0 h 1727"/>
                <a:gd name="T6" fmla="*/ 1727 w 1727"/>
                <a:gd name="T7" fmla="*/ 0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27" h="1727">
                  <a:moveTo>
                    <a:pt x="0" y="1727"/>
                  </a:moveTo>
                  <a:lnTo>
                    <a:pt x="1142" y="584"/>
                  </a:lnTo>
                  <a:lnTo>
                    <a:pt x="1726" y="0"/>
                  </a:lnTo>
                  <a:lnTo>
                    <a:pt x="172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80" name="Freeform 180"/>
            <p:cNvSpPr>
              <a:spLocks/>
            </p:cNvSpPr>
            <p:nvPr/>
          </p:nvSpPr>
          <p:spPr bwMode="auto">
            <a:xfrm>
              <a:off x="2664" y="4144"/>
              <a:ext cx="25" cy="26"/>
            </a:xfrm>
            <a:custGeom>
              <a:avLst/>
              <a:gdLst>
                <a:gd name="T0" fmla="*/ 0 w 112"/>
                <a:gd name="T1" fmla="*/ 111 h 111"/>
                <a:gd name="T2" fmla="*/ 111 w 112"/>
                <a:gd name="T3" fmla="*/ 0 h 111"/>
                <a:gd name="T4" fmla="*/ 112 w 112"/>
                <a:gd name="T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2" h="111">
                  <a:moveTo>
                    <a:pt x="0" y="111"/>
                  </a:moveTo>
                  <a:lnTo>
                    <a:pt x="111" y="0"/>
                  </a:lnTo>
                  <a:lnTo>
                    <a:pt x="11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81" name="Freeform 181"/>
            <p:cNvSpPr>
              <a:spLocks/>
            </p:cNvSpPr>
            <p:nvPr/>
          </p:nvSpPr>
          <p:spPr bwMode="auto">
            <a:xfrm>
              <a:off x="2913" y="3739"/>
              <a:ext cx="143" cy="160"/>
            </a:xfrm>
            <a:custGeom>
              <a:avLst/>
              <a:gdLst>
                <a:gd name="T0" fmla="*/ 0 w 665"/>
                <a:gd name="T1" fmla="*/ 663 h 663"/>
                <a:gd name="T2" fmla="*/ 664 w 665"/>
                <a:gd name="T3" fmla="*/ 0 h 663"/>
                <a:gd name="T4" fmla="*/ 665 w 665"/>
                <a:gd name="T5" fmla="*/ 0 h 6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5" h="663">
                  <a:moveTo>
                    <a:pt x="0" y="663"/>
                  </a:moveTo>
                  <a:lnTo>
                    <a:pt x="664" y="0"/>
                  </a:lnTo>
                  <a:lnTo>
                    <a:pt x="66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82" name="Freeform 182"/>
            <p:cNvSpPr>
              <a:spLocks/>
            </p:cNvSpPr>
            <p:nvPr/>
          </p:nvSpPr>
          <p:spPr bwMode="auto">
            <a:xfrm>
              <a:off x="2689" y="3899"/>
              <a:ext cx="224" cy="245"/>
            </a:xfrm>
            <a:custGeom>
              <a:avLst/>
              <a:gdLst>
                <a:gd name="T0" fmla="*/ 0 w 1032"/>
                <a:gd name="T1" fmla="*/ 1032 h 1032"/>
                <a:gd name="T2" fmla="*/ 1031 w 1032"/>
                <a:gd name="T3" fmla="*/ 0 h 1032"/>
                <a:gd name="T4" fmla="*/ 1032 w 1032"/>
                <a:gd name="T5" fmla="*/ 0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32" h="1032">
                  <a:moveTo>
                    <a:pt x="0" y="1032"/>
                  </a:moveTo>
                  <a:lnTo>
                    <a:pt x="1031" y="0"/>
                  </a:lnTo>
                  <a:lnTo>
                    <a:pt x="103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83" name="Freeform 183"/>
            <p:cNvSpPr>
              <a:spLocks/>
            </p:cNvSpPr>
            <p:nvPr/>
          </p:nvSpPr>
          <p:spPr bwMode="auto">
            <a:xfrm>
              <a:off x="2675" y="4119"/>
              <a:ext cx="59" cy="65"/>
            </a:xfrm>
            <a:custGeom>
              <a:avLst/>
              <a:gdLst>
                <a:gd name="T0" fmla="*/ 0 w 278"/>
                <a:gd name="T1" fmla="*/ 277 h 277"/>
                <a:gd name="T2" fmla="*/ 277 w 278"/>
                <a:gd name="T3" fmla="*/ 0 h 277"/>
                <a:gd name="T4" fmla="*/ 278 w 278"/>
                <a:gd name="T5" fmla="*/ 0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8" h="277">
                  <a:moveTo>
                    <a:pt x="0" y="277"/>
                  </a:moveTo>
                  <a:lnTo>
                    <a:pt x="277" y="0"/>
                  </a:lnTo>
                  <a:lnTo>
                    <a:pt x="27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84" name="Freeform 184"/>
            <p:cNvSpPr>
              <a:spLocks/>
            </p:cNvSpPr>
            <p:nvPr/>
          </p:nvSpPr>
          <p:spPr bwMode="auto">
            <a:xfrm>
              <a:off x="2920" y="3739"/>
              <a:ext cx="159" cy="174"/>
            </a:xfrm>
            <a:custGeom>
              <a:avLst/>
              <a:gdLst>
                <a:gd name="T0" fmla="*/ 0 w 738"/>
                <a:gd name="T1" fmla="*/ 736 h 736"/>
                <a:gd name="T2" fmla="*/ 737 w 738"/>
                <a:gd name="T3" fmla="*/ 0 h 736"/>
                <a:gd name="T4" fmla="*/ 738 w 738"/>
                <a:gd name="T5" fmla="*/ 0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38" h="736">
                  <a:moveTo>
                    <a:pt x="0" y="736"/>
                  </a:moveTo>
                  <a:lnTo>
                    <a:pt x="737" y="0"/>
                  </a:lnTo>
                  <a:lnTo>
                    <a:pt x="73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85" name="Freeform 185"/>
            <p:cNvSpPr>
              <a:spLocks/>
            </p:cNvSpPr>
            <p:nvPr/>
          </p:nvSpPr>
          <p:spPr bwMode="auto">
            <a:xfrm>
              <a:off x="2734" y="3913"/>
              <a:ext cx="186" cy="206"/>
            </a:xfrm>
            <a:custGeom>
              <a:avLst/>
              <a:gdLst>
                <a:gd name="T0" fmla="*/ 0 w 857"/>
                <a:gd name="T1" fmla="*/ 857 h 857"/>
                <a:gd name="T2" fmla="*/ 856 w 857"/>
                <a:gd name="T3" fmla="*/ 0 h 857"/>
                <a:gd name="T4" fmla="*/ 857 w 857"/>
                <a:gd name="T5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7" h="857">
                  <a:moveTo>
                    <a:pt x="0" y="857"/>
                  </a:moveTo>
                  <a:lnTo>
                    <a:pt x="856" y="0"/>
                  </a:lnTo>
                  <a:lnTo>
                    <a:pt x="85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86" name="Freeform 186"/>
            <p:cNvSpPr>
              <a:spLocks/>
            </p:cNvSpPr>
            <p:nvPr/>
          </p:nvSpPr>
          <p:spPr bwMode="auto">
            <a:xfrm>
              <a:off x="2685" y="4095"/>
              <a:ext cx="95" cy="103"/>
            </a:xfrm>
            <a:custGeom>
              <a:avLst/>
              <a:gdLst>
                <a:gd name="T0" fmla="*/ 0 w 437"/>
                <a:gd name="T1" fmla="*/ 436 h 436"/>
                <a:gd name="T2" fmla="*/ 436 w 437"/>
                <a:gd name="T3" fmla="*/ 0 h 436"/>
                <a:gd name="T4" fmla="*/ 437 w 437"/>
                <a:gd name="T5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7" h="436">
                  <a:moveTo>
                    <a:pt x="0" y="436"/>
                  </a:moveTo>
                  <a:lnTo>
                    <a:pt x="436" y="0"/>
                  </a:lnTo>
                  <a:lnTo>
                    <a:pt x="43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87" name="Freeform 187"/>
            <p:cNvSpPr>
              <a:spLocks/>
            </p:cNvSpPr>
            <p:nvPr/>
          </p:nvSpPr>
          <p:spPr bwMode="auto">
            <a:xfrm>
              <a:off x="2927" y="3739"/>
              <a:ext cx="174" cy="192"/>
            </a:xfrm>
            <a:custGeom>
              <a:avLst/>
              <a:gdLst>
                <a:gd name="T0" fmla="*/ 0 w 803"/>
                <a:gd name="T1" fmla="*/ 803 h 803"/>
                <a:gd name="T2" fmla="*/ 802 w 803"/>
                <a:gd name="T3" fmla="*/ 0 h 803"/>
                <a:gd name="T4" fmla="*/ 803 w 803"/>
                <a:gd name="T5" fmla="*/ 0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03" h="803">
                  <a:moveTo>
                    <a:pt x="0" y="803"/>
                  </a:moveTo>
                  <a:lnTo>
                    <a:pt x="802" y="0"/>
                  </a:lnTo>
                  <a:lnTo>
                    <a:pt x="80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88" name="Freeform 188"/>
            <p:cNvSpPr>
              <a:spLocks/>
            </p:cNvSpPr>
            <p:nvPr/>
          </p:nvSpPr>
          <p:spPr bwMode="auto">
            <a:xfrm>
              <a:off x="2780" y="3931"/>
              <a:ext cx="147" cy="164"/>
            </a:xfrm>
            <a:custGeom>
              <a:avLst/>
              <a:gdLst>
                <a:gd name="T0" fmla="*/ 0 w 682"/>
                <a:gd name="T1" fmla="*/ 682 h 682"/>
                <a:gd name="T2" fmla="*/ 681 w 682"/>
                <a:gd name="T3" fmla="*/ 0 h 682"/>
                <a:gd name="T4" fmla="*/ 682 w 682"/>
                <a:gd name="T5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2" h="682">
                  <a:moveTo>
                    <a:pt x="0" y="682"/>
                  </a:moveTo>
                  <a:lnTo>
                    <a:pt x="681" y="0"/>
                  </a:lnTo>
                  <a:lnTo>
                    <a:pt x="68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89" name="Freeform 189"/>
            <p:cNvSpPr>
              <a:spLocks/>
            </p:cNvSpPr>
            <p:nvPr/>
          </p:nvSpPr>
          <p:spPr bwMode="auto">
            <a:xfrm>
              <a:off x="2696" y="4069"/>
              <a:ext cx="130" cy="142"/>
            </a:xfrm>
            <a:custGeom>
              <a:avLst/>
              <a:gdLst>
                <a:gd name="T0" fmla="*/ 0 w 591"/>
                <a:gd name="T1" fmla="*/ 590 h 590"/>
                <a:gd name="T2" fmla="*/ 590 w 591"/>
                <a:gd name="T3" fmla="*/ 0 h 590"/>
                <a:gd name="T4" fmla="*/ 591 w 591"/>
                <a:gd name="T5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1" h="590">
                  <a:moveTo>
                    <a:pt x="0" y="590"/>
                  </a:moveTo>
                  <a:lnTo>
                    <a:pt x="590" y="0"/>
                  </a:lnTo>
                  <a:lnTo>
                    <a:pt x="59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90" name="Freeform 190"/>
            <p:cNvSpPr>
              <a:spLocks/>
            </p:cNvSpPr>
            <p:nvPr/>
          </p:nvSpPr>
          <p:spPr bwMode="auto">
            <a:xfrm>
              <a:off x="2935" y="3742"/>
              <a:ext cx="187" cy="207"/>
            </a:xfrm>
            <a:custGeom>
              <a:avLst/>
              <a:gdLst>
                <a:gd name="T0" fmla="*/ 0 w 863"/>
                <a:gd name="T1" fmla="*/ 862 h 862"/>
                <a:gd name="T2" fmla="*/ 862 w 863"/>
                <a:gd name="T3" fmla="*/ 0 h 862"/>
                <a:gd name="T4" fmla="*/ 863 w 863"/>
                <a:gd name="T5" fmla="*/ 0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3" h="862">
                  <a:moveTo>
                    <a:pt x="0" y="862"/>
                  </a:moveTo>
                  <a:lnTo>
                    <a:pt x="862" y="0"/>
                  </a:lnTo>
                  <a:lnTo>
                    <a:pt x="86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91" name="Freeform 191"/>
            <p:cNvSpPr>
              <a:spLocks/>
            </p:cNvSpPr>
            <p:nvPr/>
          </p:nvSpPr>
          <p:spPr bwMode="auto">
            <a:xfrm>
              <a:off x="2826" y="3949"/>
              <a:ext cx="109" cy="120"/>
            </a:xfrm>
            <a:custGeom>
              <a:avLst/>
              <a:gdLst>
                <a:gd name="T0" fmla="*/ 0 w 507"/>
                <a:gd name="T1" fmla="*/ 506 h 506"/>
                <a:gd name="T2" fmla="*/ 506 w 507"/>
                <a:gd name="T3" fmla="*/ 0 h 506"/>
                <a:gd name="T4" fmla="*/ 507 w 507"/>
                <a:gd name="T5" fmla="*/ 0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7" h="506">
                  <a:moveTo>
                    <a:pt x="0" y="506"/>
                  </a:moveTo>
                  <a:lnTo>
                    <a:pt x="506" y="0"/>
                  </a:lnTo>
                  <a:lnTo>
                    <a:pt x="50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92" name="Freeform 192"/>
            <p:cNvSpPr>
              <a:spLocks/>
            </p:cNvSpPr>
            <p:nvPr/>
          </p:nvSpPr>
          <p:spPr bwMode="auto">
            <a:xfrm>
              <a:off x="2711" y="4045"/>
              <a:ext cx="160" cy="175"/>
            </a:xfrm>
            <a:custGeom>
              <a:avLst/>
              <a:gdLst>
                <a:gd name="T0" fmla="*/ 0 w 739"/>
                <a:gd name="T1" fmla="*/ 737 h 737"/>
                <a:gd name="T2" fmla="*/ 737 w 739"/>
                <a:gd name="T3" fmla="*/ 0 h 737"/>
                <a:gd name="T4" fmla="*/ 739 w 739"/>
                <a:gd name="T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39" h="737">
                  <a:moveTo>
                    <a:pt x="0" y="737"/>
                  </a:moveTo>
                  <a:lnTo>
                    <a:pt x="737" y="0"/>
                  </a:lnTo>
                  <a:lnTo>
                    <a:pt x="73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93" name="Freeform 193"/>
            <p:cNvSpPr>
              <a:spLocks/>
            </p:cNvSpPr>
            <p:nvPr/>
          </p:nvSpPr>
          <p:spPr bwMode="auto">
            <a:xfrm>
              <a:off x="2942" y="3747"/>
              <a:ext cx="199" cy="218"/>
            </a:xfrm>
            <a:custGeom>
              <a:avLst/>
              <a:gdLst>
                <a:gd name="T0" fmla="*/ 0 w 915"/>
                <a:gd name="T1" fmla="*/ 916 h 916"/>
                <a:gd name="T2" fmla="*/ 914 w 915"/>
                <a:gd name="T3" fmla="*/ 0 h 916"/>
                <a:gd name="T4" fmla="*/ 915 w 915"/>
                <a:gd name="T5" fmla="*/ 0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15" h="916">
                  <a:moveTo>
                    <a:pt x="0" y="916"/>
                  </a:moveTo>
                  <a:lnTo>
                    <a:pt x="914" y="0"/>
                  </a:lnTo>
                  <a:lnTo>
                    <a:pt x="91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94" name="Freeform 194"/>
            <p:cNvSpPr>
              <a:spLocks/>
            </p:cNvSpPr>
            <p:nvPr/>
          </p:nvSpPr>
          <p:spPr bwMode="auto">
            <a:xfrm>
              <a:off x="2871" y="3965"/>
              <a:ext cx="71" cy="80"/>
            </a:xfrm>
            <a:custGeom>
              <a:avLst/>
              <a:gdLst>
                <a:gd name="T0" fmla="*/ 0 w 334"/>
                <a:gd name="T1" fmla="*/ 332 h 332"/>
                <a:gd name="T2" fmla="*/ 333 w 334"/>
                <a:gd name="T3" fmla="*/ 0 h 332"/>
                <a:gd name="T4" fmla="*/ 334 w 334"/>
                <a:gd name="T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4" h="332">
                  <a:moveTo>
                    <a:pt x="0" y="332"/>
                  </a:moveTo>
                  <a:lnTo>
                    <a:pt x="333" y="0"/>
                  </a:lnTo>
                  <a:lnTo>
                    <a:pt x="33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95" name="Freeform 195"/>
            <p:cNvSpPr>
              <a:spLocks/>
            </p:cNvSpPr>
            <p:nvPr/>
          </p:nvSpPr>
          <p:spPr bwMode="auto">
            <a:xfrm>
              <a:off x="2725" y="4020"/>
              <a:ext cx="191" cy="209"/>
            </a:xfrm>
            <a:custGeom>
              <a:avLst/>
              <a:gdLst>
                <a:gd name="T0" fmla="*/ 0 w 881"/>
                <a:gd name="T1" fmla="*/ 880 h 880"/>
                <a:gd name="T2" fmla="*/ 880 w 881"/>
                <a:gd name="T3" fmla="*/ 0 h 880"/>
                <a:gd name="T4" fmla="*/ 881 w 881"/>
                <a:gd name="T5" fmla="*/ 0 h 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1" h="880">
                  <a:moveTo>
                    <a:pt x="0" y="880"/>
                  </a:moveTo>
                  <a:lnTo>
                    <a:pt x="880" y="0"/>
                  </a:lnTo>
                  <a:lnTo>
                    <a:pt x="88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96" name="Freeform 196"/>
            <p:cNvSpPr>
              <a:spLocks/>
            </p:cNvSpPr>
            <p:nvPr/>
          </p:nvSpPr>
          <p:spPr bwMode="auto">
            <a:xfrm>
              <a:off x="2950" y="3752"/>
              <a:ext cx="210" cy="229"/>
            </a:xfrm>
            <a:custGeom>
              <a:avLst/>
              <a:gdLst>
                <a:gd name="T0" fmla="*/ 0 w 965"/>
                <a:gd name="T1" fmla="*/ 964 h 964"/>
                <a:gd name="T2" fmla="*/ 964 w 965"/>
                <a:gd name="T3" fmla="*/ 0 h 964"/>
                <a:gd name="T4" fmla="*/ 965 w 965"/>
                <a:gd name="T5" fmla="*/ 0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5" h="964">
                  <a:moveTo>
                    <a:pt x="0" y="964"/>
                  </a:moveTo>
                  <a:lnTo>
                    <a:pt x="964" y="0"/>
                  </a:lnTo>
                  <a:lnTo>
                    <a:pt x="96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97" name="Freeform 197"/>
            <p:cNvSpPr>
              <a:spLocks/>
            </p:cNvSpPr>
            <p:nvPr/>
          </p:nvSpPr>
          <p:spPr bwMode="auto">
            <a:xfrm>
              <a:off x="2916" y="3981"/>
              <a:ext cx="34" cy="39"/>
            </a:xfrm>
            <a:custGeom>
              <a:avLst/>
              <a:gdLst>
                <a:gd name="T0" fmla="*/ 0 w 157"/>
                <a:gd name="T1" fmla="*/ 157 h 157"/>
                <a:gd name="T2" fmla="*/ 156 w 157"/>
                <a:gd name="T3" fmla="*/ 0 h 157"/>
                <a:gd name="T4" fmla="*/ 157 w 157"/>
                <a:gd name="T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7" h="157">
                  <a:moveTo>
                    <a:pt x="0" y="157"/>
                  </a:moveTo>
                  <a:lnTo>
                    <a:pt x="156" y="0"/>
                  </a:lnTo>
                  <a:lnTo>
                    <a:pt x="15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98" name="Freeform 198"/>
            <p:cNvSpPr>
              <a:spLocks/>
            </p:cNvSpPr>
            <p:nvPr/>
          </p:nvSpPr>
          <p:spPr bwMode="auto">
            <a:xfrm>
              <a:off x="2741" y="3998"/>
              <a:ext cx="217" cy="240"/>
            </a:xfrm>
            <a:custGeom>
              <a:avLst/>
              <a:gdLst>
                <a:gd name="T0" fmla="*/ 0 w 999"/>
                <a:gd name="T1" fmla="*/ 998 h 998"/>
                <a:gd name="T2" fmla="*/ 997 w 999"/>
                <a:gd name="T3" fmla="*/ 0 h 998"/>
                <a:gd name="T4" fmla="*/ 999 w 999"/>
                <a:gd name="T5" fmla="*/ 0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9" h="998">
                  <a:moveTo>
                    <a:pt x="0" y="998"/>
                  </a:moveTo>
                  <a:lnTo>
                    <a:pt x="997" y="0"/>
                  </a:lnTo>
                  <a:lnTo>
                    <a:pt x="99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399" name="Freeform 199"/>
            <p:cNvSpPr>
              <a:spLocks/>
            </p:cNvSpPr>
            <p:nvPr/>
          </p:nvSpPr>
          <p:spPr bwMode="auto">
            <a:xfrm>
              <a:off x="2962" y="3758"/>
              <a:ext cx="214" cy="236"/>
            </a:xfrm>
            <a:custGeom>
              <a:avLst/>
              <a:gdLst>
                <a:gd name="T0" fmla="*/ 0 w 989"/>
                <a:gd name="T1" fmla="*/ 989 h 989"/>
                <a:gd name="T2" fmla="*/ 988 w 989"/>
                <a:gd name="T3" fmla="*/ 0 h 989"/>
                <a:gd name="T4" fmla="*/ 989 w 989"/>
                <a:gd name="T5" fmla="*/ 0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89" h="989">
                  <a:moveTo>
                    <a:pt x="0" y="989"/>
                  </a:moveTo>
                  <a:lnTo>
                    <a:pt x="988" y="0"/>
                  </a:lnTo>
                  <a:lnTo>
                    <a:pt x="98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00" name="Freeform 200"/>
            <p:cNvSpPr>
              <a:spLocks/>
            </p:cNvSpPr>
            <p:nvPr/>
          </p:nvSpPr>
          <p:spPr bwMode="auto">
            <a:xfrm>
              <a:off x="2958" y="3994"/>
              <a:ext cx="4" cy="4"/>
            </a:xfrm>
            <a:custGeom>
              <a:avLst/>
              <a:gdLst>
                <a:gd name="T0" fmla="*/ 0 w 20"/>
                <a:gd name="T1" fmla="*/ 18 h 18"/>
                <a:gd name="T2" fmla="*/ 19 w 20"/>
                <a:gd name="T3" fmla="*/ 0 h 18"/>
                <a:gd name="T4" fmla="*/ 20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0" y="18"/>
                  </a:moveTo>
                  <a:lnTo>
                    <a:pt x="19" y="0"/>
                  </a:lnTo>
                  <a:lnTo>
                    <a:pt x="2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01" name="Freeform 201"/>
            <p:cNvSpPr>
              <a:spLocks/>
            </p:cNvSpPr>
            <p:nvPr/>
          </p:nvSpPr>
          <p:spPr bwMode="auto">
            <a:xfrm>
              <a:off x="2759" y="4016"/>
              <a:ext cx="206" cy="228"/>
            </a:xfrm>
            <a:custGeom>
              <a:avLst/>
              <a:gdLst>
                <a:gd name="T0" fmla="*/ 0 w 956"/>
                <a:gd name="T1" fmla="*/ 953 h 953"/>
                <a:gd name="T2" fmla="*/ 955 w 956"/>
                <a:gd name="T3" fmla="*/ 0 h 953"/>
                <a:gd name="T4" fmla="*/ 956 w 956"/>
                <a:gd name="T5" fmla="*/ 0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6" h="953">
                  <a:moveTo>
                    <a:pt x="0" y="953"/>
                  </a:moveTo>
                  <a:lnTo>
                    <a:pt x="955" y="0"/>
                  </a:lnTo>
                  <a:lnTo>
                    <a:pt x="95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02" name="Freeform 202"/>
            <p:cNvSpPr>
              <a:spLocks/>
            </p:cNvSpPr>
            <p:nvPr/>
          </p:nvSpPr>
          <p:spPr bwMode="auto">
            <a:xfrm>
              <a:off x="3007" y="3766"/>
              <a:ext cx="184" cy="204"/>
            </a:xfrm>
            <a:custGeom>
              <a:avLst/>
              <a:gdLst>
                <a:gd name="T0" fmla="*/ 0 w 852"/>
                <a:gd name="T1" fmla="*/ 851 h 851"/>
                <a:gd name="T2" fmla="*/ 851 w 852"/>
                <a:gd name="T3" fmla="*/ 0 h 851"/>
                <a:gd name="T4" fmla="*/ 852 w 852"/>
                <a:gd name="T5" fmla="*/ 0 h 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2" h="851">
                  <a:moveTo>
                    <a:pt x="0" y="851"/>
                  </a:moveTo>
                  <a:lnTo>
                    <a:pt x="851" y="0"/>
                  </a:lnTo>
                  <a:lnTo>
                    <a:pt x="85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03" name="Freeform 203"/>
            <p:cNvSpPr>
              <a:spLocks/>
            </p:cNvSpPr>
            <p:nvPr/>
          </p:nvSpPr>
          <p:spPr bwMode="auto">
            <a:xfrm>
              <a:off x="2965" y="3970"/>
              <a:ext cx="42" cy="46"/>
            </a:xfrm>
            <a:custGeom>
              <a:avLst/>
              <a:gdLst>
                <a:gd name="T0" fmla="*/ 0 w 193"/>
                <a:gd name="T1" fmla="*/ 194 h 194"/>
                <a:gd name="T2" fmla="*/ 192 w 193"/>
                <a:gd name="T3" fmla="*/ 0 h 194"/>
                <a:gd name="T4" fmla="*/ 193 w 193"/>
                <a:gd name="T5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3" h="194">
                  <a:moveTo>
                    <a:pt x="0" y="194"/>
                  </a:moveTo>
                  <a:lnTo>
                    <a:pt x="192" y="0"/>
                  </a:lnTo>
                  <a:lnTo>
                    <a:pt x="19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04" name="Freeform 204"/>
            <p:cNvSpPr>
              <a:spLocks/>
            </p:cNvSpPr>
            <p:nvPr/>
          </p:nvSpPr>
          <p:spPr bwMode="auto">
            <a:xfrm>
              <a:off x="2777" y="4032"/>
              <a:ext cx="196" cy="217"/>
            </a:xfrm>
            <a:custGeom>
              <a:avLst/>
              <a:gdLst>
                <a:gd name="T0" fmla="*/ 0 w 905"/>
                <a:gd name="T1" fmla="*/ 905 h 905"/>
                <a:gd name="T2" fmla="*/ 904 w 905"/>
                <a:gd name="T3" fmla="*/ 0 h 905"/>
                <a:gd name="T4" fmla="*/ 905 w 905"/>
                <a:gd name="T5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5" h="905">
                  <a:moveTo>
                    <a:pt x="0" y="905"/>
                  </a:moveTo>
                  <a:lnTo>
                    <a:pt x="904" y="0"/>
                  </a:lnTo>
                  <a:lnTo>
                    <a:pt x="90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05" name="Freeform 205"/>
            <p:cNvSpPr>
              <a:spLocks/>
            </p:cNvSpPr>
            <p:nvPr/>
          </p:nvSpPr>
          <p:spPr bwMode="auto">
            <a:xfrm>
              <a:off x="3052" y="3775"/>
              <a:ext cx="154" cy="170"/>
            </a:xfrm>
            <a:custGeom>
              <a:avLst/>
              <a:gdLst>
                <a:gd name="T0" fmla="*/ 0 w 708"/>
                <a:gd name="T1" fmla="*/ 708 h 708"/>
                <a:gd name="T2" fmla="*/ 707 w 708"/>
                <a:gd name="T3" fmla="*/ 0 h 708"/>
                <a:gd name="T4" fmla="*/ 708 w 708"/>
                <a:gd name="T5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08" h="708">
                  <a:moveTo>
                    <a:pt x="0" y="708"/>
                  </a:moveTo>
                  <a:lnTo>
                    <a:pt x="707" y="0"/>
                  </a:lnTo>
                  <a:lnTo>
                    <a:pt x="70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06" name="Freeform 206"/>
            <p:cNvSpPr>
              <a:spLocks/>
            </p:cNvSpPr>
            <p:nvPr/>
          </p:nvSpPr>
          <p:spPr bwMode="auto">
            <a:xfrm>
              <a:off x="2972" y="3945"/>
              <a:ext cx="80" cy="87"/>
            </a:xfrm>
            <a:custGeom>
              <a:avLst/>
              <a:gdLst>
                <a:gd name="T0" fmla="*/ 0 w 369"/>
                <a:gd name="T1" fmla="*/ 368 h 368"/>
                <a:gd name="T2" fmla="*/ 368 w 369"/>
                <a:gd name="T3" fmla="*/ 0 h 368"/>
                <a:gd name="T4" fmla="*/ 369 w 369"/>
                <a:gd name="T5" fmla="*/ 0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9" h="368">
                  <a:moveTo>
                    <a:pt x="0" y="368"/>
                  </a:moveTo>
                  <a:lnTo>
                    <a:pt x="368" y="0"/>
                  </a:lnTo>
                  <a:lnTo>
                    <a:pt x="36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07" name="Freeform 207"/>
            <p:cNvSpPr>
              <a:spLocks/>
            </p:cNvSpPr>
            <p:nvPr/>
          </p:nvSpPr>
          <p:spPr bwMode="auto">
            <a:xfrm>
              <a:off x="2797" y="4050"/>
              <a:ext cx="183" cy="202"/>
            </a:xfrm>
            <a:custGeom>
              <a:avLst/>
              <a:gdLst>
                <a:gd name="T0" fmla="*/ 0 w 851"/>
                <a:gd name="T1" fmla="*/ 850 h 850"/>
                <a:gd name="T2" fmla="*/ 850 w 851"/>
                <a:gd name="T3" fmla="*/ 0 h 850"/>
                <a:gd name="T4" fmla="*/ 851 w 851"/>
                <a:gd name="T5" fmla="*/ 0 h 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1" h="850">
                  <a:moveTo>
                    <a:pt x="0" y="850"/>
                  </a:moveTo>
                  <a:lnTo>
                    <a:pt x="850" y="0"/>
                  </a:lnTo>
                  <a:lnTo>
                    <a:pt x="85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08" name="Freeform 208"/>
            <p:cNvSpPr>
              <a:spLocks/>
            </p:cNvSpPr>
            <p:nvPr/>
          </p:nvSpPr>
          <p:spPr bwMode="auto">
            <a:xfrm>
              <a:off x="3098" y="3786"/>
              <a:ext cx="121" cy="133"/>
            </a:xfrm>
            <a:custGeom>
              <a:avLst/>
              <a:gdLst>
                <a:gd name="T0" fmla="*/ 0 w 559"/>
                <a:gd name="T1" fmla="*/ 559 h 559"/>
                <a:gd name="T2" fmla="*/ 558 w 559"/>
                <a:gd name="T3" fmla="*/ 0 h 559"/>
                <a:gd name="T4" fmla="*/ 559 w 559"/>
                <a:gd name="T5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9" h="559">
                  <a:moveTo>
                    <a:pt x="0" y="559"/>
                  </a:moveTo>
                  <a:lnTo>
                    <a:pt x="558" y="0"/>
                  </a:lnTo>
                  <a:lnTo>
                    <a:pt x="55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09" name="Freeform 209"/>
            <p:cNvSpPr>
              <a:spLocks/>
            </p:cNvSpPr>
            <p:nvPr/>
          </p:nvSpPr>
          <p:spPr bwMode="auto">
            <a:xfrm>
              <a:off x="2980" y="3919"/>
              <a:ext cx="118" cy="131"/>
            </a:xfrm>
            <a:custGeom>
              <a:avLst/>
              <a:gdLst>
                <a:gd name="T0" fmla="*/ 0 w 544"/>
                <a:gd name="T1" fmla="*/ 543 h 543"/>
                <a:gd name="T2" fmla="*/ 543 w 544"/>
                <a:gd name="T3" fmla="*/ 0 h 543"/>
                <a:gd name="T4" fmla="*/ 544 w 544"/>
                <a:gd name="T5" fmla="*/ 0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4" h="543">
                  <a:moveTo>
                    <a:pt x="0" y="543"/>
                  </a:moveTo>
                  <a:lnTo>
                    <a:pt x="543" y="0"/>
                  </a:lnTo>
                  <a:lnTo>
                    <a:pt x="54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10" name="Freeform 210"/>
            <p:cNvSpPr>
              <a:spLocks/>
            </p:cNvSpPr>
            <p:nvPr/>
          </p:nvSpPr>
          <p:spPr bwMode="auto">
            <a:xfrm>
              <a:off x="2817" y="4065"/>
              <a:ext cx="171" cy="190"/>
            </a:xfrm>
            <a:custGeom>
              <a:avLst/>
              <a:gdLst>
                <a:gd name="T0" fmla="*/ 0 w 789"/>
                <a:gd name="T1" fmla="*/ 789 h 789"/>
                <a:gd name="T2" fmla="*/ 788 w 789"/>
                <a:gd name="T3" fmla="*/ 0 h 789"/>
                <a:gd name="T4" fmla="*/ 789 w 789"/>
                <a:gd name="T5" fmla="*/ 0 h 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89" h="789">
                  <a:moveTo>
                    <a:pt x="0" y="789"/>
                  </a:moveTo>
                  <a:lnTo>
                    <a:pt x="788" y="0"/>
                  </a:lnTo>
                  <a:lnTo>
                    <a:pt x="78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11" name="Freeform 211"/>
            <p:cNvSpPr>
              <a:spLocks/>
            </p:cNvSpPr>
            <p:nvPr/>
          </p:nvSpPr>
          <p:spPr bwMode="auto">
            <a:xfrm>
              <a:off x="3144" y="3798"/>
              <a:ext cx="87" cy="97"/>
            </a:xfrm>
            <a:custGeom>
              <a:avLst/>
              <a:gdLst>
                <a:gd name="T0" fmla="*/ 0 w 405"/>
                <a:gd name="T1" fmla="*/ 405 h 405"/>
                <a:gd name="T2" fmla="*/ 404 w 405"/>
                <a:gd name="T3" fmla="*/ 0 h 405"/>
                <a:gd name="T4" fmla="*/ 405 w 405"/>
                <a:gd name="T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5" h="405">
                  <a:moveTo>
                    <a:pt x="0" y="405"/>
                  </a:moveTo>
                  <a:lnTo>
                    <a:pt x="404" y="0"/>
                  </a:lnTo>
                  <a:lnTo>
                    <a:pt x="40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12" name="Freeform 212"/>
            <p:cNvSpPr>
              <a:spLocks/>
            </p:cNvSpPr>
            <p:nvPr/>
          </p:nvSpPr>
          <p:spPr bwMode="auto">
            <a:xfrm>
              <a:off x="2988" y="3895"/>
              <a:ext cx="156" cy="170"/>
            </a:xfrm>
            <a:custGeom>
              <a:avLst/>
              <a:gdLst>
                <a:gd name="T0" fmla="*/ 0 w 719"/>
                <a:gd name="T1" fmla="*/ 717 h 717"/>
                <a:gd name="T2" fmla="*/ 718 w 719"/>
                <a:gd name="T3" fmla="*/ 0 h 717"/>
                <a:gd name="T4" fmla="*/ 719 w 719"/>
                <a:gd name="T5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9" h="717">
                  <a:moveTo>
                    <a:pt x="0" y="717"/>
                  </a:moveTo>
                  <a:lnTo>
                    <a:pt x="718" y="0"/>
                  </a:lnTo>
                  <a:lnTo>
                    <a:pt x="71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13" name="Freeform 213"/>
            <p:cNvSpPr>
              <a:spLocks/>
            </p:cNvSpPr>
            <p:nvPr/>
          </p:nvSpPr>
          <p:spPr bwMode="auto">
            <a:xfrm>
              <a:off x="2839" y="4083"/>
              <a:ext cx="157" cy="172"/>
            </a:xfrm>
            <a:custGeom>
              <a:avLst/>
              <a:gdLst>
                <a:gd name="T0" fmla="*/ 0 w 723"/>
                <a:gd name="T1" fmla="*/ 723 h 723"/>
                <a:gd name="T2" fmla="*/ 722 w 723"/>
                <a:gd name="T3" fmla="*/ 0 h 723"/>
                <a:gd name="T4" fmla="*/ 723 w 723"/>
                <a:gd name="T5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3" h="723">
                  <a:moveTo>
                    <a:pt x="0" y="723"/>
                  </a:moveTo>
                  <a:lnTo>
                    <a:pt x="722" y="0"/>
                  </a:lnTo>
                  <a:lnTo>
                    <a:pt x="72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14" name="Freeform 214"/>
            <p:cNvSpPr>
              <a:spLocks/>
            </p:cNvSpPr>
            <p:nvPr/>
          </p:nvSpPr>
          <p:spPr bwMode="auto">
            <a:xfrm>
              <a:off x="3189" y="3812"/>
              <a:ext cx="52" cy="58"/>
            </a:xfrm>
            <a:custGeom>
              <a:avLst/>
              <a:gdLst>
                <a:gd name="T0" fmla="*/ 0 w 244"/>
                <a:gd name="T1" fmla="*/ 244 h 244"/>
                <a:gd name="T2" fmla="*/ 243 w 244"/>
                <a:gd name="T3" fmla="*/ 0 h 244"/>
                <a:gd name="T4" fmla="*/ 244 w 244"/>
                <a:gd name="T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4" h="244">
                  <a:moveTo>
                    <a:pt x="0" y="244"/>
                  </a:moveTo>
                  <a:lnTo>
                    <a:pt x="243" y="0"/>
                  </a:lnTo>
                  <a:lnTo>
                    <a:pt x="24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15" name="Freeform 215"/>
            <p:cNvSpPr>
              <a:spLocks/>
            </p:cNvSpPr>
            <p:nvPr/>
          </p:nvSpPr>
          <p:spPr bwMode="auto">
            <a:xfrm>
              <a:off x="2996" y="3870"/>
              <a:ext cx="193" cy="213"/>
            </a:xfrm>
            <a:custGeom>
              <a:avLst/>
              <a:gdLst>
                <a:gd name="T0" fmla="*/ 0 w 893"/>
                <a:gd name="T1" fmla="*/ 892 h 892"/>
                <a:gd name="T2" fmla="*/ 892 w 893"/>
                <a:gd name="T3" fmla="*/ 0 h 892"/>
                <a:gd name="T4" fmla="*/ 893 w 893"/>
                <a:gd name="T5" fmla="*/ 0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3" h="892">
                  <a:moveTo>
                    <a:pt x="0" y="892"/>
                  </a:moveTo>
                  <a:lnTo>
                    <a:pt x="892" y="0"/>
                  </a:lnTo>
                  <a:lnTo>
                    <a:pt x="89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16" name="Freeform 216"/>
            <p:cNvSpPr>
              <a:spLocks/>
            </p:cNvSpPr>
            <p:nvPr/>
          </p:nvSpPr>
          <p:spPr bwMode="auto">
            <a:xfrm>
              <a:off x="2864" y="4100"/>
              <a:ext cx="139" cy="155"/>
            </a:xfrm>
            <a:custGeom>
              <a:avLst/>
              <a:gdLst>
                <a:gd name="T0" fmla="*/ 0 w 649"/>
                <a:gd name="T1" fmla="*/ 648 h 648"/>
                <a:gd name="T2" fmla="*/ 648 w 649"/>
                <a:gd name="T3" fmla="*/ 0 h 648"/>
                <a:gd name="T4" fmla="*/ 649 w 649"/>
                <a:gd name="T5" fmla="*/ 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49" h="648">
                  <a:moveTo>
                    <a:pt x="0" y="648"/>
                  </a:moveTo>
                  <a:lnTo>
                    <a:pt x="648" y="0"/>
                  </a:lnTo>
                  <a:lnTo>
                    <a:pt x="64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17" name="Freeform 217"/>
            <p:cNvSpPr>
              <a:spLocks/>
            </p:cNvSpPr>
            <p:nvPr/>
          </p:nvSpPr>
          <p:spPr bwMode="auto">
            <a:xfrm>
              <a:off x="3234" y="3827"/>
              <a:ext cx="15" cy="18"/>
            </a:xfrm>
            <a:custGeom>
              <a:avLst/>
              <a:gdLst>
                <a:gd name="T0" fmla="*/ 0 w 75"/>
                <a:gd name="T1" fmla="*/ 75 h 75"/>
                <a:gd name="T2" fmla="*/ 74 w 75"/>
                <a:gd name="T3" fmla="*/ 0 h 75"/>
                <a:gd name="T4" fmla="*/ 75 w 75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5" h="75">
                  <a:moveTo>
                    <a:pt x="0" y="75"/>
                  </a:moveTo>
                  <a:lnTo>
                    <a:pt x="74" y="0"/>
                  </a:lnTo>
                  <a:lnTo>
                    <a:pt x="7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18" name="Freeform 218"/>
            <p:cNvSpPr>
              <a:spLocks/>
            </p:cNvSpPr>
            <p:nvPr/>
          </p:nvSpPr>
          <p:spPr bwMode="auto">
            <a:xfrm>
              <a:off x="3003" y="3845"/>
              <a:ext cx="231" cy="255"/>
            </a:xfrm>
            <a:custGeom>
              <a:avLst/>
              <a:gdLst>
                <a:gd name="T0" fmla="*/ 0 w 1069"/>
                <a:gd name="T1" fmla="*/ 1067 h 1067"/>
                <a:gd name="T2" fmla="*/ 1068 w 1069"/>
                <a:gd name="T3" fmla="*/ 0 h 1067"/>
                <a:gd name="T4" fmla="*/ 1069 w 1069"/>
                <a:gd name="T5" fmla="*/ 0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9" h="1067">
                  <a:moveTo>
                    <a:pt x="0" y="1067"/>
                  </a:moveTo>
                  <a:lnTo>
                    <a:pt x="1068" y="0"/>
                  </a:lnTo>
                  <a:lnTo>
                    <a:pt x="106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19" name="Freeform 219"/>
            <p:cNvSpPr>
              <a:spLocks/>
            </p:cNvSpPr>
            <p:nvPr/>
          </p:nvSpPr>
          <p:spPr bwMode="auto">
            <a:xfrm>
              <a:off x="2888" y="3844"/>
              <a:ext cx="370" cy="408"/>
            </a:xfrm>
            <a:custGeom>
              <a:avLst/>
              <a:gdLst>
                <a:gd name="T0" fmla="*/ 0 w 1709"/>
                <a:gd name="T1" fmla="*/ 1709 h 1709"/>
                <a:gd name="T2" fmla="*/ 566 w 1709"/>
                <a:gd name="T3" fmla="*/ 1142 h 1709"/>
                <a:gd name="T4" fmla="*/ 1708 w 1709"/>
                <a:gd name="T5" fmla="*/ 0 h 1709"/>
                <a:gd name="T6" fmla="*/ 1709 w 1709"/>
                <a:gd name="T7" fmla="*/ 0 h 1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09" h="1709">
                  <a:moveTo>
                    <a:pt x="0" y="1709"/>
                  </a:moveTo>
                  <a:lnTo>
                    <a:pt x="566" y="1142"/>
                  </a:lnTo>
                  <a:lnTo>
                    <a:pt x="1708" y="0"/>
                  </a:lnTo>
                  <a:lnTo>
                    <a:pt x="170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20" name="Freeform 220"/>
            <p:cNvSpPr>
              <a:spLocks/>
            </p:cNvSpPr>
            <p:nvPr/>
          </p:nvSpPr>
          <p:spPr bwMode="auto">
            <a:xfrm>
              <a:off x="2915" y="3864"/>
              <a:ext cx="348" cy="384"/>
            </a:xfrm>
            <a:custGeom>
              <a:avLst/>
              <a:gdLst>
                <a:gd name="T0" fmla="*/ 0 w 1609"/>
                <a:gd name="T1" fmla="*/ 1609 h 1609"/>
                <a:gd name="T2" fmla="*/ 476 w 1609"/>
                <a:gd name="T3" fmla="*/ 1134 h 1609"/>
                <a:gd name="T4" fmla="*/ 1608 w 1609"/>
                <a:gd name="T5" fmla="*/ 0 h 1609"/>
                <a:gd name="T6" fmla="*/ 1609 w 1609"/>
                <a:gd name="T7" fmla="*/ 0 h 1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09" h="1609">
                  <a:moveTo>
                    <a:pt x="0" y="1609"/>
                  </a:moveTo>
                  <a:lnTo>
                    <a:pt x="476" y="1134"/>
                  </a:lnTo>
                  <a:lnTo>
                    <a:pt x="1608" y="0"/>
                  </a:lnTo>
                  <a:lnTo>
                    <a:pt x="160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21" name="Freeform 221"/>
            <p:cNvSpPr>
              <a:spLocks/>
            </p:cNvSpPr>
            <p:nvPr/>
          </p:nvSpPr>
          <p:spPr bwMode="auto">
            <a:xfrm>
              <a:off x="2945" y="3885"/>
              <a:ext cx="322" cy="355"/>
            </a:xfrm>
            <a:custGeom>
              <a:avLst/>
              <a:gdLst>
                <a:gd name="T0" fmla="*/ 0 w 1488"/>
                <a:gd name="T1" fmla="*/ 1487 h 1487"/>
                <a:gd name="T2" fmla="*/ 374 w 1488"/>
                <a:gd name="T3" fmla="*/ 1112 h 1487"/>
                <a:gd name="T4" fmla="*/ 1487 w 1488"/>
                <a:gd name="T5" fmla="*/ 0 h 1487"/>
                <a:gd name="T6" fmla="*/ 1488 w 1488"/>
                <a:gd name="T7" fmla="*/ 0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88" h="1487">
                  <a:moveTo>
                    <a:pt x="0" y="1487"/>
                  </a:moveTo>
                  <a:lnTo>
                    <a:pt x="374" y="1112"/>
                  </a:lnTo>
                  <a:lnTo>
                    <a:pt x="1487" y="0"/>
                  </a:lnTo>
                  <a:lnTo>
                    <a:pt x="148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22" name="Freeform 222"/>
            <p:cNvSpPr>
              <a:spLocks/>
            </p:cNvSpPr>
            <p:nvPr/>
          </p:nvSpPr>
          <p:spPr bwMode="auto">
            <a:xfrm>
              <a:off x="2978" y="3910"/>
              <a:ext cx="289" cy="319"/>
            </a:xfrm>
            <a:custGeom>
              <a:avLst/>
              <a:gdLst>
                <a:gd name="T0" fmla="*/ 0 w 1340"/>
                <a:gd name="T1" fmla="*/ 1339 h 1339"/>
                <a:gd name="T2" fmla="*/ 260 w 1340"/>
                <a:gd name="T3" fmla="*/ 1079 h 1339"/>
                <a:gd name="T4" fmla="*/ 1339 w 1340"/>
                <a:gd name="T5" fmla="*/ 0 h 1339"/>
                <a:gd name="T6" fmla="*/ 1340 w 1340"/>
                <a:gd name="T7" fmla="*/ 0 h 1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0" h="1339">
                  <a:moveTo>
                    <a:pt x="0" y="1339"/>
                  </a:moveTo>
                  <a:lnTo>
                    <a:pt x="260" y="1079"/>
                  </a:lnTo>
                  <a:lnTo>
                    <a:pt x="1339" y="0"/>
                  </a:lnTo>
                  <a:lnTo>
                    <a:pt x="134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23" name="Freeform 223"/>
            <p:cNvSpPr>
              <a:spLocks/>
            </p:cNvSpPr>
            <p:nvPr/>
          </p:nvSpPr>
          <p:spPr bwMode="auto">
            <a:xfrm>
              <a:off x="3014" y="3939"/>
              <a:ext cx="249" cy="276"/>
            </a:xfrm>
            <a:custGeom>
              <a:avLst/>
              <a:gdLst>
                <a:gd name="T0" fmla="*/ 0 w 1154"/>
                <a:gd name="T1" fmla="*/ 1155 h 1155"/>
                <a:gd name="T2" fmla="*/ 126 w 1154"/>
                <a:gd name="T3" fmla="*/ 1028 h 1155"/>
                <a:gd name="T4" fmla="*/ 1153 w 1154"/>
                <a:gd name="T5" fmla="*/ 0 h 1155"/>
                <a:gd name="T6" fmla="*/ 1154 w 1154"/>
                <a:gd name="T7" fmla="*/ 0 h 1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4" h="1155">
                  <a:moveTo>
                    <a:pt x="0" y="1155"/>
                  </a:moveTo>
                  <a:lnTo>
                    <a:pt x="126" y="1028"/>
                  </a:lnTo>
                  <a:lnTo>
                    <a:pt x="1153" y="0"/>
                  </a:lnTo>
                  <a:lnTo>
                    <a:pt x="115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24" name="Freeform 224"/>
            <p:cNvSpPr>
              <a:spLocks/>
            </p:cNvSpPr>
            <p:nvPr/>
          </p:nvSpPr>
          <p:spPr bwMode="auto">
            <a:xfrm>
              <a:off x="3056" y="3976"/>
              <a:ext cx="197" cy="217"/>
            </a:xfrm>
            <a:custGeom>
              <a:avLst/>
              <a:gdLst>
                <a:gd name="T0" fmla="*/ 0 w 910"/>
                <a:gd name="T1" fmla="*/ 909 h 909"/>
                <a:gd name="T2" fmla="*/ 909 w 910"/>
                <a:gd name="T3" fmla="*/ 0 h 909"/>
                <a:gd name="T4" fmla="*/ 910 w 910"/>
                <a:gd name="T5" fmla="*/ 0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10" h="909">
                  <a:moveTo>
                    <a:pt x="0" y="909"/>
                  </a:moveTo>
                  <a:lnTo>
                    <a:pt x="909" y="0"/>
                  </a:lnTo>
                  <a:lnTo>
                    <a:pt x="91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25" name="Freeform 225"/>
            <p:cNvSpPr>
              <a:spLocks/>
            </p:cNvSpPr>
            <p:nvPr/>
          </p:nvSpPr>
          <p:spPr bwMode="auto">
            <a:xfrm>
              <a:off x="3114" y="4028"/>
              <a:ext cx="114" cy="125"/>
            </a:xfrm>
            <a:custGeom>
              <a:avLst/>
              <a:gdLst>
                <a:gd name="T0" fmla="*/ 0 w 527"/>
                <a:gd name="T1" fmla="*/ 526 h 526"/>
                <a:gd name="T2" fmla="*/ 526 w 527"/>
                <a:gd name="T3" fmla="*/ 0 h 526"/>
                <a:gd name="T4" fmla="*/ 527 w 527"/>
                <a:gd name="T5" fmla="*/ 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7" h="526">
                  <a:moveTo>
                    <a:pt x="0" y="526"/>
                  </a:moveTo>
                  <a:lnTo>
                    <a:pt x="526" y="0"/>
                  </a:lnTo>
                  <a:lnTo>
                    <a:pt x="52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1432" name="Freeform 232"/>
          <p:cNvSpPr>
            <a:spLocks/>
          </p:cNvSpPr>
          <p:nvPr/>
        </p:nvSpPr>
        <p:spPr bwMode="auto">
          <a:xfrm>
            <a:off x="3695700" y="4432300"/>
            <a:ext cx="1588" cy="87313"/>
          </a:xfrm>
          <a:custGeom>
            <a:avLst/>
            <a:gdLst>
              <a:gd name="T0" fmla="*/ 0 w 1"/>
              <a:gd name="T1" fmla="*/ 0 h 225"/>
              <a:gd name="T2" fmla="*/ 0 w 1"/>
              <a:gd name="T3" fmla="*/ 225 h 225"/>
              <a:gd name="T4" fmla="*/ 1 w 1"/>
              <a:gd name="T5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25">
                <a:moveTo>
                  <a:pt x="0" y="0"/>
                </a:moveTo>
                <a:lnTo>
                  <a:pt x="0" y="225"/>
                </a:lnTo>
                <a:lnTo>
                  <a:pt x="1" y="225"/>
                </a:lnTo>
              </a:path>
            </a:pathLst>
          </a:custGeom>
          <a:noFill/>
          <a:ln w="952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2270" name="Group 1070"/>
          <p:cNvGrpSpPr>
            <a:grpSpLocks/>
          </p:cNvGrpSpPr>
          <p:nvPr/>
        </p:nvGrpSpPr>
        <p:grpSpPr bwMode="auto">
          <a:xfrm>
            <a:off x="2752725" y="3130550"/>
            <a:ext cx="1906588" cy="3582988"/>
            <a:chOff x="1734" y="1972"/>
            <a:chExt cx="1201" cy="2257"/>
          </a:xfrm>
        </p:grpSpPr>
        <p:sp>
          <p:nvSpPr>
            <p:cNvPr id="51302" name="Freeform 102"/>
            <p:cNvSpPr>
              <a:spLocks/>
            </p:cNvSpPr>
            <p:nvPr/>
          </p:nvSpPr>
          <p:spPr bwMode="auto">
            <a:xfrm>
              <a:off x="2696" y="2725"/>
              <a:ext cx="239" cy="478"/>
            </a:xfrm>
            <a:custGeom>
              <a:avLst/>
              <a:gdLst>
                <a:gd name="T0" fmla="*/ 0 w 1111"/>
                <a:gd name="T1" fmla="*/ 0 h 1994"/>
                <a:gd name="T2" fmla="*/ 1110 w 1111"/>
                <a:gd name="T3" fmla="*/ 1994 h 1994"/>
                <a:gd name="T4" fmla="*/ 1111 w 1111"/>
                <a:gd name="T5" fmla="*/ 1994 h 1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1" h="1994">
                  <a:moveTo>
                    <a:pt x="0" y="0"/>
                  </a:moveTo>
                  <a:lnTo>
                    <a:pt x="1110" y="1994"/>
                  </a:lnTo>
                  <a:lnTo>
                    <a:pt x="1111" y="1994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1107" name="Group 1067"/>
            <p:cNvGrpSpPr>
              <a:grpSpLocks/>
            </p:cNvGrpSpPr>
            <p:nvPr/>
          </p:nvGrpSpPr>
          <p:grpSpPr bwMode="auto">
            <a:xfrm>
              <a:off x="1736" y="1972"/>
              <a:ext cx="1198" cy="2257"/>
              <a:chOff x="1736" y="1972"/>
              <a:chExt cx="1198" cy="2257"/>
            </a:xfrm>
          </p:grpSpPr>
          <p:sp>
            <p:nvSpPr>
              <p:cNvPr id="51299" name="Freeform 99"/>
              <p:cNvSpPr>
                <a:spLocks/>
              </p:cNvSpPr>
              <p:nvPr/>
            </p:nvSpPr>
            <p:spPr bwMode="auto">
              <a:xfrm>
                <a:off x="1736" y="3162"/>
                <a:ext cx="1198" cy="203"/>
              </a:xfrm>
              <a:custGeom>
                <a:avLst/>
                <a:gdLst>
                  <a:gd name="T0" fmla="*/ 0 w 6852"/>
                  <a:gd name="T1" fmla="*/ 0 h 1012"/>
                  <a:gd name="T2" fmla="*/ 55 w 6852"/>
                  <a:gd name="T3" fmla="*/ 172 h 1012"/>
                  <a:gd name="T4" fmla="*/ 224 w 6852"/>
                  <a:gd name="T5" fmla="*/ 340 h 1012"/>
                  <a:gd name="T6" fmla="*/ 502 w 6852"/>
                  <a:gd name="T7" fmla="*/ 501 h 1012"/>
                  <a:gd name="T8" fmla="*/ 880 w 6852"/>
                  <a:gd name="T9" fmla="*/ 646 h 1012"/>
                  <a:gd name="T10" fmla="*/ 1345 w 6852"/>
                  <a:gd name="T11" fmla="*/ 772 h 1012"/>
                  <a:gd name="T12" fmla="*/ 1880 w 6852"/>
                  <a:gd name="T13" fmla="*/ 875 h 1012"/>
                  <a:gd name="T14" fmla="*/ 2468 w 6852"/>
                  <a:gd name="T15" fmla="*/ 951 h 1012"/>
                  <a:gd name="T16" fmla="*/ 3088 w 6852"/>
                  <a:gd name="T17" fmla="*/ 998 h 1012"/>
                  <a:gd name="T18" fmla="*/ 3720 w 6852"/>
                  <a:gd name="T19" fmla="*/ 1012 h 1012"/>
                  <a:gd name="T20" fmla="*/ 4342 w 6852"/>
                  <a:gd name="T21" fmla="*/ 996 h 1012"/>
                  <a:gd name="T22" fmla="*/ 4933 w 6852"/>
                  <a:gd name="T23" fmla="*/ 947 h 1012"/>
                  <a:gd name="T24" fmla="*/ 5472 w 6852"/>
                  <a:gd name="T25" fmla="*/ 870 h 1012"/>
                  <a:gd name="T26" fmla="*/ 5942 w 6852"/>
                  <a:gd name="T27" fmla="*/ 765 h 1012"/>
                  <a:gd name="T28" fmla="*/ 6326 w 6852"/>
                  <a:gd name="T29" fmla="*/ 638 h 1012"/>
                  <a:gd name="T30" fmla="*/ 6612 w 6852"/>
                  <a:gd name="T31" fmla="*/ 491 h 1012"/>
                  <a:gd name="T32" fmla="*/ 6789 w 6852"/>
                  <a:gd name="T33" fmla="*/ 330 h 1012"/>
                  <a:gd name="T34" fmla="*/ 6851 w 6852"/>
                  <a:gd name="T35" fmla="*/ 160 h 1012"/>
                  <a:gd name="T36" fmla="*/ 6852 w 6852"/>
                  <a:gd name="T37" fmla="*/ 160 h 10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852" h="1012">
                    <a:moveTo>
                      <a:pt x="0" y="0"/>
                    </a:moveTo>
                    <a:lnTo>
                      <a:pt x="55" y="172"/>
                    </a:lnTo>
                    <a:lnTo>
                      <a:pt x="224" y="340"/>
                    </a:lnTo>
                    <a:lnTo>
                      <a:pt x="502" y="501"/>
                    </a:lnTo>
                    <a:lnTo>
                      <a:pt x="880" y="646"/>
                    </a:lnTo>
                    <a:lnTo>
                      <a:pt x="1345" y="772"/>
                    </a:lnTo>
                    <a:lnTo>
                      <a:pt x="1880" y="875"/>
                    </a:lnTo>
                    <a:lnTo>
                      <a:pt x="2468" y="951"/>
                    </a:lnTo>
                    <a:lnTo>
                      <a:pt x="3088" y="998"/>
                    </a:lnTo>
                    <a:lnTo>
                      <a:pt x="3720" y="1012"/>
                    </a:lnTo>
                    <a:lnTo>
                      <a:pt x="4342" y="996"/>
                    </a:lnTo>
                    <a:lnTo>
                      <a:pt x="4933" y="947"/>
                    </a:lnTo>
                    <a:lnTo>
                      <a:pt x="5472" y="870"/>
                    </a:lnTo>
                    <a:lnTo>
                      <a:pt x="5942" y="765"/>
                    </a:lnTo>
                    <a:lnTo>
                      <a:pt x="6326" y="638"/>
                    </a:lnTo>
                    <a:lnTo>
                      <a:pt x="6612" y="491"/>
                    </a:lnTo>
                    <a:lnTo>
                      <a:pt x="6789" y="330"/>
                    </a:lnTo>
                    <a:lnTo>
                      <a:pt x="6851" y="160"/>
                    </a:lnTo>
                    <a:lnTo>
                      <a:pt x="6852" y="160"/>
                    </a:lnTo>
                  </a:path>
                </a:pathLst>
              </a:custGeom>
              <a:noFill/>
              <a:ln w="22225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66FFCC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300" name="Freeform 100"/>
              <p:cNvSpPr>
                <a:spLocks/>
              </p:cNvSpPr>
              <p:nvPr/>
            </p:nvSpPr>
            <p:spPr bwMode="auto">
              <a:xfrm>
                <a:off x="2104" y="2012"/>
                <a:ext cx="225" cy="436"/>
              </a:xfrm>
              <a:custGeom>
                <a:avLst/>
                <a:gdLst>
                  <a:gd name="T0" fmla="*/ 1035 w 1035"/>
                  <a:gd name="T1" fmla="*/ 0 h 1832"/>
                  <a:gd name="T2" fmla="*/ 0 w 1035"/>
                  <a:gd name="T3" fmla="*/ 1832 h 1832"/>
                  <a:gd name="T4" fmla="*/ 1 w 1035"/>
                  <a:gd name="T5" fmla="*/ 1832 h 18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35" h="1832">
                    <a:moveTo>
                      <a:pt x="1035" y="0"/>
                    </a:moveTo>
                    <a:lnTo>
                      <a:pt x="0" y="1832"/>
                    </a:lnTo>
                    <a:lnTo>
                      <a:pt x="1" y="1832"/>
                    </a:lnTo>
                  </a:path>
                </a:pathLst>
              </a:custGeom>
              <a:noFill/>
              <a:ln w="22225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301" name="Freeform 101"/>
              <p:cNvSpPr>
                <a:spLocks/>
              </p:cNvSpPr>
              <p:nvPr/>
            </p:nvSpPr>
            <p:spPr bwMode="auto">
              <a:xfrm>
                <a:off x="2335" y="2012"/>
                <a:ext cx="221" cy="436"/>
              </a:xfrm>
              <a:custGeom>
                <a:avLst/>
                <a:gdLst>
                  <a:gd name="T0" fmla="*/ 0 w 1021"/>
                  <a:gd name="T1" fmla="*/ 0 h 1832"/>
                  <a:gd name="T2" fmla="*/ 1020 w 1021"/>
                  <a:gd name="T3" fmla="*/ 1832 h 1832"/>
                  <a:gd name="T4" fmla="*/ 1021 w 1021"/>
                  <a:gd name="T5" fmla="*/ 1832 h 18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21" h="1832">
                    <a:moveTo>
                      <a:pt x="0" y="0"/>
                    </a:moveTo>
                    <a:lnTo>
                      <a:pt x="1020" y="1832"/>
                    </a:lnTo>
                    <a:lnTo>
                      <a:pt x="1021" y="1832"/>
                    </a:lnTo>
                  </a:path>
                </a:pathLst>
              </a:custGeom>
              <a:noFill/>
              <a:ln w="22225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11116" name="Group 1064"/>
              <p:cNvGrpSpPr>
                <a:grpSpLocks/>
              </p:cNvGrpSpPr>
              <p:nvPr/>
            </p:nvGrpSpPr>
            <p:grpSpPr bwMode="auto">
              <a:xfrm>
                <a:off x="2328" y="1972"/>
                <a:ext cx="1" cy="2257"/>
                <a:chOff x="2328" y="1972"/>
                <a:chExt cx="1" cy="2257"/>
              </a:xfrm>
            </p:grpSpPr>
            <p:sp>
              <p:nvSpPr>
                <p:cNvPr id="51304" name="Freeform 104"/>
                <p:cNvSpPr>
                  <a:spLocks/>
                </p:cNvSpPr>
                <p:nvPr/>
              </p:nvSpPr>
              <p:spPr bwMode="auto">
                <a:xfrm>
                  <a:off x="2328" y="1972"/>
                  <a:ext cx="1" cy="9"/>
                </a:xfrm>
                <a:custGeom>
                  <a:avLst/>
                  <a:gdLst>
                    <a:gd name="T0" fmla="*/ 0 w 1"/>
                    <a:gd name="T1" fmla="*/ 0 h 38"/>
                    <a:gd name="T2" fmla="*/ 0 w 1"/>
                    <a:gd name="T3" fmla="*/ 38 h 38"/>
                    <a:gd name="T4" fmla="*/ 1 w 1"/>
                    <a:gd name="T5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8">
                      <a:moveTo>
                        <a:pt x="0" y="0"/>
                      </a:moveTo>
                      <a:lnTo>
                        <a:pt x="0" y="38"/>
                      </a:lnTo>
                      <a:lnTo>
                        <a:pt x="1" y="38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05" name="Freeform 105"/>
                <p:cNvSpPr>
                  <a:spLocks/>
                </p:cNvSpPr>
                <p:nvPr/>
              </p:nvSpPr>
              <p:spPr bwMode="auto">
                <a:xfrm>
                  <a:off x="2328" y="1992"/>
                  <a:ext cx="1" cy="52"/>
                </a:xfrm>
                <a:custGeom>
                  <a:avLst/>
                  <a:gdLst>
                    <a:gd name="T0" fmla="*/ 0 w 1"/>
                    <a:gd name="T1" fmla="*/ 0 h 225"/>
                    <a:gd name="T2" fmla="*/ 0 w 1"/>
                    <a:gd name="T3" fmla="*/ 225 h 225"/>
                    <a:gd name="T4" fmla="*/ 1 w 1"/>
                    <a:gd name="T5" fmla="*/ 225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5">
                      <a:moveTo>
                        <a:pt x="0" y="0"/>
                      </a:moveTo>
                      <a:lnTo>
                        <a:pt x="0" y="225"/>
                      </a:lnTo>
                      <a:lnTo>
                        <a:pt x="1" y="225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06" name="Freeform 106"/>
                <p:cNvSpPr>
                  <a:spLocks/>
                </p:cNvSpPr>
                <p:nvPr/>
              </p:nvSpPr>
              <p:spPr bwMode="auto">
                <a:xfrm>
                  <a:off x="2328" y="2053"/>
                  <a:ext cx="1" cy="9"/>
                </a:xfrm>
                <a:custGeom>
                  <a:avLst/>
                  <a:gdLst>
                    <a:gd name="T0" fmla="*/ 0 w 1"/>
                    <a:gd name="T1" fmla="*/ 0 h 38"/>
                    <a:gd name="T2" fmla="*/ 0 w 1"/>
                    <a:gd name="T3" fmla="*/ 38 h 38"/>
                    <a:gd name="T4" fmla="*/ 1 w 1"/>
                    <a:gd name="T5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8">
                      <a:moveTo>
                        <a:pt x="0" y="0"/>
                      </a:moveTo>
                      <a:lnTo>
                        <a:pt x="0" y="38"/>
                      </a:lnTo>
                      <a:lnTo>
                        <a:pt x="1" y="38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07" name="Freeform 107"/>
                <p:cNvSpPr>
                  <a:spLocks/>
                </p:cNvSpPr>
                <p:nvPr/>
              </p:nvSpPr>
              <p:spPr bwMode="auto">
                <a:xfrm>
                  <a:off x="2328" y="2071"/>
                  <a:ext cx="1" cy="54"/>
                </a:xfrm>
                <a:custGeom>
                  <a:avLst/>
                  <a:gdLst>
                    <a:gd name="T0" fmla="*/ 0 w 1"/>
                    <a:gd name="T1" fmla="*/ 0 h 224"/>
                    <a:gd name="T2" fmla="*/ 0 w 1"/>
                    <a:gd name="T3" fmla="*/ 224 h 224"/>
                    <a:gd name="T4" fmla="*/ 1 w 1"/>
                    <a:gd name="T5" fmla="*/ 224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4">
                      <a:moveTo>
                        <a:pt x="0" y="0"/>
                      </a:moveTo>
                      <a:lnTo>
                        <a:pt x="0" y="224"/>
                      </a:lnTo>
                      <a:lnTo>
                        <a:pt x="1" y="224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08" name="Freeform 108"/>
                <p:cNvSpPr>
                  <a:spLocks/>
                </p:cNvSpPr>
                <p:nvPr/>
              </p:nvSpPr>
              <p:spPr bwMode="auto">
                <a:xfrm>
                  <a:off x="2328" y="2132"/>
                  <a:ext cx="1" cy="10"/>
                </a:xfrm>
                <a:custGeom>
                  <a:avLst/>
                  <a:gdLst>
                    <a:gd name="T0" fmla="*/ 0 w 1"/>
                    <a:gd name="T1" fmla="*/ 0 h 37"/>
                    <a:gd name="T2" fmla="*/ 0 w 1"/>
                    <a:gd name="T3" fmla="*/ 37 h 37"/>
                    <a:gd name="T4" fmla="*/ 1 w 1"/>
                    <a:gd name="T5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7">
                      <a:moveTo>
                        <a:pt x="0" y="0"/>
                      </a:moveTo>
                      <a:lnTo>
                        <a:pt x="0" y="37"/>
                      </a:lnTo>
                      <a:lnTo>
                        <a:pt x="1" y="37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09" name="Freeform 109"/>
                <p:cNvSpPr>
                  <a:spLocks/>
                </p:cNvSpPr>
                <p:nvPr/>
              </p:nvSpPr>
              <p:spPr bwMode="auto">
                <a:xfrm>
                  <a:off x="2328" y="2152"/>
                  <a:ext cx="1" cy="53"/>
                </a:xfrm>
                <a:custGeom>
                  <a:avLst/>
                  <a:gdLst>
                    <a:gd name="T0" fmla="*/ 0 w 1"/>
                    <a:gd name="T1" fmla="*/ 0 h 225"/>
                    <a:gd name="T2" fmla="*/ 0 w 1"/>
                    <a:gd name="T3" fmla="*/ 225 h 225"/>
                    <a:gd name="T4" fmla="*/ 1 w 1"/>
                    <a:gd name="T5" fmla="*/ 225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5">
                      <a:moveTo>
                        <a:pt x="0" y="0"/>
                      </a:moveTo>
                      <a:lnTo>
                        <a:pt x="0" y="225"/>
                      </a:lnTo>
                      <a:lnTo>
                        <a:pt x="1" y="225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10" name="Freeform 110"/>
                <p:cNvSpPr>
                  <a:spLocks/>
                </p:cNvSpPr>
                <p:nvPr/>
              </p:nvSpPr>
              <p:spPr bwMode="auto">
                <a:xfrm>
                  <a:off x="2328" y="2212"/>
                  <a:ext cx="1" cy="9"/>
                </a:xfrm>
                <a:custGeom>
                  <a:avLst/>
                  <a:gdLst>
                    <a:gd name="T0" fmla="*/ 0 w 1"/>
                    <a:gd name="T1" fmla="*/ 0 h 37"/>
                    <a:gd name="T2" fmla="*/ 0 w 1"/>
                    <a:gd name="T3" fmla="*/ 37 h 37"/>
                    <a:gd name="T4" fmla="*/ 1 w 1"/>
                    <a:gd name="T5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7">
                      <a:moveTo>
                        <a:pt x="0" y="0"/>
                      </a:moveTo>
                      <a:lnTo>
                        <a:pt x="0" y="37"/>
                      </a:lnTo>
                      <a:lnTo>
                        <a:pt x="1" y="37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11" name="Freeform 111"/>
                <p:cNvSpPr>
                  <a:spLocks/>
                </p:cNvSpPr>
                <p:nvPr/>
              </p:nvSpPr>
              <p:spPr bwMode="auto">
                <a:xfrm>
                  <a:off x="2328" y="2232"/>
                  <a:ext cx="1" cy="52"/>
                </a:xfrm>
                <a:custGeom>
                  <a:avLst/>
                  <a:gdLst>
                    <a:gd name="T0" fmla="*/ 0 w 1"/>
                    <a:gd name="T1" fmla="*/ 0 h 225"/>
                    <a:gd name="T2" fmla="*/ 0 w 1"/>
                    <a:gd name="T3" fmla="*/ 225 h 225"/>
                    <a:gd name="T4" fmla="*/ 1 w 1"/>
                    <a:gd name="T5" fmla="*/ 225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5">
                      <a:moveTo>
                        <a:pt x="0" y="0"/>
                      </a:moveTo>
                      <a:lnTo>
                        <a:pt x="0" y="225"/>
                      </a:lnTo>
                      <a:lnTo>
                        <a:pt x="1" y="225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12" name="Freeform 112"/>
                <p:cNvSpPr>
                  <a:spLocks/>
                </p:cNvSpPr>
                <p:nvPr/>
              </p:nvSpPr>
              <p:spPr bwMode="auto">
                <a:xfrm>
                  <a:off x="2328" y="2293"/>
                  <a:ext cx="1" cy="10"/>
                </a:xfrm>
                <a:custGeom>
                  <a:avLst/>
                  <a:gdLst>
                    <a:gd name="T0" fmla="*/ 0 w 1"/>
                    <a:gd name="T1" fmla="*/ 0 h 36"/>
                    <a:gd name="T2" fmla="*/ 0 w 1"/>
                    <a:gd name="T3" fmla="*/ 36 h 36"/>
                    <a:gd name="T4" fmla="*/ 1 w 1"/>
                    <a:gd name="T5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6">
                      <a:moveTo>
                        <a:pt x="0" y="0"/>
                      </a:moveTo>
                      <a:lnTo>
                        <a:pt x="0" y="36"/>
                      </a:lnTo>
                      <a:lnTo>
                        <a:pt x="1" y="36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13" name="Freeform 113"/>
                <p:cNvSpPr>
                  <a:spLocks/>
                </p:cNvSpPr>
                <p:nvPr/>
              </p:nvSpPr>
              <p:spPr bwMode="auto">
                <a:xfrm>
                  <a:off x="2328" y="2311"/>
                  <a:ext cx="1" cy="54"/>
                </a:xfrm>
                <a:custGeom>
                  <a:avLst/>
                  <a:gdLst>
                    <a:gd name="T0" fmla="*/ 0 w 1"/>
                    <a:gd name="T1" fmla="*/ 0 h 224"/>
                    <a:gd name="T2" fmla="*/ 0 w 1"/>
                    <a:gd name="T3" fmla="*/ 224 h 224"/>
                    <a:gd name="T4" fmla="*/ 1 w 1"/>
                    <a:gd name="T5" fmla="*/ 224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4">
                      <a:moveTo>
                        <a:pt x="0" y="0"/>
                      </a:moveTo>
                      <a:lnTo>
                        <a:pt x="0" y="224"/>
                      </a:lnTo>
                      <a:lnTo>
                        <a:pt x="1" y="224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14" name="Freeform 114"/>
                <p:cNvSpPr>
                  <a:spLocks/>
                </p:cNvSpPr>
                <p:nvPr/>
              </p:nvSpPr>
              <p:spPr bwMode="auto">
                <a:xfrm>
                  <a:off x="2328" y="2856"/>
                  <a:ext cx="1" cy="8"/>
                </a:xfrm>
                <a:custGeom>
                  <a:avLst/>
                  <a:gdLst>
                    <a:gd name="T0" fmla="*/ 0 w 1"/>
                    <a:gd name="T1" fmla="*/ 0 h 38"/>
                    <a:gd name="T2" fmla="*/ 0 w 1"/>
                    <a:gd name="T3" fmla="*/ 38 h 38"/>
                    <a:gd name="T4" fmla="*/ 1 w 1"/>
                    <a:gd name="T5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8">
                      <a:moveTo>
                        <a:pt x="0" y="0"/>
                      </a:moveTo>
                      <a:lnTo>
                        <a:pt x="0" y="38"/>
                      </a:lnTo>
                      <a:lnTo>
                        <a:pt x="1" y="38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15" name="Freeform 115"/>
                <p:cNvSpPr>
                  <a:spLocks/>
                </p:cNvSpPr>
                <p:nvPr/>
              </p:nvSpPr>
              <p:spPr bwMode="auto">
                <a:xfrm>
                  <a:off x="2328" y="2873"/>
                  <a:ext cx="1" cy="54"/>
                </a:xfrm>
                <a:custGeom>
                  <a:avLst/>
                  <a:gdLst>
                    <a:gd name="T0" fmla="*/ 0 w 1"/>
                    <a:gd name="T1" fmla="*/ 0 h 224"/>
                    <a:gd name="T2" fmla="*/ 0 w 1"/>
                    <a:gd name="T3" fmla="*/ 224 h 224"/>
                    <a:gd name="T4" fmla="*/ 1 w 1"/>
                    <a:gd name="T5" fmla="*/ 224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4">
                      <a:moveTo>
                        <a:pt x="0" y="0"/>
                      </a:moveTo>
                      <a:lnTo>
                        <a:pt x="0" y="224"/>
                      </a:lnTo>
                      <a:lnTo>
                        <a:pt x="1" y="224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16" name="Freeform 116"/>
                <p:cNvSpPr>
                  <a:spLocks/>
                </p:cNvSpPr>
                <p:nvPr/>
              </p:nvSpPr>
              <p:spPr bwMode="auto">
                <a:xfrm>
                  <a:off x="2328" y="2936"/>
                  <a:ext cx="1" cy="9"/>
                </a:xfrm>
                <a:custGeom>
                  <a:avLst/>
                  <a:gdLst>
                    <a:gd name="T0" fmla="*/ 0 w 1"/>
                    <a:gd name="T1" fmla="*/ 0 h 37"/>
                    <a:gd name="T2" fmla="*/ 0 w 1"/>
                    <a:gd name="T3" fmla="*/ 37 h 37"/>
                    <a:gd name="T4" fmla="*/ 1 w 1"/>
                    <a:gd name="T5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7">
                      <a:moveTo>
                        <a:pt x="0" y="0"/>
                      </a:moveTo>
                      <a:lnTo>
                        <a:pt x="0" y="37"/>
                      </a:lnTo>
                      <a:lnTo>
                        <a:pt x="1" y="37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17" name="Freeform 117"/>
                <p:cNvSpPr>
                  <a:spLocks/>
                </p:cNvSpPr>
                <p:nvPr/>
              </p:nvSpPr>
              <p:spPr bwMode="auto">
                <a:xfrm>
                  <a:off x="2328" y="2953"/>
                  <a:ext cx="1" cy="54"/>
                </a:xfrm>
                <a:custGeom>
                  <a:avLst/>
                  <a:gdLst>
                    <a:gd name="T0" fmla="*/ 0 w 1"/>
                    <a:gd name="T1" fmla="*/ 0 h 225"/>
                    <a:gd name="T2" fmla="*/ 0 w 1"/>
                    <a:gd name="T3" fmla="*/ 225 h 225"/>
                    <a:gd name="T4" fmla="*/ 1 w 1"/>
                    <a:gd name="T5" fmla="*/ 225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5">
                      <a:moveTo>
                        <a:pt x="0" y="0"/>
                      </a:moveTo>
                      <a:lnTo>
                        <a:pt x="0" y="225"/>
                      </a:lnTo>
                      <a:lnTo>
                        <a:pt x="1" y="225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18" name="Freeform 118"/>
                <p:cNvSpPr>
                  <a:spLocks/>
                </p:cNvSpPr>
                <p:nvPr/>
              </p:nvSpPr>
              <p:spPr bwMode="auto">
                <a:xfrm>
                  <a:off x="2328" y="3017"/>
                  <a:ext cx="1" cy="7"/>
                </a:xfrm>
                <a:custGeom>
                  <a:avLst/>
                  <a:gdLst>
                    <a:gd name="T0" fmla="*/ 0 w 1"/>
                    <a:gd name="T1" fmla="*/ 0 h 38"/>
                    <a:gd name="T2" fmla="*/ 0 w 1"/>
                    <a:gd name="T3" fmla="*/ 38 h 38"/>
                    <a:gd name="T4" fmla="*/ 1 w 1"/>
                    <a:gd name="T5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8">
                      <a:moveTo>
                        <a:pt x="0" y="0"/>
                      </a:moveTo>
                      <a:lnTo>
                        <a:pt x="0" y="38"/>
                      </a:lnTo>
                      <a:lnTo>
                        <a:pt x="1" y="38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19" name="Freeform 119"/>
                <p:cNvSpPr>
                  <a:spLocks/>
                </p:cNvSpPr>
                <p:nvPr/>
              </p:nvSpPr>
              <p:spPr bwMode="auto">
                <a:xfrm>
                  <a:off x="2328" y="3033"/>
                  <a:ext cx="1" cy="55"/>
                </a:xfrm>
                <a:custGeom>
                  <a:avLst/>
                  <a:gdLst>
                    <a:gd name="T0" fmla="*/ 0 w 1"/>
                    <a:gd name="T1" fmla="*/ 0 h 225"/>
                    <a:gd name="T2" fmla="*/ 0 w 1"/>
                    <a:gd name="T3" fmla="*/ 225 h 225"/>
                    <a:gd name="T4" fmla="*/ 1 w 1"/>
                    <a:gd name="T5" fmla="*/ 225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5">
                      <a:moveTo>
                        <a:pt x="0" y="0"/>
                      </a:moveTo>
                      <a:lnTo>
                        <a:pt x="0" y="225"/>
                      </a:lnTo>
                      <a:lnTo>
                        <a:pt x="1" y="225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20" name="Freeform 120"/>
                <p:cNvSpPr>
                  <a:spLocks/>
                </p:cNvSpPr>
                <p:nvPr/>
              </p:nvSpPr>
              <p:spPr bwMode="auto">
                <a:xfrm>
                  <a:off x="2328" y="3097"/>
                  <a:ext cx="1" cy="8"/>
                </a:xfrm>
                <a:custGeom>
                  <a:avLst/>
                  <a:gdLst>
                    <a:gd name="T0" fmla="*/ 0 w 1"/>
                    <a:gd name="T1" fmla="*/ 0 h 37"/>
                    <a:gd name="T2" fmla="*/ 0 w 1"/>
                    <a:gd name="T3" fmla="*/ 37 h 37"/>
                    <a:gd name="T4" fmla="*/ 1 w 1"/>
                    <a:gd name="T5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7">
                      <a:moveTo>
                        <a:pt x="0" y="0"/>
                      </a:moveTo>
                      <a:lnTo>
                        <a:pt x="0" y="37"/>
                      </a:lnTo>
                      <a:lnTo>
                        <a:pt x="1" y="37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21" name="Freeform 121"/>
                <p:cNvSpPr>
                  <a:spLocks/>
                </p:cNvSpPr>
                <p:nvPr/>
              </p:nvSpPr>
              <p:spPr bwMode="auto">
                <a:xfrm>
                  <a:off x="2328" y="3113"/>
                  <a:ext cx="1" cy="54"/>
                </a:xfrm>
                <a:custGeom>
                  <a:avLst/>
                  <a:gdLst>
                    <a:gd name="T0" fmla="*/ 0 w 1"/>
                    <a:gd name="T1" fmla="*/ 0 h 225"/>
                    <a:gd name="T2" fmla="*/ 0 w 1"/>
                    <a:gd name="T3" fmla="*/ 225 h 225"/>
                    <a:gd name="T4" fmla="*/ 1 w 1"/>
                    <a:gd name="T5" fmla="*/ 225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5">
                      <a:moveTo>
                        <a:pt x="0" y="0"/>
                      </a:moveTo>
                      <a:lnTo>
                        <a:pt x="0" y="225"/>
                      </a:lnTo>
                      <a:lnTo>
                        <a:pt x="1" y="225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22" name="Freeform 122"/>
                <p:cNvSpPr>
                  <a:spLocks/>
                </p:cNvSpPr>
                <p:nvPr/>
              </p:nvSpPr>
              <p:spPr bwMode="auto">
                <a:xfrm>
                  <a:off x="2328" y="3176"/>
                  <a:ext cx="1" cy="9"/>
                </a:xfrm>
                <a:custGeom>
                  <a:avLst/>
                  <a:gdLst>
                    <a:gd name="T0" fmla="*/ 0 w 1"/>
                    <a:gd name="T1" fmla="*/ 0 h 38"/>
                    <a:gd name="T2" fmla="*/ 0 w 1"/>
                    <a:gd name="T3" fmla="*/ 38 h 38"/>
                    <a:gd name="T4" fmla="*/ 1 w 1"/>
                    <a:gd name="T5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8">
                      <a:moveTo>
                        <a:pt x="0" y="0"/>
                      </a:moveTo>
                      <a:lnTo>
                        <a:pt x="0" y="38"/>
                      </a:lnTo>
                      <a:lnTo>
                        <a:pt x="1" y="38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23" name="Freeform 123"/>
                <p:cNvSpPr>
                  <a:spLocks/>
                </p:cNvSpPr>
                <p:nvPr/>
              </p:nvSpPr>
              <p:spPr bwMode="auto">
                <a:xfrm>
                  <a:off x="2328" y="3194"/>
                  <a:ext cx="1" cy="53"/>
                </a:xfrm>
                <a:custGeom>
                  <a:avLst/>
                  <a:gdLst>
                    <a:gd name="T0" fmla="*/ 0 w 1"/>
                    <a:gd name="T1" fmla="*/ 0 h 225"/>
                    <a:gd name="T2" fmla="*/ 0 w 1"/>
                    <a:gd name="T3" fmla="*/ 225 h 225"/>
                    <a:gd name="T4" fmla="*/ 1 w 1"/>
                    <a:gd name="T5" fmla="*/ 225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5">
                      <a:moveTo>
                        <a:pt x="0" y="0"/>
                      </a:moveTo>
                      <a:lnTo>
                        <a:pt x="0" y="225"/>
                      </a:lnTo>
                      <a:lnTo>
                        <a:pt x="1" y="225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24" name="Freeform 124"/>
                <p:cNvSpPr>
                  <a:spLocks/>
                </p:cNvSpPr>
                <p:nvPr/>
              </p:nvSpPr>
              <p:spPr bwMode="auto">
                <a:xfrm>
                  <a:off x="2328" y="3257"/>
                  <a:ext cx="1" cy="8"/>
                </a:xfrm>
                <a:custGeom>
                  <a:avLst/>
                  <a:gdLst>
                    <a:gd name="T0" fmla="*/ 0 w 1"/>
                    <a:gd name="T1" fmla="*/ 0 h 38"/>
                    <a:gd name="T2" fmla="*/ 0 w 1"/>
                    <a:gd name="T3" fmla="*/ 38 h 38"/>
                    <a:gd name="T4" fmla="*/ 1 w 1"/>
                    <a:gd name="T5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8">
                      <a:moveTo>
                        <a:pt x="0" y="0"/>
                      </a:moveTo>
                      <a:lnTo>
                        <a:pt x="0" y="38"/>
                      </a:lnTo>
                      <a:lnTo>
                        <a:pt x="1" y="38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25" name="Freeform 125"/>
                <p:cNvSpPr>
                  <a:spLocks/>
                </p:cNvSpPr>
                <p:nvPr/>
              </p:nvSpPr>
              <p:spPr bwMode="auto">
                <a:xfrm>
                  <a:off x="2328" y="3275"/>
                  <a:ext cx="1" cy="53"/>
                </a:xfrm>
                <a:custGeom>
                  <a:avLst/>
                  <a:gdLst>
                    <a:gd name="T0" fmla="*/ 0 w 1"/>
                    <a:gd name="T1" fmla="*/ 0 h 223"/>
                    <a:gd name="T2" fmla="*/ 0 w 1"/>
                    <a:gd name="T3" fmla="*/ 223 h 223"/>
                    <a:gd name="T4" fmla="*/ 1 w 1"/>
                    <a:gd name="T5" fmla="*/ 223 h 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3">
                      <a:moveTo>
                        <a:pt x="0" y="0"/>
                      </a:moveTo>
                      <a:lnTo>
                        <a:pt x="0" y="223"/>
                      </a:lnTo>
                      <a:lnTo>
                        <a:pt x="1" y="223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26" name="Freeform 126"/>
                <p:cNvSpPr>
                  <a:spLocks/>
                </p:cNvSpPr>
                <p:nvPr/>
              </p:nvSpPr>
              <p:spPr bwMode="auto">
                <a:xfrm>
                  <a:off x="2328" y="3337"/>
                  <a:ext cx="1" cy="9"/>
                </a:xfrm>
                <a:custGeom>
                  <a:avLst/>
                  <a:gdLst>
                    <a:gd name="T0" fmla="*/ 0 w 1"/>
                    <a:gd name="T1" fmla="*/ 0 h 37"/>
                    <a:gd name="T2" fmla="*/ 0 w 1"/>
                    <a:gd name="T3" fmla="*/ 37 h 37"/>
                    <a:gd name="T4" fmla="*/ 1 w 1"/>
                    <a:gd name="T5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7">
                      <a:moveTo>
                        <a:pt x="0" y="0"/>
                      </a:moveTo>
                      <a:lnTo>
                        <a:pt x="0" y="37"/>
                      </a:lnTo>
                      <a:lnTo>
                        <a:pt x="1" y="37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27" name="Freeform 127"/>
                <p:cNvSpPr>
                  <a:spLocks/>
                </p:cNvSpPr>
                <p:nvPr/>
              </p:nvSpPr>
              <p:spPr bwMode="auto">
                <a:xfrm>
                  <a:off x="2328" y="3355"/>
                  <a:ext cx="1" cy="53"/>
                </a:xfrm>
                <a:custGeom>
                  <a:avLst/>
                  <a:gdLst>
                    <a:gd name="T0" fmla="*/ 0 w 1"/>
                    <a:gd name="T1" fmla="*/ 0 h 224"/>
                    <a:gd name="T2" fmla="*/ 0 w 1"/>
                    <a:gd name="T3" fmla="*/ 224 h 224"/>
                    <a:gd name="T4" fmla="*/ 1 w 1"/>
                    <a:gd name="T5" fmla="*/ 224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4">
                      <a:moveTo>
                        <a:pt x="0" y="0"/>
                      </a:moveTo>
                      <a:lnTo>
                        <a:pt x="0" y="224"/>
                      </a:lnTo>
                      <a:lnTo>
                        <a:pt x="1" y="224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28" name="Freeform 128"/>
                <p:cNvSpPr>
                  <a:spLocks/>
                </p:cNvSpPr>
                <p:nvPr/>
              </p:nvSpPr>
              <p:spPr bwMode="auto">
                <a:xfrm>
                  <a:off x="2328" y="3417"/>
                  <a:ext cx="1" cy="8"/>
                </a:xfrm>
                <a:custGeom>
                  <a:avLst/>
                  <a:gdLst>
                    <a:gd name="T0" fmla="*/ 0 w 1"/>
                    <a:gd name="T1" fmla="*/ 0 h 38"/>
                    <a:gd name="T2" fmla="*/ 0 w 1"/>
                    <a:gd name="T3" fmla="*/ 38 h 38"/>
                    <a:gd name="T4" fmla="*/ 1 w 1"/>
                    <a:gd name="T5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8">
                      <a:moveTo>
                        <a:pt x="0" y="0"/>
                      </a:moveTo>
                      <a:lnTo>
                        <a:pt x="0" y="38"/>
                      </a:lnTo>
                      <a:lnTo>
                        <a:pt x="1" y="38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29" name="Freeform 129"/>
                <p:cNvSpPr>
                  <a:spLocks/>
                </p:cNvSpPr>
                <p:nvPr/>
              </p:nvSpPr>
              <p:spPr bwMode="auto">
                <a:xfrm>
                  <a:off x="2328" y="3435"/>
                  <a:ext cx="1" cy="54"/>
                </a:xfrm>
                <a:custGeom>
                  <a:avLst/>
                  <a:gdLst>
                    <a:gd name="T0" fmla="*/ 0 w 1"/>
                    <a:gd name="T1" fmla="*/ 0 h 223"/>
                    <a:gd name="T2" fmla="*/ 0 w 1"/>
                    <a:gd name="T3" fmla="*/ 223 h 223"/>
                    <a:gd name="T4" fmla="*/ 1 w 1"/>
                    <a:gd name="T5" fmla="*/ 223 h 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3">
                      <a:moveTo>
                        <a:pt x="0" y="0"/>
                      </a:moveTo>
                      <a:lnTo>
                        <a:pt x="0" y="223"/>
                      </a:lnTo>
                      <a:lnTo>
                        <a:pt x="1" y="223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30" name="Freeform 130"/>
                <p:cNvSpPr>
                  <a:spLocks/>
                </p:cNvSpPr>
                <p:nvPr/>
              </p:nvSpPr>
              <p:spPr bwMode="auto">
                <a:xfrm>
                  <a:off x="2328" y="3498"/>
                  <a:ext cx="1" cy="9"/>
                </a:xfrm>
                <a:custGeom>
                  <a:avLst/>
                  <a:gdLst>
                    <a:gd name="T0" fmla="*/ 0 w 1"/>
                    <a:gd name="T1" fmla="*/ 0 h 37"/>
                    <a:gd name="T2" fmla="*/ 0 w 1"/>
                    <a:gd name="T3" fmla="*/ 37 h 37"/>
                    <a:gd name="T4" fmla="*/ 1 w 1"/>
                    <a:gd name="T5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7">
                      <a:moveTo>
                        <a:pt x="0" y="0"/>
                      </a:moveTo>
                      <a:lnTo>
                        <a:pt x="0" y="37"/>
                      </a:lnTo>
                      <a:lnTo>
                        <a:pt x="1" y="37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31" name="Freeform 131"/>
                <p:cNvSpPr>
                  <a:spLocks/>
                </p:cNvSpPr>
                <p:nvPr/>
              </p:nvSpPr>
              <p:spPr bwMode="auto">
                <a:xfrm>
                  <a:off x="2328" y="3516"/>
                  <a:ext cx="1" cy="52"/>
                </a:xfrm>
                <a:custGeom>
                  <a:avLst/>
                  <a:gdLst>
                    <a:gd name="T0" fmla="*/ 0 w 1"/>
                    <a:gd name="T1" fmla="*/ 0 h 223"/>
                    <a:gd name="T2" fmla="*/ 0 w 1"/>
                    <a:gd name="T3" fmla="*/ 223 h 223"/>
                    <a:gd name="T4" fmla="*/ 1 w 1"/>
                    <a:gd name="T5" fmla="*/ 223 h 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3">
                      <a:moveTo>
                        <a:pt x="0" y="0"/>
                      </a:moveTo>
                      <a:lnTo>
                        <a:pt x="0" y="223"/>
                      </a:lnTo>
                      <a:lnTo>
                        <a:pt x="1" y="223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32" name="Freeform 132"/>
                <p:cNvSpPr>
                  <a:spLocks/>
                </p:cNvSpPr>
                <p:nvPr/>
              </p:nvSpPr>
              <p:spPr bwMode="auto">
                <a:xfrm>
                  <a:off x="2328" y="3578"/>
                  <a:ext cx="1" cy="10"/>
                </a:xfrm>
                <a:custGeom>
                  <a:avLst/>
                  <a:gdLst>
                    <a:gd name="T0" fmla="*/ 0 w 1"/>
                    <a:gd name="T1" fmla="*/ 0 h 38"/>
                    <a:gd name="T2" fmla="*/ 0 w 1"/>
                    <a:gd name="T3" fmla="*/ 38 h 38"/>
                    <a:gd name="T4" fmla="*/ 1 w 1"/>
                    <a:gd name="T5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8">
                      <a:moveTo>
                        <a:pt x="0" y="0"/>
                      </a:moveTo>
                      <a:lnTo>
                        <a:pt x="0" y="38"/>
                      </a:lnTo>
                      <a:lnTo>
                        <a:pt x="1" y="38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33" name="Freeform 133"/>
                <p:cNvSpPr>
                  <a:spLocks/>
                </p:cNvSpPr>
                <p:nvPr/>
              </p:nvSpPr>
              <p:spPr bwMode="auto">
                <a:xfrm>
                  <a:off x="2328" y="3595"/>
                  <a:ext cx="1" cy="54"/>
                </a:xfrm>
                <a:custGeom>
                  <a:avLst/>
                  <a:gdLst>
                    <a:gd name="T0" fmla="*/ 0 w 1"/>
                    <a:gd name="T1" fmla="*/ 0 h 224"/>
                    <a:gd name="T2" fmla="*/ 0 w 1"/>
                    <a:gd name="T3" fmla="*/ 224 h 224"/>
                    <a:gd name="T4" fmla="*/ 1 w 1"/>
                    <a:gd name="T5" fmla="*/ 224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4">
                      <a:moveTo>
                        <a:pt x="0" y="0"/>
                      </a:moveTo>
                      <a:lnTo>
                        <a:pt x="0" y="224"/>
                      </a:lnTo>
                      <a:lnTo>
                        <a:pt x="1" y="224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34" name="Freeform 134"/>
                <p:cNvSpPr>
                  <a:spLocks/>
                </p:cNvSpPr>
                <p:nvPr/>
              </p:nvSpPr>
              <p:spPr bwMode="auto">
                <a:xfrm>
                  <a:off x="2328" y="3658"/>
                  <a:ext cx="1" cy="10"/>
                </a:xfrm>
                <a:custGeom>
                  <a:avLst/>
                  <a:gdLst>
                    <a:gd name="T0" fmla="*/ 0 w 1"/>
                    <a:gd name="T1" fmla="*/ 0 h 37"/>
                    <a:gd name="T2" fmla="*/ 0 w 1"/>
                    <a:gd name="T3" fmla="*/ 37 h 37"/>
                    <a:gd name="T4" fmla="*/ 1 w 1"/>
                    <a:gd name="T5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7">
                      <a:moveTo>
                        <a:pt x="0" y="0"/>
                      </a:moveTo>
                      <a:lnTo>
                        <a:pt x="0" y="37"/>
                      </a:lnTo>
                      <a:lnTo>
                        <a:pt x="1" y="37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35" name="Freeform 135"/>
                <p:cNvSpPr>
                  <a:spLocks/>
                </p:cNvSpPr>
                <p:nvPr/>
              </p:nvSpPr>
              <p:spPr bwMode="auto">
                <a:xfrm>
                  <a:off x="2328" y="3677"/>
                  <a:ext cx="1" cy="51"/>
                </a:xfrm>
                <a:custGeom>
                  <a:avLst/>
                  <a:gdLst>
                    <a:gd name="T0" fmla="*/ 0 w 1"/>
                    <a:gd name="T1" fmla="*/ 0 h 223"/>
                    <a:gd name="T2" fmla="*/ 0 w 1"/>
                    <a:gd name="T3" fmla="*/ 223 h 223"/>
                    <a:gd name="T4" fmla="*/ 1 w 1"/>
                    <a:gd name="T5" fmla="*/ 223 h 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3">
                      <a:moveTo>
                        <a:pt x="0" y="0"/>
                      </a:moveTo>
                      <a:lnTo>
                        <a:pt x="0" y="223"/>
                      </a:lnTo>
                      <a:lnTo>
                        <a:pt x="1" y="223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36" name="Freeform 136"/>
                <p:cNvSpPr>
                  <a:spLocks/>
                </p:cNvSpPr>
                <p:nvPr/>
              </p:nvSpPr>
              <p:spPr bwMode="auto">
                <a:xfrm>
                  <a:off x="2328" y="3738"/>
                  <a:ext cx="1" cy="10"/>
                </a:xfrm>
                <a:custGeom>
                  <a:avLst/>
                  <a:gdLst>
                    <a:gd name="T0" fmla="*/ 0 w 1"/>
                    <a:gd name="T1" fmla="*/ 0 h 38"/>
                    <a:gd name="T2" fmla="*/ 0 w 1"/>
                    <a:gd name="T3" fmla="*/ 38 h 38"/>
                    <a:gd name="T4" fmla="*/ 1 w 1"/>
                    <a:gd name="T5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8">
                      <a:moveTo>
                        <a:pt x="0" y="0"/>
                      </a:moveTo>
                      <a:lnTo>
                        <a:pt x="0" y="38"/>
                      </a:lnTo>
                      <a:lnTo>
                        <a:pt x="1" y="38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37" name="Freeform 137"/>
                <p:cNvSpPr>
                  <a:spLocks/>
                </p:cNvSpPr>
                <p:nvPr/>
              </p:nvSpPr>
              <p:spPr bwMode="auto">
                <a:xfrm>
                  <a:off x="2328" y="3756"/>
                  <a:ext cx="1" cy="54"/>
                </a:xfrm>
                <a:custGeom>
                  <a:avLst/>
                  <a:gdLst>
                    <a:gd name="T0" fmla="*/ 0 w 1"/>
                    <a:gd name="T1" fmla="*/ 0 h 224"/>
                    <a:gd name="T2" fmla="*/ 0 w 1"/>
                    <a:gd name="T3" fmla="*/ 224 h 224"/>
                    <a:gd name="T4" fmla="*/ 1 w 1"/>
                    <a:gd name="T5" fmla="*/ 224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4">
                      <a:moveTo>
                        <a:pt x="0" y="0"/>
                      </a:moveTo>
                      <a:lnTo>
                        <a:pt x="0" y="224"/>
                      </a:lnTo>
                      <a:lnTo>
                        <a:pt x="1" y="224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38" name="Freeform 138"/>
                <p:cNvSpPr>
                  <a:spLocks/>
                </p:cNvSpPr>
                <p:nvPr/>
              </p:nvSpPr>
              <p:spPr bwMode="auto">
                <a:xfrm>
                  <a:off x="2328" y="3820"/>
                  <a:ext cx="1" cy="8"/>
                </a:xfrm>
                <a:custGeom>
                  <a:avLst/>
                  <a:gdLst>
                    <a:gd name="T0" fmla="*/ 0 w 1"/>
                    <a:gd name="T1" fmla="*/ 0 h 38"/>
                    <a:gd name="T2" fmla="*/ 0 w 1"/>
                    <a:gd name="T3" fmla="*/ 38 h 38"/>
                    <a:gd name="T4" fmla="*/ 1 w 1"/>
                    <a:gd name="T5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8">
                      <a:moveTo>
                        <a:pt x="0" y="0"/>
                      </a:moveTo>
                      <a:lnTo>
                        <a:pt x="0" y="38"/>
                      </a:lnTo>
                      <a:lnTo>
                        <a:pt x="1" y="38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39" name="Freeform 139"/>
                <p:cNvSpPr>
                  <a:spLocks/>
                </p:cNvSpPr>
                <p:nvPr/>
              </p:nvSpPr>
              <p:spPr bwMode="auto">
                <a:xfrm>
                  <a:off x="2328" y="3837"/>
                  <a:ext cx="1" cy="52"/>
                </a:xfrm>
                <a:custGeom>
                  <a:avLst/>
                  <a:gdLst>
                    <a:gd name="T0" fmla="*/ 0 w 1"/>
                    <a:gd name="T1" fmla="*/ 0 h 223"/>
                    <a:gd name="T2" fmla="*/ 0 w 1"/>
                    <a:gd name="T3" fmla="*/ 223 h 223"/>
                    <a:gd name="T4" fmla="*/ 1 w 1"/>
                    <a:gd name="T5" fmla="*/ 223 h 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3">
                      <a:moveTo>
                        <a:pt x="0" y="0"/>
                      </a:moveTo>
                      <a:lnTo>
                        <a:pt x="0" y="223"/>
                      </a:lnTo>
                      <a:lnTo>
                        <a:pt x="1" y="223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40" name="Freeform 140"/>
                <p:cNvSpPr>
                  <a:spLocks/>
                </p:cNvSpPr>
                <p:nvPr/>
              </p:nvSpPr>
              <p:spPr bwMode="auto">
                <a:xfrm>
                  <a:off x="2328" y="3899"/>
                  <a:ext cx="1" cy="9"/>
                </a:xfrm>
                <a:custGeom>
                  <a:avLst/>
                  <a:gdLst>
                    <a:gd name="T0" fmla="*/ 0 w 1"/>
                    <a:gd name="T1" fmla="*/ 0 h 37"/>
                    <a:gd name="T2" fmla="*/ 0 w 1"/>
                    <a:gd name="T3" fmla="*/ 37 h 37"/>
                    <a:gd name="T4" fmla="*/ 1 w 1"/>
                    <a:gd name="T5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7">
                      <a:moveTo>
                        <a:pt x="0" y="0"/>
                      </a:moveTo>
                      <a:lnTo>
                        <a:pt x="0" y="37"/>
                      </a:lnTo>
                      <a:lnTo>
                        <a:pt x="1" y="37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41" name="Freeform 141"/>
                <p:cNvSpPr>
                  <a:spLocks/>
                </p:cNvSpPr>
                <p:nvPr/>
              </p:nvSpPr>
              <p:spPr bwMode="auto">
                <a:xfrm>
                  <a:off x="2328" y="3917"/>
                  <a:ext cx="1" cy="53"/>
                </a:xfrm>
                <a:custGeom>
                  <a:avLst/>
                  <a:gdLst>
                    <a:gd name="T0" fmla="*/ 0 w 1"/>
                    <a:gd name="T1" fmla="*/ 0 h 224"/>
                    <a:gd name="T2" fmla="*/ 0 w 1"/>
                    <a:gd name="T3" fmla="*/ 224 h 224"/>
                    <a:gd name="T4" fmla="*/ 1 w 1"/>
                    <a:gd name="T5" fmla="*/ 224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4">
                      <a:moveTo>
                        <a:pt x="0" y="0"/>
                      </a:moveTo>
                      <a:lnTo>
                        <a:pt x="0" y="224"/>
                      </a:lnTo>
                      <a:lnTo>
                        <a:pt x="1" y="224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42" name="Freeform 142"/>
                <p:cNvSpPr>
                  <a:spLocks/>
                </p:cNvSpPr>
                <p:nvPr/>
              </p:nvSpPr>
              <p:spPr bwMode="auto">
                <a:xfrm>
                  <a:off x="2328" y="3980"/>
                  <a:ext cx="1" cy="9"/>
                </a:xfrm>
                <a:custGeom>
                  <a:avLst/>
                  <a:gdLst>
                    <a:gd name="T0" fmla="*/ 0 w 1"/>
                    <a:gd name="T1" fmla="*/ 0 h 38"/>
                    <a:gd name="T2" fmla="*/ 0 w 1"/>
                    <a:gd name="T3" fmla="*/ 38 h 38"/>
                    <a:gd name="T4" fmla="*/ 1 w 1"/>
                    <a:gd name="T5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8">
                      <a:moveTo>
                        <a:pt x="0" y="0"/>
                      </a:moveTo>
                      <a:lnTo>
                        <a:pt x="0" y="38"/>
                      </a:lnTo>
                      <a:lnTo>
                        <a:pt x="1" y="38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43" name="Freeform 143"/>
                <p:cNvSpPr>
                  <a:spLocks/>
                </p:cNvSpPr>
                <p:nvPr/>
              </p:nvSpPr>
              <p:spPr bwMode="auto">
                <a:xfrm>
                  <a:off x="2328" y="3997"/>
                  <a:ext cx="1" cy="53"/>
                </a:xfrm>
                <a:custGeom>
                  <a:avLst/>
                  <a:gdLst>
                    <a:gd name="T0" fmla="*/ 0 w 1"/>
                    <a:gd name="T1" fmla="*/ 0 h 224"/>
                    <a:gd name="T2" fmla="*/ 0 w 1"/>
                    <a:gd name="T3" fmla="*/ 224 h 224"/>
                    <a:gd name="T4" fmla="*/ 1 w 1"/>
                    <a:gd name="T5" fmla="*/ 224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4">
                      <a:moveTo>
                        <a:pt x="0" y="0"/>
                      </a:moveTo>
                      <a:lnTo>
                        <a:pt x="0" y="224"/>
                      </a:lnTo>
                      <a:lnTo>
                        <a:pt x="1" y="224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44" name="Freeform 144"/>
                <p:cNvSpPr>
                  <a:spLocks/>
                </p:cNvSpPr>
                <p:nvPr/>
              </p:nvSpPr>
              <p:spPr bwMode="auto">
                <a:xfrm>
                  <a:off x="2328" y="4059"/>
                  <a:ext cx="1" cy="10"/>
                </a:xfrm>
                <a:custGeom>
                  <a:avLst/>
                  <a:gdLst>
                    <a:gd name="T0" fmla="*/ 0 w 1"/>
                    <a:gd name="T1" fmla="*/ 0 h 37"/>
                    <a:gd name="T2" fmla="*/ 0 w 1"/>
                    <a:gd name="T3" fmla="*/ 37 h 37"/>
                    <a:gd name="T4" fmla="*/ 1 w 1"/>
                    <a:gd name="T5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7">
                      <a:moveTo>
                        <a:pt x="0" y="0"/>
                      </a:moveTo>
                      <a:lnTo>
                        <a:pt x="0" y="37"/>
                      </a:lnTo>
                      <a:lnTo>
                        <a:pt x="1" y="37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45" name="Freeform 145"/>
                <p:cNvSpPr>
                  <a:spLocks/>
                </p:cNvSpPr>
                <p:nvPr/>
              </p:nvSpPr>
              <p:spPr bwMode="auto">
                <a:xfrm>
                  <a:off x="2328" y="4077"/>
                  <a:ext cx="1" cy="55"/>
                </a:xfrm>
                <a:custGeom>
                  <a:avLst/>
                  <a:gdLst>
                    <a:gd name="T0" fmla="*/ 0 w 1"/>
                    <a:gd name="T1" fmla="*/ 0 h 223"/>
                    <a:gd name="T2" fmla="*/ 0 w 1"/>
                    <a:gd name="T3" fmla="*/ 223 h 223"/>
                    <a:gd name="T4" fmla="*/ 1 w 1"/>
                    <a:gd name="T5" fmla="*/ 223 h 2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3">
                      <a:moveTo>
                        <a:pt x="0" y="0"/>
                      </a:moveTo>
                      <a:lnTo>
                        <a:pt x="0" y="223"/>
                      </a:lnTo>
                      <a:lnTo>
                        <a:pt x="1" y="223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46" name="Freeform 146"/>
                <p:cNvSpPr>
                  <a:spLocks/>
                </p:cNvSpPr>
                <p:nvPr/>
              </p:nvSpPr>
              <p:spPr bwMode="auto">
                <a:xfrm>
                  <a:off x="2328" y="4140"/>
                  <a:ext cx="1" cy="9"/>
                </a:xfrm>
                <a:custGeom>
                  <a:avLst/>
                  <a:gdLst>
                    <a:gd name="T0" fmla="*/ 0 w 1"/>
                    <a:gd name="T1" fmla="*/ 0 h 38"/>
                    <a:gd name="T2" fmla="*/ 0 w 1"/>
                    <a:gd name="T3" fmla="*/ 38 h 38"/>
                    <a:gd name="T4" fmla="*/ 1 w 1"/>
                    <a:gd name="T5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8">
                      <a:moveTo>
                        <a:pt x="0" y="0"/>
                      </a:moveTo>
                      <a:lnTo>
                        <a:pt x="0" y="38"/>
                      </a:lnTo>
                      <a:lnTo>
                        <a:pt x="1" y="38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47" name="Freeform 147"/>
                <p:cNvSpPr>
                  <a:spLocks/>
                </p:cNvSpPr>
                <p:nvPr/>
              </p:nvSpPr>
              <p:spPr bwMode="auto">
                <a:xfrm>
                  <a:off x="2328" y="4156"/>
                  <a:ext cx="1" cy="56"/>
                </a:xfrm>
                <a:custGeom>
                  <a:avLst/>
                  <a:gdLst>
                    <a:gd name="T0" fmla="*/ 0 w 1"/>
                    <a:gd name="T1" fmla="*/ 0 h 225"/>
                    <a:gd name="T2" fmla="*/ 0 w 1"/>
                    <a:gd name="T3" fmla="*/ 225 h 225"/>
                    <a:gd name="T4" fmla="*/ 1 w 1"/>
                    <a:gd name="T5" fmla="*/ 225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225">
                      <a:moveTo>
                        <a:pt x="0" y="0"/>
                      </a:moveTo>
                      <a:lnTo>
                        <a:pt x="0" y="225"/>
                      </a:lnTo>
                      <a:lnTo>
                        <a:pt x="1" y="225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348" name="Freeform 148"/>
                <p:cNvSpPr>
                  <a:spLocks/>
                </p:cNvSpPr>
                <p:nvPr/>
              </p:nvSpPr>
              <p:spPr bwMode="auto">
                <a:xfrm>
                  <a:off x="2328" y="4220"/>
                  <a:ext cx="1" cy="9"/>
                </a:xfrm>
                <a:custGeom>
                  <a:avLst/>
                  <a:gdLst>
                    <a:gd name="T0" fmla="*/ 0 w 1"/>
                    <a:gd name="T1" fmla="*/ 0 h 38"/>
                    <a:gd name="T2" fmla="*/ 0 w 1"/>
                    <a:gd name="T3" fmla="*/ 38 h 38"/>
                    <a:gd name="T4" fmla="*/ 1 w 1"/>
                    <a:gd name="T5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38">
                      <a:moveTo>
                        <a:pt x="0" y="0"/>
                      </a:moveTo>
                      <a:lnTo>
                        <a:pt x="0" y="38"/>
                      </a:lnTo>
                      <a:lnTo>
                        <a:pt x="1" y="38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51350" name="Freeform 150"/>
              <p:cNvSpPr>
                <a:spLocks/>
              </p:cNvSpPr>
              <p:nvPr/>
            </p:nvSpPr>
            <p:spPr bwMode="auto">
              <a:xfrm>
                <a:off x="2550" y="2437"/>
                <a:ext cx="146" cy="288"/>
              </a:xfrm>
              <a:custGeom>
                <a:avLst/>
                <a:gdLst>
                  <a:gd name="T0" fmla="*/ 0 w 673"/>
                  <a:gd name="T1" fmla="*/ 0 h 1207"/>
                  <a:gd name="T2" fmla="*/ 672 w 673"/>
                  <a:gd name="T3" fmla="*/ 1207 h 1207"/>
                  <a:gd name="T4" fmla="*/ 673 w 673"/>
                  <a:gd name="T5" fmla="*/ 1207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3" h="1207">
                    <a:moveTo>
                      <a:pt x="0" y="0"/>
                    </a:moveTo>
                    <a:lnTo>
                      <a:pt x="672" y="1207"/>
                    </a:lnTo>
                    <a:lnTo>
                      <a:pt x="673" y="1207"/>
                    </a:lnTo>
                  </a:path>
                </a:pathLst>
              </a:custGeom>
              <a:noFill/>
              <a:ln w="22225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429" name="Freeform 229"/>
              <p:cNvSpPr>
                <a:spLocks/>
              </p:cNvSpPr>
              <p:nvPr/>
            </p:nvSpPr>
            <p:spPr bwMode="auto">
              <a:xfrm rot="10800000">
                <a:off x="1736" y="2992"/>
                <a:ext cx="1198" cy="205"/>
              </a:xfrm>
              <a:custGeom>
                <a:avLst/>
                <a:gdLst>
                  <a:gd name="T0" fmla="*/ 0 w 6852"/>
                  <a:gd name="T1" fmla="*/ 0 h 1012"/>
                  <a:gd name="T2" fmla="*/ 55 w 6852"/>
                  <a:gd name="T3" fmla="*/ 172 h 1012"/>
                  <a:gd name="T4" fmla="*/ 224 w 6852"/>
                  <a:gd name="T5" fmla="*/ 340 h 1012"/>
                  <a:gd name="T6" fmla="*/ 502 w 6852"/>
                  <a:gd name="T7" fmla="*/ 501 h 1012"/>
                  <a:gd name="T8" fmla="*/ 880 w 6852"/>
                  <a:gd name="T9" fmla="*/ 646 h 1012"/>
                  <a:gd name="T10" fmla="*/ 1345 w 6852"/>
                  <a:gd name="T11" fmla="*/ 772 h 1012"/>
                  <a:gd name="T12" fmla="*/ 1880 w 6852"/>
                  <a:gd name="T13" fmla="*/ 875 h 1012"/>
                  <a:gd name="T14" fmla="*/ 2468 w 6852"/>
                  <a:gd name="T15" fmla="*/ 951 h 1012"/>
                  <a:gd name="T16" fmla="*/ 3088 w 6852"/>
                  <a:gd name="T17" fmla="*/ 998 h 1012"/>
                  <a:gd name="T18" fmla="*/ 3720 w 6852"/>
                  <a:gd name="T19" fmla="*/ 1012 h 1012"/>
                  <a:gd name="T20" fmla="*/ 4342 w 6852"/>
                  <a:gd name="T21" fmla="*/ 996 h 1012"/>
                  <a:gd name="T22" fmla="*/ 4933 w 6852"/>
                  <a:gd name="T23" fmla="*/ 947 h 1012"/>
                  <a:gd name="T24" fmla="*/ 5472 w 6852"/>
                  <a:gd name="T25" fmla="*/ 870 h 1012"/>
                  <a:gd name="T26" fmla="*/ 5942 w 6852"/>
                  <a:gd name="T27" fmla="*/ 765 h 1012"/>
                  <a:gd name="T28" fmla="*/ 6326 w 6852"/>
                  <a:gd name="T29" fmla="*/ 638 h 1012"/>
                  <a:gd name="T30" fmla="*/ 6612 w 6852"/>
                  <a:gd name="T31" fmla="*/ 491 h 1012"/>
                  <a:gd name="T32" fmla="*/ 6789 w 6852"/>
                  <a:gd name="T33" fmla="*/ 330 h 1012"/>
                  <a:gd name="T34" fmla="*/ 6851 w 6852"/>
                  <a:gd name="T35" fmla="*/ 160 h 1012"/>
                  <a:gd name="T36" fmla="*/ 6852 w 6852"/>
                  <a:gd name="T37" fmla="*/ 160 h 10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852" h="1012">
                    <a:moveTo>
                      <a:pt x="0" y="0"/>
                    </a:moveTo>
                    <a:lnTo>
                      <a:pt x="55" y="172"/>
                    </a:lnTo>
                    <a:lnTo>
                      <a:pt x="224" y="340"/>
                    </a:lnTo>
                    <a:lnTo>
                      <a:pt x="502" y="501"/>
                    </a:lnTo>
                    <a:lnTo>
                      <a:pt x="880" y="646"/>
                    </a:lnTo>
                    <a:lnTo>
                      <a:pt x="1345" y="772"/>
                    </a:lnTo>
                    <a:lnTo>
                      <a:pt x="1880" y="875"/>
                    </a:lnTo>
                    <a:lnTo>
                      <a:pt x="2468" y="951"/>
                    </a:lnTo>
                    <a:lnTo>
                      <a:pt x="3088" y="998"/>
                    </a:lnTo>
                    <a:lnTo>
                      <a:pt x="3720" y="1012"/>
                    </a:lnTo>
                    <a:lnTo>
                      <a:pt x="4342" y="996"/>
                    </a:lnTo>
                    <a:lnTo>
                      <a:pt x="4933" y="947"/>
                    </a:lnTo>
                    <a:lnTo>
                      <a:pt x="5472" y="870"/>
                    </a:lnTo>
                    <a:lnTo>
                      <a:pt x="5942" y="765"/>
                    </a:lnTo>
                    <a:lnTo>
                      <a:pt x="6326" y="638"/>
                    </a:lnTo>
                    <a:lnTo>
                      <a:pt x="6612" y="491"/>
                    </a:lnTo>
                    <a:lnTo>
                      <a:pt x="6789" y="330"/>
                    </a:lnTo>
                    <a:lnTo>
                      <a:pt x="6851" y="160"/>
                    </a:lnTo>
                    <a:lnTo>
                      <a:pt x="6852" y="160"/>
                    </a:lnTo>
                  </a:path>
                </a:pathLst>
              </a:custGeom>
              <a:noFill/>
              <a:ln w="22225" cap="flat" cmpd="sng">
                <a:solidFill>
                  <a:schemeClr val="tx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66FFCC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1108" name="Group 1069"/>
            <p:cNvGrpSpPr>
              <a:grpSpLocks/>
            </p:cNvGrpSpPr>
            <p:nvPr/>
          </p:nvGrpSpPr>
          <p:grpSpPr bwMode="auto">
            <a:xfrm>
              <a:off x="1734" y="2375"/>
              <a:ext cx="595" cy="796"/>
              <a:chOff x="1734" y="2375"/>
              <a:chExt cx="595" cy="796"/>
            </a:xfrm>
          </p:grpSpPr>
          <p:sp>
            <p:nvSpPr>
              <p:cNvPr id="51444" name="Freeform 244"/>
              <p:cNvSpPr>
                <a:spLocks/>
              </p:cNvSpPr>
              <p:nvPr/>
            </p:nvSpPr>
            <p:spPr bwMode="auto">
              <a:xfrm>
                <a:off x="1963" y="2448"/>
                <a:ext cx="141" cy="277"/>
              </a:xfrm>
              <a:custGeom>
                <a:avLst/>
                <a:gdLst>
                  <a:gd name="T0" fmla="*/ 0 w 655"/>
                  <a:gd name="T1" fmla="*/ 1159 h 1159"/>
                  <a:gd name="T2" fmla="*/ 654 w 655"/>
                  <a:gd name="T3" fmla="*/ 0 h 1159"/>
                  <a:gd name="T4" fmla="*/ 655 w 655"/>
                  <a:gd name="T5" fmla="*/ 0 h 1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5" h="1159">
                    <a:moveTo>
                      <a:pt x="0" y="1159"/>
                    </a:moveTo>
                    <a:lnTo>
                      <a:pt x="654" y="0"/>
                    </a:lnTo>
                    <a:lnTo>
                      <a:pt x="655" y="0"/>
                    </a:lnTo>
                  </a:path>
                </a:pathLst>
              </a:custGeom>
              <a:noFill/>
              <a:ln w="9525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303" name="Freeform 103"/>
              <p:cNvSpPr>
                <a:spLocks/>
              </p:cNvSpPr>
              <p:nvPr/>
            </p:nvSpPr>
            <p:spPr bwMode="auto">
              <a:xfrm>
                <a:off x="1734" y="2725"/>
                <a:ext cx="229" cy="446"/>
              </a:xfrm>
              <a:custGeom>
                <a:avLst/>
                <a:gdLst>
                  <a:gd name="T0" fmla="*/ 1053 w 1053"/>
                  <a:gd name="T1" fmla="*/ 0 h 1863"/>
                  <a:gd name="T2" fmla="*/ 0 w 1053"/>
                  <a:gd name="T3" fmla="*/ 1863 h 1863"/>
                  <a:gd name="T4" fmla="*/ 1 w 1053"/>
                  <a:gd name="T5" fmla="*/ 1863 h 18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53" h="1863">
                    <a:moveTo>
                      <a:pt x="1053" y="0"/>
                    </a:moveTo>
                    <a:lnTo>
                      <a:pt x="0" y="1863"/>
                    </a:lnTo>
                    <a:lnTo>
                      <a:pt x="1" y="1863"/>
                    </a:lnTo>
                  </a:path>
                </a:pathLst>
              </a:custGeom>
              <a:noFill/>
              <a:ln w="22225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431" name="Freeform 231"/>
              <p:cNvSpPr>
                <a:spLocks/>
              </p:cNvSpPr>
              <p:nvPr/>
            </p:nvSpPr>
            <p:spPr bwMode="auto">
              <a:xfrm>
                <a:off x="2328" y="2375"/>
                <a:ext cx="1" cy="8"/>
              </a:xfrm>
              <a:custGeom>
                <a:avLst/>
                <a:gdLst>
                  <a:gd name="T0" fmla="*/ 0 w 1"/>
                  <a:gd name="T1" fmla="*/ 0 h 37"/>
                  <a:gd name="T2" fmla="*/ 0 w 1"/>
                  <a:gd name="T3" fmla="*/ 37 h 37"/>
                  <a:gd name="T4" fmla="*/ 1 w 1"/>
                  <a:gd name="T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7">
                    <a:moveTo>
                      <a:pt x="0" y="0"/>
                    </a:moveTo>
                    <a:lnTo>
                      <a:pt x="0" y="37"/>
                    </a:lnTo>
                    <a:lnTo>
                      <a:pt x="1" y="37"/>
                    </a:lnTo>
                  </a:path>
                </a:pathLst>
              </a:custGeom>
              <a:noFill/>
              <a:ln w="9525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460" name="Freeform 260"/>
              <p:cNvSpPr>
                <a:spLocks/>
              </p:cNvSpPr>
              <p:nvPr/>
            </p:nvSpPr>
            <p:spPr bwMode="auto">
              <a:xfrm>
                <a:off x="2328" y="2602"/>
                <a:ext cx="1" cy="188"/>
              </a:xfrm>
              <a:custGeom>
                <a:avLst/>
                <a:gdLst>
                  <a:gd name="T0" fmla="*/ 0 w 1"/>
                  <a:gd name="T1" fmla="*/ 783 h 783"/>
                  <a:gd name="T2" fmla="*/ 0 w 1"/>
                  <a:gd name="T3" fmla="*/ 0 h 783"/>
                  <a:gd name="T4" fmla="*/ 1 w 1"/>
                  <a:gd name="T5" fmla="*/ 0 h 7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83">
                    <a:moveTo>
                      <a:pt x="0" y="78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9525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52271" name="Group 1071"/>
          <p:cNvGrpSpPr>
            <a:grpSpLocks/>
          </p:cNvGrpSpPr>
          <p:nvPr/>
        </p:nvGrpSpPr>
        <p:grpSpPr bwMode="auto">
          <a:xfrm>
            <a:off x="3094038" y="3790950"/>
            <a:ext cx="954087" cy="628650"/>
            <a:chOff x="1949" y="2388"/>
            <a:chExt cx="601" cy="396"/>
          </a:xfrm>
        </p:grpSpPr>
        <p:sp>
          <p:nvSpPr>
            <p:cNvPr id="51433" name="Freeform 233"/>
            <p:cNvSpPr>
              <a:spLocks/>
            </p:cNvSpPr>
            <p:nvPr/>
          </p:nvSpPr>
          <p:spPr bwMode="auto">
            <a:xfrm>
              <a:off x="2550" y="2437"/>
              <a:ext cx="0" cy="11"/>
            </a:xfrm>
            <a:custGeom>
              <a:avLst/>
              <a:gdLst>
                <a:gd name="T0" fmla="*/ 0 w 2"/>
                <a:gd name="T1" fmla="*/ 0 h 48"/>
                <a:gd name="T2" fmla="*/ 0 w 2"/>
                <a:gd name="T3" fmla="*/ 48 h 48"/>
                <a:gd name="T4" fmla="*/ 2 w 2"/>
                <a:gd name="T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48">
                  <a:moveTo>
                    <a:pt x="0" y="0"/>
                  </a:moveTo>
                  <a:lnTo>
                    <a:pt x="0" y="48"/>
                  </a:lnTo>
                  <a:lnTo>
                    <a:pt x="2" y="48"/>
                  </a:lnTo>
                </a:path>
              </a:pathLst>
            </a:custGeom>
            <a:noFill/>
            <a:ln w="95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34" name="Freeform 234"/>
            <p:cNvSpPr>
              <a:spLocks/>
            </p:cNvSpPr>
            <p:nvPr/>
          </p:nvSpPr>
          <p:spPr bwMode="auto">
            <a:xfrm>
              <a:off x="2328" y="2392"/>
              <a:ext cx="1" cy="52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  <a:gd name="T4" fmla="*/ 1 w 1"/>
                <a:gd name="T5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  <a:lnTo>
                    <a:pt x="1" y="225"/>
                  </a:lnTo>
                </a:path>
              </a:pathLst>
            </a:custGeom>
            <a:noFill/>
            <a:ln w="95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35" name="Freeform 235"/>
            <p:cNvSpPr>
              <a:spLocks/>
            </p:cNvSpPr>
            <p:nvPr/>
          </p:nvSpPr>
          <p:spPr bwMode="auto">
            <a:xfrm>
              <a:off x="2328" y="2454"/>
              <a:ext cx="1" cy="9"/>
            </a:xfrm>
            <a:custGeom>
              <a:avLst/>
              <a:gdLst>
                <a:gd name="T0" fmla="*/ 0 w 1"/>
                <a:gd name="T1" fmla="*/ 0 h 37"/>
                <a:gd name="T2" fmla="*/ 0 w 1"/>
                <a:gd name="T3" fmla="*/ 37 h 37"/>
                <a:gd name="T4" fmla="*/ 1 w 1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7">
                  <a:moveTo>
                    <a:pt x="0" y="0"/>
                  </a:moveTo>
                  <a:lnTo>
                    <a:pt x="0" y="37"/>
                  </a:lnTo>
                  <a:lnTo>
                    <a:pt x="1" y="37"/>
                  </a:lnTo>
                </a:path>
              </a:pathLst>
            </a:custGeom>
            <a:noFill/>
            <a:ln w="95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36" name="Freeform 236"/>
            <p:cNvSpPr>
              <a:spLocks/>
            </p:cNvSpPr>
            <p:nvPr/>
          </p:nvSpPr>
          <p:spPr bwMode="auto">
            <a:xfrm>
              <a:off x="2328" y="2472"/>
              <a:ext cx="1" cy="53"/>
            </a:xfrm>
            <a:custGeom>
              <a:avLst/>
              <a:gdLst>
                <a:gd name="T0" fmla="*/ 0 w 1"/>
                <a:gd name="T1" fmla="*/ 0 h 224"/>
                <a:gd name="T2" fmla="*/ 0 w 1"/>
                <a:gd name="T3" fmla="*/ 224 h 224"/>
                <a:gd name="T4" fmla="*/ 1 w 1"/>
                <a:gd name="T5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4">
                  <a:moveTo>
                    <a:pt x="0" y="0"/>
                  </a:moveTo>
                  <a:lnTo>
                    <a:pt x="0" y="224"/>
                  </a:lnTo>
                  <a:lnTo>
                    <a:pt x="1" y="224"/>
                  </a:lnTo>
                </a:path>
              </a:pathLst>
            </a:custGeom>
            <a:noFill/>
            <a:ln w="95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37" name="Freeform 237"/>
            <p:cNvSpPr>
              <a:spLocks/>
            </p:cNvSpPr>
            <p:nvPr/>
          </p:nvSpPr>
          <p:spPr bwMode="auto">
            <a:xfrm>
              <a:off x="2328" y="2536"/>
              <a:ext cx="1" cy="7"/>
            </a:xfrm>
            <a:custGeom>
              <a:avLst/>
              <a:gdLst>
                <a:gd name="T0" fmla="*/ 0 w 1"/>
                <a:gd name="T1" fmla="*/ 0 h 36"/>
                <a:gd name="T2" fmla="*/ 0 w 1"/>
                <a:gd name="T3" fmla="*/ 36 h 36"/>
                <a:gd name="T4" fmla="*/ 1 w 1"/>
                <a:gd name="T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">
                  <a:moveTo>
                    <a:pt x="0" y="0"/>
                  </a:moveTo>
                  <a:lnTo>
                    <a:pt x="0" y="36"/>
                  </a:lnTo>
                  <a:lnTo>
                    <a:pt x="1" y="36"/>
                  </a:lnTo>
                </a:path>
              </a:pathLst>
            </a:custGeom>
            <a:noFill/>
            <a:ln w="95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38" name="Freeform 238"/>
            <p:cNvSpPr>
              <a:spLocks/>
            </p:cNvSpPr>
            <p:nvPr/>
          </p:nvSpPr>
          <p:spPr bwMode="auto">
            <a:xfrm>
              <a:off x="2328" y="2552"/>
              <a:ext cx="1" cy="53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  <a:gd name="T4" fmla="*/ 1 w 1"/>
                <a:gd name="T5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  <a:lnTo>
                    <a:pt x="1" y="225"/>
                  </a:lnTo>
                </a:path>
              </a:pathLst>
            </a:custGeom>
            <a:noFill/>
            <a:ln w="95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39" name="Freeform 239"/>
            <p:cNvSpPr>
              <a:spLocks/>
            </p:cNvSpPr>
            <p:nvPr/>
          </p:nvSpPr>
          <p:spPr bwMode="auto">
            <a:xfrm>
              <a:off x="2328" y="2615"/>
              <a:ext cx="1" cy="8"/>
            </a:xfrm>
            <a:custGeom>
              <a:avLst/>
              <a:gdLst>
                <a:gd name="T0" fmla="*/ 0 w 1"/>
                <a:gd name="T1" fmla="*/ 0 h 37"/>
                <a:gd name="T2" fmla="*/ 0 w 1"/>
                <a:gd name="T3" fmla="*/ 37 h 37"/>
                <a:gd name="T4" fmla="*/ 1 w 1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7">
                  <a:moveTo>
                    <a:pt x="0" y="0"/>
                  </a:moveTo>
                  <a:lnTo>
                    <a:pt x="0" y="37"/>
                  </a:lnTo>
                  <a:lnTo>
                    <a:pt x="1" y="37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40" name="Freeform 240"/>
            <p:cNvSpPr>
              <a:spLocks/>
            </p:cNvSpPr>
            <p:nvPr/>
          </p:nvSpPr>
          <p:spPr bwMode="auto">
            <a:xfrm>
              <a:off x="2328" y="2632"/>
              <a:ext cx="1" cy="54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  <a:gd name="T4" fmla="*/ 1 w 1"/>
                <a:gd name="T5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  <a:lnTo>
                    <a:pt x="1" y="225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41" name="Freeform 241"/>
            <p:cNvSpPr>
              <a:spLocks/>
            </p:cNvSpPr>
            <p:nvPr/>
          </p:nvSpPr>
          <p:spPr bwMode="auto">
            <a:xfrm>
              <a:off x="2328" y="2696"/>
              <a:ext cx="1" cy="7"/>
            </a:xfrm>
            <a:custGeom>
              <a:avLst/>
              <a:gdLst>
                <a:gd name="T0" fmla="*/ 0 w 1"/>
                <a:gd name="T1" fmla="*/ 0 h 36"/>
                <a:gd name="T2" fmla="*/ 0 w 1"/>
                <a:gd name="T3" fmla="*/ 36 h 36"/>
                <a:gd name="T4" fmla="*/ 1 w 1"/>
                <a:gd name="T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">
                  <a:moveTo>
                    <a:pt x="0" y="0"/>
                  </a:moveTo>
                  <a:lnTo>
                    <a:pt x="0" y="36"/>
                  </a:lnTo>
                  <a:lnTo>
                    <a:pt x="1" y="36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42" name="Freeform 242"/>
            <p:cNvSpPr>
              <a:spLocks/>
            </p:cNvSpPr>
            <p:nvPr/>
          </p:nvSpPr>
          <p:spPr bwMode="auto">
            <a:xfrm>
              <a:off x="2328" y="2712"/>
              <a:ext cx="1" cy="54"/>
            </a:xfrm>
            <a:custGeom>
              <a:avLst/>
              <a:gdLst>
                <a:gd name="T0" fmla="*/ 0 w 1"/>
                <a:gd name="T1" fmla="*/ 0 h 224"/>
                <a:gd name="T2" fmla="*/ 0 w 1"/>
                <a:gd name="T3" fmla="*/ 224 h 224"/>
                <a:gd name="T4" fmla="*/ 1 w 1"/>
                <a:gd name="T5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4">
                  <a:moveTo>
                    <a:pt x="0" y="0"/>
                  </a:moveTo>
                  <a:lnTo>
                    <a:pt x="0" y="224"/>
                  </a:lnTo>
                  <a:lnTo>
                    <a:pt x="1" y="224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43" name="Freeform 243"/>
            <p:cNvSpPr>
              <a:spLocks/>
            </p:cNvSpPr>
            <p:nvPr/>
          </p:nvSpPr>
          <p:spPr bwMode="auto">
            <a:xfrm>
              <a:off x="2328" y="2775"/>
              <a:ext cx="1" cy="9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1 w 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1" y="38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45" name="Freeform 245"/>
            <p:cNvSpPr>
              <a:spLocks/>
            </p:cNvSpPr>
            <p:nvPr/>
          </p:nvSpPr>
          <p:spPr bwMode="auto">
            <a:xfrm>
              <a:off x="1949" y="2389"/>
              <a:ext cx="584" cy="372"/>
            </a:xfrm>
            <a:custGeom>
              <a:avLst/>
              <a:gdLst>
                <a:gd name="T0" fmla="*/ 3 w 2695"/>
                <a:gd name="T1" fmla="*/ 1520 h 1565"/>
                <a:gd name="T2" fmla="*/ 56 w 2695"/>
                <a:gd name="T3" fmla="*/ 1557 h 1565"/>
                <a:gd name="T4" fmla="*/ 154 w 2695"/>
                <a:gd name="T5" fmla="*/ 1565 h 1565"/>
                <a:gd name="T6" fmla="*/ 296 w 2695"/>
                <a:gd name="T7" fmla="*/ 1546 h 1565"/>
                <a:gd name="T8" fmla="*/ 475 w 2695"/>
                <a:gd name="T9" fmla="*/ 1499 h 1565"/>
                <a:gd name="T10" fmla="*/ 686 w 2695"/>
                <a:gd name="T11" fmla="*/ 1425 h 1565"/>
                <a:gd name="T12" fmla="*/ 920 w 2695"/>
                <a:gd name="T13" fmla="*/ 1330 h 1565"/>
                <a:gd name="T14" fmla="*/ 1170 w 2695"/>
                <a:gd name="T15" fmla="*/ 1214 h 1565"/>
                <a:gd name="T16" fmla="*/ 1426 w 2695"/>
                <a:gd name="T17" fmla="*/ 1081 h 1565"/>
                <a:gd name="T18" fmla="*/ 1680 w 2695"/>
                <a:gd name="T19" fmla="*/ 940 h 1565"/>
                <a:gd name="T20" fmla="*/ 1921 w 2695"/>
                <a:gd name="T21" fmla="*/ 791 h 1565"/>
                <a:gd name="T22" fmla="*/ 2142 w 2695"/>
                <a:gd name="T23" fmla="*/ 643 h 1565"/>
                <a:gd name="T24" fmla="*/ 2334 w 2695"/>
                <a:gd name="T25" fmla="*/ 499 h 1565"/>
                <a:gd name="T26" fmla="*/ 2489 w 2695"/>
                <a:gd name="T27" fmla="*/ 366 h 1565"/>
                <a:gd name="T28" fmla="*/ 2604 w 2695"/>
                <a:gd name="T29" fmla="*/ 249 h 1565"/>
                <a:gd name="T30" fmla="*/ 2673 w 2695"/>
                <a:gd name="T31" fmla="*/ 150 h 1565"/>
                <a:gd name="T32" fmla="*/ 2695 w 2695"/>
                <a:gd name="T33" fmla="*/ 73 h 1565"/>
                <a:gd name="T34" fmla="*/ 2667 w 2695"/>
                <a:gd name="T35" fmla="*/ 23 h 1565"/>
                <a:gd name="T36" fmla="*/ 2592 w 2695"/>
                <a:gd name="T37" fmla="*/ 0 h 1565"/>
                <a:gd name="T38" fmla="*/ 2471 w 2695"/>
                <a:gd name="T39" fmla="*/ 6 h 1565"/>
                <a:gd name="T40" fmla="*/ 2310 w 2695"/>
                <a:gd name="T41" fmla="*/ 39 h 1565"/>
                <a:gd name="T42" fmla="*/ 2113 w 2695"/>
                <a:gd name="T43" fmla="*/ 99 h 1565"/>
                <a:gd name="T44" fmla="*/ 1890 w 2695"/>
                <a:gd name="T45" fmla="*/ 184 h 1565"/>
                <a:gd name="T46" fmla="*/ 1647 w 2695"/>
                <a:gd name="T47" fmla="*/ 290 h 1565"/>
                <a:gd name="T48" fmla="*/ 1392 w 2695"/>
                <a:gd name="T49" fmla="*/ 415 h 1565"/>
                <a:gd name="T50" fmla="*/ 1136 w 2695"/>
                <a:gd name="T51" fmla="*/ 553 h 1565"/>
                <a:gd name="T52" fmla="*/ 888 w 2695"/>
                <a:gd name="T53" fmla="*/ 699 h 1565"/>
                <a:gd name="T54" fmla="*/ 656 w 2695"/>
                <a:gd name="T55" fmla="*/ 847 h 1565"/>
                <a:gd name="T56" fmla="*/ 448 w 2695"/>
                <a:gd name="T57" fmla="*/ 994 h 1565"/>
                <a:gd name="T58" fmla="*/ 274 w 2695"/>
                <a:gd name="T59" fmla="*/ 1133 h 1565"/>
                <a:gd name="T60" fmla="*/ 137 w 2695"/>
                <a:gd name="T61" fmla="*/ 1259 h 1565"/>
                <a:gd name="T62" fmla="*/ 46 w 2695"/>
                <a:gd name="T63" fmla="*/ 1368 h 1565"/>
                <a:gd name="T64" fmla="*/ 0 w 2695"/>
                <a:gd name="T65" fmla="*/ 1457 h 1565"/>
                <a:gd name="T66" fmla="*/ 3 w 2695"/>
                <a:gd name="T67" fmla="*/ 1520 h 1565"/>
                <a:gd name="T68" fmla="*/ 4 w 2695"/>
                <a:gd name="T69" fmla="*/ 1520 h 1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95" h="1565">
                  <a:moveTo>
                    <a:pt x="3" y="1520"/>
                  </a:moveTo>
                  <a:lnTo>
                    <a:pt x="56" y="1557"/>
                  </a:lnTo>
                  <a:lnTo>
                    <a:pt x="154" y="1565"/>
                  </a:lnTo>
                  <a:lnTo>
                    <a:pt x="296" y="1546"/>
                  </a:lnTo>
                  <a:lnTo>
                    <a:pt x="475" y="1499"/>
                  </a:lnTo>
                  <a:lnTo>
                    <a:pt x="686" y="1425"/>
                  </a:lnTo>
                  <a:lnTo>
                    <a:pt x="920" y="1330"/>
                  </a:lnTo>
                  <a:lnTo>
                    <a:pt x="1170" y="1214"/>
                  </a:lnTo>
                  <a:lnTo>
                    <a:pt x="1426" y="1081"/>
                  </a:lnTo>
                  <a:lnTo>
                    <a:pt x="1680" y="940"/>
                  </a:lnTo>
                  <a:lnTo>
                    <a:pt x="1921" y="791"/>
                  </a:lnTo>
                  <a:lnTo>
                    <a:pt x="2142" y="643"/>
                  </a:lnTo>
                  <a:lnTo>
                    <a:pt x="2334" y="499"/>
                  </a:lnTo>
                  <a:lnTo>
                    <a:pt x="2489" y="366"/>
                  </a:lnTo>
                  <a:lnTo>
                    <a:pt x="2604" y="249"/>
                  </a:lnTo>
                  <a:lnTo>
                    <a:pt x="2673" y="150"/>
                  </a:lnTo>
                  <a:lnTo>
                    <a:pt x="2695" y="73"/>
                  </a:lnTo>
                  <a:lnTo>
                    <a:pt x="2667" y="23"/>
                  </a:lnTo>
                  <a:lnTo>
                    <a:pt x="2592" y="0"/>
                  </a:lnTo>
                  <a:lnTo>
                    <a:pt x="2471" y="6"/>
                  </a:lnTo>
                  <a:lnTo>
                    <a:pt x="2310" y="39"/>
                  </a:lnTo>
                  <a:lnTo>
                    <a:pt x="2113" y="99"/>
                  </a:lnTo>
                  <a:lnTo>
                    <a:pt x="1890" y="184"/>
                  </a:lnTo>
                  <a:lnTo>
                    <a:pt x="1647" y="290"/>
                  </a:lnTo>
                  <a:lnTo>
                    <a:pt x="1392" y="415"/>
                  </a:lnTo>
                  <a:lnTo>
                    <a:pt x="1136" y="553"/>
                  </a:lnTo>
                  <a:lnTo>
                    <a:pt x="888" y="699"/>
                  </a:lnTo>
                  <a:lnTo>
                    <a:pt x="656" y="847"/>
                  </a:lnTo>
                  <a:lnTo>
                    <a:pt x="448" y="994"/>
                  </a:lnTo>
                  <a:lnTo>
                    <a:pt x="274" y="1133"/>
                  </a:lnTo>
                  <a:lnTo>
                    <a:pt x="137" y="1259"/>
                  </a:lnTo>
                  <a:lnTo>
                    <a:pt x="46" y="1368"/>
                  </a:lnTo>
                  <a:lnTo>
                    <a:pt x="0" y="1457"/>
                  </a:lnTo>
                  <a:lnTo>
                    <a:pt x="3" y="1520"/>
                  </a:lnTo>
                  <a:lnTo>
                    <a:pt x="4" y="152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46" name="Freeform 246"/>
            <p:cNvSpPr>
              <a:spLocks/>
            </p:cNvSpPr>
            <p:nvPr/>
          </p:nvSpPr>
          <p:spPr bwMode="auto">
            <a:xfrm>
              <a:off x="1964" y="2607"/>
              <a:ext cx="105" cy="116"/>
            </a:xfrm>
            <a:custGeom>
              <a:avLst/>
              <a:gdLst>
                <a:gd name="T0" fmla="*/ 0 w 482"/>
                <a:gd name="T1" fmla="*/ 482 h 482"/>
                <a:gd name="T2" fmla="*/ 481 w 482"/>
                <a:gd name="T3" fmla="*/ 0 h 482"/>
                <a:gd name="T4" fmla="*/ 482 w 482"/>
                <a:gd name="T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2" h="482">
                  <a:moveTo>
                    <a:pt x="0" y="482"/>
                  </a:moveTo>
                  <a:lnTo>
                    <a:pt x="481" y="0"/>
                  </a:lnTo>
                  <a:lnTo>
                    <a:pt x="48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47" name="Freeform 247"/>
            <p:cNvSpPr>
              <a:spLocks/>
            </p:cNvSpPr>
            <p:nvPr/>
          </p:nvSpPr>
          <p:spPr bwMode="auto">
            <a:xfrm>
              <a:off x="1956" y="2558"/>
              <a:ext cx="181" cy="199"/>
            </a:xfrm>
            <a:custGeom>
              <a:avLst/>
              <a:gdLst>
                <a:gd name="T0" fmla="*/ 0 w 833"/>
                <a:gd name="T1" fmla="*/ 832 h 832"/>
                <a:gd name="T2" fmla="*/ 832 w 833"/>
                <a:gd name="T3" fmla="*/ 0 h 832"/>
                <a:gd name="T4" fmla="*/ 833 w 833"/>
                <a:gd name="T5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3" h="832">
                  <a:moveTo>
                    <a:pt x="0" y="832"/>
                  </a:moveTo>
                  <a:lnTo>
                    <a:pt x="832" y="0"/>
                  </a:lnTo>
                  <a:lnTo>
                    <a:pt x="83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48" name="Freeform 248"/>
            <p:cNvSpPr>
              <a:spLocks/>
            </p:cNvSpPr>
            <p:nvPr/>
          </p:nvSpPr>
          <p:spPr bwMode="auto">
            <a:xfrm>
              <a:off x="1975" y="2522"/>
              <a:ext cx="217" cy="239"/>
            </a:xfrm>
            <a:custGeom>
              <a:avLst/>
              <a:gdLst>
                <a:gd name="T0" fmla="*/ 0 w 1005"/>
                <a:gd name="T1" fmla="*/ 1004 h 1004"/>
                <a:gd name="T2" fmla="*/ 1004 w 1005"/>
                <a:gd name="T3" fmla="*/ 0 h 1004"/>
                <a:gd name="T4" fmla="*/ 1005 w 1005"/>
                <a:gd name="T5" fmla="*/ 0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5" h="1004">
                  <a:moveTo>
                    <a:pt x="0" y="1004"/>
                  </a:moveTo>
                  <a:lnTo>
                    <a:pt x="1004" y="0"/>
                  </a:lnTo>
                  <a:lnTo>
                    <a:pt x="100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49" name="Freeform 249"/>
            <p:cNvSpPr>
              <a:spLocks/>
            </p:cNvSpPr>
            <p:nvPr/>
          </p:nvSpPr>
          <p:spPr bwMode="auto">
            <a:xfrm>
              <a:off x="1999" y="2491"/>
              <a:ext cx="243" cy="269"/>
            </a:xfrm>
            <a:custGeom>
              <a:avLst/>
              <a:gdLst>
                <a:gd name="T0" fmla="*/ 0 w 1122"/>
                <a:gd name="T1" fmla="*/ 1122 h 1122"/>
                <a:gd name="T2" fmla="*/ 1121 w 1122"/>
                <a:gd name="T3" fmla="*/ 0 h 1122"/>
                <a:gd name="T4" fmla="*/ 1122 w 1122"/>
                <a:gd name="T5" fmla="*/ 0 h 1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22" h="1122">
                  <a:moveTo>
                    <a:pt x="0" y="1122"/>
                  </a:moveTo>
                  <a:lnTo>
                    <a:pt x="1121" y="0"/>
                  </a:lnTo>
                  <a:lnTo>
                    <a:pt x="112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50" name="Freeform 250"/>
            <p:cNvSpPr>
              <a:spLocks/>
            </p:cNvSpPr>
            <p:nvPr/>
          </p:nvSpPr>
          <p:spPr bwMode="auto">
            <a:xfrm>
              <a:off x="2028" y="2468"/>
              <a:ext cx="260" cy="284"/>
            </a:xfrm>
            <a:custGeom>
              <a:avLst/>
              <a:gdLst>
                <a:gd name="T0" fmla="*/ 0 w 1201"/>
                <a:gd name="T1" fmla="*/ 1200 h 1200"/>
                <a:gd name="T2" fmla="*/ 1200 w 1201"/>
                <a:gd name="T3" fmla="*/ 0 h 1200"/>
                <a:gd name="T4" fmla="*/ 1201 w 1201"/>
                <a:gd name="T5" fmla="*/ 0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1" h="1200">
                  <a:moveTo>
                    <a:pt x="0" y="1200"/>
                  </a:moveTo>
                  <a:lnTo>
                    <a:pt x="1200" y="0"/>
                  </a:lnTo>
                  <a:lnTo>
                    <a:pt x="120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51" name="Freeform 251"/>
            <p:cNvSpPr>
              <a:spLocks/>
            </p:cNvSpPr>
            <p:nvPr/>
          </p:nvSpPr>
          <p:spPr bwMode="auto">
            <a:xfrm>
              <a:off x="2060" y="2444"/>
              <a:ext cx="270" cy="299"/>
            </a:xfrm>
            <a:custGeom>
              <a:avLst/>
              <a:gdLst>
                <a:gd name="T0" fmla="*/ 0 w 1247"/>
                <a:gd name="T1" fmla="*/ 1247 h 1247"/>
                <a:gd name="T2" fmla="*/ 1233 w 1247"/>
                <a:gd name="T3" fmla="*/ 12 h 1247"/>
                <a:gd name="T4" fmla="*/ 1246 w 1247"/>
                <a:gd name="T5" fmla="*/ 0 h 1247"/>
                <a:gd name="T6" fmla="*/ 1247 w 1247"/>
                <a:gd name="T7" fmla="*/ 0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7" h="1247">
                  <a:moveTo>
                    <a:pt x="0" y="1247"/>
                  </a:moveTo>
                  <a:lnTo>
                    <a:pt x="1233" y="12"/>
                  </a:lnTo>
                  <a:lnTo>
                    <a:pt x="1246" y="0"/>
                  </a:lnTo>
                  <a:lnTo>
                    <a:pt x="124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52" name="Freeform 252"/>
            <p:cNvSpPr>
              <a:spLocks/>
            </p:cNvSpPr>
            <p:nvPr/>
          </p:nvSpPr>
          <p:spPr bwMode="auto">
            <a:xfrm>
              <a:off x="2096" y="2427"/>
              <a:ext cx="273" cy="302"/>
            </a:xfrm>
            <a:custGeom>
              <a:avLst/>
              <a:gdLst>
                <a:gd name="T0" fmla="*/ 0 w 1266"/>
                <a:gd name="T1" fmla="*/ 1265 h 1265"/>
                <a:gd name="T2" fmla="*/ 1071 w 1266"/>
                <a:gd name="T3" fmla="*/ 194 h 1265"/>
                <a:gd name="T4" fmla="*/ 1265 w 1266"/>
                <a:gd name="T5" fmla="*/ 0 h 1265"/>
                <a:gd name="T6" fmla="*/ 1266 w 1266"/>
                <a:gd name="T7" fmla="*/ 0 h 1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6" h="1265">
                  <a:moveTo>
                    <a:pt x="0" y="1265"/>
                  </a:moveTo>
                  <a:lnTo>
                    <a:pt x="1071" y="194"/>
                  </a:lnTo>
                  <a:lnTo>
                    <a:pt x="1265" y="0"/>
                  </a:lnTo>
                  <a:lnTo>
                    <a:pt x="126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53" name="Freeform 253"/>
            <p:cNvSpPr>
              <a:spLocks/>
            </p:cNvSpPr>
            <p:nvPr/>
          </p:nvSpPr>
          <p:spPr bwMode="auto">
            <a:xfrm>
              <a:off x="2134" y="2412"/>
              <a:ext cx="271" cy="300"/>
            </a:xfrm>
            <a:custGeom>
              <a:avLst/>
              <a:gdLst>
                <a:gd name="T0" fmla="*/ 0 w 1259"/>
                <a:gd name="T1" fmla="*/ 1259 h 1259"/>
                <a:gd name="T2" fmla="*/ 895 w 1259"/>
                <a:gd name="T3" fmla="*/ 363 h 1259"/>
                <a:gd name="T4" fmla="*/ 1258 w 1259"/>
                <a:gd name="T5" fmla="*/ 0 h 1259"/>
                <a:gd name="T6" fmla="*/ 1259 w 1259"/>
                <a:gd name="T7" fmla="*/ 0 h 1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9" h="1259">
                  <a:moveTo>
                    <a:pt x="0" y="1259"/>
                  </a:moveTo>
                  <a:lnTo>
                    <a:pt x="895" y="363"/>
                  </a:lnTo>
                  <a:lnTo>
                    <a:pt x="1258" y="0"/>
                  </a:lnTo>
                  <a:lnTo>
                    <a:pt x="125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54" name="Freeform 254"/>
            <p:cNvSpPr>
              <a:spLocks/>
            </p:cNvSpPr>
            <p:nvPr/>
          </p:nvSpPr>
          <p:spPr bwMode="auto">
            <a:xfrm>
              <a:off x="2175" y="2400"/>
              <a:ext cx="265" cy="292"/>
            </a:xfrm>
            <a:custGeom>
              <a:avLst/>
              <a:gdLst>
                <a:gd name="T0" fmla="*/ 0 w 1223"/>
                <a:gd name="T1" fmla="*/ 1223 h 1223"/>
                <a:gd name="T2" fmla="*/ 704 w 1223"/>
                <a:gd name="T3" fmla="*/ 518 h 1223"/>
                <a:gd name="T4" fmla="*/ 1222 w 1223"/>
                <a:gd name="T5" fmla="*/ 0 h 1223"/>
                <a:gd name="T6" fmla="*/ 1223 w 1223"/>
                <a:gd name="T7" fmla="*/ 0 h 1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3" h="1223">
                  <a:moveTo>
                    <a:pt x="0" y="1223"/>
                  </a:moveTo>
                  <a:lnTo>
                    <a:pt x="704" y="518"/>
                  </a:lnTo>
                  <a:lnTo>
                    <a:pt x="1222" y="0"/>
                  </a:lnTo>
                  <a:lnTo>
                    <a:pt x="122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55" name="Freeform 255"/>
            <p:cNvSpPr>
              <a:spLocks/>
            </p:cNvSpPr>
            <p:nvPr/>
          </p:nvSpPr>
          <p:spPr bwMode="auto">
            <a:xfrm>
              <a:off x="2219" y="2392"/>
              <a:ext cx="250" cy="277"/>
            </a:xfrm>
            <a:custGeom>
              <a:avLst/>
              <a:gdLst>
                <a:gd name="T0" fmla="*/ 0 w 1159"/>
                <a:gd name="T1" fmla="*/ 1159 h 1159"/>
                <a:gd name="T2" fmla="*/ 500 w 1159"/>
                <a:gd name="T3" fmla="*/ 659 h 1159"/>
                <a:gd name="T4" fmla="*/ 1157 w 1159"/>
                <a:gd name="T5" fmla="*/ 0 h 1159"/>
                <a:gd name="T6" fmla="*/ 1159 w 1159"/>
                <a:gd name="T7" fmla="*/ 0 h 1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9" h="1159">
                  <a:moveTo>
                    <a:pt x="0" y="1159"/>
                  </a:moveTo>
                  <a:lnTo>
                    <a:pt x="500" y="659"/>
                  </a:lnTo>
                  <a:lnTo>
                    <a:pt x="1157" y="0"/>
                  </a:lnTo>
                  <a:lnTo>
                    <a:pt x="115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56" name="Freeform 256"/>
            <p:cNvSpPr>
              <a:spLocks/>
            </p:cNvSpPr>
            <p:nvPr/>
          </p:nvSpPr>
          <p:spPr bwMode="auto">
            <a:xfrm>
              <a:off x="2267" y="2388"/>
              <a:ext cx="229" cy="254"/>
            </a:xfrm>
            <a:custGeom>
              <a:avLst/>
              <a:gdLst>
                <a:gd name="T0" fmla="*/ 0 w 1060"/>
                <a:gd name="T1" fmla="*/ 1060 h 1060"/>
                <a:gd name="T2" fmla="*/ 278 w 1060"/>
                <a:gd name="T3" fmla="*/ 782 h 1060"/>
                <a:gd name="T4" fmla="*/ 1059 w 1060"/>
                <a:gd name="T5" fmla="*/ 0 h 1060"/>
                <a:gd name="T6" fmla="*/ 1060 w 1060"/>
                <a:gd name="T7" fmla="*/ 0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0" h="1060">
                  <a:moveTo>
                    <a:pt x="0" y="1060"/>
                  </a:moveTo>
                  <a:lnTo>
                    <a:pt x="278" y="782"/>
                  </a:lnTo>
                  <a:lnTo>
                    <a:pt x="1059" y="0"/>
                  </a:lnTo>
                  <a:lnTo>
                    <a:pt x="106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57" name="Freeform 257"/>
            <p:cNvSpPr>
              <a:spLocks/>
            </p:cNvSpPr>
            <p:nvPr/>
          </p:nvSpPr>
          <p:spPr bwMode="auto">
            <a:xfrm>
              <a:off x="2320" y="2389"/>
              <a:ext cx="198" cy="218"/>
            </a:xfrm>
            <a:custGeom>
              <a:avLst/>
              <a:gdLst>
                <a:gd name="T0" fmla="*/ 0 w 914"/>
                <a:gd name="T1" fmla="*/ 913 h 913"/>
                <a:gd name="T2" fmla="*/ 33 w 914"/>
                <a:gd name="T3" fmla="*/ 880 h 913"/>
                <a:gd name="T4" fmla="*/ 913 w 914"/>
                <a:gd name="T5" fmla="*/ 0 h 913"/>
                <a:gd name="T6" fmla="*/ 914 w 914"/>
                <a:gd name="T7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14" h="913">
                  <a:moveTo>
                    <a:pt x="0" y="913"/>
                  </a:moveTo>
                  <a:lnTo>
                    <a:pt x="33" y="880"/>
                  </a:lnTo>
                  <a:lnTo>
                    <a:pt x="913" y="0"/>
                  </a:lnTo>
                  <a:lnTo>
                    <a:pt x="91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58" name="Freeform 258"/>
            <p:cNvSpPr>
              <a:spLocks/>
            </p:cNvSpPr>
            <p:nvPr/>
          </p:nvSpPr>
          <p:spPr bwMode="auto">
            <a:xfrm>
              <a:off x="2381" y="2400"/>
              <a:ext cx="151" cy="165"/>
            </a:xfrm>
            <a:custGeom>
              <a:avLst/>
              <a:gdLst>
                <a:gd name="T0" fmla="*/ 0 w 693"/>
                <a:gd name="T1" fmla="*/ 692 h 692"/>
                <a:gd name="T2" fmla="*/ 692 w 693"/>
                <a:gd name="T3" fmla="*/ 0 h 692"/>
                <a:gd name="T4" fmla="*/ 693 w 693"/>
                <a:gd name="T5" fmla="*/ 0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3" h="692">
                  <a:moveTo>
                    <a:pt x="0" y="692"/>
                  </a:moveTo>
                  <a:lnTo>
                    <a:pt x="692" y="0"/>
                  </a:lnTo>
                  <a:lnTo>
                    <a:pt x="69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59" name="Freeform 259"/>
            <p:cNvSpPr>
              <a:spLocks/>
            </p:cNvSpPr>
            <p:nvPr/>
          </p:nvSpPr>
          <p:spPr bwMode="auto">
            <a:xfrm>
              <a:off x="2468" y="2437"/>
              <a:ext cx="51" cy="58"/>
            </a:xfrm>
            <a:custGeom>
              <a:avLst/>
              <a:gdLst>
                <a:gd name="T0" fmla="*/ 0 w 239"/>
                <a:gd name="T1" fmla="*/ 237 h 237"/>
                <a:gd name="T2" fmla="*/ 238 w 239"/>
                <a:gd name="T3" fmla="*/ 0 h 237"/>
                <a:gd name="T4" fmla="*/ 239 w 239"/>
                <a:gd name="T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" h="237">
                  <a:moveTo>
                    <a:pt x="0" y="237"/>
                  </a:moveTo>
                  <a:lnTo>
                    <a:pt x="238" y="0"/>
                  </a:lnTo>
                  <a:lnTo>
                    <a:pt x="23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61" name="Line 261"/>
            <p:cNvSpPr>
              <a:spLocks noChangeShapeType="1"/>
            </p:cNvSpPr>
            <p:nvPr/>
          </p:nvSpPr>
          <p:spPr bwMode="auto">
            <a:xfrm flipV="1">
              <a:off x="1955" y="2397"/>
              <a:ext cx="574" cy="351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1462" name="Freeform 262"/>
          <p:cNvSpPr>
            <a:spLocks/>
          </p:cNvSpPr>
          <p:nvPr/>
        </p:nvSpPr>
        <p:spPr bwMode="auto">
          <a:xfrm>
            <a:off x="8051800" y="3136900"/>
            <a:ext cx="938213" cy="2482850"/>
          </a:xfrm>
          <a:custGeom>
            <a:avLst/>
            <a:gdLst>
              <a:gd name="T0" fmla="*/ 72 w 3060"/>
              <a:gd name="T1" fmla="*/ 8172 h 11412"/>
              <a:gd name="T2" fmla="*/ 3060 w 3060"/>
              <a:gd name="T3" fmla="*/ 11412 h 11412"/>
              <a:gd name="T4" fmla="*/ 3060 w 3060"/>
              <a:gd name="T5" fmla="*/ 2628 h 11412"/>
              <a:gd name="T6" fmla="*/ 0 w 3060"/>
              <a:gd name="T7" fmla="*/ 0 h 11412"/>
              <a:gd name="T8" fmla="*/ 72 w 3060"/>
              <a:gd name="T9" fmla="*/ 8172 h 11412"/>
              <a:gd name="T10" fmla="*/ 74 w 3060"/>
              <a:gd name="T11" fmla="*/ 8172 h 11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060" h="11412">
                <a:moveTo>
                  <a:pt x="72" y="8172"/>
                </a:moveTo>
                <a:lnTo>
                  <a:pt x="3060" y="11412"/>
                </a:lnTo>
                <a:lnTo>
                  <a:pt x="3060" y="2628"/>
                </a:lnTo>
                <a:lnTo>
                  <a:pt x="0" y="0"/>
                </a:lnTo>
                <a:lnTo>
                  <a:pt x="72" y="8172"/>
                </a:lnTo>
                <a:lnTo>
                  <a:pt x="74" y="8172"/>
                </a:lnTo>
              </a:path>
            </a:pathLst>
          </a:custGeom>
          <a:solidFill>
            <a:srgbClr val="CCFFFF"/>
          </a:solidFill>
          <a:ln w="19050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63" name="Freeform 263"/>
          <p:cNvSpPr>
            <a:spLocks/>
          </p:cNvSpPr>
          <p:nvPr/>
        </p:nvSpPr>
        <p:spPr bwMode="auto">
          <a:xfrm>
            <a:off x="8064500" y="3136900"/>
            <a:ext cx="938213" cy="2482850"/>
          </a:xfrm>
          <a:custGeom>
            <a:avLst/>
            <a:gdLst>
              <a:gd name="T0" fmla="*/ 72 w 3060"/>
              <a:gd name="T1" fmla="*/ 8172 h 11412"/>
              <a:gd name="T2" fmla="*/ 3060 w 3060"/>
              <a:gd name="T3" fmla="*/ 11412 h 11412"/>
              <a:gd name="T4" fmla="*/ 3060 w 3060"/>
              <a:gd name="T5" fmla="*/ 2628 h 11412"/>
              <a:gd name="T6" fmla="*/ 0 w 3060"/>
              <a:gd name="T7" fmla="*/ 0 h 11412"/>
              <a:gd name="T8" fmla="*/ 72 w 3060"/>
              <a:gd name="T9" fmla="*/ 8172 h 11412"/>
              <a:gd name="T10" fmla="*/ 74 w 3060"/>
              <a:gd name="T11" fmla="*/ 8172 h 11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060" h="11412">
                <a:moveTo>
                  <a:pt x="72" y="8172"/>
                </a:moveTo>
                <a:lnTo>
                  <a:pt x="3060" y="11412"/>
                </a:lnTo>
                <a:lnTo>
                  <a:pt x="3060" y="2628"/>
                </a:lnTo>
                <a:lnTo>
                  <a:pt x="0" y="0"/>
                </a:lnTo>
                <a:lnTo>
                  <a:pt x="72" y="8172"/>
                </a:lnTo>
                <a:lnTo>
                  <a:pt x="74" y="8172"/>
                </a:lnTo>
              </a:path>
            </a:pathLst>
          </a:custGeom>
          <a:solidFill>
            <a:srgbClr val="CCFFFF"/>
          </a:solidFill>
          <a:ln w="28575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64" name="Freeform 264"/>
          <p:cNvSpPr>
            <a:spLocks/>
          </p:cNvSpPr>
          <p:nvPr/>
        </p:nvSpPr>
        <p:spPr bwMode="auto">
          <a:xfrm>
            <a:off x="8105775" y="3587750"/>
            <a:ext cx="261938" cy="438150"/>
          </a:xfrm>
          <a:custGeom>
            <a:avLst/>
            <a:gdLst>
              <a:gd name="T0" fmla="*/ 1326 w 1326"/>
              <a:gd name="T1" fmla="*/ 0 h 2351"/>
              <a:gd name="T2" fmla="*/ 0 w 1326"/>
              <a:gd name="T3" fmla="*/ 2351 h 2351"/>
              <a:gd name="T4" fmla="*/ 1 w 1326"/>
              <a:gd name="T5" fmla="*/ 2351 h 2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26" h="2351">
                <a:moveTo>
                  <a:pt x="1326" y="0"/>
                </a:moveTo>
                <a:lnTo>
                  <a:pt x="0" y="2351"/>
                </a:lnTo>
                <a:lnTo>
                  <a:pt x="1" y="2351"/>
                </a:lnTo>
              </a:path>
            </a:pathLst>
          </a:custGeom>
          <a:noFill/>
          <a:ln w="1905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65" name="Freeform 265"/>
          <p:cNvSpPr>
            <a:spLocks/>
          </p:cNvSpPr>
          <p:nvPr/>
        </p:nvSpPr>
        <p:spPr bwMode="auto">
          <a:xfrm>
            <a:off x="8374063" y="3587750"/>
            <a:ext cx="190500" cy="322263"/>
          </a:xfrm>
          <a:custGeom>
            <a:avLst/>
            <a:gdLst>
              <a:gd name="T0" fmla="*/ 0 w 963"/>
              <a:gd name="T1" fmla="*/ 0 h 1729"/>
              <a:gd name="T2" fmla="*/ 962 w 963"/>
              <a:gd name="T3" fmla="*/ 1729 h 1729"/>
              <a:gd name="T4" fmla="*/ 963 w 963"/>
              <a:gd name="T5" fmla="*/ 1729 h 17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63" h="1729">
                <a:moveTo>
                  <a:pt x="0" y="0"/>
                </a:moveTo>
                <a:lnTo>
                  <a:pt x="962" y="1729"/>
                </a:lnTo>
                <a:lnTo>
                  <a:pt x="963" y="1729"/>
                </a:lnTo>
              </a:path>
            </a:pathLst>
          </a:custGeom>
          <a:noFill/>
          <a:ln w="1905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66" name="Freeform 266"/>
          <p:cNvSpPr>
            <a:spLocks/>
          </p:cNvSpPr>
          <p:nvPr/>
        </p:nvSpPr>
        <p:spPr bwMode="auto">
          <a:xfrm>
            <a:off x="8366125" y="3549650"/>
            <a:ext cx="1588" cy="163513"/>
          </a:xfrm>
          <a:custGeom>
            <a:avLst/>
            <a:gdLst>
              <a:gd name="T0" fmla="*/ 0 w 1"/>
              <a:gd name="T1" fmla="*/ 0 h 864"/>
              <a:gd name="T2" fmla="*/ 0 w 1"/>
              <a:gd name="T3" fmla="*/ 864 h 864"/>
              <a:gd name="T4" fmla="*/ 1 w 1"/>
              <a:gd name="T5" fmla="*/ 864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864">
                <a:moveTo>
                  <a:pt x="0" y="0"/>
                </a:moveTo>
                <a:lnTo>
                  <a:pt x="0" y="864"/>
                </a:lnTo>
                <a:lnTo>
                  <a:pt x="1" y="864"/>
                </a:lnTo>
              </a:path>
            </a:pathLst>
          </a:custGeom>
          <a:noFill/>
          <a:ln w="2857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67" name="Freeform 267"/>
          <p:cNvSpPr>
            <a:spLocks/>
          </p:cNvSpPr>
          <p:nvPr/>
        </p:nvSpPr>
        <p:spPr bwMode="auto">
          <a:xfrm>
            <a:off x="8366125" y="3738563"/>
            <a:ext cx="1588" cy="28575"/>
          </a:xfrm>
          <a:custGeom>
            <a:avLst/>
            <a:gdLst>
              <a:gd name="T0" fmla="*/ 0 w 1"/>
              <a:gd name="T1" fmla="*/ 0 h 143"/>
              <a:gd name="T2" fmla="*/ 0 w 1"/>
              <a:gd name="T3" fmla="*/ 143 h 143"/>
              <a:gd name="T4" fmla="*/ 1 w 1"/>
              <a:gd name="T5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43">
                <a:moveTo>
                  <a:pt x="0" y="0"/>
                </a:moveTo>
                <a:lnTo>
                  <a:pt x="0" y="143"/>
                </a:lnTo>
                <a:lnTo>
                  <a:pt x="1" y="143"/>
                </a:lnTo>
              </a:path>
            </a:pathLst>
          </a:custGeom>
          <a:noFill/>
          <a:ln w="2857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68" name="Freeform 268"/>
          <p:cNvSpPr>
            <a:spLocks/>
          </p:cNvSpPr>
          <p:nvPr/>
        </p:nvSpPr>
        <p:spPr bwMode="auto">
          <a:xfrm>
            <a:off x="8366125" y="3792538"/>
            <a:ext cx="1588" cy="161925"/>
          </a:xfrm>
          <a:custGeom>
            <a:avLst/>
            <a:gdLst>
              <a:gd name="T0" fmla="*/ 0 w 1"/>
              <a:gd name="T1" fmla="*/ 0 h 864"/>
              <a:gd name="T2" fmla="*/ 0 w 1"/>
              <a:gd name="T3" fmla="*/ 864 h 864"/>
              <a:gd name="T4" fmla="*/ 1 w 1"/>
              <a:gd name="T5" fmla="*/ 864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864">
                <a:moveTo>
                  <a:pt x="0" y="0"/>
                </a:moveTo>
                <a:lnTo>
                  <a:pt x="0" y="864"/>
                </a:lnTo>
                <a:lnTo>
                  <a:pt x="1" y="864"/>
                </a:lnTo>
              </a:path>
            </a:pathLst>
          </a:custGeom>
          <a:noFill/>
          <a:ln w="28575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69" name="Freeform 269"/>
          <p:cNvSpPr>
            <a:spLocks/>
          </p:cNvSpPr>
          <p:nvPr/>
        </p:nvSpPr>
        <p:spPr bwMode="auto">
          <a:xfrm>
            <a:off x="8523288" y="5108575"/>
            <a:ext cx="1587" cy="26988"/>
          </a:xfrm>
          <a:custGeom>
            <a:avLst/>
            <a:gdLst>
              <a:gd name="T0" fmla="*/ 0 w 2"/>
              <a:gd name="T1" fmla="*/ 143 h 143"/>
              <a:gd name="T2" fmla="*/ 0 w 2"/>
              <a:gd name="T3" fmla="*/ 0 h 143"/>
              <a:gd name="T4" fmla="*/ 2 w 2"/>
              <a:gd name="T5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143">
                <a:moveTo>
                  <a:pt x="0" y="143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 w="28575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70" name="Freeform 270"/>
          <p:cNvSpPr>
            <a:spLocks/>
          </p:cNvSpPr>
          <p:nvPr/>
        </p:nvSpPr>
        <p:spPr bwMode="auto">
          <a:xfrm>
            <a:off x="8524875" y="4919663"/>
            <a:ext cx="1588" cy="161925"/>
          </a:xfrm>
          <a:custGeom>
            <a:avLst/>
            <a:gdLst>
              <a:gd name="T0" fmla="*/ 0 w 2"/>
              <a:gd name="T1" fmla="*/ 864 h 864"/>
              <a:gd name="T2" fmla="*/ 1 w 2"/>
              <a:gd name="T3" fmla="*/ 0 h 864"/>
              <a:gd name="T4" fmla="*/ 2 w 2"/>
              <a:gd name="T5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864">
                <a:moveTo>
                  <a:pt x="0" y="864"/>
                </a:moveTo>
                <a:lnTo>
                  <a:pt x="1" y="0"/>
                </a:lnTo>
                <a:lnTo>
                  <a:pt x="2" y="0"/>
                </a:lnTo>
              </a:path>
            </a:pathLst>
          </a:custGeom>
          <a:noFill/>
          <a:ln w="28575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71" name="Freeform 271"/>
          <p:cNvSpPr>
            <a:spLocks/>
          </p:cNvSpPr>
          <p:nvPr/>
        </p:nvSpPr>
        <p:spPr bwMode="auto">
          <a:xfrm>
            <a:off x="8526463" y="3708400"/>
            <a:ext cx="1587" cy="163513"/>
          </a:xfrm>
          <a:custGeom>
            <a:avLst/>
            <a:gdLst>
              <a:gd name="T0" fmla="*/ 0 w 3"/>
              <a:gd name="T1" fmla="*/ 864 h 864"/>
              <a:gd name="T2" fmla="*/ 2 w 3"/>
              <a:gd name="T3" fmla="*/ 0 h 864"/>
              <a:gd name="T4" fmla="*/ 3 w 3"/>
              <a:gd name="T5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864">
                <a:moveTo>
                  <a:pt x="0" y="864"/>
                </a:moveTo>
                <a:lnTo>
                  <a:pt x="2" y="0"/>
                </a:lnTo>
                <a:lnTo>
                  <a:pt x="3" y="0"/>
                </a:lnTo>
              </a:path>
            </a:pathLst>
          </a:custGeom>
          <a:noFill/>
          <a:ln w="2857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72" name="Freeform 272"/>
          <p:cNvSpPr>
            <a:spLocks/>
          </p:cNvSpPr>
          <p:nvPr/>
        </p:nvSpPr>
        <p:spPr bwMode="auto">
          <a:xfrm>
            <a:off x="8526463" y="3654425"/>
            <a:ext cx="1587" cy="26988"/>
          </a:xfrm>
          <a:custGeom>
            <a:avLst/>
            <a:gdLst>
              <a:gd name="T0" fmla="*/ 0 w 1"/>
              <a:gd name="T1" fmla="*/ 144 h 144"/>
              <a:gd name="T2" fmla="*/ 0 w 1"/>
              <a:gd name="T3" fmla="*/ 0 h 144"/>
              <a:gd name="T4" fmla="*/ 1 w 1"/>
              <a:gd name="T5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44">
                <a:moveTo>
                  <a:pt x="0" y="144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2857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73" name="Freeform 273"/>
          <p:cNvSpPr>
            <a:spLocks/>
          </p:cNvSpPr>
          <p:nvPr/>
        </p:nvSpPr>
        <p:spPr bwMode="auto">
          <a:xfrm>
            <a:off x="8528050" y="3429000"/>
            <a:ext cx="0" cy="198438"/>
          </a:xfrm>
          <a:custGeom>
            <a:avLst/>
            <a:gdLst>
              <a:gd name="T0" fmla="*/ 0 w 3"/>
              <a:gd name="T1" fmla="*/ 1065 h 1065"/>
              <a:gd name="T2" fmla="*/ 2 w 3"/>
              <a:gd name="T3" fmla="*/ 0 h 1065"/>
              <a:gd name="T4" fmla="*/ 3 w 3"/>
              <a:gd name="T5" fmla="*/ 0 h 1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1065">
                <a:moveTo>
                  <a:pt x="0" y="1065"/>
                </a:moveTo>
                <a:lnTo>
                  <a:pt x="2" y="0"/>
                </a:lnTo>
                <a:lnTo>
                  <a:pt x="3" y="0"/>
                </a:lnTo>
              </a:path>
            </a:pathLst>
          </a:custGeom>
          <a:noFill/>
          <a:ln w="2857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74" name="Freeform 274"/>
          <p:cNvSpPr>
            <a:spLocks/>
          </p:cNvSpPr>
          <p:nvPr/>
        </p:nvSpPr>
        <p:spPr bwMode="auto">
          <a:xfrm>
            <a:off x="5351463" y="4732338"/>
            <a:ext cx="3173412" cy="1139825"/>
          </a:xfrm>
          <a:custGeom>
            <a:avLst/>
            <a:gdLst>
              <a:gd name="T0" fmla="*/ 16140 w 16140"/>
              <a:gd name="T1" fmla="*/ 0 h 6085"/>
              <a:gd name="T2" fmla="*/ 0 w 16140"/>
              <a:gd name="T3" fmla="*/ 6085 h 6085"/>
              <a:gd name="T4" fmla="*/ 1 w 16140"/>
              <a:gd name="T5" fmla="*/ 6085 h 60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140" h="6085">
                <a:moveTo>
                  <a:pt x="16140" y="0"/>
                </a:moveTo>
                <a:lnTo>
                  <a:pt x="0" y="6085"/>
                </a:lnTo>
                <a:lnTo>
                  <a:pt x="1" y="6085"/>
                </a:lnTo>
              </a:path>
            </a:pathLst>
          </a:custGeom>
          <a:noFill/>
          <a:ln w="1905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75" name="Freeform 275"/>
          <p:cNvSpPr>
            <a:spLocks/>
          </p:cNvSpPr>
          <p:nvPr/>
        </p:nvSpPr>
        <p:spPr bwMode="auto">
          <a:xfrm>
            <a:off x="5624513" y="3883025"/>
            <a:ext cx="2913062" cy="1055688"/>
          </a:xfrm>
          <a:custGeom>
            <a:avLst/>
            <a:gdLst>
              <a:gd name="T0" fmla="*/ 14811 w 14811"/>
              <a:gd name="T1" fmla="*/ 0 h 5635"/>
              <a:gd name="T2" fmla="*/ 0 w 14811"/>
              <a:gd name="T3" fmla="*/ 5635 h 5635"/>
              <a:gd name="T4" fmla="*/ 1 w 14811"/>
              <a:gd name="T5" fmla="*/ 5635 h 56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11" h="5635">
                <a:moveTo>
                  <a:pt x="14811" y="0"/>
                </a:moveTo>
                <a:lnTo>
                  <a:pt x="0" y="5635"/>
                </a:lnTo>
                <a:lnTo>
                  <a:pt x="1" y="5635"/>
                </a:lnTo>
              </a:path>
            </a:pathLst>
          </a:custGeom>
          <a:noFill/>
          <a:ln w="1905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76" name="Arc 276"/>
          <p:cNvSpPr>
            <a:spLocks/>
          </p:cNvSpPr>
          <p:nvPr/>
        </p:nvSpPr>
        <p:spPr bwMode="auto">
          <a:xfrm rot="-11324769">
            <a:off x="8267700" y="3759200"/>
            <a:ext cx="95250" cy="9048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77" name="Freeform 277"/>
          <p:cNvSpPr>
            <a:spLocks/>
          </p:cNvSpPr>
          <p:nvPr/>
        </p:nvSpPr>
        <p:spPr bwMode="auto">
          <a:xfrm>
            <a:off x="8105775" y="3587750"/>
            <a:ext cx="261938" cy="438150"/>
          </a:xfrm>
          <a:custGeom>
            <a:avLst/>
            <a:gdLst>
              <a:gd name="T0" fmla="*/ 1326 w 1326"/>
              <a:gd name="T1" fmla="*/ 0 h 2351"/>
              <a:gd name="T2" fmla="*/ 0 w 1326"/>
              <a:gd name="T3" fmla="*/ 2351 h 2351"/>
              <a:gd name="T4" fmla="*/ 1 w 1326"/>
              <a:gd name="T5" fmla="*/ 2351 h 2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26" h="2351">
                <a:moveTo>
                  <a:pt x="1326" y="0"/>
                </a:moveTo>
                <a:lnTo>
                  <a:pt x="0" y="2351"/>
                </a:lnTo>
                <a:lnTo>
                  <a:pt x="1" y="2351"/>
                </a:lnTo>
              </a:path>
            </a:pathLst>
          </a:custGeom>
          <a:noFill/>
          <a:ln w="2857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78" name="Freeform 278"/>
          <p:cNvSpPr>
            <a:spLocks/>
          </p:cNvSpPr>
          <p:nvPr/>
        </p:nvSpPr>
        <p:spPr bwMode="auto">
          <a:xfrm>
            <a:off x="8374063" y="3587750"/>
            <a:ext cx="190500" cy="322263"/>
          </a:xfrm>
          <a:custGeom>
            <a:avLst/>
            <a:gdLst>
              <a:gd name="T0" fmla="*/ 0 w 963"/>
              <a:gd name="T1" fmla="*/ 0 h 1729"/>
              <a:gd name="T2" fmla="*/ 962 w 963"/>
              <a:gd name="T3" fmla="*/ 1729 h 1729"/>
              <a:gd name="T4" fmla="*/ 963 w 963"/>
              <a:gd name="T5" fmla="*/ 1729 h 17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63" h="1729">
                <a:moveTo>
                  <a:pt x="0" y="0"/>
                </a:moveTo>
                <a:lnTo>
                  <a:pt x="962" y="1729"/>
                </a:lnTo>
                <a:lnTo>
                  <a:pt x="963" y="1729"/>
                </a:lnTo>
              </a:path>
            </a:pathLst>
          </a:custGeom>
          <a:noFill/>
          <a:ln w="2857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79" name="Freeform 279"/>
          <p:cNvSpPr>
            <a:spLocks/>
          </p:cNvSpPr>
          <p:nvPr/>
        </p:nvSpPr>
        <p:spPr bwMode="auto">
          <a:xfrm>
            <a:off x="8366125" y="3549650"/>
            <a:ext cx="1588" cy="163513"/>
          </a:xfrm>
          <a:custGeom>
            <a:avLst/>
            <a:gdLst>
              <a:gd name="T0" fmla="*/ 0 w 1"/>
              <a:gd name="T1" fmla="*/ 0 h 864"/>
              <a:gd name="T2" fmla="*/ 0 w 1"/>
              <a:gd name="T3" fmla="*/ 864 h 864"/>
              <a:gd name="T4" fmla="*/ 1 w 1"/>
              <a:gd name="T5" fmla="*/ 864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864">
                <a:moveTo>
                  <a:pt x="0" y="0"/>
                </a:moveTo>
                <a:lnTo>
                  <a:pt x="0" y="864"/>
                </a:lnTo>
                <a:lnTo>
                  <a:pt x="1" y="864"/>
                </a:lnTo>
              </a:path>
            </a:pathLst>
          </a:custGeom>
          <a:noFill/>
          <a:ln w="2857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80" name="Freeform 280"/>
          <p:cNvSpPr>
            <a:spLocks/>
          </p:cNvSpPr>
          <p:nvPr/>
        </p:nvSpPr>
        <p:spPr bwMode="auto">
          <a:xfrm>
            <a:off x="8366125" y="3738563"/>
            <a:ext cx="1588" cy="28575"/>
          </a:xfrm>
          <a:custGeom>
            <a:avLst/>
            <a:gdLst>
              <a:gd name="T0" fmla="*/ 0 w 1"/>
              <a:gd name="T1" fmla="*/ 0 h 143"/>
              <a:gd name="T2" fmla="*/ 0 w 1"/>
              <a:gd name="T3" fmla="*/ 143 h 143"/>
              <a:gd name="T4" fmla="*/ 1 w 1"/>
              <a:gd name="T5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43">
                <a:moveTo>
                  <a:pt x="0" y="0"/>
                </a:moveTo>
                <a:lnTo>
                  <a:pt x="0" y="143"/>
                </a:lnTo>
                <a:lnTo>
                  <a:pt x="1" y="143"/>
                </a:lnTo>
              </a:path>
            </a:pathLst>
          </a:custGeom>
          <a:noFill/>
          <a:ln w="2857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81" name="Freeform 281"/>
          <p:cNvSpPr>
            <a:spLocks/>
          </p:cNvSpPr>
          <p:nvPr/>
        </p:nvSpPr>
        <p:spPr bwMode="auto">
          <a:xfrm>
            <a:off x="8366125" y="3792538"/>
            <a:ext cx="1588" cy="161925"/>
          </a:xfrm>
          <a:custGeom>
            <a:avLst/>
            <a:gdLst>
              <a:gd name="T0" fmla="*/ 0 w 1"/>
              <a:gd name="T1" fmla="*/ 0 h 864"/>
              <a:gd name="T2" fmla="*/ 0 w 1"/>
              <a:gd name="T3" fmla="*/ 864 h 864"/>
              <a:gd name="T4" fmla="*/ 1 w 1"/>
              <a:gd name="T5" fmla="*/ 864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864">
                <a:moveTo>
                  <a:pt x="0" y="0"/>
                </a:moveTo>
                <a:lnTo>
                  <a:pt x="0" y="864"/>
                </a:lnTo>
                <a:lnTo>
                  <a:pt x="1" y="864"/>
                </a:lnTo>
              </a:path>
            </a:pathLst>
          </a:custGeom>
          <a:noFill/>
          <a:ln w="28575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82" name="Freeform 282"/>
          <p:cNvSpPr>
            <a:spLocks/>
          </p:cNvSpPr>
          <p:nvPr/>
        </p:nvSpPr>
        <p:spPr bwMode="auto">
          <a:xfrm>
            <a:off x="8523288" y="5108575"/>
            <a:ext cx="1587" cy="26988"/>
          </a:xfrm>
          <a:custGeom>
            <a:avLst/>
            <a:gdLst>
              <a:gd name="T0" fmla="*/ 0 w 2"/>
              <a:gd name="T1" fmla="*/ 143 h 143"/>
              <a:gd name="T2" fmla="*/ 0 w 2"/>
              <a:gd name="T3" fmla="*/ 0 h 143"/>
              <a:gd name="T4" fmla="*/ 2 w 2"/>
              <a:gd name="T5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143">
                <a:moveTo>
                  <a:pt x="0" y="143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 w="28575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83" name="Freeform 283"/>
          <p:cNvSpPr>
            <a:spLocks/>
          </p:cNvSpPr>
          <p:nvPr/>
        </p:nvSpPr>
        <p:spPr bwMode="auto">
          <a:xfrm>
            <a:off x="8524875" y="4919663"/>
            <a:ext cx="1588" cy="161925"/>
          </a:xfrm>
          <a:custGeom>
            <a:avLst/>
            <a:gdLst>
              <a:gd name="T0" fmla="*/ 0 w 2"/>
              <a:gd name="T1" fmla="*/ 864 h 864"/>
              <a:gd name="T2" fmla="*/ 1 w 2"/>
              <a:gd name="T3" fmla="*/ 0 h 864"/>
              <a:gd name="T4" fmla="*/ 2 w 2"/>
              <a:gd name="T5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864">
                <a:moveTo>
                  <a:pt x="0" y="864"/>
                </a:moveTo>
                <a:lnTo>
                  <a:pt x="1" y="0"/>
                </a:lnTo>
                <a:lnTo>
                  <a:pt x="2" y="0"/>
                </a:lnTo>
              </a:path>
            </a:pathLst>
          </a:custGeom>
          <a:noFill/>
          <a:ln w="28575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84" name="Freeform 284"/>
          <p:cNvSpPr>
            <a:spLocks/>
          </p:cNvSpPr>
          <p:nvPr/>
        </p:nvSpPr>
        <p:spPr bwMode="auto">
          <a:xfrm>
            <a:off x="8526463" y="3708400"/>
            <a:ext cx="1587" cy="163513"/>
          </a:xfrm>
          <a:custGeom>
            <a:avLst/>
            <a:gdLst>
              <a:gd name="T0" fmla="*/ 0 w 3"/>
              <a:gd name="T1" fmla="*/ 864 h 864"/>
              <a:gd name="T2" fmla="*/ 2 w 3"/>
              <a:gd name="T3" fmla="*/ 0 h 864"/>
              <a:gd name="T4" fmla="*/ 3 w 3"/>
              <a:gd name="T5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864">
                <a:moveTo>
                  <a:pt x="0" y="864"/>
                </a:moveTo>
                <a:lnTo>
                  <a:pt x="2" y="0"/>
                </a:lnTo>
                <a:lnTo>
                  <a:pt x="3" y="0"/>
                </a:lnTo>
              </a:path>
            </a:pathLst>
          </a:custGeom>
          <a:noFill/>
          <a:ln w="2857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85" name="Freeform 285"/>
          <p:cNvSpPr>
            <a:spLocks/>
          </p:cNvSpPr>
          <p:nvPr/>
        </p:nvSpPr>
        <p:spPr bwMode="auto">
          <a:xfrm>
            <a:off x="8526463" y="3654425"/>
            <a:ext cx="1587" cy="26988"/>
          </a:xfrm>
          <a:custGeom>
            <a:avLst/>
            <a:gdLst>
              <a:gd name="T0" fmla="*/ 0 w 1"/>
              <a:gd name="T1" fmla="*/ 144 h 144"/>
              <a:gd name="T2" fmla="*/ 0 w 1"/>
              <a:gd name="T3" fmla="*/ 0 h 144"/>
              <a:gd name="T4" fmla="*/ 1 w 1"/>
              <a:gd name="T5" fmla="*/ 0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44">
                <a:moveTo>
                  <a:pt x="0" y="144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2857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86" name="Freeform 286"/>
          <p:cNvSpPr>
            <a:spLocks/>
          </p:cNvSpPr>
          <p:nvPr/>
        </p:nvSpPr>
        <p:spPr bwMode="auto">
          <a:xfrm>
            <a:off x="8528050" y="3429000"/>
            <a:ext cx="0" cy="198438"/>
          </a:xfrm>
          <a:custGeom>
            <a:avLst/>
            <a:gdLst>
              <a:gd name="T0" fmla="*/ 0 w 3"/>
              <a:gd name="T1" fmla="*/ 1065 h 1065"/>
              <a:gd name="T2" fmla="*/ 2 w 3"/>
              <a:gd name="T3" fmla="*/ 0 h 1065"/>
              <a:gd name="T4" fmla="*/ 3 w 3"/>
              <a:gd name="T5" fmla="*/ 0 h 1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1065">
                <a:moveTo>
                  <a:pt x="0" y="1065"/>
                </a:moveTo>
                <a:lnTo>
                  <a:pt x="2" y="0"/>
                </a:lnTo>
                <a:lnTo>
                  <a:pt x="3" y="0"/>
                </a:lnTo>
              </a:path>
            </a:pathLst>
          </a:custGeom>
          <a:noFill/>
          <a:ln w="2857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87" name="Freeform 287"/>
          <p:cNvSpPr>
            <a:spLocks/>
          </p:cNvSpPr>
          <p:nvPr/>
        </p:nvSpPr>
        <p:spPr bwMode="auto">
          <a:xfrm>
            <a:off x="5351463" y="4732338"/>
            <a:ext cx="3173412" cy="1139825"/>
          </a:xfrm>
          <a:custGeom>
            <a:avLst/>
            <a:gdLst>
              <a:gd name="T0" fmla="*/ 16140 w 16140"/>
              <a:gd name="T1" fmla="*/ 0 h 6085"/>
              <a:gd name="T2" fmla="*/ 0 w 16140"/>
              <a:gd name="T3" fmla="*/ 6085 h 6085"/>
              <a:gd name="T4" fmla="*/ 1 w 16140"/>
              <a:gd name="T5" fmla="*/ 6085 h 60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140" h="6085">
                <a:moveTo>
                  <a:pt x="16140" y="0"/>
                </a:moveTo>
                <a:lnTo>
                  <a:pt x="0" y="6085"/>
                </a:lnTo>
                <a:lnTo>
                  <a:pt x="1" y="6085"/>
                </a:lnTo>
              </a:path>
            </a:pathLst>
          </a:custGeom>
          <a:noFill/>
          <a:ln w="2857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488" name="Freeform 288"/>
          <p:cNvSpPr>
            <a:spLocks/>
          </p:cNvSpPr>
          <p:nvPr/>
        </p:nvSpPr>
        <p:spPr bwMode="auto">
          <a:xfrm>
            <a:off x="5624513" y="3883025"/>
            <a:ext cx="2913062" cy="1055688"/>
          </a:xfrm>
          <a:custGeom>
            <a:avLst/>
            <a:gdLst>
              <a:gd name="T0" fmla="*/ 14811 w 14811"/>
              <a:gd name="T1" fmla="*/ 0 h 5635"/>
              <a:gd name="T2" fmla="*/ 0 w 14811"/>
              <a:gd name="T3" fmla="*/ 5635 h 5635"/>
              <a:gd name="T4" fmla="*/ 1 w 14811"/>
              <a:gd name="T5" fmla="*/ 5635 h 56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11" h="5635">
                <a:moveTo>
                  <a:pt x="14811" y="0"/>
                </a:moveTo>
                <a:lnTo>
                  <a:pt x="0" y="5635"/>
                </a:lnTo>
                <a:lnTo>
                  <a:pt x="1" y="5635"/>
                </a:lnTo>
              </a:path>
            </a:pathLst>
          </a:custGeom>
          <a:noFill/>
          <a:ln w="2857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0282" name="Group 289"/>
          <p:cNvGrpSpPr>
            <a:grpSpLocks/>
          </p:cNvGrpSpPr>
          <p:nvPr/>
        </p:nvGrpSpPr>
        <p:grpSpPr bwMode="auto">
          <a:xfrm>
            <a:off x="5281613" y="4876800"/>
            <a:ext cx="1176337" cy="1012825"/>
            <a:chOff x="3585" y="3285"/>
            <a:chExt cx="642" cy="581"/>
          </a:xfrm>
        </p:grpSpPr>
        <p:sp>
          <p:nvSpPr>
            <p:cNvPr id="51490" name="Freeform 290"/>
            <p:cNvSpPr>
              <a:spLocks/>
            </p:cNvSpPr>
            <p:nvPr/>
          </p:nvSpPr>
          <p:spPr bwMode="auto">
            <a:xfrm>
              <a:off x="3760" y="3285"/>
              <a:ext cx="47" cy="131"/>
            </a:xfrm>
            <a:custGeom>
              <a:avLst/>
              <a:gdLst>
                <a:gd name="T0" fmla="*/ 0 w 435"/>
                <a:gd name="T1" fmla="*/ 0 h 1218"/>
                <a:gd name="T2" fmla="*/ 434 w 435"/>
                <a:gd name="T3" fmla="*/ 1218 h 1218"/>
                <a:gd name="T4" fmla="*/ 435 w 435"/>
                <a:gd name="T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5" h="1218">
                  <a:moveTo>
                    <a:pt x="0" y="0"/>
                  </a:moveTo>
                  <a:lnTo>
                    <a:pt x="434" y="1218"/>
                  </a:lnTo>
                  <a:lnTo>
                    <a:pt x="435" y="1218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91" name="Freeform 291"/>
            <p:cNvSpPr>
              <a:spLocks/>
            </p:cNvSpPr>
            <p:nvPr/>
          </p:nvSpPr>
          <p:spPr bwMode="auto">
            <a:xfrm>
              <a:off x="3817" y="3445"/>
              <a:ext cx="10" cy="29"/>
            </a:xfrm>
            <a:custGeom>
              <a:avLst/>
              <a:gdLst>
                <a:gd name="T0" fmla="*/ 0 w 96"/>
                <a:gd name="T1" fmla="*/ 0 h 271"/>
                <a:gd name="T2" fmla="*/ 95 w 96"/>
                <a:gd name="T3" fmla="*/ 271 h 271"/>
                <a:gd name="T4" fmla="*/ 96 w 96"/>
                <a:gd name="T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271">
                  <a:moveTo>
                    <a:pt x="0" y="0"/>
                  </a:moveTo>
                  <a:lnTo>
                    <a:pt x="95" y="271"/>
                  </a:lnTo>
                  <a:lnTo>
                    <a:pt x="96" y="271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92" name="Freeform 292"/>
            <p:cNvSpPr>
              <a:spLocks/>
            </p:cNvSpPr>
            <p:nvPr/>
          </p:nvSpPr>
          <p:spPr bwMode="auto">
            <a:xfrm>
              <a:off x="3838" y="3503"/>
              <a:ext cx="51" cy="147"/>
            </a:xfrm>
            <a:custGeom>
              <a:avLst/>
              <a:gdLst>
                <a:gd name="T0" fmla="*/ 0 w 485"/>
                <a:gd name="T1" fmla="*/ 0 h 1354"/>
                <a:gd name="T2" fmla="*/ 484 w 485"/>
                <a:gd name="T3" fmla="*/ 1354 h 1354"/>
                <a:gd name="T4" fmla="*/ 485 w 485"/>
                <a:gd name="T5" fmla="*/ 1354 h 1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5" h="1354">
                  <a:moveTo>
                    <a:pt x="0" y="0"/>
                  </a:moveTo>
                  <a:lnTo>
                    <a:pt x="484" y="1354"/>
                  </a:lnTo>
                  <a:lnTo>
                    <a:pt x="485" y="1354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93" name="Freeform 293"/>
            <p:cNvSpPr>
              <a:spLocks/>
            </p:cNvSpPr>
            <p:nvPr/>
          </p:nvSpPr>
          <p:spPr bwMode="auto">
            <a:xfrm>
              <a:off x="3899" y="3677"/>
              <a:ext cx="11" cy="29"/>
            </a:xfrm>
            <a:custGeom>
              <a:avLst/>
              <a:gdLst>
                <a:gd name="T0" fmla="*/ 0 w 97"/>
                <a:gd name="T1" fmla="*/ 0 h 270"/>
                <a:gd name="T2" fmla="*/ 96 w 97"/>
                <a:gd name="T3" fmla="*/ 270 h 270"/>
                <a:gd name="T4" fmla="*/ 97 w 97"/>
                <a:gd name="T5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" h="270">
                  <a:moveTo>
                    <a:pt x="0" y="0"/>
                  </a:moveTo>
                  <a:lnTo>
                    <a:pt x="96" y="270"/>
                  </a:lnTo>
                  <a:lnTo>
                    <a:pt x="97" y="27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94" name="Freeform 294"/>
            <p:cNvSpPr>
              <a:spLocks/>
            </p:cNvSpPr>
            <p:nvPr/>
          </p:nvSpPr>
          <p:spPr bwMode="auto">
            <a:xfrm>
              <a:off x="3920" y="3736"/>
              <a:ext cx="47" cy="130"/>
            </a:xfrm>
            <a:custGeom>
              <a:avLst/>
              <a:gdLst>
                <a:gd name="T0" fmla="*/ 0 w 435"/>
                <a:gd name="T1" fmla="*/ 0 h 1217"/>
                <a:gd name="T2" fmla="*/ 434 w 435"/>
                <a:gd name="T3" fmla="*/ 1217 h 1217"/>
                <a:gd name="T4" fmla="*/ 435 w 435"/>
                <a:gd name="T5" fmla="*/ 1217 h 1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5" h="1217">
                  <a:moveTo>
                    <a:pt x="0" y="0"/>
                  </a:moveTo>
                  <a:lnTo>
                    <a:pt x="434" y="1217"/>
                  </a:lnTo>
                  <a:lnTo>
                    <a:pt x="435" y="1217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95" name="Freeform 295"/>
            <p:cNvSpPr>
              <a:spLocks/>
            </p:cNvSpPr>
            <p:nvPr/>
          </p:nvSpPr>
          <p:spPr bwMode="auto">
            <a:xfrm>
              <a:off x="3586" y="3321"/>
              <a:ext cx="186" cy="535"/>
            </a:xfrm>
            <a:custGeom>
              <a:avLst/>
              <a:gdLst>
                <a:gd name="T0" fmla="*/ 349 w 1742"/>
                <a:gd name="T1" fmla="*/ 4981 h 4981"/>
                <a:gd name="T2" fmla="*/ 115 w 1742"/>
                <a:gd name="T3" fmla="*/ 4326 h 4981"/>
                <a:gd name="T4" fmla="*/ 0 w 1742"/>
                <a:gd name="T5" fmla="*/ 3643 h 4981"/>
                <a:gd name="T6" fmla="*/ 23 w 1742"/>
                <a:gd name="T7" fmla="*/ 2945 h 4981"/>
                <a:gd name="T8" fmla="*/ 168 w 1742"/>
                <a:gd name="T9" fmla="*/ 2264 h 4981"/>
                <a:gd name="T10" fmla="*/ 456 w 1742"/>
                <a:gd name="T11" fmla="*/ 1633 h 4981"/>
                <a:gd name="T12" fmla="*/ 830 w 1742"/>
                <a:gd name="T13" fmla="*/ 1045 h 4981"/>
                <a:gd name="T14" fmla="*/ 1263 w 1742"/>
                <a:gd name="T15" fmla="*/ 503 h 4981"/>
                <a:gd name="T16" fmla="*/ 1741 w 1742"/>
                <a:gd name="T17" fmla="*/ 0 h 4981"/>
                <a:gd name="T18" fmla="*/ 1742 w 1742"/>
                <a:gd name="T19" fmla="*/ 0 h 49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42" h="4981">
                  <a:moveTo>
                    <a:pt x="349" y="4981"/>
                  </a:moveTo>
                  <a:lnTo>
                    <a:pt x="115" y="4326"/>
                  </a:lnTo>
                  <a:lnTo>
                    <a:pt x="0" y="3643"/>
                  </a:lnTo>
                  <a:lnTo>
                    <a:pt x="23" y="2945"/>
                  </a:lnTo>
                  <a:lnTo>
                    <a:pt x="168" y="2264"/>
                  </a:lnTo>
                  <a:lnTo>
                    <a:pt x="456" y="1633"/>
                  </a:lnTo>
                  <a:lnTo>
                    <a:pt x="830" y="1045"/>
                  </a:lnTo>
                  <a:lnTo>
                    <a:pt x="1263" y="503"/>
                  </a:lnTo>
                  <a:lnTo>
                    <a:pt x="1741" y="0"/>
                  </a:lnTo>
                  <a:lnTo>
                    <a:pt x="174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96" name="Freeform 296"/>
            <p:cNvSpPr>
              <a:spLocks/>
            </p:cNvSpPr>
            <p:nvPr/>
          </p:nvSpPr>
          <p:spPr bwMode="auto">
            <a:xfrm>
              <a:off x="3772" y="3321"/>
              <a:ext cx="455" cy="320"/>
            </a:xfrm>
            <a:custGeom>
              <a:avLst/>
              <a:gdLst>
                <a:gd name="T0" fmla="*/ 4229 w 4229"/>
                <a:gd name="T1" fmla="*/ 2973 h 2973"/>
                <a:gd name="T2" fmla="*/ 3995 w 4229"/>
                <a:gd name="T3" fmla="*/ 2318 h 2973"/>
                <a:gd name="T4" fmla="*/ 3653 w 4229"/>
                <a:gd name="T5" fmla="*/ 1717 h 2973"/>
                <a:gd name="T6" fmla="*/ 3192 w 4229"/>
                <a:gd name="T7" fmla="*/ 1190 h 2973"/>
                <a:gd name="T8" fmla="*/ 2651 w 4229"/>
                <a:gd name="T9" fmla="*/ 755 h 2973"/>
                <a:gd name="T10" fmla="*/ 2027 w 4229"/>
                <a:gd name="T11" fmla="*/ 449 h 2973"/>
                <a:gd name="T12" fmla="*/ 1367 w 4229"/>
                <a:gd name="T13" fmla="*/ 231 h 2973"/>
                <a:gd name="T14" fmla="*/ 689 w 4229"/>
                <a:gd name="T15" fmla="*/ 86 h 2973"/>
                <a:gd name="T16" fmla="*/ 0 w 4229"/>
                <a:gd name="T17" fmla="*/ 0 h 2973"/>
                <a:gd name="T18" fmla="*/ 1 w 4229"/>
                <a:gd name="T19" fmla="*/ 0 h 2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29" h="2973">
                  <a:moveTo>
                    <a:pt x="4229" y="2973"/>
                  </a:moveTo>
                  <a:lnTo>
                    <a:pt x="3995" y="2318"/>
                  </a:lnTo>
                  <a:lnTo>
                    <a:pt x="3653" y="1717"/>
                  </a:lnTo>
                  <a:lnTo>
                    <a:pt x="3192" y="1190"/>
                  </a:lnTo>
                  <a:lnTo>
                    <a:pt x="2651" y="755"/>
                  </a:lnTo>
                  <a:lnTo>
                    <a:pt x="2027" y="449"/>
                  </a:lnTo>
                  <a:lnTo>
                    <a:pt x="1367" y="231"/>
                  </a:lnTo>
                  <a:lnTo>
                    <a:pt x="689" y="86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97" name="Freeform 297"/>
            <p:cNvSpPr>
              <a:spLocks/>
            </p:cNvSpPr>
            <p:nvPr/>
          </p:nvSpPr>
          <p:spPr bwMode="auto">
            <a:xfrm>
              <a:off x="3623" y="3641"/>
              <a:ext cx="604" cy="215"/>
            </a:xfrm>
            <a:custGeom>
              <a:avLst/>
              <a:gdLst>
                <a:gd name="T0" fmla="*/ 5621 w 5621"/>
                <a:gd name="T1" fmla="*/ 0 h 2008"/>
                <a:gd name="T2" fmla="*/ 0 w 5621"/>
                <a:gd name="T3" fmla="*/ 2008 h 2008"/>
                <a:gd name="T4" fmla="*/ 1 w 5621"/>
                <a:gd name="T5" fmla="*/ 2008 h 2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21" h="2008">
                  <a:moveTo>
                    <a:pt x="5621" y="0"/>
                  </a:moveTo>
                  <a:lnTo>
                    <a:pt x="0" y="2008"/>
                  </a:lnTo>
                  <a:lnTo>
                    <a:pt x="1" y="2008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98" name="Freeform 298"/>
            <p:cNvSpPr>
              <a:spLocks/>
            </p:cNvSpPr>
            <p:nvPr/>
          </p:nvSpPr>
          <p:spPr bwMode="auto">
            <a:xfrm>
              <a:off x="3702" y="3322"/>
              <a:ext cx="76" cy="76"/>
            </a:xfrm>
            <a:custGeom>
              <a:avLst/>
              <a:gdLst>
                <a:gd name="T0" fmla="*/ 0 w 706"/>
                <a:gd name="T1" fmla="*/ 705 h 705"/>
                <a:gd name="T2" fmla="*/ 670 w 706"/>
                <a:gd name="T3" fmla="*/ 34 h 705"/>
                <a:gd name="T4" fmla="*/ 705 w 706"/>
                <a:gd name="T5" fmla="*/ 0 h 705"/>
                <a:gd name="T6" fmla="*/ 706 w 706"/>
                <a:gd name="T7" fmla="*/ 0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6" h="705">
                  <a:moveTo>
                    <a:pt x="0" y="705"/>
                  </a:moveTo>
                  <a:lnTo>
                    <a:pt x="670" y="34"/>
                  </a:lnTo>
                  <a:lnTo>
                    <a:pt x="705" y="0"/>
                  </a:lnTo>
                  <a:lnTo>
                    <a:pt x="70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499" name="Freeform 299"/>
            <p:cNvSpPr>
              <a:spLocks/>
            </p:cNvSpPr>
            <p:nvPr/>
          </p:nvSpPr>
          <p:spPr bwMode="auto">
            <a:xfrm>
              <a:off x="3649" y="3324"/>
              <a:ext cx="149" cy="148"/>
            </a:xfrm>
            <a:custGeom>
              <a:avLst/>
              <a:gdLst>
                <a:gd name="T0" fmla="*/ 0 w 1387"/>
                <a:gd name="T1" fmla="*/ 1387 h 1387"/>
                <a:gd name="T2" fmla="*/ 1222 w 1387"/>
                <a:gd name="T3" fmla="*/ 165 h 1387"/>
                <a:gd name="T4" fmla="*/ 1386 w 1387"/>
                <a:gd name="T5" fmla="*/ 0 h 1387"/>
                <a:gd name="T6" fmla="*/ 1387 w 1387"/>
                <a:gd name="T7" fmla="*/ 0 h 1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7" h="1387">
                  <a:moveTo>
                    <a:pt x="0" y="1387"/>
                  </a:moveTo>
                  <a:lnTo>
                    <a:pt x="1222" y="165"/>
                  </a:lnTo>
                  <a:lnTo>
                    <a:pt x="1386" y="0"/>
                  </a:lnTo>
                  <a:lnTo>
                    <a:pt x="138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00" name="Freeform 300"/>
            <p:cNvSpPr>
              <a:spLocks/>
            </p:cNvSpPr>
            <p:nvPr/>
          </p:nvSpPr>
          <p:spPr bwMode="auto">
            <a:xfrm>
              <a:off x="3621" y="3326"/>
              <a:ext cx="196" cy="197"/>
            </a:xfrm>
            <a:custGeom>
              <a:avLst/>
              <a:gdLst>
                <a:gd name="T0" fmla="*/ 0 w 1828"/>
                <a:gd name="T1" fmla="*/ 1828 h 1828"/>
                <a:gd name="T2" fmla="*/ 1535 w 1828"/>
                <a:gd name="T3" fmla="*/ 292 h 1828"/>
                <a:gd name="T4" fmla="*/ 1827 w 1828"/>
                <a:gd name="T5" fmla="*/ 0 h 1828"/>
                <a:gd name="T6" fmla="*/ 1828 w 1828"/>
                <a:gd name="T7" fmla="*/ 0 h 1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28" h="1828">
                  <a:moveTo>
                    <a:pt x="0" y="1828"/>
                  </a:moveTo>
                  <a:lnTo>
                    <a:pt x="1535" y="292"/>
                  </a:lnTo>
                  <a:lnTo>
                    <a:pt x="1827" y="0"/>
                  </a:lnTo>
                  <a:lnTo>
                    <a:pt x="182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01" name="Freeform 301"/>
            <p:cNvSpPr>
              <a:spLocks/>
            </p:cNvSpPr>
            <p:nvPr/>
          </p:nvSpPr>
          <p:spPr bwMode="auto">
            <a:xfrm>
              <a:off x="3605" y="3329"/>
              <a:ext cx="231" cy="231"/>
            </a:xfrm>
            <a:custGeom>
              <a:avLst/>
              <a:gdLst>
                <a:gd name="T0" fmla="*/ 0 w 2153"/>
                <a:gd name="T1" fmla="*/ 2154 h 2154"/>
                <a:gd name="T2" fmla="*/ 1734 w 2153"/>
                <a:gd name="T3" fmla="*/ 417 h 2154"/>
                <a:gd name="T4" fmla="*/ 2152 w 2153"/>
                <a:gd name="T5" fmla="*/ 0 h 2154"/>
                <a:gd name="T6" fmla="*/ 2153 w 2153"/>
                <a:gd name="T7" fmla="*/ 0 h 2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53" h="2154">
                  <a:moveTo>
                    <a:pt x="0" y="2154"/>
                  </a:moveTo>
                  <a:lnTo>
                    <a:pt x="1734" y="417"/>
                  </a:lnTo>
                  <a:lnTo>
                    <a:pt x="2152" y="0"/>
                  </a:lnTo>
                  <a:lnTo>
                    <a:pt x="215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02" name="Freeform 302"/>
            <p:cNvSpPr>
              <a:spLocks/>
            </p:cNvSpPr>
            <p:nvPr/>
          </p:nvSpPr>
          <p:spPr bwMode="auto">
            <a:xfrm>
              <a:off x="3596" y="3332"/>
              <a:ext cx="259" cy="259"/>
            </a:xfrm>
            <a:custGeom>
              <a:avLst/>
              <a:gdLst>
                <a:gd name="T0" fmla="*/ 0 w 2412"/>
                <a:gd name="T1" fmla="*/ 2413 h 2413"/>
                <a:gd name="T2" fmla="*/ 1871 w 2412"/>
                <a:gd name="T3" fmla="*/ 541 h 2413"/>
                <a:gd name="T4" fmla="*/ 2411 w 2412"/>
                <a:gd name="T5" fmla="*/ 0 h 2413"/>
                <a:gd name="T6" fmla="*/ 2412 w 2412"/>
                <a:gd name="T7" fmla="*/ 0 h 2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12" h="2413">
                  <a:moveTo>
                    <a:pt x="0" y="2413"/>
                  </a:moveTo>
                  <a:lnTo>
                    <a:pt x="1871" y="541"/>
                  </a:lnTo>
                  <a:lnTo>
                    <a:pt x="2411" y="0"/>
                  </a:lnTo>
                  <a:lnTo>
                    <a:pt x="241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03" name="Freeform 303"/>
            <p:cNvSpPr>
              <a:spLocks/>
            </p:cNvSpPr>
            <p:nvPr/>
          </p:nvSpPr>
          <p:spPr bwMode="auto">
            <a:xfrm>
              <a:off x="3591" y="3335"/>
              <a:ext cx="283" cy="283"/>
            </a:xfrm>
            <a:custGeom>
              <a:avLst/>
              <a:gdLst>
                <a:gd name="T0" fmla="*/ 0 w 2634"/>
                <a:gd name="T1" fmla="*/ 2636 h 2636"/>
                <a:gd name="T2" fmla="*/ 1975 w 2634"/>
                <a:gd name="T3" fmla="*/ 658 h 2636"/>
                <a:gd name="T4" fmla="*/ 2633 w 2634"/>
                <a:gd name="T5" fmla="*/ 0 h 2636"/>
                <a:gd name="T6" fmla="*/ 2634 w 2634"/>
                <a:gd name="T7" fmla="*/ 0 h 2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34" h="2636">
                  <a:moveTo>
                    <a:pt x="0" y="2636"/>
                  </a:moveTo>
                  <a:lnTo>
                    <a:pt x="1975" y="658"/>
                  </a:lnTo>
                  <a:lnTo>
                    <a:pt x="2633" y="0"/>
                  </a:lnTo>
                  <a:lnTo>
                    <a:pt x="263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04" name="Freeform 304"/>
            <p:cNvSpPr>
              <a:spLocks/>
            </p:cNvSpPr>
            <p:nvPr/>
          </p:nvSpPr>
          <p:spPr bwMode="auto">
            <a:xfrm>
              <a:off x="3588" y="3339"/>
              <a:ext cx="304" cy="304"/>
            </a:xfrm>
            <a:custGeom>
              <a:avLst/>
              <a:gdLst>
                <a:gd name="T0" fmla="*/ 0 w 2832"/>
                <a:gd name="T1" fmla="*/ 2833 h 2833"/>
                <a:gd name="T2" fmla="*/ 2060 w 2832"/>
                <a:gd name="T3" fmla="*/ 772 h 2833"/>
                <a:gd name="T4" fmla="*/ 2831 w 2832"/>
                <a:gd name="T5" fmla="*/ 0 h 2833"/>
                <a:gd name="T6" fmla="*/ 2832 w 2832"/>
                <a:gd name="T7" fmla="*/ 0 h 2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32" h="2833">
                  <a:moveTo>
                    <a:pt x="0" y="2833"/>
                  </a:moveTo>
                  <a:lnTo>
                    <a:pt x="2060" y="772"/>
                  </a:lnTo>
                  <a:lnTo>
                    <a:pt x="2831" y="0"/>
                  </a:lnTo>
                  <a:lnTo>
                    <a:pt x="283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05" name="Freeform 305"/>
            <p:cNvSpPr>
              <a:spLocks/>
            </p:cNvSpPr>
            <p:nvPr/>
          </p:nvSpPr>
          <p:spPr bwMode="auto">
            <a:xfrm>
              <a:off x="3586" y="3344"/>
              <a:ext cx="323" cy="321"/>
            </a:xfrm>
            <a:custGeom>
              <a:avLst/>
              <a:gdLst>
                <a:gd name="T0" fmla="*/ 0 w 3012"/>
                <a:gd name="T1" fmla="*/ 3015 h 3015"/>
                <a:gd name="T2" fmla="*/ 2130 w 3012"/>
                <a:gd name="T3" fmla="*/ 882 h 3015"/>
                <a:gd name="T4" fmla="*/ 3011 w 3012"/>
                <a:gd name="T5" fmla="*/ 0 h 3015"/>
                <a:gd name="T6" fmla="*/ 3012 w 3012"/>
                <a:gd name="T7" fmla="*/ 0 h 3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12" h="3015">
                  <a:moveTo>
                    <a:pt x="0" y="3015"/>
                  </a:moveTo>
                  <a:lnTo>
                    <a:pt x="2130" y="882"/>
                  </a:lnTo>
                  <a:lnTo>
                    <a:pt x="3011" y="0"/>
                  </a:lnTo>
                  <a:lnTo>
                    <a:pt x="301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06" name="Freeform 306"/>
            <p:cNvSpPr>
              <a:spLocks/>
            </p:cNvSpPr>
            <p:nvPr/>
          </p:nvSpPr>
          <p:spPr bwMode="auto">
            <a:xfrm>
              <a:off x="3585" y="3348"/>
              <a:ext cx="341" cy="342"/>
            </a:xfrm>
            <a:custGeom>
              <a:avLst/>
              <a:gdLst>
                <a:gd name="T0" fmla="*/ 0 w 3179"/>
                <a:gd name="T1" fmla="*/ 3180 h 3180"/>
                <a:gd name="T2" fmla="*/ 2189 w 3179"/>
                <a:gd name="T3" fmla="*/ 990 h 3180"/>
                <a:gd name="T4" fmla="*/ 3178 w 3179"/>
                <a:gd name="T5" fmla="*/ 0 h 3180"/>
                <a:gd name="T6" fmla="*/ 3179 w 3179"/>
                <a:gd name="T7" fmla="*/ 0 h 3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79" h="3180">
                  <a:moveTo>
                    <a:pt x="0" y="3180"/>
                  </a:moveTo>
                  <a:lnTo>
                    <a:pt x="2189" y="990"/>
                  </a:lnTo>
                  <a:lnTo>
                    <a:pt x="3178" y="0"/>
                  </a:lnTo>
                  <a:lnTo>
                    <a:pt x="317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07" name="Freeform 307"/>
            <p:cNvSpPr>
              <a:spLocks/>
            </p:cNvSpPr>
            <p:nvPr/>
          </p:nvSpPr>
          <p:spPr bwMode="auto">
            <a:xfrm>
              <a:off x="3586" y="3353"/>
              <a:ext cx="357" cy="358"/>
            </a:xfrm>
            <a:custGeom>
              <a:avLst/>
              <a:gdLst>
                <a:gd name="T0" fmla="*/ 0 w 3330"/>
                <a:gd name="T1" fmla="*/ 3332 h 3332"/>
                <a:gd name="T2" fmla="*/ 2237 w 3330"/>
                <a:gd name="T3" fmla="*/ 1092 h 3332"/>
                <a:gd name="T4" fmla="*/ 3329 w 3330"/>
                <a:gd name="T5" fmla="*/ 0 h 3332"/>
                <a:gd name="T6" fmla="*/ 3330 w 3330"/>
                <a:gd name="T7" fmla="*/ 0 h 3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30" h="3332">
                  <a:moveTo>
                    <a:pt x="0" y="3332"/>
                  </a:moveTo>
                  <a:lnTo>
                    <a:pt x="2237" y="1092"/>
                  </a:lnTo>
                  <a:lnTo>
                    <a:pt x="3329" y="0"/>
                  </a:lnTo>
                  <a:lnTo>
                    <a:pt x="333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08" name="Freeform 308"/>
            <p:cNvSpPr>
              <a:spLocks/>
            </p:cNvSpPr>
            <p:nvPr/>
          </p:nvSpPr>
          <p:spPr bwMode="auto">
            <a:xfrm>
              <a:off x="3587" y="3358"/>
              <a:ext cx="373" cy="373"/>
            </a:xfrm>
            <a:custGeom>
              <a:avLst/>
              <a:gdLst>
                <a:gd name="T0" fmla="*/ 0 w 3468"/>
                <a:gd name="T1" fmla="*/ 3470 h 3470"/>
                <a:gd name="T2" fmla="*/ 2275 w 3468"/>
                <a:gd name="T3" fmla="*/ 1192 h 3470"/>
                <a:gd name="T4" fmla="*/ 3466 w 3468"/>
                <a:gd name="T5" fmla="*/ 0 h 3470"/>
                <a:gd name="T6" fmla="*/ 3468 w 3468"/>
                <a:gd name="T7" fmla="*/ 0 h 3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68" h="3470">
                  <a:moveTo>
                    <a:pt x="0" y="3470"/>
                  </a:moveTo>
                  <a:lnTo>
                    <a:pt x="2275" y="1192"/>
                  </a:lnTo>
                  <a:lnTo>
                    <a:pt x="3466" y="0"/>
                  </a:lnTo>
                  <a:lnTo>
                    <a:pt x="346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09" name="Freeform 309"/>
            <p:cNvSpPr>
              <a:spLocks/>
            </p:cNvSpPr>
            <p:nvPr/>
          </p:nvSpPr>
          <p:spPr bwMode="auto">
            <a:xfrm>
              <a:off x="3590" y="3364"/>
              <a:ext cx="385" cy="386"/>
            </a:xfrm>
            <a:custGeom>
              <a:avLst/>
              <a:gdLst>
                <a:gd name="T0" fmla="*/ 0 w 3594"/>
                <a:gd name="T1" fmla="*/ 3597 h 3597"/>
                <a:gd name="T2" fmla="*/ 2305 w 3594"/>
                <a:gd name="T3" fmla="*/ 1290 h 3597"/>
                <a:gd name="T4" fmla="*/ 3593 w 3594"/>
                <a:gd name="T5" fmla="*/ 0 h 3597"/>
                <a:gd name="T6" fmla="*/ 3594 w 3594"/>
                <a:gd name="T7" fmla="*/ 0 h 3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4" h="3597">
                  <a:moveTo>
                    <a:pt x="0" y="3597"/>
                  </a:moveTo>
                  <a:lnTo>
                    <a:pt x="2305" y="1290"/>
                  </a:lnTo>
                  <a:lnTo>
                    <a:pt x="3593" y="0"/>
                  </a:lnTo>
                  <a:lnTo>
                    <a:pt x="359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10" name="Freeform 310"/>
            <p:cNvSpPr>
              <a:spLocks/>
            </p:cNvSpPr>
            <p:nvPr/>
          </p:nvSpPr>
          <p:spPr bwMode="auto">
            <a:xfrm>
              <a:off x="3593" y="3370"/>
              <a:ext cx="399" cy="399"/>
            </a:xfrm>
            <a:custGeom>
              <a:avLst/>
              <a:gdLst>
                <a:gd name="T0" fmla="*/ 0 w 3708"/>
                <a:gd name="T1" fmla="*/ 3711 h 3711"/>
                <a:gd name="T2" fmla="*/ 2325 w 3708"/>
                <a:gd name="T3" fmla="*/ 1384 h 3711"/>
                <a:gd name="T4" fmla="*/ 3707 w 3708"/>
                <a:gd name="T5" fmla="*/ 0 h 3711"/>
                <a:gd name="T6" fmla="*/ 3708 w 3708"/>
                <a:gd name="T7" fmla="*/ 0 h 3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08" h="3711">
                  <a:moveTo>
                    <a:pt x="0" y="3711"/>
                  </a:moveTo>
                  <a:lnTo>
                    <a:pt x="2325" y="1384"/>
                  </a:lnTo>
                  <a:lnTo>
                    <a:pt x="3707" y="0"/>
                  </a:lnTo>
                  <a:lnTo>
                    <a:pt x="370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11" name="Freeform 311"/>
            <p:cNvSpPr>
              <a:spLocks/>
            </p:cNvSpPr>
            <p:nvPr/>
          </p:nvSpPr>
          <p:spPr bwMode="auto">
            <a:xfrm>
              <a:off x="3598" y="3376"/>
              <a:ext cx="409" cy="409"/>
            </a:xfrm>
            <a:custGeom>
              <a:avLst/>
              <a:gdLst>
                <a:gd name="T0" fmla="*/ 0 w 3809"/>
                <a:gd name="T1" fmla="*/ 3812 h 3812"/>
                <a:gd name="T2" fmla="*/ 2335 w 3809"/>
                <a:gd name="T3" fmla="*/ 1475 h 3812"/>
                <a:gd name="T4" fmla="*/ 3808 w 3809"/>
                <a:gd name="T5" fmla="*/ 0 h 3812"/>
                <a:gd name="T6" fmla="*/ 3809 w 3809"/>
                <a:gd name="T7" fmla="*/ 0 h 3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09" h="3812">
                  <a:moveTo>
                    <a:pt x="0" y="3812"/>
                  </a:moveTo>
                  <a:lnTo>
                    <a:pt x="2335" y="1475"/>
                  </a:lnTo>
                  <a:lnTo>
                    <a:pt x="3808" y="0"/>
                  </a:lnTo>
                  <a:lnTo>
                    <a:pt x="380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12" name="Freeform 312"/>
            <p:cNvSpPr>
              <a:spLocks/>
            </p:cNvSpPr>
            <p:nvPr/>
          </p:nvSpPr>
          <p:spPr bwMode="auto">
            <a:xfrm>
              <a:off x="3603" y="3383"/>
              <a:ext cx="418" cy="419"/>
            </a:xfrm>
            <a:custGeom>
              <a:avLst/>
              <a:gdLst>
                <a:gd name="T0" fmla="*/ 0 w 3903"/>
                <a:gd name="T1" fmla="*/ 3904 h 3904"/>
                <a:gd name="T2" fmla="*/ 2341 w 3903"/>
                <a:gd name="T3" fmla="*/ 1562 h 3904"/>
                <a:gd name="T4" fmla="*/ 3902 w 3903"/>
                <a:gd name="T5" fmla="*/ 0 h 3904"/>
                <a:gd name="T6" fmla="*/ 3903 w 3903"/>
                <a:gd name="T7" fmla="*/ 0 h 3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03" h="3904">
                  <a:moveTo>
                    <a:pt x="0" y="3904"/>
                  </a:moveTo>
                  <a:lnTo>
                    <a:pt x="2341" y="1562"/>
                  </a:lnTo>
                  <a:lnTo>
                    <a:pt x="3902" y="0"/>
                  </a:lnTo>
                  <a:lnTo>
                    <a:pt x="390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13" name="Freeform 313"/>
            <p:cNvSpPr>
              <a:spLocks/>
            </p:cNvSpPr>
            <p:nvPr/>
          </p:nvSpPr>
          <p:spPr bwMode="auto">
            <a:xfrm>
              <a:off x="3609" y="3391"/>
              <a:ext cx="428" cy="427"/>
            </a:xfrm>
            <a:custGeom>
              <a:avLst/>
              <a:gdLst>
                <a:gd name="T0" fmla="*/ 0 w 3985"/>
                <a:gd name="T1" fmla="*/ 3988 h 3988"/>
                <a:gd name="T2" fmla="*/ 2341 w 3985"/>
                <a:gd name="T3" fmla="*/ 1644 h 3988"/>
                <a:gd name="T4" fmla="*/ 3984 w 3985"/>
                <a:gd name="T5" fmla="*/ 0 h 3988"/>
                <a:gd name="T6" fmla="*/ 3985 w 3985"/>
                <a:gd name="T7" fmla="*/ 0 h 39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85" h="3988">
                  <a:moveTo>
                    <a:pt x="0" y="3988"/>
                  </a:moveTo>
                  <a:lnTo>
                    <a:pt x="2341" y="1644"/>
                  </a:lnTo>
                  <a:lnTo>
                    <a:pt x="3984" y="0"/>
                  </a:lnTo>
                  <a:lnTo>
                    <a:pt x="398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14" name="Freeform 314"/>
            <p:cNvSpPr>
              <a:spLocks/>
            </p:cNvSpPr>
            <p:nvPr/>
          </p:nvSpPr>
          <p:spPr bwMode="auto">
            <a:xfrm>
              <a:off x="3615" y="3398"/>
              <a:ext cx="436" cy="436"/>
            </a:xfrm>
            <a:custGeom>
              <a:avLst/>
              <a:gdLst>
                <a:gd name="T0" fmla="*/ 0 w 4060"/>
                <a:gd name="T1" fmla="*/ 4062 h 4062"/>
                <a:gd name="T2" fmla="*/ 2340 w 4060"/>
                <a:gd name="T3" fmla="*/ 1720 h 4062"/>
                <a:gd name="T4" fmla="*/ 4059 w 4060"/>
                <a:gd name="T5" fmla="*/ 0 h 4062"/>
                <a:gd name="T6" fmla="*/ 4060 w 4060"/>
                <a:gd name="T7" fmla="*/ 0 h 4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60" h="4062">
                  <a:moveTo>
                    <a:pt x="0" y="4062"/>
                  </a:moveTo>
                  <a:lnTo>
                    <a:pt x="2340" y="1720"/>
                  </a:lnTo>
                  <a:lnTo>
                    <a:pt x="4059" y="0"/>
                  </a:lnTo>
                  <a:lnTo>
                    <a:pt x="406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15" name="Freeform 315"/>
            <p:cNvSpPr>
              <a:spLocks/>
            </p:cNvSpPr>
            <p:nvPr/>
          </p:nvSpPr>
          <p:spPr bwMode="auto">
            <a:xfrm>
              <a:off x="3621" y="3407"/>
              <a:ext cx="443" cy="443"/>
            </a:xfrm>
            <a:custGeom>
              <a:avLst/>
              <a:gdLst>
                <a:gd name="T0" fmla="*/ 0 w 4127"/>
                <a:gd name="T1" fmla="*/ 4129 h 4129"/>
                <a:gd name="T2" fmla="*/ 2337 w 4127"/>
                <a:gd name="T3" fmla="*/ 1791 h 4129"/>
                <a:gd name="T4" fmla="*/ 4126 w 4127"/>
                <a:gd name="T5" fmla="*/ 0 h 4129"/>
                <a:gd name="T6" fmla="*/ 4127 w 4127"/>
                <a:gd name="T7" fmla="*/ 0 h 4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27" h="4129">
                  <a:moveTo>
                    <a:pt x="0" y="4129"/>
                  </a:moveTo>
                  <a:lnTo>
                    <a:pt x="2337" y="1791"/>
                  </a:lnTo>
                  <a:lnTo>
                    <a:pt x="4126" y="0"/>
                  </a:lnTo>
                  <a:lnTo>
                    <a:pt x="412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16" name="Freeform 316"/>
            <p:cNvSpPr>
              <a:spLocks/>
            </p:cNvSpPr>
            <p:nvPr/>
          </p:nvSpPr>
          <p:spPr bwMode="auto">
            <a:xfrm>
              <a:off x="3645" y="3416"/>
              <a:ext cx="432" cy="432"/>
            </a:xfrm>
            <a:custGeom>
              <a:avLst/>
              <a:gdLst>
                <a:gd name="T0" fmla="*/ 0 w 4024"/>
                <a:gd name="T1" fmla="*/ 4025 h 4025"/>
                <a:gd name="T2" fmla="*/ 2168 w 4024"/>
                <a:gd name="T3" fmla="*/ 1856 h 4025"/>
                <a:gd name="T4" fmla="*/ 4023 w 4024"/>
                <a:gd name="T5" fmla="*/ 0 h 4025"/>
                <a:gd name="T6" fmla="*/ 4024 w 4024"/>
                <a:gd name="T7" fmla="*/ 0 h 4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24" h="4025">
                  <a:moveTo>
                    <a:pt x="0" y="4025"/>
                  </a:moveTo>
                  <a:lnTo>
                    <a:pt x="2168" y="1856"/>
                  </a:lnTo>
                  <a:lnTo>
                    <a:pt x="4023" y="0"/>
                  </a:lnTo>
                  <a:lnTo>
                    <a:pt x="402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17" name="Freeform 317"/>
            <p:cNvSpPr>
              <a:spLocks/>
            </p:cNvSpPr>
            <p:nvPr/>
          </p:nvSpPr>
          <p:spPr bwMode="auto">
            <a:xfrm>
              <a:off x="3680" y="3425"/>
              <a:ext cx="409" cy="410"/>
            </a:xfrm>
            <a:custGeom>
              <a:avLst/>
              <a:gdLst>
                <a:gd name="T0" fmla="*/ 0 w 3811"/>
                <a:gd name="T1" fmla="*/ 3814 h 3814"/>
                <a:gd name="T2" fmla="*/ 1894 w 3811"/>
                <a:gd name="T3" fmla="*/ 1917 h 3814"/>
                <a:gd name="T4" fmla="*/ 3810 w 3811"/>
                <a:gd name="T5" fmla="*/ 0 h 3814"/>
                <a:gd name="T6" fmla="*/ 3811 w 3811"/>
                <a:gd name="T7" fmla="*/ 0 h 3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11" h="3814">
                  <a:moveTo>
                    <a:pt x="0" y="3814"/>
                  </a:moveTo>
                  <a:lnTo>
                    <a:pt x="1894" y="1917"/>
                  </a:lnTo>
                  <a:lnTo>
                    <a:pt x="3810" y="0"/>
                  </a:lnTo>
                  <a:lnTo>
                    <a:pt x="381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18" name="Freeform 318"/>
            <p:cNvSpPr>
              <a:spLocks/>
            </p:cNvSpPr>
            <p:nvPr/>
          </p:nvSpPr>
          <p:spPr bwMode="auto">
            <a:xfrm>
              <a:off x="3714" y="3436"/>
              <a:ext cx="387" cy="386"/>
            </a:xfrm>
            <a:custGeom>
              <a:avLst/>
              <a:gdLst>
                <a:gd name="T0" fmla="*/ 0 w 3595"/>
                <a:gd name="T1" fmla="*/ 3598 h 3598"/>
                <a:gd name="T2" fmla="*/ 1622 w 3595"/>
                <a:gd name="T3" fmla="*/ 1974 h 3598"/>
                <a:gd name="T4" fmla="*/ 3594 w 3595"/>
                <a:gd name="T5" fmla="*/ 0 h 3598"/>
                <a:gd name="T6" fmla="*/ 3595 w 3595"/>
                <a:gd name="T7" fmla="*/ 0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5" h="3598">
                  <a:moveTo>
                    <a:pt x="0" y="3598"/>
                  </a:moveTo>
                  <a:lnTo>
                    <a:pt x="1622" y="1974"/>
                  </a:lnTo>
                  <a:lnTo>
                    <a:pt x="3594" y="0"/>
                  </a:lnTo>
                  <a:lnTo>
                    <a:pt x="359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19" name="Freeform 319"/>
            <p:cNvSpPr>
              <a:spLocks/>
            </p:cNvSpPr>
            <p:nvPr/>
          </p:nvSpPr>
          <p:spPr bwMode="auto">
            <a:xfrm>
              <a:off x="3750" y="3446"/>
              <a:ext cx="362" cy="362"/>
            </a:xfrm>
            <a:custGeom>
              <a:avLst/>
              <a:gdLst>
                <a:gd name="T0" fmla="*/ 0 w 3377"/>
                <a:gd name="T1" fmla="*/ 3378 h 3378"/>
                <a:gd name="T2" fmla="*/ 1350 w 3377"/>
                <a:gd name="T3" fmla="*/ 2026 h 3378"/>
                <a:gd name="T4" fmla="*/ 3376 w 3377"/>
                <a:gd name="T5" fmla="*/ 0 h 3378"/>
                <a:gd name="T6" fmla="*/ 3377 w 3377"/>
                <a:gd name="T7" fmla="*/ 0 h 3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77" h="3378">
                  <a:moveTo>
                    <a:pt x="0" y="3378"/>
                  </a:moveTo>
                  <a:lnTo>
                    <a:pt x="1350" y="2026"/>
                  </a:lnTo>
                  <a:lnTo>
                    <a:pt x="3376" y="0"/>
                  </a:lnTo>
                  <a:lnTo>
                    <a:pt x="337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20" name="Freeform 320"/>
            <p:cNvSpPr>
              <a:spLocks/>
            </p:cNvSpPr>
            <p:nvPr/>
          </p:nvSpPr>
          <p:spPr bwMode="auto">
            <a:xfrm>
              <a:off x="3785" y="3457"/>
              <a:ext cx="338" cy="338"/>
            </a:xfrm>
            <a:custGeom>
              <a:avLst/>
              <a:gdLst>
                <a:gd name="T0" fmla="*/ 0 w 3152"/>
                <a:gd name="T1" fmla="*/ 3154 h 3154"/>
                <a:gd name="T2" fmla="*/ 1077 w 3152"/>
                <a:gd name="T3" fmla="*/ 2075 h 3154"/>
                <a:gd name="T4" fmla="*/ 3151 w 3152"/>
                <a:gd name="T5" fmla="*/ 0 h 3154"/>
                <a:gd name="T6" fmla="*/ 3152 w 3152"/>
                <a:gd name="T7" fmla="*/ 0 h 3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52" h="3154">
                  <a:moveTo>
                    <a:pt x="0" y="3154"/>
                  </a:moveTo>
                  <a:lnTo>
                    <a:pt x="1077" y="2075"/>
                  </a:lnTo>
                  <a:lnTo>
                    <a:pt x="3151" y="0"/>
                  </a:lnTo>
                  <a:lnTo>
                    <a:pt x="315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21" name="Freeform 321"/>
            <p:cNvSpPr>
              <a:spLocks/>
            </p:cNvSpPr>
            <p:nvPr/>
          </p:nvSpPr>
          <p:spPr bwMode="auto">
            <a:xfrm>
              <a:off x="3819" y="3468"/>
              <a:ext cx="315" cy="314"/>
            </a:xfrm>
            <a:custGeom>
              <a:avLst/>
              <a:gdLst>
                <a:gd name="T0" fmla="*/ 0 w 2926"/>
                <a:gd name="T1" fmla="*/ 2928 h 2928"/>
                <a:gd name="T2" fmla="*/ 805 w 2926"/>
                <a:gd name="T3" fmla="*/ 2122 h 2928"/>
                <a:gd name="T4" fmla="*/ 2925 w 2926"/>
                <a:gd name="T5" fmla="*/ 0 h 2928"/>
                <a:gd name="T6" fmla="*/ 2926 w 2926"/>
                <a:gd name="T7" fmla="*/ 0 h 2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6" h="2928">
                  <a:moveTo>
                    <a:pt x="0" y="2928"/>
                  </a:moveTo>
                  <a:lnTo>
                    <a:pt x="805" y="2122"/>
                  </a:lnTo>
                  <a:lnTo>
                    <a:pt x="2925" y="0"/>
                  </a:lnTo>
                  <a:lnTo>
                    <a:pt x="292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22" name="Freeform 322"/>
            <p:cNvSpPr>
              <a:spLocks/>
            </p:cNvSpPr>
            <p:nvPr/>
          </p:nvSpPr>
          <p:spPr bwMode="auto">
            <a:xfrm>
              <a:off x="3855" y="3480"/>
              <a:ext cx="289" cy="289"/>
            </a:xfrm>
            <a:custGeom>
              <a:avLst/>
              <a:gdLst>
                <a:gd name="T0" fmla="*/ 0 w 2694"/>
                <a:gd name="T1" fmla="*/ 2697 h 2697"/>
                <a:gd name="T2" fmla="*/ 532 w 2694"/>
                <a:gd name="T3" fmla="*/ 2164 h 2697"/>
                <a:gd name="T4" fmla="*/ 2693 w 2694"/>
                <a:gd name="T5" fmla="*/ 0 h 2697"/>
                <a:gd name="T6" fmla="*/ 2694 w 2694"/>
                <a:gd name="T7" fmla="*/ 0 h 2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4" h="2697">
                  <a:moveTo>
                    <a:pt x="0" y="2697"/>
                  </a:moveTo>
                  <a:lnTo>
                    <a:pt x="532" y="2164"/>
                  </a:lnTo>
                  <a:lnTo>
                    <a:pt x="2693" y="0"/>
                  </a:lnTo>
                  <a:lnTo>
                    <a:pt x="269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23" name="Freeform 323"/>
            <p:cNvSpPr>
              <a:spLocks/>
            </p:cNvSpPr>
            <p:nvPr/>
          </p:nvSpPr>
          <p:spPr bwMode="auto">
            <a:xfrm>
              <a:off x="3890" y="3491"/>
              <a:ext cx="264" cy="265"/>
            </a:xfrm>
            <a:custGeom>
              <a:avLst/>
              <a:gdLst>
                <a:gd name="T0" fmla="*/ 0 w 2462"/>
                <a:gd name="T1" fmla="*/ 2463 h 2463"/>
                <a:gd name="T2" fmla="*/ 260 w 2462"/>
                <a:gd name="T3" fmla="*/ 2203 h 2463"/>
                <a:gd name="T4" fmla="*/ 2461 w 2462"/>
                <a:gd name="T5" fmla="*/ 0 h 2463"/>
                <a:gd name="T6" fmla="*/ 2462 w 2462"/>
                <a:gd name="T7" fmla="*/ 0 h 2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62" h="2463">
                  <a:moveTo>
                    <a:pt x="0" y="2463"/>
                  </a:moveTo>
                  <a:lnTo>
                    <a:pt x="260" y="2203"/>
                  </a:lnTo>
                  <a:lnTo>
                    <a:pt x="2461" y="0"/>
                  </a:lnTo>
                  <a:lnTo>
                    <a:pt x="246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24" name="Freeform 324"/>
            <p:cNvSpPr>
              <a:spLocks/>
            </p:cNvSpPr>
            <p:nvPr/>
          </p:nvSpPr>
          <p:spPr bwMode="auto">
            <a:xfrm>
              <a:off x="3924" y="3503"/>
              <a:ext cx="239" cy="240"/>
            </a:xfrm>
            <a:custGeom>
              <a:avLst/>
              <a:gdLst>
                <a:gd name="T0" fmla="*/ 0 w 2225"/>
                <a:gd name="T1" fmla="*/ 2224 h 2224"/>
                <a:gd name="T2" fmla="*/ 2224 w 2225"/>
                <a:gd name="T3" fmla="*/ 0 h 2224"/>
                <a:gd name="T4" fmla="*/ 2225 w 2225"/>
                <a:gd name="T5" fmla="*/ 0 h 2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25" h="2224">
                  <a:moveTo>
                    <a:pt x="0" y="2224"/>
                  </a:moveTo>
                  <a:lnTo>
                    <a:pt x="2224" y="0"/>
                  </a:lnTo>
                  <a:lnTo>
                    <a:pt x="222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25" name="Freeform 325"/>
            <p:cNvSpPr>
              <a:spLocks/>
            </p:cNvSpPr>
            <p:nvPr/>
          </p:nvSpPr>
          <p:spPr bwMode="auto">
            <a:xfrm>
              <a:off x="3960" y="3516"/>
              <a:ext cx="213" cy="213"/>
            </a:xfrm>
            <a:custGeom>
              <a:avLst/>
              <a:gdLst>
                <a:gd name="T0" fmla="*/ 0 w 1981"/>
                <a:gd name="T1" fmla="*/ 1982 h 1982"/>
                <a:gd name="T2" fmla="*/ 1980 w 1981"/>
                <a:gd name="T3" fmla="*/ 0 h 1982"/>
                <a:gd name="T4" fmla="*/ 1981 w 1981"/>
                <a:gd name="T5" fmla="*/ 0 h 1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1" h="1982">
                  <a:moveTo>
                    <a:pt x="0" y="1982"/>
                  </a:moveTo>
                  <a:lnTo>
                    <a:pt x="1980" y="0"/>
                  </a:lnTo>
                  <a:lnTo>
                    <a:pt x="198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26" name="Freeform 326"/>
            <p:cNvSpPr>
              <a:spLocks/>
            </p:cNvSpPr>
            <p:nvPr/>
          </p:nvSpPr>
          <p:spPr bwMode="auto">
            <a:xfrm>
              <a:off x="3995" y="3530"/>
              <a:ext cx="186" cy="186"/>
            </a:xfrm>
            <a:custGeom>
              <a:avLst/>
              <a:gdLst>
                <a:gd name="T0" fmla="*/ 0 w 1735"/>
                <a:gd name="T1" fmla="*/ 1736 h 1736"/>
                <a:gd name="T2" fmla="*/ 1734 w 1735"/>
                <a:gd name="T3" fmla="*/ 0 h 1736"/>
                <a:gd name="T4" fmla="*/ 1735 w 1735"/>
                <a:gd name="T5" fmla="*/ 0 h 1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5" h="1736">
                  <a:moveTo>
                    <a:pt x="0" y="1736"/>
                  </a:moveTo>
                  <a:lnTo>
                    <a:pt x="1734" y="0"/>
                  </a:lnTo>
                  <a:lnTo>
                    <a:pt x="173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27" name="Freeform 327"/>
            <p:cNvSpPr>
              <a:spLocks/>
            </p:cNvSpPr>
            <p:nvPr/>
          </p:nvSpPr>
          <p:spPr bwMode="auto">
            <a:xfrm>
              <a:off x="4029" y="3544"/>
              <a:ext cx="160" cy="159"/>
            </a:xfrm>
            <a:custGeom>
              <a:avLst/>
              <a:gdLst>
                <a:gd name="T0" fmla="*/ 0 w 1484"/>
                <a:gd name="T1" fmla="*/ 1484 h 1484"/>
                <a:gd name="T2" fmla="*/ 1483 w 1484"/>
                <a:gd name="T3" fmla="*/ 0 h 1484"/>
                <a:gd name="T4" fmla="*/ 1484 w 1484"/>
                <a:gd name="T5" fmla="*/ 0 h 1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4" h="1484">
                  <a:moveTo>
                    <a:pt x="0" y="1484"/>
                  </a:moveTo>
                  <a:lnTo>
                    <a:pt x="1483" y="0"/>
                  </a:lnTo>
                  <a:lnTo>
                    <a:pt x="148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28" name="Freeform 328"/>
            <p:cNvSpPr>
              <a:spLocks/>
            </p:cNvSpPr>
            <p:nvPr/>
          </p:nvSpPr>
          <p:spPr bwMode="auto">
            <a:xfrm>
              <a:off x="4064" y="3558"/>
              <a:ext cx="132" cy="132"/>
            </a:xfrm>
            <a:custGeom>
              <a:avLst/>
              <a:gdLst>
                <a:gd name="T0" fmla="*/ 0 w 1225"/>
                <a:gd name="T1" fmla="*/ 1226 h 1226"/>
                <a:gd name="T2" fmla="*/ 1224 w 1225"/>
                <a:gd name="T3" fmla="*/ 0 h 1226"/>
                <a:gd name="T4" fmla="*/ 1225 w 1225"/>
                <a:gd name="T5" fmla="*/ 0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25" h="1226">
                  <a:moveTo>
                    <a:pt x="0" y="1226"/>
                  </a:moveTo>
                  <a:lnTo>
                    <a:pt x="1224" y="0"/>
                  </a:lnTo>
                  <a:lnTo>
                    <a:pt x="122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29" name="Freeform 329"/>
            <p:cNvSpPr>
              <a:spLocks/>
            </p:cNvSpPr>
            <p:nvPr/>
          </p:nvSpPr>
          <p:spPr bwMode="auto">
            <a:xfrm>
              <a:off x="4100" y="3574"/>
              <a:ext cx="103" cy="103"/>
            </a:xfrm>
            <a:custGeom>
              <a:avLst/>
              <a:gdLst>
                <a:gd name="T0" fmla="*/ 0 w 962"/>
                <a:gd name="T1" fmla="*/ 962 h 962"/>
                <a:gd name="T2" fmla="*/ 961 w 962"/>
                <a:gd name="T3" fmla="*/ 0 h 962"/>
                <a:gd name="T4" fmla="*/ 962 w 962"/>
                <a:gd name="T5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2" h="962">
                  <a:moveTo>
                    <a:pt x="0" y="962"/>
                  </a:moveTo>
                  <a:lnTo>
                    <a:pt x="961" y="0"/>
                  </a:lnTo>
                  <a:lnTo>
                    <a:pt x="96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30" name="Freeform 330"/>
            <p:cNvSpPr>
              <a:spLocks/>
            </p:cNvSpPr>
            <p:nvPr/>
          </p:nvSpPr>
          <p:spPr bwMode="auto">
            <a:xfrm>
              <a:off x="4135" y="3589"/>
              <a:ext cx="74" cy="74"/>
            </a:xfrm>
            <a:custGeom>
              <a:avLst/>
              <a:gdLst>
                <a:gd name="T0" fmla="*/ 0 w 694"/>
                <a:gd name="T1" fmla="*/ 693 h 693"/>
                <a:gd name="T2" fmla="*/ 693 w 694"/>
                <a:gd name="T3" fmla="*/ 0 h 693"/>
                <a:gd name="T4" fmla="*/ 694 w 694"/>
                <a:gd name="T5" fmla="*/ 0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4" h="693">
                  <a:moveTo>
                    <a:pt x="0" y="693"/>
                  </a:moveTo>
                  <a:lnTo>
                    <a:pt x="693" y="0"/>
                  </a:lnTo>
                  <a:lnTo>
                    <a:pt x="69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31" name="Freeform 331"/>
            <p:cNvSpPr>
              <a:spLocks/>
            </p:cNvSpPr>
            <p:nvPr/>
          </p:nvSpPr>
          <p:spPr bwMode="auto">
            <a:xfrm>
              <a:off x="4169" y="3605"/>
              <a:ext cx="46" cy="46"/>
            </a:xfrm>
            <a:custGeom>
              <a:avLst/>
              <a:gdLst>
                <a:gd name="T0" fmla="*/ 0 w 422"/>
                <a:gd name="T1" fmla="*/ 420 h 420"/>
                <a:gd name="T2" fmla="*/ 421 w 422"/>
                <a:gd name="T3" fmla="*/ 0 h 420"/>
                <a:gd name="T4" fmla="*/ 422 w 422"/>
                <a:gd name="T5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2" h="420">
                  <a:moveTo>
                    <a:pt x="0" y="420"/>
                  </a:moveTo>
                  <a:lnTo>
                    <a:pt x="421" y="0"/>
                  </a:lnTo>
                  <a:lnTo>
                    <a:pt x="42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32" name="Freeform 332"/>
            <p:cNvSpPr>
              <a:spLocks/>
            </p:cNvSpPr>
            <p:nvPr/>
          </p:nvSpPr>
          <p:spPr bwMode="auto">
            <a:xfrm>
              <a:off x="4205" y="3621"/>
              <a:ext cx="15" cy="16"/>
            </a:xfrm>
            <a:custGeom>
              <a:avLst/>
              <a:gdLst>
                <a:gd name="T0" fmla="*/ 0 w 148"/>
                <a:gd name="T1" fmla="*/ 146 h 146"/>
                <a:gd name="T2" fmla="*/ 147 w 148"/>
                <a:gd name="T3" fmla="*/ 0 h 146"/>
                <a:gd name="T4" fmla="*/ 148 w 148"/>
                <a:gd name="T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" h="146">
                  <a:moveTo>
                    <a:pt x="0" y="146"/>
                  </a:moveTo>
                  <a:lnTo>
                    <a:pt x="147" y="0"/>
                  </a:lnTo>
                  <a:lnTo>
                    <a:pt x="14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33" name="Freeform 333"/>
            <p:cNvSpPr>
              <a:spLocks/>
            </p:cNvSpPr>
            <p:nvPr/>
          </p:nvSpPr>
          <p:spPr bwMode="auto">
            <a:xfrm>
              <a:off x="3702" y="3326"/>
              <a:ext cx="72" cy="72"/>
            </a:xfrm>
            <a:custGeom>
              <a:avLst/>
              <a:gdLst>
                <a:gd name="T0" fmla="*/ 0 w 671"/>
                <a:gd name="T1" fmla="*/ 671 h 671"/>
                <a:gd name="T2" fmla="*/ 670 w 671"/>
                <a:gd name="T3" fmla="*/ 0 h 671"/>
                <a:gd name="T4" fmla="*/ 671 w 671"/>
                <a:gd name="T5" fmla="*/ 0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1" h="671">
                  <a:moveTo>
                    <a:pt x="0" y="671"/>
                  </a:moveTo>
                  <a:lnTo>
                    <a:pt x="670" y="0"/>
                  </a:lnTo>
                  <a:lnTo>
                    <a:pt x="67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34" name="Freeform 334"/>
            <p:cNvSpPr>
              <a:spLocks/>
            </p:cNvSpPr>
            <p:nvPr/>
          </p:nvSpPr>
          <p:spPr bwMode="auto">
            <a:xfrm>
              <a:off x="3774" y="3322"/>
              <a:ext cx="4" cy="4"/>
            </a:xfrm>
            <a:custGeom>
              <a:avLst/>
              <a:gdLst>
                <a:gd name="T0" fmla="*/ 0 w 36"/>
                <a:gd name="T1" fmla="*/ 34 h 34"/>
                <a:gd name="T2" fmla="*/ 35 w 36"/>
                <a:gd name="T3" fmla="*/ 0 h 34"/>
                <a:gd name="T4" fmla="*/ 36 w 36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34">
                  <a:moveTo>
                    <a:pt x="0" y="34"/>
                  </a:moveTo>
                  <a:lnTo>
                    <a:pt x="35" y="0"/>
                  </a:lnTo>
                  <a:lnTo>
                    <a:pt x="3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35" name="Freeform 335"/>
            <p:cNvSpPr>
              <a:spLocks/>
            </p:cNvSpPr>
            <p:nvPr/>
          </p:nvSpPr>
          <p:spPr bwMode="auto">
            <a:xfrm>
              <a:off x="3649" y="3342"/>
              <a:ext cx="131" cy="129"/>
            </a:xfrm>
            <a:custGeom>
              <a:avLst/>
              <a:gdLst>
                <a:gd name="T0" fmla="*/ 0 w 1223"/>
                <a:gd name="T1" fmla="*/ 1222 h 1222"/>
                <a:gd name="T2" fmla="*/ 1222 w 1223"/>
                <a:gd name="T3" fmla="*/ 0 h 1222"/>
                <a:gd name="T4" fmla="*/ 1223 w 1223"/>
                <a:gd name="T5" fmla="*/ 0 h 1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23" h="1222">
                  <a:moveTo>
                    <a:pt x="0" y="1222"/>
                  </a:moveTo>
                  <a:lnTo>
                    <a:pt x="1222" y="0"/>
                  </a:lnTo>
                  <a:lnTo>
                    <a:pt x="122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36" name="Freeform 336"/>
            <p:cNvSpPr>
              <a:spLocks/>
            </p:cNvSpPr>
            <p:nvPr/>
          </p:nvSpPr>
          <p:spPr bwMode="auto">
            <a:xfrm>
              <a:off x="3780" y="3324"/>
              <a:ext cx="18" cy="18"/>
            </a:xfrm>
            <a:custGeom>
              <a:avLst/>
              <a:gdLst>
                <a:gd name="T0" fmla="*/ 0 w 165"/>
                <a:gd name="T1" fmla="*/ 165 h 165"/>
                <a:gd name="T2" fmla="*/ 164 w 165"/>
                <a:gd name="T3" fmla="*/ 0 h 165"/>
                <a:gd name="T4" fmla="*/ 165 w 165"/>
                <a:gd name="T5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5" h="165">
                  <a:moveTo>
                    <a:pt x="0" y="165"/>
                  </a:moveTo>
                  <a:lnTo>
                    <a:pt x="164" y="0"/>
                  </a:lnTo>
                  <a:lnTo>
                    <a:pt x="16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37" name="Freeform 337"/>
            <p:cNvSpPr>
              <a:spLocks/>
            </p:cNvSpPr>
            <p:nvPr/>
          </p:nvSpPr>
          <p:spPr bwMode="auto">
            <a:xfrm>
              <a:off x="3621" y="3358"/>
              <a:ext cx="164" cy="165"/>
            </a:xfrm>
            <a:custGeom>
              <a:avLst/>
              <a:gdLst>
                <a:gd name="T0" fmla="*/ 0 w 1536"/>
                <a:gd name="T1" fmla="*/ 1536 h 1536"/>
                <a:gd name="T2" fmla="*/ 1535 w 1536"/>
                <a:gd name="T3" fmla="*/ 0 h 1536"/>
                <a:gd name="T4" fmla="*/ 1536 w 1536"/>
                <a:gd name="T5" fmla="*/ 0 h 1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6" h="1536">
                  <a:moveTo>
                    <a:pt x="0" y="1536"/>
                  </a:moveTo>
                  <a:lnTo>
                    <a:pt x="1535" y="0"/>
                  </a:lnTo>
                  <a:lnTo>
                    <a:pt x="153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38" name="Freeform 338"/>
            <p:cNvSpPr>
              <a:spLocks/>
            </p:cNvSpPr>
            <p:nvPr/>
          </p:nvSpPr>
          <p:spPr bwMode="auto">
            <a:xfrm>
              <a:off x="3785" y="3326"/>
              <a:ext cx="32" cy="32"/>
            </a:xfrm>
            <a:custGeom>
              <a:avLst/>
              <a:gdLst>
                <a:gd name="T0" fmla="*/ 0 w 293"/>
                <a:gd name="T1" fmla="*/ 292 h 292"/>
                <a:gd name="T2" fmla="*/ 292 w 293"/>
                <a:gd name="T3" fmla="*/ 0 h 292"/>
                <a:gd name="T4" fmla="*/ 293 w 293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3" h="292">
                  <a:moveTo>
                    <a:pt x="0" y="292"/>
                  </a:moveTo>
                  <a:lnTo>
                    <a:pt x="292" y="0"/>
                  </a:lnTo>
                  <a:lnTo>
                    <a:pt x="29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39" name="Freeform 339"/>
            <p:cNvSpPr>
              <a:spLocks/>
            </p:cNvSpPr>
            <p:nvPr/>
          </p:nvSpPr>
          <p:spPr bwMode="auto">
            <a:xfrm>
              <a:off x="3605" y="3374"/>
              <a:ext cx="186" cy="186"/>
            </a:xfrm>
            <a:custGeom>
              <a:avLst/>
              <a:gdLst>
                <a:gd name="T0" fmla="*/ 0 w 1735"/>
                <a:gd name="T1" fmla="*/ 1737 h 1737"/>
                <a:gd name="T2" fmla="*/ 1734 w 1735"/>
                <a:gd name="T3" fmla="*/ 0 h 1737"/>
                <a:gd name="T4" fmla="*/ 1735 w 1735"/>
                <a:gd name="T5" fmla="*/ 0 h 1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5" h="1737">
                  <a:moveTo>
                    <a:pt x="0" y="1737"/>
                  </a:moveTo>
                  <a:lnTo>
                    <a:pt x="1734" y="0"/>
                  </a:lnTo>
                  <a:lnTo>
                    <a:pt x="173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40" name="Freeform 340"/>
            <p:cNvSpPr>
              <a:spLocks/>
            </p:cNvSpPr>
            <p:nvPr/>
          </p:nvSpPr>
          <p:spPr bwMode="auto">
            <a:xfrm>
              <a:off x="3791" y="3329"/>
              <a:ext cx="45" cy="46"/>
            </a:xfrm>
            <a:custGeom>
              <a:avLst/>
              <a:gdLst>
                <a:gd name="T0" fmla="*/ 0 w 419"/>
                <a:gd name="T1" fmla="*/ 417 h 417"/>
                <a:gd name="T2" fmla="*/ 418 w 419"/>
                <a:gd name="T3" fmla="*/ 0 h 417"/>
                <a:gd name="T4" fmla="*/ 419 w 419"/>
                <a:gd name="T5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9" h="417">
                  <a:moveTo>
                    <a:pt x="0" y="417"/>
                  </a:moveTo>
                  <a:lnTo>
                    <a:pt x="418" y="0"/>
                  </a:lnTo>
                  <a:lnTo>
                    <a:pt x="41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41" name="Freeform 341"/>
            <p:cNvSpPr>
              <a:spLocks/>
            </p:cNvSpPr>
            <p:nvPr/>
          </p:nvSpPr>
          <p:spPr bwMode="auto">
            <a:xfrm>
              <a:off x="3596" y="3390"/>
              <a:ext cx="201" cy="201"/>
            </a:xfrm>
            <a:custGeom>
              <a:avLst/>
              <a:gdLst>
                <a:gd name="T0" fmla="*/ 0 w 1872"/>
                <a:gd name="T1" fmla="*/ 1872 h 1872"/>
                <a:gd name="T2" fmla="*/ 1871 w 1872"/>
                <a:gd name="T3" fmla="*/ 0 h 1872"/>
                <a:gd name="T4" fmla="*/ 1872 w 1872"/>
                <a:gd name="T5" fmla="*/ 0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72" h="1872">
                  <a:moveTo>
                    <a:pt x="0" y="1872"/>
                  </a:moveTo>
                  <a:lnTo>
                    <a:pt x="1871" y="0"/>
                  </a:lnTo>
                  <a:lnTo>
                    <a:pt x="187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42" name="Freeform 342"/>
            <p:cNvSpPr>
              <a:spLocks/>
            </p:cNvSpPr>
            <p:nvPr/>
          </p:nvSpPr>
          <p:spPr bwMode="auto">
            <a:xfrm>
              <a:off x="3797" y="3332"/>
              <a:ext cx="58" cy="56"/>
            </a:xfrm>
            <a:custGeom>
              <a:avLst/>
              <a:gdLst>
                <a:gd name="T0" fmla="*/ 0 w 541"/>
                <a:gd name="T1" fmla="*/ 541 h 541"/>
                <a:gd name="T2" fmla="*/ 540 w 541"/>
                <a:gd name="T3" fmla="*/ 0 h 541"/>
                <a:gd name="T4" fmla="*/ 541 w 541"/>
                <a:gd name="T5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1" h="541">
                  <a:moveTo>
                    <a:pt x="0" y="541"/>
                  </a:moveTo>
                  <a:lnTo>
                    <a:pt x="540" y="0"/>
                  </a:lnTo>
                  <a:lnTo>
                    <a:pt x="54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43" name="Freeform 343"/>
            <p:cNvSpPr>
              <a:spLocks/>
            </p:cNvSpPr>
            <p:nvPr/>
          </p:nvSpPr>
          <p:spPr bwMode="auto">
            <a:xfrm>
              <a:off x="3591" y="3406"/>
              <a:ext cx="212" cy="212"/>
            </a:xfrm>
            <a:custGeom>
              <a:avLst/>
              <a:gdLst>
                <a:gd name="T0" fmla="*/ 0 w 1976"/>
                <a:gd name="T1" fmla="*/ 1978 h 1978"/>
                <a:gd name="T2" fmla="*/ 1975 w 1976"/>
                <a:gd name="T3" fmla="*/ 0 h 1978"/>
                <a:gd name="T4" fmla="*/ 1976 w 1976"/>
                <a:gd name="T5" fmla="*/ 0 h 1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6" h="1978">
                  <a:moveTo>
                    <a:pt x="0" y="1978"/>
                  </a:moveTo>
                  <a:lnTo>
                    <a:pt x="1975" y="0"/>
                  </a:lnTo>
                  <a:lnTo>
                    <a:pt x="197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44" name="Freeform 344"/>
            <p:cNvSpPr>
              <a:spLocks/>
            </p:cNvSpPr>
            <p:nvPr/>
          </p:nvSpPr>
          <p:spPr bwMode="auto">
            <a:xfrm>
              <a:off x="3803" y="3335"/>
              <a:ext cx="71" cy="71"/>
            </a:xfrm>
            <a:custGeom>
              <a:avLst/>
              <a:gdLst>
                <a:gd name="T0" fmla="*/ 0 w 659"/>
                <a:gd name="T1" fmla="*/ 658 h 658"/>
                <a:gd name="T2" fmla="*/ 658 w 659"/>
                <a:gd name="T3" fmla="*/ 0 h 658"/>
                <a:gd name="T4" fmla="*/ 659 w 659"/>
                <a:gd name="T5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9" h="658">
                  <a:moveTo>
                    <a:pt x="0" y="658"/>
                  </a:moveTo>
                  <a:lnTo>
                    <a:pt x="658" y="0"/>
                  </a:lnTo>
                  <a:lnTo>
                    <a:pt x="65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45" name="Freeform 345"/>
            <p:cNvSpPr>
              <a:spLocks/>
            </p:cNvSpPr>
            <p:nvPr/>
          </p:nvSpPr>
          <p:spPr bwMode="auto">
            <a:xfrm>
              <a:off x="3588" y="3422"/>
              <a:ext cx="223" cy="221"/>
            </a:xfrm>
            <a:custGeom>
              <a:avLst/>
              <a:gdLst>
                <a:gd name="T0" fmla="*/ 0 w 2061"/>
                <a:gd name="T1" fmla="*/ 2061 h 2061"/>
                <a:gd name="T2" fmla="*/ 2060 w 2061"/>
                <a:gd name="T3" fmla="*/ 0 h 2061"/>
                <a:gd name="T4" fmla="*/ 2061 w 2061"/>
                <a:gd name="T5" fmla="*/ 0 h 20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61" h="2061">
                  <a:moveTo>
                    <a:pt x="0" y="2061"/>
                  </a:moveTo>
                  <a:lnTo>
                    <a:pt x="2060" y="0"/>
                  </a:lnTo>
                  <a:lnTo>
                    <a:pt x="206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46" name="Freeform 346"/>
            <p:cNvSpPr>
              <a:spLocks/>
            </p:cNvSpPr>
            <p:nvPr/>
          </p:nvSpPr>
          <p:spPr bwMode="auto">
            <a:xfrm>
              <a:off x="3809" y="3339"/>
              <a:ext cx="81" cy="83"/>
            </a:xfrm>
            <a:custGeom>
              <a:avLst/>
              <a:gdLst>
                <a:gd name="T0" fmla="*/ 0 w 772"/>
                <a:gd name="T1" fmla="*/ 772 h 772"/>
                <a:gd name="T2" fmla="*/ 771 w 772"/>
                <a:gd name="T3" fmla="*/ 0 h 772"/>
                <a:gd name="T4" fmla="*/ 772 w 772"/>
                <a:gd name="T5" fmla="*/ 0 h 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2" h="772">
                  <a:moveTo>
                    <a:pt x="0" y="772"/>
                  </a:moveTo>
                  <a:lnTo>
                    <a:pt x="771" y="0"/>
                  </a:lnTo>
                  <a:lnTo>
                    <a:pt x="77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47" name="Freeform 347"/>
            <p:cNvSpPr>
              <a:spLocks/>
            </p:cNvSpPr>
            <p:nvPr/>
          </p:nvSpPr>
          <p:spPr bwMode="auto">
            <a:xfrm>
              <a:off x="3586" y="3438"/>
              <a:ext cx="228" cy="229"/>
            </a:xfrm>
            <a:custGeom>
              <a:avLst/>
              <a:gdLst>
                <a:gd name="T0" fmla="*/ 0 w 2131"/>
                <a:gd name="T1" fmla="*/ 2133 h 2133"/>
                <a:gd name="T2" fmla="*/ 2130 w 2131"/>
                <a:gd name="T3" fmla="*/ 0 h 2133"/>
                <a:gd name="T4" fmla="*/ 2131 w 2131"/>
                <a:gd name="T5" fmla="*/ 0 h 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1" h="2133">
                  <a:moveTo>
                    <a:pt x="0" y="2133"/>
                  </a:moveTo>
                  <a:lnTo>
                    <a:pt x="2130" y="0"/>
                  </a:lnTo>
                  <a:lnTo>
                    <a:pt x="213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48" name="Freeform 348"/>
            <p:cNvSpPr>
              <a:spLocks/>
            </p:cNvSpPr>
            <p:nvPr/>
          </p:nvSpPr>
          <p:spPr bwMode="auto">
            <a:xfrm>
              <a:off x="3814" y="3344"/>
              <a:ext cx="95" cy="94"/>
            </a:xfrm>
            <a:custGeom>
              <a:avLst/>
              <a:gdLst>
                <a:gd name="T0" fmla="*/ 0 w 882"/>
                <a:gd name="T1" fmla="*/ 882 h 882"/>
                <a:gd name="T2" fmla="*/ 881 w 882"/>
                <a:gd name="T3" fmla="*/ 0 h 882"/>
                <a:gd name="T4" fmla="*/ 882 w 882"/>
                <a:gd name="T5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2" h="882">
                  <a:moveTo>
                    <a:pt x="0" y="882"/>
                  </a:moveTo>
                  <a:lnTo>
                    <a:pt x="881" y="0"/>
                  </a:lnTo>
                  <a:lnTo>
                    <a:pt x="88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49" name="Freeform 349"/>
            <p:cNvSpPr>
              <a:spLocks/>
            </p:cNvSpPr>
            <p:nvPr/>
          </p:nvSpPr>
          <p:spPr bwMode="auto">
            <a:xfrm>
              <a:off x="3585" y="3454"/>
              <a:ext cx="235" cy="236"/>
            </a:xfrm>
            <a:custGeom>
              <a:avLst/>
              <a:gdLst>
                <a:gd name="T0" fmla="*/ 0 w 2191"/>
                <a:gd name="T1" fmla="*/ 2190 h 2190"/>
                <a:gd name="T2" fmla="*/ 2189 w 2191"/>
                <a:gd name="T3" fmla="*/ 0 h 2190"/>
                <a:gd name="T4" fmla="*/ 2191 w 2191"/>
                <a:gd name="T5" fmla="*/ 0 h 2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1" h="2190">
                  <a:moveTo>
                    <a:pt x="0" y="2190"/>
                  </a:moveTo>
                  <a:lnTo>
                    <a:pt x="2189" y="0"/>
                  </a:lnTo>
                  <a:lnTo>
                    <a:pt x="219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50" name="Freeform 350"/>
            <p:cNvSpPr>
              <a:spLocks/>
            </p:cNvSpPr>
            <p:nvPr/>
          </p:nvSpPr>
          <p:spPr bwMode="auto">
            <a:xfrm>
              <a:off x="3820" y="3348"/>
              <a:ext cx="107" cy="107"/>
            </a:xfrm>
            <a:custGeom>
              <a:avLst/>
              <a:gdLst>
                <a:gd name="T0" fmla="*/ 0 w 990"/>
                <a:gd name="T1" fmla="*/ 990 h 990"/>
                <a:gd name="T2" fmla="*/ 989 w 990"/>
                <a:gd name="T3" fmla="*/ 0 h 990"/>
                <a:gd name="T4" fmla="*/ 990 w 990"/>
                <a:gd name="T5" fmla="*/ 0 h 9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0" h="990">
                  <a:moveTo>
                    <a:pt x="0" y="990"/>
                  </a:moveTo>
                  <a:lnTo>
                    <a:pt x="989" y="0"/>
                  </a:lnTo>
                  <a:lnTo>
                    <a:pt x="99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51" name="Freeform 351"/>
            <p:cNvSpPr>
              <a:spLocks/>
            </p:cNvSpPr>
            <p:nvPr/>
          </p:nvSpPr>
          <p:spPr bwMode="auto">
            <a:xfrm>
              <a:off x="3586" y="3471"/>
              <a:ext cx="240" cy="240"/>
            </a:xfrm>
            <a:custGeom>
              <a:avLst/>
              <a:gdLst>
                <a:gd name="T0" fmla="*/ 0 w 2238"/>
                <a:gd name="T1" fmla="*/ 2240 h 2240"/>
                <a:gd name="T2" fmla="*/ 2237 w 2238"/>
                <a:gd name="T3" fmla="*/ 0 h 2240"/>
                <a:gd name="T4" fmla="*/ 2238 w 2238"/>
                <a:gd name="T5" fmla="*/ 0 h 2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8" h="2240">
                  <a:moveTo>
                    <a:pt x="0" y="2240"/>
                  </a:moveTo>
                  <a:lnTo>
                    <a:pt x="2237" y="0"/>
                  </a:lnTo>
                  <a:lnTo>
                    <a:pt x="223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52" name="Freeform 352"/>
            <p:cNvSpPr>
              <a:spLocks/>
            </p:cNvSpPr>
            <p:nvPr/>
          </p:nvSpPr>
          <p:spPr bwMode="auto">
            <a:xfrm>
              <a:off x="3826" y="3353"/>
              <a:ext cx="117" cy="117"/>
            </a:xfrm>
            <a:custGeom>
              <a:avLst/>
              <a:gdLst>
                <a:gd name="T0" fmla="*/ 0 w 1093"/>
                <a:gd name="T1" fmla="*/ 1092 h 1092"/>
                <a:gd name="T2" fmla="*/ 1092 w 1093"/>
                <a:gd name="T3" fmla="*/ 0 h 1092"/>
                <a:gd name="T4" fmla="*/ 1093 w 1093"/>
                <a:gd name="T5" fmla="*/ 0 h 1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93" h="1092">
                  <a:moveTo>
                    <a:pt x="0" y="1092"/>
                  </a:moveTo>
                  <a:lnTo>
                    <a:pt x="1092" y="0"/>
                  </a:lnTo>
                  <a:lnTo>
                    <a:pt x="109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53" name="Freeform 353"/>
            <p:cNvSpPr>
              <a:spLocks/>
            </p:cNvSpPr>
            <p:nvPr/>
          </p:nvSpPr>
          <p:spPr bwMode="auto">
            <a:xfrm>
              <a:off x="3587" y="3487"/>
              <a:ext cx="245" cy="244"/>
            </a:xfrm>
            <a:custGeom>
              <a:avLst/>
              <a:gdLst>
                <a:gd name="T0" fmla="*/ 0 w 2276"/>
                <a:gd name="T1" fmla="*/ 2278 h 2278"/>
                <a:gd name="T2" fmla="*/ 2275 w 2276"/>
                <a:gd name="T3" fmla="*/ 0 h 2278"/>
                <a:gd name="T4" fmla="*/ 2276 w 2276"/>
                <a:gd name="T5" fmla="*/ 0 h 2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6" h="2278">
                  <a:moveTo>
                    <a:pt x="0" y="2278"/>
                  </a:moveTo>
                  <a:lnTo>
                    <a:pt x="2275" y="0"/>
                  </a:lnTo>
                  <a:lnTo>
                    <a:pt x="227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54" name="Freeform 354"/>
            <p:cNvSpPr>
              <a:spLocks/>
            </p:cNvSpPr>
            <p:nvPr/>
          </p:nvSpPr>
          <p:spPr bwMode="auto">
            <a:xfrm>
              <a:off x="3832" y="3358"/>
              <a:ext cx="127" cy="129"/>
            </a:xfrm>
            <a:custGeom>
              <a:avLst/>
              <a:gdLst>
                <a:gd name="T0" fmla="*/ 0 w 1193"/>
                <a:gd name="T1" fmla="*/ 1192 h 1192"/>
                <a:gd name="T2" fmla="*/ 1191 w 1193"/>
                <a:gd name="T3" fmla="*/ 0 h 1192"/>
                <a:gd name="T4" fmla="*/ 1193 w 1193"/>
                <a:gd name="T5" fmla="*/ 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3" h="1192">
                  <a:moveTo>
                    <a:pt x="0" y="1192"/>
                  </a:moveTo>
                  <a:lnTo>
                    <a:pt x="1191" y="0"/>
                  </a:lnTo>
                  <a:lnTo>
                    <a:pt x="119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55" name="Freeform 355"/>
            <p:cNvSpPr>
              <a:spLocks/>
            </p:cNvSpPr>
            <p:nvPr/>
          </p:nvSpPr>
          <p:spPr bwMode="auto">
            <a:xfrm>
              <a:off x="3590" y="3503"/>
              <a:ext cx="248" cy="249"/>
            </a:xfrm>
            <a:custGeom>
              <a:avLst/>
              <a:gdLst>
                <a:gd name="T0" fmla="*/ 0 w 2306"/>
                <a:gd name="T1" fmla="*/ 2307 h 2307"/>
                <a:gd name="T2" fmla="*/ 2305 w 2306"/>
                <a:gd name="T3" fmla="*/ 0 h 2307"/>
                <a:gd name="T4" fmla="*/ 2306 w 2306"/>
                <a:gd name="T5" fmla="*/ 0 h 2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06" h="2307">
                  <a:moveTo>
                    <a:pt x="0" y="2307"/>
                  </a:moveTo>
                  <a:lnTo>
                    <a:pt x="2305" y="0"/>
                  </a:lnTo>
                  <a:lnTo>
                    <a:pt x="230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56" name="Freeform 356"/>
            <p:cNvSpPr>
              <a:spLocks/>
            </p:cNvSpPr>
            <p:nvPr/>
          </p:nvSpPr>
          <p:spPr bwMode="auto">
            <a:xfrm>
              <a:off x="3837" y="3364"/>
              <a:ext cx="138" cy="138"/>
            </a:xfrm>
            <a:custGeom>
              <a:avLst/>
              <a:gdLst>
                <a:gd name="T0" fmla="*/ 0 w 1289"/>
                <a:gd name="T1" fmla="*/ 1290 h 1290"/>
                <a:gd name="T2" fmla="*/ 1288 w 1289"/>
                <a:gd name="T3" fmla="*/ 0 h 1290"/>
                <a:gd name="T4" fmla="*/ 1289 w 1289"/>
                <a:gd name="T5" fmla="*/ 0 h 1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89" h="1290">
                  <a:moveTo>
                    <a:pt x="0" y="1290"/>
                  </a:moveTo>
                  <a:lnTo>
                    <a:pt x="1288" y="0"/>
                  </a:lnTo>
                  <a:lnTo>
                    <a:pt x="128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57" name="Freeform 357"/>
            <p:cNvSpPr>
              <a:spLocks/>
            </p:cNvSpPr>
            <p:nvPr/>
          </p:nvSpPr>
          <p:spPr bwMode="auto">
            <a:xfrm>
              <a:off x="3593" y="3519"/>
              <a:ext cx="250" cy="250"/>
            </a:xfrm>
            <a:custGeom>
              <a:avLst/>
              <a:gdLst>
                <a:gd name="T0" fmla="*/ 0 w 2326"/>
                <a:gd name="T1" fmla="*/ 2327 h 2327"/>
                <a:gd name="T2" fmla="*/ 2325 w 2326"/>
                <a:gd name="T3" fmla="*/ 0 h 2327"/>
                <a:gd name="T4" fmla="*/ 2326 w 2326"/>
                <a:gd name="T5" fmla="*/ 0 h 2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6" h="2327">
                  <a:moveTo>
                    <a:pt x="0" y="2327"/>
                  </a:moveTo>
                  <a:lnTo>
                    <a:pt x="2325" y="0"/>
                  </a:lnTo>
                  <a:lnTo>
                    <a:pt x="232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58" name="Freeform 358"/>
            <p:cNvSpPr>
              <a:spLocks/>
            </p:cNvSpPr>
            <p:nvPr/>
          </p:nvSpPr>
          <p:spPr bwMode="auto">
            <a:xfrm>
              <a:off x="3843" y="3370"/>
              <a:ext cx="148" cy="149"/>
            </a:xfrm>
            <a:custGeom>
              <a:avLst/>
              <a:gdLst>
                <a:gd name="T0" fmla="*/ 0 w 1383"/>
                <a:gd name="T1" fmla="*/ 1384 h 1384"/>
                <a:gd name="T2" fmla="*/ 1382 w 1383"/>
                <a:gd name="T3" fmla="*/ 0 h 1384"/>
                <a:gd name="T4" fmla="*/ 1383 w 1383"/>
                <a:gd name="T5" fmla="*/ 0 h 1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83" h="1384">
                  <a:moveTo>
                    <a:pt x="0" y="1384"/>
                  </a:moveTo>
                  <a:lnTo>
                    <a:pt x="1382" y="0"/>
                  </a:lnTo>
                  <a:lnTo>
                    <a:pt x="138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59" name="Freeform 359"/>
            <p:cNvSpPr>
              <a:spLocks/>
            </p:cNvSpPr>
            <p:nvPr/>
          </p:nvSpPr>
          <p:spPr bwMode="auto">
            <a:xfrm>
              <a:off x="3598" y="3535"/>
              <a:ext cx="250" cy="250"/>
            </a:xfrm>
            <a:custGeom>
              <a:avLst/>
              <a:gdLst>
                <a:gd name="T0" fmla="*/ 0 w 2336"/>
                <a:gd name="T1" fmla="*/ 2337 h 2337"/>
                <a:gd name="T2" fmla="*/ 2335 w 2336"/>
                <a:gd name="T3" fmla="*/ 0 h 2337"/>
                <a:gd name="T4" fmla="*/ 2336 w 2336"/>
                <a:gd name="T5" fmla="*/ 0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36" h="2337">
                  <a:moveTo>
                    <a:pt x="0" y="2337"/>
                  </a:moveTo>
                  <a:lnTo>
                    <a:pt x="2335" y="0"/>
                  </a:lnTo>
                  <a:lnTo>
                    <a:pt x="233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60" name="Freeform 360"/>
            <p:cNvSpPr>
              <a:spLocks/>
            </p:cNvSpPr>
            <p:nvPr/>
          </p:nvSpPr>
          <p:spPr bwMode="auto">
            <a:xfrm>
              <a:off x="3848" y="3376"/>
              <a:ext cx="159" cy="159"/>
            </a:xfrm>
            <a:custGeom>
              <a:avLst/>
              <a:gdLst>
                <a:gd name="T0" fmla="*/ 0 w 1474"/>
                <a:gd name="T1" fmla="*/ 1475 h 1475"/>
                <a:gd name="T2" fmla="*/ 1473 w 1474"/>
                <a:gd name="T3" fmla="*/ 0 h 1475"/>
                <a:gd name="T4" fmla="*/ 1474 w 1474"/>
                <a:gd name="T5" fmla="*/ 0 h 1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4" h="1475">
                  <a:moveTo>
                    <a:pt x="0" y="1475"/>
                  </a:moveTo>
                  <a:lnTo>
                    <a:pt x="1473" y="0"/>
                  </a:lnTo>
                  <a:lnTo>
                    <a:pt x="147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61" name="Freeform 361"/>
            <p:cNvSpPr>
              <a:spLocks/>
            </p:cNvSpPr>
            <p:nvPr/>
          </p:nvSpPr>
          <p:spPr bwMode="auto">
            <a:xfrm>
              <a:off x="3603" y="3551"/>
              <a:ext cx="250" cy="251"/>
            </a:xfrm>
            <a:custGeom>
              <a:avLst/>
              <a:gdLst>
                <a:gd name="T0" fmla="*/ 0 w 2342"/>
                <a:gd name="T1" fmla="*/ 2342 h 2342"/>
                <a:gd name="T2" fmla="*/ 2341 w 2342"/>
                <a:gd name="T3" fmla="*/ 0 h 2342"/>
                <a:gd name="T4" fmla="*/ 2342 w 2342"/>
                <a:gd name="T5" fmla="*/ 0 h 2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2" h="2342">
                  <a:moveTo>
                    <a:pt x="0" y="2342"/>
                  </a:moveTo>
                  <a:lnTo>
                    <a:pt x="2341" y="0"/>
                  </a:lnTo>
                  <a:lnTo>
                    <a:pt x="234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62" name="Freeform 362"/>
            <p:cNvSpPr>
              <a:spLocks/>
            </p:cNvSpPr>
            <p:nvPr/>
          </p:nvSpPr>
          <p:spPr bwMode="auto">
            <a:xfrm>
              <a:off x="3854" y="3383"/>
              <a:ext cx="168" cy="168"/>
            </a:xfrm>
            <a:custGeom>
              <a:avLst/>
              <a:gdLst>
                <a:gd name="T0" fmla="*/ 0 w 1562"/>
                <a:gd name="T1" fmla="*/ 1562 h 1562"/>
                <a:gd name="T2" fmla="*/ 1561 w 1562"/>
                <a:gd name="T3" fmla="*/ 0 h 1562"/>
                <a:gd name="T4" fmla="*/ 1562 w 1562"/>
                <a:gd name="T5" fmla="*/ 0 h 1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2" h="1562">
                  <a:moveTo>
                    <a:pt x="0" y="1562"/>
                  </a:moveTo>
                  <a:lnTo>
                    <a:pt x="1561" y="0"/>
                  </a:lnTo>
                  <a:lnTo>
                    <a:pt x="156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63" name="Freeform 363"/>
            <p:cNvSpPr>
              <a:spLocks/>
            </p:cNvSpPr>
            <p:nvPr/>
          </p:nvSpPr>
          <p:spPr bwMode="auto">
            <a:xfrm>
              <a:off x="3609" y="3567"/>
              <a:ext cx="250" cy="250"/>
            </a:xfrm>
            <a:custGeom>
              <a:avLst/>
              <a:gdLst>
                <a:gd name="T0" fmla="*/ 0 w 2342"/>
                <a:gd name="T1" fmla="*/ 2344 h 2344"/>
                <a:gd name="T2" fmla="*/ 2341 w 2342"/>
                <a:gd name="T3" fmla="*/ 0 h 2344"/>
                <a:gd name="T4" fmla="*/ 2342 w 2342"/>
                <a:gd name="T5" fmla="*/ 0 h 2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2" h="2344">
                  <a:moveTo>
                    <a:pt x="0" y="2344"/>
                  </a:moveTo>
                  <a:lnTo>
                    <a:pt x="2341" y="0"/>
                  </a:lnTo>
                  <a:lnTo>
                    <a:pt x="234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64" name="Freeform 364"/>
            <p:cNvSpPr>
              <a:spLocks/>
            </p:cNvSpPr>
            <p:nvPr/>
          </p:nvSpPr>
          <p:spPr bwMode="auto">
            <a:xfrm>
              <a:off x="3860" y="3391"/>
              <a:ext cx="178" cy="178"/>
            </a:xfrm>
            <a:custGeom>
              <a:avLst/>
              <a:gdLst>
                <a:gd name="T0" fmla="*/ 0 w 1644"/>
                <a:gd name="T1" fmla="*/ 1644 h 1644"/>
                <a:gd name="T2" fmla="*/ 1643 w 1644"/>
                <a:gd name="T3" fmla="*/ 0 h 1644"/>
                <a:gd name="T4" fmla="*/ 1644 w 1644"/>
                <a:gd name="T5" fmla="*/ 0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4" h="1644">
                  <a:moveTo>
                    <a:pt x="0" y="1644"/>
                  </a:moveTo>
                  <a:lnTo>
                    <a:pt x="1643" y="0"/>
                  </a:lnTo>
                  <a:lnTo>
                    <a:pt x="164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65" name="Freeform 365"/>
            <p:cNvSpPr>
              <a:spLocks/>
            </p:cNvSpPr>
            <p:nvPr/>
          </p:nvSpPr>
          <p:spPr bwMode="auto">
            <a:xfrm>
              <a:off x="3615" y="3583"/>
              <a:ext cx="250" cy="251"/>
            </a:xfrm>
            <a:custGeom>
              <a:avLst/>
              <a:gdLst>
                <a:gd name="T0" fmla="*/ 0 w 2341"/>
                <a:gd name="T1" fmla="*/ 2342 h 2342"/>
                <a:gd name="T2" fmla="*/ 2340 w 2341"/>
                <a:gd name="T3" fmla="*/ 0 h 2342"/>
                <a:gd name="T4" fmla="*/ 2341 w 2341"/>
                <a:gd name="T5" fmla="*/ 0 h 2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1" h="2342">
                  <a:moveTo>
                    <a:pt x="0" y="2342"/>
                  </a:moveTo>
                  <a:lnTo>
                    <a:pt x="2340" y="0"/>
                  </a:lnTo>
                  <a:lnTo>
                    <a:pt x="234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66" name="Freeform 366"/>
            <p:cNvSpPr>
              <a:spLocks/>
            </p:cNvSpPr>
            <p:nvPr/>
          </p:nvSpPr>
          <p:spPr bwMode="auto">
            <a:xfrm>
              <a:off x="3866" y="3398"/>
              <a:ext cx="185" cy="185"/>
            </a:xfrm>
            <a:custGeom>
              <a:avLst/>
              <a:gdLst>
                <a:gd name="T0" fmla="*/ 0 w 1720"/>
                <a:gd name="T1" fmla="*/ 1720 h 1720"/>
                <a:gd name="T2" fmla="*/ 1719 w 1720"/>
                <a:gd name="T3" fmla="*/ 0 h 1720"/>
                <a:gd name="T4" fmla="*/ 1720 w 1720"/>
                <a:gd name="T5" fmla="*/ 0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0" h="1720">
                  <a:moveTo>
                    <a:pt x="0" y="1720"/>
                  </a:moveTo>
                  <a:lnTo>
                    <a:pt x="1719" y="0"/>
                  </a:lnTo>
                  <a:lnTo>
                    <a:pt x="172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67" name="Freeform 367"/>
            <p:cNvSpPr>
              <a:spLocks/>
            </p:cNvSpPr>
            <p:nvPr/>
          </p:nvSpPr>
          <p:spPr bwMode="auto">
            <a:xfrm>
              <a:off x="3621" y="3599"/>
              <a:ext cx="250" cy="250"/>
            </a:xfrm>
            <a:custGeom>
              <a:avLst/>
              <a:gdLst>
                <a:gd name="T0" fmla="*/ 0 w 2338"/>
                <a:gd name="T1" fmla="*/ 2338 h 2338"/>
                <a:gd name="T2" fmla="*/ 2337 w 2338"/>
                <a:gd name="T3" fmla="*/ 0 h 2338"/>
                <a:gd name="T4" fmla="*/ 2338 w 2338"/>
                <a:gd name="T5" fmla="*/ 0 h 2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38" h="2338">
                  <a:moveTo>
                    <a:pt x="0" y="2338"/>
                  </a:moveTo>
                  <a:lnTo>
                    <a:pt x="2337" y="0"/>
                  </a:lnTo>
                  <a:lnTo>
                    <a:pt x="233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68" name="Freeform 368"/>
            <p:cNvSpPr>
              <a:spLocks/>
            </p:cNvSpPr>
            <p:nvPr/>
          </p:nvSpPr>
          <p:spPr bwMode="auto">
            <a:xfrm>
              <a:off x="3872" y="3407"/>
              <a:ext cx="192" cy="192"/>
            </a:xfrm>
            <a:custGeom>
              <a:avLst/>
              <a:gdLst>
                <a:gd name="T0" fmla="*/ 0 w 1790"/>
                <a:gd name="T1" fmla="*/ 1791 h 1791"/>
                <a:gd name="T2" fmla="*/ 1789 w 1790"/>
                <a:gd name="T3" fmla="*/ 0 h 1791"/>
                <a:gd name="T4" fmla="*/ 1790 w 1790"/>
                <a:gd name="T5" fmla="*/ 0 h 1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90" h="1791">
                  <a:moveTo>
                    <a:pt x="0" y="1791"/>
                  </a:moveTo>
                  <a:lnTo>
                    <a:pt x="1789" y="0"/>
                  </a:lnTo>
                  <a:lnTo>
                    <a:pt x="179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69" name="Freeform 369"/>
            <p:cNvSpPr>
              <a:spLocks/>
            </p:cNvSpPr>
            <p:nvPr/>
          </p:nvSpPr>
          <p:spPr bwMode="auto">
            <a:xfrm>
              <a:off x="3645" y="3615"/>
              <a:ext cx="232" cy="233"/>
            </a:xfrm>
            <a:custGeom>
              <a:avLst/>
              <a:gdLst>
                <a:gd name="T0" fmla="*/ 0 w 2169"/>
                <a:gd name="T1" fmla="*/ 2169 h 2169"/>
                <a:gd name="T2" fmla="*/ 2168 w 2169"/>
                <a:gd name="T3" fmla="*/ 0 h 2169"/>
                <a:gd name="T4" fmla="*/ 2169 w 2169"/>
                <a:gd name="T5" fmla="*/ 0 h 2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9" h="2169">
                  <a:moveTo>
                    <a:pt x="0" y="2169"/>
                  </a:moveTo>
                  <a:lnTo>
                    <a:pt x="2168" y="0"/>
                  </a:lnTo>
                  <a:lnTo>
                    <a:pt x="216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70" name="Freeform 370"/>
            <p:cNvSpPr>
              <a:spLocks/>
            </p:cNvSpPr>
            <p:nvPr/>
          </p:nvSpPr>
          <p:spPr bwMode="auto">
            <a:xfrm>
              <a:off x="3877" y="3416"/>
              <a:ext cx="200" cy="199"/>
            </a:xfrm>
            <a:custGeom>
              <a:avLst/>
              <a:gdLst>
                <a:gd name="T0" fmla="*/ 0 w 1856"/>
                <a:gd name="T1" fmla="*/ 1856 h 1856"/>
                <a:gd name="T2" fmla="*/ 1855 w 1856"/>
                <a:gd name="T3" fmla="*/ 0 h 1856"/>
                <a:gd name="T4" fmla="*/ 1856 w 1856"/>
                <a:gd name="T5" fmla="*/ 0 h 1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56" h="1856">
                  <a:moveTo>
                    <a:pt x="0" y="1856"/>
                  </a:moveTo>
                  <a:lnTo>
                    <a:pt x="1855" y="0"/>
                  </a:lnTo>
                  <a:lnTo>
                    <a:pt x="185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71" name="Freeform 371"/>
            <p:cNvSpPr>
              <a:spLocks/>
            </p:cNvSpPr>
            <p:nvPr/>
          </p:nvSpPr>
          <p:spPr bwMode="auto">
            <a:xfrm>
              <a:off x="3680" y="3632"/>
              <a:ext cx="203" cy="203"/>
            </a:xfrm>
            <a:custGeom>
              <a:avLst/>
              <a:gdLst>
                <a:gd name="T0" fmla="*/ 0 w 1896"/>
                <a:gd name="T1" fmla="*/ 1897 h 1897"/>
                <a:gd name="T2" fmla="*/ 1894 w 1896"/>
                <a:gd name="T3" fmla="*/ 0 h 1897"/>
                <a:gd name="T4" fmla="*/ 1896 w 1896"/>
                <a:gd name="T5" fmla="*/ 0 h 1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96" h="1897">
                  <a:moveTo>
                    <a:pt x="0" y="1897"/>
                  </a:moveTo>
                  <a:lnTo>
                    <a:pt x="1894" y="0"/>
                  </a:lnTo>
                  <a:lnTo>
                    <a:pt x="189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72" name="Freeform 372"/>
            <p:cNvSpPr>
              <a:spLocks/>
            </p:cNvSpPr>
            <p:nvPr/>
          </p:nvSpPr>
          <p:spPr bwMode="auto">
            <a:xfrm>
              <a:off x="3883" y="3425"/>
              <a:ext cx="206" cy="207"/>
            </a:xfrm>
            <a:custGeom>
              <a:avLst/>
              <a:gdLst>
                <a:gd name="T0" fmla="*/ 0 w 1917"/>
                <a:gd name="T1" fmla="*/ 1917 h 1917"/>
                <a:gd name="T2" fmla="*/ 1916 w 1917"/>
                <a:gd name="T3" fmla="*/ 0 h 1917"/>
                <a:gd name="T4" fmla="*/ 1917 w 1917"/>
                <a:gd name="T5" fmla="*/ 0 h 1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17" h="1917">
                  <a:moveTo>
                    <a:pt x="0" y="1917"/>
                  </a:moveTo>
                  <a:lnTo>
                    <a:pt x="1916" y="0"/>
                  </a:lnTo>
                  <a:lnTo>
                    <a:pt x="191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73" name="Freeform 373"/>
            <p:cNvSpPr>
              <a:spLocks/>
            </p:cNvSpPr>
            <p:nvPr/>
          </p:nvSpPr>
          <p:spPr bwMode="auto">
            <a:xfrm>
              <a:off x="3714" y="3648"/>
              <a:ext cx="175" cy="174"/>
            </a:xfrm>
            <a:custGeom>
              <a:avLst/>
              <a:gdLst>
                <a:gd name="T0" fmla="*/ 0 w 1623"/>
                <a:gd name="T1" fmla="*/ 1624 h 1624"/>
                <a:gd name="T2" fmla="*/ 1622 w 1623"/>
                <a:gd name="T3" fmla="*/ 0 h 1624"/>
                <a:gd name="T4" fmla="*/ 1623 w 1623"/>
                <a:gd name="T5" fmla="*/ 0 h 1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3" h="1624">
                  <a:moveTo>
                    <a:pt x="0" y="1624"/>
                  </a:moveTo>
                  <a:lnTo>
                    <a:pt x="1622" y="0"/>
                  </a:lnTo>
                  <a:lnTo>
                    <a:pt x="162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74" name="Freeform 374"/>
            <p:cNvSpPr>
              <a:spLocks/>
            </p:cNvSpPr>
            <p:nvPr/>
          </p:nvSpPr>
          <p:spPr bwMode="auto">
            <a:xfrm>
              <a:off x="3889" y="3436"/>
              <a:ext cx="212" cy="212"/>
            </a:xfrm>
            <a:custGeom>
              <a:avLst/>
              <a:gdLst>
                <a:gd name="T0" fmla="*/ 0 w 1973"/>
                <a:gd name="T1" fmla="*/ 1974 h 1974"/>
                <a:gd name="T2" fmla="*/ 1972 w 1973"/>
                <a:gd name="T3" fmla="*/ 0 h 1974"/>
                <a:gd name="T4" fmla="*/ 1973 w 1973"/>
                <a:gd name="T5" fmla="*/ 0 h 1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3" h="1974">
                  <a:moveTo>
                    <a:pt x="0" y="1974"/>
                  </a:moveTo>
                  <a:lnTo>
                    <a:pt x="1972" y="0"/>
                  </a:lnTo>
                  <a:lnTo>
                    <a:pt x="197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75" name="Freeform 375"/>
            <p:cNvSpPr>
              <a:spLocks/>
            </p:cNvSpPr>
            <p:nvPr/>
          </p:nvSpPr>
          <p:spPr bwMode="auto">
            <a:xfrm>
              <a:off x="3750" y="3664"/>
              <a:ext cx="146" cy="145"/>
            </a:xfrm>
            <a:custGeom>
              <a:avLst/>
              <a:gdLst>
                <a:gd name="T0" fmla="*/ 0 w 1351"/>
                <a:gd name="T1" fmla="*/ 1352 h 1352"/>
                <a:gd name="T2" fmla="*/ 1350 w 1351"/>
                <a:gd name="T3" fmla="*/ 0 h 1352"/>
                <a:gd name="T4" fmla="*/ 1351 w 1351"/>
                <a:gd name="T5" fmla="*/ 0 h 1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51" h="1352">
                  <a:moveTo>
                    <a:pt x="0" y="1352"/>
                  </a:moveTo>
                  <a:lnTo>
                    <a:pt x="1350" y="0"/>
                  </a:lnTo>
                  <a:lnTo>
                    <a:pt x="135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76" name="Freeform 376"/>
            <p:cNvSpPr>
              <a:spLocks/>
            </p:cNvSpPr>
            <p:nvPr/>
          </p:nvSpPr>
          <p:spPr bwMode="auto">
            <a:xfrm>
              <a:off x="3895" y="3446"/>
              <a:ext cx="217" cy="218"/>
            </a:xfrm>
            <a:custGeom>
              <a:avLst/>
              <a:gdLst>
                <a:gd name="T0" fmla="*/ 0 w 2027"/>
                <a:gd name="T1" fmla="*/ 2026 h 2026"/>
                <a:gd name="T2" fmla="*/ 2026 w 2027"/>
                <a:gd name="T3" fmla="*/ 0 h 2026"/>
                <a:gd name="T4" fmla="*/ 2027 w 2027"/>
                <a:gd name="T5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27" h="2026">
                  <a:moveTo>
                    <a:pt x="0" y="2026"/>
                  </a:moveTo>
                  <a:lnTo>
                    <a:pt x="2026" y="0"/>
                  </a:lnTo>
                  <a:lnTo>
                    <a:pt x="202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77" name="Freeform 377"/>
            <p:cNvSpPr>
              <a:spLocks/>
            </p:cNvSpPr>
            <p:nvPr/>
          </p:nvSpPr>
          <p:spPr bwMode="auto">
            <a:xfrm>
              <a:off x="3785" y="3679"/>
              <a:ext cx="116" cy="116"/>
            </a:xfrm>
            <a:custGeom>
              <a:avLst/>
              <a:gdLst>
                <a:gd name="T0" fmla="*/ 0 w 1078"/>
                <a:gd name="T1" fmla="*/ 1079 h 1079"/>
                <a:gd name="T2" fmla="*/ 1077 w 1078"/>
                <a:gd name="T3" fmla="*/ 0 h 1079"/>
                <a:gd name="T4" fmla="*/ 1078 w 1078"/>
                <a:gd name="T5" fmla="*/ 0 h 1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78" h="1079">
                  <a:moveTo>
                    <a:pt x="0" y="1079"/>
                  </a:moveTo>
                  <a:lnTo>
                    <a:pt x="1077" y="0"/>
                  </a:lnTo>
                  <a:lnTo>
                    <a:pt x="107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78" name="Freeform 378"/>
            <p:cNvSpPr>
              <a:spLocks/>
            </p:cNvSpPr>
            <p:nvPr/>
          </p:nvSpPr>
          <p:spPr bwMode="auto">
            <a:xfrm>
              <a:off x="3900" y="3457"/>
              <a:ext cx="223" cy="222"/>
            </a:xfrm>
            <a:custGeom>
              <a:avLst/>
              <a:gdLst>
                <a:gd name="T0" fmla="*/ 0 w 2075"/>
                <a:gd name="T1" fmla="*/ 2075 h 2075"/>
                <a:gd name="T2" fmla="*/ 2074 w 2075"/>
                <a:gd name="T3" fmla="*/ 0 h 2075"/>
                <a:gd name="T4" fmla="*/ 2075 w 2075"/>
                <a:gd name="T5" fmla="*/ 0 h 20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" h="2075">
                  <a:moveTo>
                    <a:pt x="0" y="2075"/>
                  </a:moveTo>
                  <a:lnTo>
                    <a:pt x="2074" y="0"/>
                  </a:lnTo>
                  <a:lnTo>
                    <a:pt x="207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79" name="Freeform 379"/>
            <p:cNvSpPr>
              <a:spLocks/>
            </p:cNvSpPr>
            <p:nvPr/>
          </p:nvSpPr>
          <p:spPr bwMode="auto">
            <a:xfrm>
              <a:off x="3819" y="3696"/>
              <a:ext cx="88" cy="87"/>
            </a:xfrm>
            <a:custGeom>
              <a:avLst/>
              <a:gdLst>
                <a:gd name="T0" fmla="*/ 0 w 806"/>
                <a:gd name="T1" fmla="*/ 806 h 806"/>
                <a:gd name="T2" fmla="*/ 805 w 806"/>
                <a:gd name="T3" fmla="*/ 0 h 806"/>
                <a:gd name="T4" fmla="*/ 806 w 806"/>
                <a:gd name="T5" fmla="*/ 0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06" h="806">
                  <a:moveTo>
                    <a:pt x="0" y="806"/>
                  </a:moveTo>
                  <a:lnTo>
                    <a:pt x="805" y="0"/>
                  </a:lnTo>
                  <a:lnTo>
                    <a:pt x="80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80" name="Freeform 380"/>
            <p:cNvSpPr>
              <a:spLocks/>
            </p:cNvSpPr>
            <p:nvPr/>
          </p:nvSpPr>
          <p:spPr bwMode="auto">
            <a:xfrm>
              <a:off x="3906" y="3468"/>
              <a:ext cx="228" cy="228"/>
            </a:xfrm>
            <a:custGeom>
              <a:avLst/>
              <a:gdLst>
                <a:gd name="T0" fmla="*/ 0 w 2121"/>
                <a:gd name="T1" fmla="*/ 2122 h 2122"/>
                <a:gd name="T2" fmla="*/ 2120 w 2121"/>
                <a:gd name="T3" fmla="*/ 0 h 2122"/>
                <a:gd name="T4" fmla="*/ 2121 w 2121"/>
                <a:gd name="T5" fmla="*/ 0 h 2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21" h="2122">
                  <a:moveTo>
                    <a:pt x="0" y="2122"/>
                  </a:moveTo>
                  <a:lnTo>
                    <a:pt x="2120" y="0"/>
                  </a:lnTo>
                  <a:lnTo>
                    <a:pt x="212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81" name="Freeform 381"/>
            <p:cNvSpPr>
              <a:spLocks/>
            </p:cNvSpPr>
            <p:nvPr/>
          </p:nvSpPr>
          <p:spPr bwMode="auto">
            <a:xfrm>
              <a:off x="3855" y="3711"/>
              <a:ext cx="55" cy="56"/>
            </a:xfrm>
            <a:custGeom>
              <a:avLst/>
              <a:gdLst>
                <a:gd name="T0" fmla="*/ 0 w 533"/>
                <a:gd name="T1" fmla="*/ 533 h 533"/>
                <a:gd name="T2" fmla="*/ 532 w 533"/>
                <a:gd name="T3" fmla="*/ 0 h 533"/>
                <a:gd name="T4" fmla="*/ 533 w 533"/>
                <a:gd name="T5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3" h="533">
                  <a:moveTo>
                    <a:pt x="0" y="533"/>
                  </a:moveTo>
                  <a:lnTo>
                    <a:pt x="532" y="0"/>
                  </a:lnTo>
                  <a:lnTo>
                    <a:pt x="53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82" name="Freeform 382"/>
            <p:cNvSpPr>
              <a:spLocks/>
            </p:cNvSpPr>
            <p:nvPr/>
          </p:nvSpPr>
          <p:spPr bwMode="auto">
            <a:xfrm>
              <a:off x="3912" y="3480"/>
              <a:ext cx="232" cy="231"/>
            </a:xfrm>
            <a:custGeom>
              <a:avLst/>
              <a:gdLst>
                <a:gd name="T0" fmla="*/ 0 w 2162"/>
                <a:gd name="T1" fmla="*/ 2164 h 2164"/>
                <a:gd name="T2" fmla="*/ 2161 w 2162"/>
                <a:gd name="T3" fmla="*/ 0 h 2164"/>
                <a:gd name="T4" fmla="*/ 2162 w 2162"/>
                <a:gd name="T5" fmla="*/ 0 h 2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2" h="2164">
                  <a:moveTo>
                    <a:pt x="0" y="2164"/>
                  </a:moveTo>
                  <a:lnTo>
                    <a:pt x="2161" y="0"/>
                  </a:lnTo>
                  <a:lnTo>
                    <a:pt x="216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83" name="Freeform 383"/>
            <p:cNvSpPr>
              <a:spLocks/>
            </p:cNvSpPr>
            <p:nvPr/>
          </p:nvSpPr>
          <p:spPr bwMode="auto">
            <a:xfrm>
              <a:off x="3890" y="3728"/>
              <a:ext cx="27" cy="28"/>
            </a:xfrm>
            <a:custGeom>
              <a:avLst/>
              <a:gdLst>
                <a:gd name="T0" fmla="*/ 0 w 261"/>
                <a:gd name="T1" fmla="*/ 260 h 260"/>
                <a:gd name="T2" fmla="*/ 260 w 261"/>
                <a:gd name="T3" fmla="*/ 0 h 260"/>
                <a:gd name="T4" fmla="*/ 261 w 261"/>
                <a:gd name="T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1" h="260">
                  <a:moveTo>
                    <a:pt x="0" y="260"/>
                  </a:moveTo>
                  <a:lnTo>
                    <a:pt x="260" y="0"/>
                  </a:lnTo>
                  <a:lnTo>
                    <a:pt x="26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84" name="Freeform 384"/>
            <p:cNvSpPr>
              <a:spLocks/>
            </p:cNvSpPr>
            <p:nvPr/>
          </p:nvSpPr>
          <p:spPr bwMode="auto">
            <a:xfrm>
              <a:off x="3917" y="3491"/>
              <a:ext cx="237" cy="237"/>
            </a:xfrm>
            <a:custGeom>
              <a:avLst/>
              <a:gdLst>
                <a:gd name="T0" fmla="*/ 0 w 2202"/>
                <a:gd name="T1" fmla="*/ 2203 h 2203"/>
                <a:gd name="T2" fmla="*/ 2201 w 2202"/>
                <a:gd name="T3" fmla="*/ 0 h 2203"/>
                <a:gd name="T4" fmla="*/ 2202 w 2202"/>
                <a:gd name="T5" fmla="*/ 0 h 2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2" h="2203">
                  <a:moveTo>
                    <a:pt x="0" y="2203"/>
                  </a:moveTo>
                  <a:lnTo>
                    <a:pt x="2201" y="0"/>
                  </a:lnTo>
                  <a:lnTo>
                    <a:pt x="220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85" name="Freeform 385"/>
            <p:cNvSpPr>
              <a:spLocks/>
            </p:cNvSpPr>
            <p:nvPr/>
          </p:nvSpPr>
          <p:spPr bwMode="auto">
            <a:xfrm>
              <a:off x="3924" y="3503"/>
              <a:ext cx="239" cy="240"/>
            </a:xfrm>
            <a:custGeom>
              <a:avLst/>
              <a:gdLst>
                <a:gd name="T0" fmla="*/ 0 w 2225"/>
                <a:gd name="T1" fmla="*/ 2224 h 2224"/>
                <a:gd name="T2" fmla="*/ 2224 w 2225"/>
                <a:gd name="T3" fmla="*/ 0 h 2224"/>
                <a:gd name="T4" fmla="*/ 2225 w 2225"/>
                <a:gd name="T5" fmla="*/ 0 h 2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25" h="2224">
                  <a:moveTo>
                    <a:pt x="0" y="2224"/>
                  </a:moveTo>
                  <a:lnTo>
                    <a:pt x="2224" y="0"/>
                  </a:lnTo>
                  <a:lnTo>
                    <a:pt x="222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86" name="Freeform 386"/>
            <p:cNvSpPr>
              <a:spLocks/>
            </p:cNvSpPr>
            <p:nvPr/>
          </p:nvSpPr>
          <p:spPr bwMode="auto">
            <a:xfrm>
              <a:off x="3960" y="3516"/>
              <a:ext cx="213" cy="213"/>
            </a:xfrm>
            <a:custGeom>
              <a:avLst/>
              <a:gdLst>
                <a:gd name="T0" fmla="*/ 0 w 1981"/>
                <a:gd name="T1" fmla="*/ 1982 h 1982"/>
                <a:gd name="T2" fmla="*/ 1980 w 1981"/>
                <a:gd name="T3" fmla="*/ 0 h 1982"/>
                <a:gd name="T4" fmla="*/ 1981 w 1981"/>
                <a:gd name="T5" fmla="*/ 0 h 1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1" h="1982">
                  <a:moveTo>
                    <a:pt x="0" y="1982"/>
                  </a:moveTo>
                  <a:lnTo>
                    <a:pt x="1980" y="0"/>
                  </a:lnTo>
                  <a:lnTo>
                    <a:pt x="198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87" name="Freeform 387"/>
            <p:cNvSpPr>
              <a:spLocks/>
            </p:cNvSpPr>
            <p:nvPr/>
          </p:nvSpPr>
          <p:spPr bwMode="auto">
            <a:xfrm>
              <a:off x="3995" y="3530"/>
              <a:ext cx="186" cy="186"/>
            </a:xfrm>
            <a:custGeom>
              <a:avLst/>
              <a:gdLst>
                <a:gd name="T0" fmla="*/ 0 w 1735"/>
                <a:gd name="T1" fmla="*/ 1736 h 1736"/>
                <a:gd name="T2" fmla="*/ 1734 w 1735"/>
                <a:gd name="T3" fmla="*/ 0 h 1736"/>
                <a:gd name="T4" fmla="*/ 1735 w 1735"/>
                <a:gd name="T5" fmla="*/ 0 h 1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5" h="1736">
                  <a:moveTo>
                    <a:pt x="0" y="1736"/>
                  </a:moveTo>
                  <a:lnTo>
                    <a:pt x="1734" y="0"/>
                  </a:lnTo>
                  <a:lnTo>
                    <a:pt x="173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88" name="Freeform 388"/>
            <p:cNvSpPr>
              <a:spLocks/>
            </p:cNvSpPr>
            <p:nvPr/>
          </p:nvSpPr>
          <p:spPr bwMode="auto">
            <a:xfrm>
              <a:off x="4029" y="3544"/>
              <a:ext cx="160" cy="159"/>
            </a:xfrm>
            <a:custGeom>
              <a:avLst/>
              <a:gdLst>
                <a:gd name="T0" fmla="*/ 0 w 1484"/>
                <a:gd name="T1" fmla="*/ 1484 h 1484"/>
                <a:gd name="T2" fmla="*/ 1483 w 1484"/>
                <a:gd name="T3" fmla="*/ 0 h 1484"/>
                <a:gd name="T4" fmla="*/ 1484 w 1484"/>
                <a:gd name="T5" fmla="*/ 0 h 1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4" h="1484">
                  <a:moveTo>
                    <a:pt x="0" y="1484"/>
                  </a:moveTo>
                  <a:lnTo>
                    <a:pt x="1483" y="0"/>
                  </a:lnTo>
                  <a:lnTo>
                    <a:pt x="148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89" name="Freeform 389"/>
            <p:cNvSpPr>
              <a:spLocks/>
            </p:cNvSpPr>
            <p:nvPr/>
          </p:nvSpPr>
          <p:spPr bwMode="auto">
            <a:xfrm>
              <a:off x="4064" y="3558"/>
              <a:ext cx="132" cy="132"/>
            </a:xfrm>
            <a:custGeom>
              <a:avLst/>
              <a:gdLst>
                <a:gd name="T0" fmla="*/ 0 w 1225"/>
                <a:gd name="T1" fmla="*/ 1226 h 1226"/>
                <a:gd name="T2" fmla="*/ 1224 w 1225"/>
                <a:gd name="T3" fmla="*/ 0 h 1226"/>
                <a:gd name="T4" fmla="*/ 1225 w 1225"/>
                <a:gd name="T5" fmla="*/ 0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25" h="1226">
                  <a:moveTo>
                    <a:pt x="0" y="1226"/>
                  </a:moveTo>
                  <a:lnTo>
                    <a:pt x="1224" y="0"/>
                  </a:lnTo>
                  <a:lnTo>
                    <a:pt x="122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90" name="Freeform 390"/>
            <p:cNvSpPr>
              <a:spLocks/>
            </p:cNvSpPr>
            <p:nvPr/>
          </p:nvSpPr>
          <p:spPr bwMode="auto">
            <a:xfrm>
              <a:off x="4100" y="3574"/>
              <a:ext cx="103" cy="103"/>
            </a:xfrm>
            <a:custGeom>
              <a:avLst/>
              <a:gdLst>
                <a:gd name="T0" fmla="*/ 0 w 962"/>
                <a:gd name="T1" fmla="*/ 962 h 962"/>
                <a:gd name="T2" fmla="*/ 961 w 962"/>
                <a:gd name="T3" fmla="*/ 0 h 962"/>
                <a:gd name="T4" fmla="*/ 962 w 962"/>
                <a:gd name="T5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2" h="962">
                  <a:moveTo>
                    <a:pt x="0" y="962"/>
                  </a:moveTo>
                  <a:lnTo>
                    <a:pt x="961" y="0"/>
                  </a:lnTo>
                  <a:lnTo>
                    <a:pt x="96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91" name="Freeform 391"/>
            <p:cNvSpPr>
              <a:spLocks/>
            </p:cNvSpPr>
            <p:nvPr/>
          </p:nvSpPr>
          <p:spPr bwMode="auto">
            <a:xfrm>
              <a:off x="4135" y="3589"/>
              <a:ext cx="74" cy="74"/>
            </a:xfrm>
            <a:custGeom>
              <a:avLst/>
              <a:gdLst>
                <a:gd name="T0" fmla="*/ 0 w 694"/>
                <a:gd name="T1" fmla="*/ 693 h 693"/>
                <a:gd name="T2" fmla="*/ 693 w 694"/>
                <a:gd name="T3" fmla="*/ 0 h 693"/>
                <a:gd name="T4" fmla="*/ 694 w 694"/>
                <a:gd name="T5" fmla="*/ 0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4" h="693">
                  <a:moveTo>
                    <a:pt x="0" y="693"/>
                  </a:moveTo>
                  <a:lnTo>
                    <a:pt x="693" y="0"/>
                  </a:lnTo>
                  <a:lnTo>
                    <a:pt x="69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92" name="Freeform 392"/>
            <p:cNvSpPr>
              <a:spLocks/>
            </p:cNvSpPr>
            <p:nvPr/>
          </p:nvSpPr>
          <p:spPr bwMode="auto">
            <a:xfrm>
              <a:off x="4169" y="3605"/>
              <a:ext cx="46" cy="46"/>
            </a:xfrm>
            <a:custGeom>
              <a:avLst/>
              <a:gdLst>
                <a:gd name="T0" fmla="*/ 0 w 422"/>
                <a:gd name="T1" fmla="*/ 420 h 420"/>
                <a:gd name="T2" fmla="*/ 421 w 422"/>
                <a:gd name="T3" fmla="*/ 0 h 420"/>
                <a:gd name="T4" fmla="*/ 422 w 422"/>
                <a:gd name="T5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2" h="420">
                  <a:moveTo>
                    <a:pt x="0" y="420"/>
                  </a:moveTo>
                  <a:lnTo>
                    <a:pt x="421" y="0"/>
                  </a:lnTo>
                  <a:lnTo>
                    <a:pt x="42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93" name="Freeform 393"/>
            <p:cNvSpPr>
              <a:spLocks/>
            </p:cNvSpPr>
            <p:nvPr/>
          </p:nvSpPr>
          <p:spPr bwMode="auto">
            <a:xfrm>
              <a:off x="4205" y="3621"/>
              <a:ext cx="15" cy="16"/>
            </a:xfrm>
            <a:custGeom>
              <a:avLst/>
              <a:gdLst>
                <a:gd name="T0" fmla="*/ 0 w 148"/>
                <a:gd name="T1" fmla="*/ 146 h 146"/>
                <a:gd name="T2" fmla="*/ 147 w 148"/>
                <a:gd name="T3" fmla="*/ 0 h 146"/>
                <a:gd name="T4" fmla="*/ 148 w 148"/>
                <a:gd name="T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" h="146">
                  <a:moveTo>
                    <a:pt x="0" y="146"/>
                  </a:moveTo>
                  <a:lnTo>
                    <a:pt x="147" y="0"/>
                  </a:lnTo>
                  <a:lnTo>
                    <a:pt x="14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94" name="Freeform 394"/>
            <p:cNvSpPr>
              <a:spLocks/>
            </p:cNvSpPr>
            <p:nvPr/>
          </p:nvSpPr>
          <p:spPr bwMode="auto">
            <a:xfrm>
              <a:off x="3760" y="3285"/>
              <a:ext cx="47" cy="131"/>
            </a:xfrm>
            <a:custGeom>
              <a:avLst/>
              <a:gdLst>
                <a:gd name="T0" fmla="*/ 0 w 435"/>
                <a:gd name="T1" fmla="*/ 0 h 1218"/>
                <a:gd name="T2" fmla="*/ 434 w 435"/>
                <a:gd name="T3" fmla="*/ 1218 h 1218"/>
                <a:gd name="T4" fmla="*/ 435 w 435"/>
                <a:gd name="T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5" h="1218">
                  <a:moveTo>
                    <a:pt x="0" y="0"/>
                  </a:moveTo>
                  <a:lnTo>
                    <a:pt x="434" y="1218"/>
                  </a:lnTo>
                  <a:lnTo>
                    <a:pt x="435" y="1218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95" name="Freeform 395"/>
            <p:cNvSpPr>
              <a:spLocks/>
            </p:cNvSpPr>
            <p:nvPr/>
          </p:nvSpPr>
          <p:spPr bwMode="auto">
            <a:xfrm>
              <a:off x="3817" y="3445"/>
              <a:ext cx="10" cy="29"/>
            </a:xfrm>
            <a:custGeom>
              <a:avLst/>
              <a:gdLst>
                <a:gd name="T0" fmla="*/ 0 w 96"/>
                <a:gd name="T1" fmla="*/ 0 h 271"/>
                <a:gd name="T2" fmla="*/ 95 w 96"/>
                <a:gd name="T3" fmla="*/ 271 h 271"/>
                <a:gd name="T4" fmla="*/ 96 w 96"/>
                <a:gd name="T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271">
                  <a:moveTo>
                    <a:pt x="0" y="0"/>
                  </a:moveTo>
                  <a:lnTo>
                    <a:pt x="95" y="271"/>
                  </a:lnTo>
                  <a:lnTo>
                    <a:pt x="96" y="271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96" name="Freeform 396"/>
            <p:cNvSpPr>
              <a:spLocks/>
            </p:cNvSpPr>
            <p:nvPr/>
          </p:nvSpPr>
          <p:spPr bwMode="auto">
            <a:xfrm>
              <a:off x="3838" y="3503"/>
              <a:ext cx="51" cy="147"/>
            </a:xfrm>
            <a:custGeom>
              <a:avLst/>
              <a:gdLst>
                <a:gd name="T0" fmla="*/ 0 w 485"/>
                <a:gd name="T1" fmla="*/ 0 h 1354"/>
                <a:gd name="T2" fmla="*/ 484 w 485"/>
                <a:gd name="T3" fmla="*/ 1354 h 1354"/>
                <a:gd name="T4" fmla="*/ 485 w 485"/>
                <a:gd name="T5" fmla="*/ 1354 h 1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5" h="1354">
                  <a:moveTo>
                    <a:pt x="0" y="0"/>
                  </a:moveTo>
                  <a:lnTo>
                    <a:pt x="484" y="1354"/>
                  </a:lnTo>
                  <a:lnTo>
                    <a:pt x="485" y="1354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97" name="Freeform 397"/>
            <p:cNvSpPr>
              <a:spLocks/>
            </p:cNvSpPr>
            <p:nvPr/>
          </p:nvSpPr>
          <p:spPr bwMode="auto">
            <a:xfrm>
              <a:off x="3899" y="3677"/>
              <a:ext cx="11" cy="29"/>
            </a:xfrm>
            <a:custGeom>
              <a:avLst/>
              <a:gdLst>
                <a:gd name="T0" fmla="*/ 0 w 97"/>
                <a:gd name="T1" fmla="*/ 0 h 270"/>
                <a:gd name="T2" fmla="*/ 96 w 97"/>
                <a:gd name="T3" fmla="*/ 270 h 270"/>
                <a:gd name="T4" fmla="*/ 97 w 97"/>
                <a:gd name="T5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" h="270">
                  <a:moveTo>
                    <a:pt x="0" y="0"/>
                  </a:moveTo>
                  <a:lnTo>
                    <a:pt x="96" y="270"/>
                  </a:lnTo>
                  <a:lnTo>
                    <a:pt x="97" y="27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98" name="Freeform 398"/>
            <p:cNvSpPr>
              <a:spLocks/>
            </p:cNvSpPr>
            <p:nvPr/>
          </p:nvSpPr>
          <p:spPr bwMode="auto">
            <a:xfrm>
              <a:off x="3920" y="3736"/>
              <a:ext cx="47" cy="130"/>
            </a:xfrm>
            <a:custGeom>
              <a:avLst/>
              <a:gdLst>
                <a:gd name="T0" fmla="*/ 0 w 435"/>
                <a:gd name="T1" fmla="*/ 0 h 1217"/>
                <a:gd name="T2" fmla="*/ 434 w 435"/>
                <a:gd name="T3" fmla="*/ 1217 h 1217"/>
                <a:gd name="T4" fmla="*/ 435 w 435"/>
                <a:gd name="T5" fmla="*/ 1217 h 1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5" h="1217">
                  <a:moveTo>
                    <a:pt x="0" y="0"/>
                  </a:moveTo>
                  <a:lnTo>
                    <a:pt x="434" y="1217"/>
                  </a:lnTo>
                  <a:lnTo>
                    <a:pt x="435" y="1217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599" name="Freeform 399"/>
            <p:cNvSpPr>
              <a:spLocks/>
            </p:cNvSpPr>
            <p:nvPr/>
          </p:nvSpPr>
          <p:spPr bwMode="auto">
            <a:xfrm>
              <a:off x="3586" y="3321"/>
              <a:ext cx="186" cy="535"/>
            </a:xfrm>
            <a:custGeom>
              <a:avLst/>
              <a:gdLst>
                <a:gd name="T0" fmla="*/ 349 w 1742"/>
                <a:gd name="T1" fmla="*/ 4981 h 4981"/>
                <a:gd name="T2" fmla="*/ 115 w 1742"/>
                <a:gd name="T3" fmla="*/ 4326 h 4981"/>
                <a:gd name="T4" fmla="*/ 0 w 1742"/>
                <a:gd name="T5" fmla="*/ 3643 h 4981"/>
                <a:gd name="T6" fmla="*/ 23 w 1742"/>
                <a:gd name="T7" fmla="*/ 2945 h 4981"/>
                <a:gd name="T8" fmla="*/ 168 w 1742"/>
                <a:gd name="T9" fmla="*/ 2264 h 4981"/>
                <a:gd name="T10" fmla="*/ 456 w 1742"/>
                <a:gd name="T11" fmla="*/ 1633 h 4981"/>
                <a:gd name="T12" fmla="*/ 830 w 1742"/>
                <a:gd name="T13" fmla="*/ 1045 h 4981"/>
                <a:gd name="T14" fmla="*/ 1263 w 1742"/>
                <a:gd name="T15" fmla="*/ 503 h 4981"/>
                <a:gd name="T16" fmla="*/ 1741 w 1742"/>
                <a:gd name="T17" fmla="*/ 0 h 4981"/>
                <a:gd name="T18" fmla="*/ 1742 w 1742"/>
                <a:gd name="T19" fmla="*/ 0 h 49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42" h="4981">
                  <a:moveTo>
                    <a:pt x="349" y="4981"/>
                  </a:moveTo>
                  <a:lnTo>
                    <a:pt x="115" y="4326"/>
                  </a:lnTo>
                  <a:lnTo>
                    <a:pt x="0" y="3643"/>
                  </a:lnTo>
                  <a:lnTo>
                    <a:pt x="23" y="2945"/>
                  </a:lnTo>
                  <a:lnTo>
                    <a:pt x="168" y="2264"/>
                  </a:lnTo>
                  <a:lnTo>
                    <a:pt x="456" y="1633"/>
                  </a:lnTo>
                  <a:lnTo>
                    <a:pt x="830" y="1045"/>
                  </a:lnTo>
                  <a:lnTo>
                    <a:pt x="1263" y="503"/>
                  </a:lnTo>
                  <a:lnTo>
                    <a:pt x="1741" y="0"/>
                  </a:lnTo>
                  <a:lnTo>
                    <a:pt x="174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00" name="Freeform 400"/>
            <p:cNvSpPr>
              <a:spLocks/>
            </p:cNvSpPr>
            <p:nvPr/>
          </p:nvSpPr>
          <p:spPr bwMode="auto">
            <a:xfrm>
              <a:off x="3772" y="3321"/>
              <a:ext cx="455" cy="320"/>
            </a:xfrm>
            <a:custGeom>
              <a:avLst/>
              <a:gdLst>
                <a:gd name="T0" fmla="*/ 4229 w 4229"/>
                <a:gd name="T1" fmla="*/ 2973 h 2973"/>
                <a:gd name="T2" fmla="*/ 3995 w 4229"/>
                <a:gd name="T3" fmla="*/ 2318 h 2973"/>
                <a:gd name="T4" fmla="*/ 3653 w 4229"/>
                <a:gd name="T5" fmla="*/ 1717 h 2973"/>
                <a:gd name="T6" fmla="*/ 3192 w 4229"/>
                <a:gd name="T7" fmla="*/ 1190 h 2973"/>
                <a:gd name="T8" fmla="*/ 2651 w 4229"/>
                <a:gd name="T9" fmla="*/ 755 h 2973"/>
                <a:gd name="T10" fmla="*/ 2027 w 4229"/>
                <a:gd name="T11" fmla="*/ 449 h 2973"/>
                <a:gd name="T12" fmla="*/ 1367 w 4229"/>
                <a:gd name="T13" fmla="*/ 231 h 2973"/>
                <a:gd name="T14" fmla="*/ 689 w 4229"/>
                <a:gd name="T15" fmla="*/ 86 h 2973"/>
                <a:gd name="T16" fmla="*/ 0 w 4229"/>
                <a:gd name="T17" fmla="*/ 0 h 2973"/>
                <a:gd name="T18" fmla="*/ 1 w 4229"/>
                <a:gd name="T19" fmla="*/ 0 h 2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29" h="2973">
                  <a:moveTo>
                    <a:pt x="4229" y="2973"/>
                  </a:moveTo>
                  <a:lnTo>
                    <a:pt x="3995" y="2318"/>
                  </a:lnTo>
                  <a:lnTo>
                    <a:pt x="3653" y="1717"/>
                  </a:lnTo>
                  <a:lnTo>
                    <a:pt x="3192" y="1190"/>
                  </a:lnTo>
                  <a:lnTo>
                    <a:pt x="2651" y="755"/>
                  </a:lnTo>
                  <a:lnTo>
                    <a:pt x="2027" y="449"/>
                  </a:lnTo>
                  <a:lnTo>
                    <a:pt x="1367" y="231"/>
                  </a:lnTo>
                  <a:lnTo>
                    <a:pt x="689" y="86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01" name="Freeform 401"/>
            <p:cNvSpPr>
              <a:spLocks/>
            </p:cNvSpPr>
            <p:nvPr/>
          </p:nvSpPr>
          <p:spPr bwMode="auto">
            <a:xfrm>
              <a:off x="3623" y="3641"/>
              <a:ext cx="604" cy="215"/>
            </a:xfrm>
            <a:custGeom>
              <a:avLst/>
              <a:gdLst>
                <a:gd name="T0" fmla="*/ 5621 w 5621"/>
                <a:gd name="T1" fmla="*/ 0 h 2008"/>
                <a:gd name="T2" fmla="*/ 0 w 5621"/>
                <a:gd name="T3" fmla="*/ 2008 h 2008"/>
                <a:gd name="T4" fmla="*/ 1 w 5621"/>
                <a:gd name="T5" fmla="*/ 2008 h 2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21" h="2008">
                  <a:moveTo>
                    <a:pt x="5621" y="0"/>
                  </a:moveTo>
                  <a:lnTo>
                    <a:pt x="0" y="2008"/>
                  </a:lnTo>
                  <a:lnTo>
                    <a:pt x="1" y="2008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02" name="Freeform 402"/>
            <p:cNvSpPr>
              <a:spLocks/>
            </p:cNvSpPr>
            <p:nvPr/>
          </p:nvSpPr>
          <p:spPr bwMode="auto">
            <a:xfrm>
              <a:off x="3702" y="3322"/>
              <a:ext cx="76" cy="76"/>
            </a:xfrm>
            <a:custGeom>
              <a:avLst/>
              <a:gdLst>
                <a:gd name="T0" fmla="*/ 0 w 706"/>
                <a:gd name="T1" fmla="*/ 705 h 705"/>
                <a:gd name="T2" fmla="*/ 670 w 706"/>
                <a:gd name="T3" fmla="*/ 34 h 705"/>
                <a:gd name="T4" fmla="*/ 705 w 706"/>
                <a:gd name="T5" fmla="*/ 0 h 705"/>
                <a:gd name="T6" fmla="*/ 706 w 706"/>
                <a:gd name="T7" fmla="*/ 0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6" h="705">
                  <a:moveTo>
                    <a:pt x="0" y="705"/>
                  </a:moveTo>
                  <a:lnTo>
                    <a:pt x="670" y="34"/>
                  </a:lnTo>
                  <a:lnTo>
                    <a:pt x="705" y="0"/>
                  </a:lnTo>
                  <a:lnTo>
                    <a:pt x="70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03" name="Freeform 403"/>
            <p:cNvSpPr>
              <a:spLocks/>
            </p:cNvSpPr>
            <p:nvPr/>
          </p:nvSpPr>
          <p:spPr bwMode="auto">
            <a:xfrm>
              <a:off x="3649" y="3324"/>
              <a:ext cx="149" cy="148"/>
            </a:xfrm>
            <a:custGeom>
              <a:avLst/>
              <a:gdLst>
                <a:gd name="T0" fmla="*/ 0 w 1387"/>
                <a:gd name="T1" fmla="*/ 1387 h 1387"/>
                <a:gd name="T2" fmla="*/ 1222 w 1387"/>
                <a:gd name="T3" fmla="*/ 165 h 1387"/>
                <a:gd name="T4" fmla="*/ 1386 w 1387"/>
                <a:gd name="T5" fmla="*/ 0 h 1387"/>
                <a:gd name="T6" fmla="*/ 1387 w 1387"/>
                <a:gd name="T7" fmla="*/ 0 h 1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7" h="1387">
                  <a:moveTo>
                    <a:pt x="0" y="1387"/>
                  </a:moveTo>
                  <a:lnTo>
                    <a:pt x="1222" y="165"/>
                  </a:lnTo>
                  <a:lnTo>
                    <a:pt x="1386" y="0"/>
                  </a:lnTo>
                  <a:lnTo>
                    <a:pt x="138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04" name="Freeform 404"/>
            <p:cNvSpPr>
              <a:spLocks/>
            </p:cNvSpPr>
            <p:nvPr/>
          </p:nvSpPr>
          <p:spPr bwMode="auto">
            <a:xfrm>
              <a:off x="3621" y="3326"/>
              <a:ext cx="196" cy="197"/>
            </a:xfrm>
            <a:custGeom>
              <a:avLst/>
              <a:gdLst>
                <a:gd name="T0" fmla="*/ 0 w 1828"/>
                <a:gd name="T1" fmla="*/ 1828 h 1828"/>
                <a:gd name="T2" fmla="*/ 1535 w 1828"/>
                <a:gd name="T3" fmla="*/ 292 h 1828"/>
                <a:gd name="T4" fmla="*/ 1827 w 1828"/>
                <a:gd name="T5" fmla="*/ 0 h 1828"/>
                <a:gd name="T6" fmla="*/ 1828 w 1828"/>
                <a:gd name="T7" fmla="*/ 0 h 1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28" h="1828">
                  <a:moveTo>
                    <a:pt x="0" y="1828"/>
                  </a:moveTo>
                  <a:lnTo>
                    <a:pt x="1535" y="292"/>
                  </a:lnTo>
                  <a:lnTo>
                    <a:pt x="1827" y="0"/>
                  </a:lnTo>
                  <a:lnTo>
                    <a:pt x="182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05" name="Freeform 405"/>
            <p:cNvSpPr>
              <a:spLocks/>
            </p:cNvSpPr>
            <p:nvPr/>
          </p:nvSpPr>
          <p:spPr bwMode="auto">
            <a:xfrm>
              <a:off x="3605" y="3329"/>
              <a:ext cx="231" cy="231"/>
            </a:xfrm>
            <a:custGeom>
              <a:avLst/>
              <a:gdLst>
                <a:gd name="T0" fmla="*/ 0 w 2153"/>
                <a:gd name="T1" fmla="*/ 2154 h 2154"/>
                <a:gd name="T2" fmla="*/ 1734 w 2153"/>
                <a:gd name="T3" fmla="*/ 417 h 2154"/>
                <a:gd name="T4" fmla="*/ 2152 w 2153"/>
                <a:gd name="T5" fmla="*/ 0 h 2154"/>
                <a:gd name="T6" fmla="*/ 2153 w 2153"/>
                <a:gd name="T7" fmla="*/ 0 h 2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53" h="2154">
                  <a:moveTo>
                    <a:pt x="0" y="2154"/>
                  </a:moveTo>
                  <a:lnTo>
                    <a:pt x="1734" y="417"/>
                  </a:lnTo>
                  <a:lnTo>
                    <a:pt x="2152" y="0"/>
                  </a:lnTo>
                  <a:lnTo>
                    <a:pt x="215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06" name="Freeform 406"/>
            <p:cNvSpPr>
              <a:spLocks/>
            </p:cNvSpPr>
            <p:nvPr/>
          </p:nvSpPr>
          <p:spPr bwMode="auto">
            <a:xfrm>
              <a:off x="3596" y="3332"/>
              <a:ext cx="259" cy="259"/>
            </a:xfrm>
            <a:custGeom>
              <a:avLst/>
              <a:gdLst>
                <a:gd name="T0" fmla="*/ 0 w 2412"/>
                <a:gd name="T1" fmla="*/ 2413 h 2413"/>
                <a:gd name="T2" fmla="*/ 1871 w 2412"/>
                <a:gd name="T3" fmla="*/ 541 h 2413"/>
                <a:gd name="T4" fmla="*/ 2411 w 2412"/>
                <a:gd name="T5" fmla="*/ 0 h 2413"/>
                <a:gd name="T6" fmla="*/ 2412 w 2412"/>
                <a:gd name="T7" fmla="*/ 0 h 2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12" h="2413">
                  <a:moveTo>
                    <a:pt x="0" y="2413"/>
                  </a:moveTo>
                  <a:lnTo>
                    <a:pt x="1871" y="541"/>
                  </a:lnTo>
                  <a:lnTo>
                    <a:pt x="2411" y="0"/>
                  </a:lnTo>
                  <a:lnTo>
                    <a:pt x="241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07" name="Freeform 407"/>
            <p:cNvSpPr>
              <a:spLocks/>
            </p:cNvSpPr>
            <p:nvPr/>
          </p:nvSpPr>
          <p:spPr bwMode="auto">
            <a:xfrm>
              <a:off x="3591" y="3335"/>
              <a:ext cx="283" cy="283"/>
            </a:xfrm>
            <a:custGeom>
              <a:avLst/>
              <a:gdLst>
                <a:gd name="T0" fmla="*/ 0 w 2634"/>
                <a:gd name="T1" fmla="*/ 2636 h 2636"/>
                <a:gd name="T2" fmla="*/ 1975 w 2634"/>
                <a:gd name="T3" fmla="*/ 658 h 2636"/>
                <a:gd name="T4" fmla="*/ 2633 w 2634"/>
                <a:gd name="T5" fmla="*/ 0 h 2636"/>
                <a:gd name="T6" fmla="*/ 2634 w 2634"/>
                <a:gd name="T7" fmla="*/ 0 h 2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34" h="2636">
                  <a:moveTo>
                    <a:pt x="0" y="2636"/>
                  </a:moveTo>
                  <a:lnTo>
                    <a:pt x="1975" y="658"/>
                  </a:lnTo>
                  <a:lnTo>
                    <a:pt x="2633" y="0"/>
                  </a:lnTo>
                  <a:lnTo>
                    <a:pt x="263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08" name="Freeform 408"/>
            <p:cNvSpPr>
              <a:spLocks/>
            </p:cNvSpPr>
            <p:nvPr/>
          </p:nvSpPr>
          <p:spPr bwMode="auto">
            <a:xfrm>
              <a:off x="3588" y="3339"/>
              <a:ext cx="304" cy="304"/>
            </a:xfrm>
            <a:custGeom>
              <a:avLst/>
              <a:gdLst>
                <a:gd name="T0" fmla="*/ 0 w 2832"/>
                <a:gd name="T1" fmla="*/ 2833 h 2833"/>
                <a:gd name="T2" fmla="*/ 2060 w 2832"/>
                <a:gd name="T3" fmla="*/ 772 h 2833"/>
                <a:gd name="T4" fmla="*/ 2831 w 2832"/>
                <a:gd name="T5" fmla="*/ 0 h 2833"/>
                <a:gd name="T6" fmla="*/ 2832 w 2832"/>
                <a:gd name="T7" fmla="*/ 0 h 2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32" h="2833">
                  <a:moveTo>
                    <a:pt x="0" y="2833"/>
                  </a:moveTo>
                  <a:lnTo>
                    <a:pt x="2060" y="772"/>
                  </a:lnTo>
                  <a:lnTo>
                    <a:pt x="2831" y="0"/>
                  </a:lnTo>
                  <a:lnTo>
                    <a:pt x="283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09" name="Freeform 409"/>
            <p:cNvSpPr>
              <a:spLocks/>
            </p:cNvSpPr>
            <p:nvPr/>
          </p:nvSpPr>
          <p:spPr bwMode="auto">
            <a:xfrm>
              <a:off x="3586" y="3344"/>
              <a:ext cx="323" cy="321"/>
            </a:xfrm>
            <a:custGeom>
              <a:avLst/>
              <a:gdLst>
                <a:gd name="T0" fmla="*/ 0 w 3012"/>
                <a:gd name="T1" fmla="*/ 3015 h 3015"/>
                <a:gd name="T2" fmla="*/ 2130 w 3012"/>
                <a:gd name="T3" fmla="*/ 882 h 3015"/>
                <a:gd name="T4" fmla="*/ 3011 w 3012"/>
                <a:gd name="T5" fmla="*/ 0 h 3015"/>
                <a:gd name="T6" fmla="*/ 3012 w 3012"/>
                <a:gd name="T7" fmla="*/ 0 h 3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12" h="3015">
                  <a:moveTo>
                    <a:pt x="0" y="3015"/>
                  </a:moveTo>
                  <a:lnTo>
                    <a:pt x="2130" y="882"/>
                  </a:lnTo>
                  <a:lnTo>
                    <a:pt x="3011" y="0"/>
                  </a:lnTo>
                  <a:lnTo>
                    <a:pt x="301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10" name="Freeform 410"/>
            <p:cNvSpPr>
              <a:spLocks/>
            </p:cNvSpPr>
            <p:nvPr/>
          </p:nvSpPr>
          <p:spPr bwMode="auto">
            <a:xfrm>
              <a:off x="3585" y="3348"/>
              <a:ext cx="341" cy="342"/>
            </a:xfrm>
            <a:custGeom>
              <a:avLst/>
              <a:gdLst>
                <a:gd name="T0" fmla="*/ 0 w 3179"/>
                <a:gd name="T1" fmla="*/ 3180 h 3180"/>
                <a:gd name="T2" fmla="*/ 2189 w 3179"/>
                <a:gd name="T3" fmla="*/ 990 h 3180"/>
                <a:gd name="T4" fmla="*/ 3178 w 3179"/>
                <a:gd name="T5" fmla="*/ 0 h 3180"/>
                <a:gd name="T6" fmla="*/ 3179 w 3179"/>
                <a:gd name="T7" fmla="*/ 0 h 3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79" h="3180">
                  <a:moveTo>
                    <a:pt x="0" y="3180"/>
                  </a:moveTo>
                  <a:lnTo>
                    <a:pt x="2189" y="990"/>
                  </a:lnTo>
                  <a:lnTo>
                    <a:pt x="3178" y="0"/>
                  </a:lnTo>
                  <a:lnTo>
                    <a:pt x="317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11" name="Freeform 411"/>
            <p:cNvSpPr>
              <a:spLocks/>
            </p:cNvSpPr>
            <p:nvPr/>
          </p:nvSpPr>
          <p:spPr bwMode="auto">
            <a:xfrm>
              <a:off x="3586" y="3353"/>
              <a:ext cx="357" cy="358"/>
            </a:xfrm>
            <a:custGeom>
              <a:avLst/>
              <a:gdLst>
                <a:gd name="T0" fmla="*/ 0 w 3330"/>
                <a:gd name="T1" fmla="*/ 3332 h 3332"/>
                <a:gd name="T2" fmla="*/ 2237 w 3330"/>
                <a:gd name="T3" fmla="*/ 1092 h 3332"/>
                <a:gd name="T4" fmla="*/ 3329 w 3330"/>
                <a:gd name="T5" fmla="*/ 0 h 3332"/>
                <a:gd name="T6" fmla="*/ 3330 w 3330"/>
                <a:gd name="T7" fmla="*/ 0 h 3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30" h="3332">
                  <a:moveTo>
                    <a:pt x="0" y="3332"/>
                  </a:moveTo>
                  <a:lnTo>
                    <a:pt x="2237" y="1092"/>
                  </a:lnTo>
                  <a:lnTo>
                    <a:pt x="3329" y="0"/>
                  </a:lnTo>
                  <a:lnTo>
                    <a:pt x="333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12" name="Freeform 412"/>
            <p:cNvSpPr>
              <a:spLocks/>
            </p:cNvSpPr>
            <p:nvPr/>
          </p:nvSpPr>
          <p:spPr bwMode="auto">
            <a:xfrm>
              <a:off x="3587" y="3358"/>
              <a:ext cx="373" cy="373"/>
            </a:xfrm>
            <a:custGeom>
              <a:avLst/>
              <a:gdLst>
                <a:gd name="T0" fmla="*/ 0 w 3468"/>
                <a:gd name="T1" fmla="*/ 3470 h 3470"/>
                <a:gd name="T2" fmla="*/ 2275 w 3468"/>
                <a:gd name="T3" fmla="*/ 1192 h 3470"/>
                <a:gd name="T4" fmla="*/ 3466 w 3468"/>
                <a:gd name="T5" fmla="*/ 0 h 3470"/>
                <a:gd name="T6" fmla="*/ 3468 w 3468"/>
                <a:gd name="T7" fmla="*/ 0 h 3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68" h="3470">
                  <a:moveTo>
                    <a:pt x="0" y="3470"/>
                  </a:moveTo>
                  <a:lnTo>
                    <a:pt x="2275" y="1192"/>
                  </a:lnTo>
                  <a:lnTo>
                    <a:pt x="3466" y="0"/>
                  </a:lnTo>
                  <a:lnTo>
                    <a:pt x="346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13" name="Freeform 413"/>
            <p:cNvSpPr>
              <a:spLocks/>
            </p:cNvSpPr>
            <p:nvPr/>
          </p:nvSpPr>
          <p:spPr bwMode="auto">
            <a:xfrm>
              <a:off x="3590" y="3364"/>
              <a:ext cx="385" cy="386"/>
            </a:xfrm>
            <a:custGeom>
              <a:avLst/>
              <a:gdLst>
                <a:gd name="T0" fmla="*/ 0 w 3594"/>
                <a:gd name="T1" fmla="*/ 3597 h 3597"/>
                <a:gd name="T2" fmla="*/ 2305 w 3594"/>
                <a:gd name="T3" fmla="*/ 1290 h 3597"/>
                <a:gd name="T4" fmla="*/ 3593 w 3594"/>
                <a:gd name="T5" fmla="*/ 0 h 3597"/>
                <a:gd name="T6" fmla="*/ 3594 w 3594"/>
                <a:gd name="T7" fmla="*/ 0 h 3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4" h="3597">
                  <a:moveTo>
                    <a:pt x="0" y="3597"/>
                  </a:moveTo>
                  <a:lnTo>
                    <a:pt x="2305" y="1290"/>
                  </a:lnTo>
                  <a:lnTo>
                    <a:pt x="3593" y="0"/>
                  </a:lnTo>
                  <a:lnTo>
                    <a:pt x="359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14" name="Freeform 414"/>
            <p:cNvSpPr>
              <a:spLocks/>
            </p:cNvSpPr>
            <p:nvPr/>
          </p:nvSpPr>
          <p:spPr bwMode="auto">
            <a:xfrm>
              <a:off x="3593" y="3370"/>
              <a:ext cx="399" cy="399"/>
            </a:xfrm>
            <a:custGeom>
              <a:avLst/>
              <a:gdLst>
                <a:gd name="T0" fmla="*/ 0 w 3708"/>
                <a:gd name="T1" fmla="*/ 3711 h 3711"/>
                <a:gd name="T2" fmla="*/ 2325 w 3708"/>
                <a:gd name="T3" fmla="*/ 1384 h 3711"/>
                <a:gd name="T4" fmla="*/ 3707 w 3708"/>
                <a:gd name="T5" fmla="*/ 0 h 3711"/>
                <a:gd name="T6" fmla="*/ 3708 w 3708"/>
                <a:gd name="T7" fmla="*/ 0 h 3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08" h="3711">
                  <a:moveTo>
                    <a:pt x="0" y="3711"/>
                  </a:moveTo>
                  <a:lnTo>
                    <a:pt x="2325" y="1384"/>
                  </a:lnTo>
                  <a:lnTo>
                    <a:pt x="3707" y="0"/>
                  </a:lnTo>
                  <a:lnTo>
                    <a:pt x="370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15" name="Freeform 415"/>
            <p:cNvSpPr>
              <a:spLocks/>
            </p:cNvSpPr>
            <p:nvPr/>
          </p:nvSpPr>
          <p:spPr bwMode="auto">
            <a:xfrm>
              <a:off x="3598" y="3376"/>
              <a:ext cx="409" cy="409"/>
            </a:xfrm>
            <a:custGeom>
              <a:avLst/>
              <a:gdLst>
                <a:gd name="T0" fmla="*/ 0 w 3809"/>
                <a:gd name="T1" fmla="*/ 3812 h 3812"/>
                <a:gd name="T2" fmla="*/ 2335 w 3809"/>
                <a:gd name="T3" fmla="*/ 1475 h 3812"/>
                <a:gd name="T4" fmla="*/ 3808 w 3809"/>
                <a:gd name="T5" fmla="*/ 0 h 3812"/>
                <a:gd name="T6" fmla="*/ 3809 w 3809"/>
                <a:gd name="T7" fmla="*/ 0 h 3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09" h="3812">
                  <a:moveTo>
                    <a:pt x="0" y="3812"/>
                  </a:moveTo>
                  <a:lnTo>
                    <a:pt x="2335" y="1475"/>
                  </a:lnTo>
                  <a:lnTo>
                    <a:pt x="3808" y="0"/>
                  </a:lnTo>
                  <a:lnTo>
                    <a:pt x="380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16" name="Freeform 416"/>
            <p:cNvSpPr>
              <a:spLocks/>
            </p:cNvSpPr>
            <p:nvPr/>
          </p:nvSpPr>
          <p:spPr bwMode="auto">
            <a:xfrm>
              <a:off x="3603" y="3383"/>
              <a:ext cx="418" cy="419"/>
            </a:xfrm>
            <a:custGeom>
              <a:avLst/>
              <a:gdLst>
                <a:gd name="T0" fmla="*/ 0 w 3903"/>
                <a:gd name="T1" fmla="*/ 3904 h 3904"/>
                <a:gd name="T2" fmla="*/ 2341 w 3903"/>
                <a:gd name="T3" fmla="*/ 1562 h 3904"/>
                <a:gd name="T4" fmla="*/ 3902 w 3903"/>
                <a:gd name="T5" fmla="*/ 0 h 3904"/>
                <a:gd name="T6" fmla="*/ 3903 w 3903"/>
                <a:gd name="T7" fmla="*/ 0 h 3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03" h="3904">
                  <a:moveTo>
                    <a:pt x="0" y="3904"/>
                  </a:moveTo>
                  <a:lnTo>
                    <a:pt x="2341" y="1562"/>
                  </a:lnTo>
                  <a:lnTo>
                    <a:pt x="3902" y="0"/>
                  </a:lnTo>
                  <a:lnTo>
                    <a:pt x="390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17" name="Freeform 417"/>
            <p:cNvSpPr>
              <a:spLocks/>
            </p:cNvSpPr>
            <p:nvPr/>
          </p:nvSpPr>
          <p:spPr bwMode="auto">
            <a:xfrm>
              <a:off x="3609" y="3391"/>
              <a:ext cx="428" cy="427"/>
            </a:xfrm>
            <a:custGeom>
              <a:avLst/>
              <a:gdLst>
                <a:gd name="T0" fmla="*/ 0 w 3985"/>
                <a:gd name="T1" fmla="*/ 3988 h 3988"/>
                <a:gd name="T2" fmla="*/ 2341 w 3985"/>
                <a:gd name="T3" fmla="*/ 1644 h 3988"/>
                <a:gd name="T4" fmla="*/ 3984 w 3985"/>
                <a:gd name="T5" fmla="*/ 0 h 3988"/>
                <a:gd name="T6" fmla="*/ 3985 w 3985"/>
                <a:gd name="T7" fmla="*/ 0 h 39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85" h="3988">
                  <a:moveTo>
                    <a:pt x="0" y="3988"/>
                  </a:moveTo>
                  <a:lnTo>
                    <a:pt x="2341" y="1644"/>
                  </a:lnTo>
                  <a:lnTo>
                    <a:pt x="3984" y="0"/>
                  </a:lnTo>
                  <a:lnTo>
                    <a:pt x="398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18" name="Freeform 418"/>
            <p:cNvSpPr>
              <a:spLocks/>
            </p:cNvSpPr>
            <p:nvPr/>
          </p:nvSpPr>
          <p:spPr bwMode="auto">
            <a:xfrm>
              <a:off x="3615" y="3398"/>
              <a:ext cx="436" cy="436"/>
            </a:xfrm>
            <a:custGeom>
              <a:avLst/>
              <a:gdLst>
                <a:gd name="T0" fmla="*/ 0 w 4060"/>
                <a:gd name="T1" fmla="*/ 4062 h 4062"/>
                <a:gd name="T2" fmla="*/ 2340 w 4060"/>
                <a:gd name="T3" fmla="*/ 1720 h 4062"/>
                <a:gd name="T4" fmla="*/ 4059 w 4060"/>
                <a:gd name="T5" fmla="*/ 0 h 4062"/>
                <a:gd name="T6" fmla="*/ 4060 w 4060"/>
                <a:gd name="T7" fmla="*/ 0 h 4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60" h="4062">
                  <a:moveTo>
                    <a:pt x="0" y="4062"/>
                  </a:moveTo>
                  <a:lnTo>
                    <a:pt x="2340" y="1720"/>
                  </a:lnTo>
                  <a:lnTo>
                    <a:pt x="4059" y="0"/>
                  </a:lnTo>
                  <a:lnTo>
                    <a:pt x="406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19" name="Freeform 419"/>
            <p:cNvSpPr>
              <a:spLocks/>
            </p:cNvSpPr>
            <p:nvPr/>
          </p:nvSpPr>
          <p:spPr bwMode="auto">
            <a:xfrm>
              <a:off x="3621" y="3407"/>
              <a:ext cx="443" cy="443"/>
            </a:xfrm>
            <a:custGeom>
              <a:avLst/>
              <a:gdLst>
                <a:gd name="T0" fmla="*/ 0 w 4127"/>
                <a:gd name="T1" fmla="*/ 4129 h 4129"/>
                <a:gd name="T2" fmla="*/ 2337 w 4127"/>
                <a:gd name="T3" fmla="*/ 1791 h 4129"/>
                <a:gd name="T4" fmla="*/ 4126 w 4127"/>
                <a:gd name="T5" fmla="*/ 0 h 4129"/>
                <a:gd name="T6" fmla="*/ 4127 w 4127"/>
                <a:gd name="T7" fmla="*/ 0 h 4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27" h="4129">
                  <a:moveTo>
                    <a:pt x="0" y="4129"/>
                  </a:moveTo>
                  <a:lnTo>
                    <a:pt x="2337" y="1791"/>
                  </a:lnTo>
                  <a:lnTo>
                    <a:pt x="4126" y="0"/>
                  </a:lnTo>
                  <a:lnTo>
                    <a:pt x="412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20" name="Freeform 420"/>
            <p:cNvSpPr>
              <a:spLocks/>
            </p:cNvSpPr>
            <p:nvPr/>
          </p:nvSpPr>
          <p:spPr bwMode="auto">
            <a:xfrm>
              <a:off x="3645" y="3416"/>
              <a:ext cx="432" cy="432"/>
            </a:xfrm>
            <a:custGeom>
              <a:avLst/>
              <a:gdLst>
                <a:gd name="T0" fmla="*/ 0 w 4024"/>
                <a:gd name="T1" fmla="*/ 4025 h 4025"/>
                <a:gd name="T2" fmla="*/ 2168 w 4024"/>
                <a:gd name="T3" fmla="*/ 1856 h 4025"/>
                <a:gd name="T4" fmla="*/ 4023 w 4024"/>
                <a:gd name="T5" fmla="*/ 0 h 4025"/>
                <a:gd name="T6" fmla="*/ 4024 w 4024"/>
                <a:gd name="T7" fmla="*/ 0 h 4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24" h="4025">
                  <a:moveTo>
                    <a:pt x="0" y="4025"/>
                  </a:moveTo>
                  <a:lnTo>
                    <a:pt x="2168" y="1856"/>
                  </a:lnTo>
                  <a:lnTo>
                    <a:pt x="4023" y="0"/>
                  </a:lnTo>
                  <a:lnTo>
                    <a:pt x="402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21" name="Freeform 421"/>
            <p:cNvSpPr>
              <a:spLocks/>
            </p:cNvSpPr>
            <p:nvPr/>
          </p:nvSpPr>
          <p:spPr bwMode="auto">
            <a:xfrm>
              <a:off x="3680" y="3425"/>
              <a:ext cx="409" cy="410"/>
            </a:xfrm>
            <a:custGeom>
              <a:avLst/>
              <a:gdLst>
                <a:gd name="T0" fmla="*/ 0 w 3811"/>
                <a:gd name="T1" fmla="*/ 3814 h 3814"/>
                <a:gd name="T2" fmla="*/ 1894 w 3811"/>
                <a:gd name="T3" fmla="*/ 1917 h 3814"/>
                <a:gd name="T4" fmla="*/ 3810 w 3811"/>
                <a:gd name="T5" fmla="*/ 0 h 3814"/>
                <a:gd name="T6" fmla="*/ 3811 w 3811"/>
                <a:gd name="T7" fmla="*/ 0 h 3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11" h="3814">
                  <a:moveTo>
                    <a:pt x="0" y="3814"/>
                  </a:moveTo>
                  <a:lnTo>
                    <a:pt x="1894" y="1917"/>
                  </a:lnTo>
                  <a:lnTo>
                    <a:pt x="3810" y="0"/>
                  </a:lnTo>
                  <a:lnTo>
                    <a:pt x="381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22" name="Freeform 422"/>
            <p:cNvSpPr>
              <a:spLocks/>
            </p:cNvSpPr>
            <p:nvPr/>
          </p:nvSpPr>
          <p:spPr bwMode="auto">
            <a:xfrm>
              <a:off x="3714" y="3436"/>
              <a:ext cx="387" cy="386"/>
            </a:xfrm>
            <a:custGeom>
              <a:avLst/>
              <a:gdLst>
                <a:gd name="T0" fmla="*/ 0 w 3595"/>
                <a:gd name="T1" fmla="*/ 3598 h 3598"/>
                <a:gd name="T2" fmla="*/ 1622 w 3595"/>
                <a:gd name="T3" fmla="*/ 1974 h 3598"/>
                <a:gd name="T4" fmla="*/ 3594 w 3595"/>
                <a:gd name="T5" fmla="*/ 0 h 3598"/>
                <a:gd name="T6" fmla="*/ 3595 w 3595"/>
                <a:gd name="T7" fmla="*/ 0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5" h="3598">
                  <a:moveTo>
                    <a:pt x="0" y="3598"/>
                  </a:moveTo>
                  <a:lnTo>
                    <a:pt x="1622" y="1974"/>
                  </a:lnTo>
                  <a:lnTo>
                    <a:pt x="3594" y="0"/>
                  </a:lnTo>
                  <a:lnTo>
                    <a:pt x="359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23" name="Freeform 423"/>
            <p:cNvSpPr>
              <a:spLocks/>
            </p:cNvSpPr>
            <p:nvPr/>
          </p:nvSpPr>
          <p:spPr bwMode="auto">
            <a:xfrm>
              <a:off x="3750" y="3446"/>
              <a:ext cx="362" cy="362"/>
            </a:xfrm>
            <a:custGeom>
              <a:avLst/>
              <a:gdLst>
                <a:gd name="T0" fmla="*/ 0 w 3377"/>
                <a:gd name="T1" fmla="*/ 3378 h 3378"/>
                <a:gd name="T2" fmla="*/ 1350 w 3377"/>
                <a:gd name="T3" fmla="*/ 2026 h 3378"/>
                <a:gd name="T4" fmla="*/ 3376 w 3377"/>
                <a:gd name="T5" fmla="*/ 0 h 3378"/>
                <a:gd name="T6" fmla="*/ 3377 w 3377"/>
                <a:gd name="T7" fmla="*/ 0 h 3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77" h="3378">
                  <a:moveTo>
                    <a:pt x="0" y="3378"/>
                  </a:moveTo>
                  <a:lnTo>
                    <a:pt x="1350" y="2026"/>
                  </a:lnTo>
                  <a:lnTo>
                    <a:pt x="3376" y="0"/>
                  </a:lnTo>
                  <a:lnTo>
                    <a:pt x="337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24" name="Freeform 424"/>
            <p:cNvSpPr>
              <a:spLocks/>
            </p:cNvSpPr>
            <p:nvPr/>
          </p:nvSpPr>
          <p:spPr bwMode="auto">
            <a:xfrm>
              <a:off x="3785" y="3457"/>
              <a:ext cx="338" cy="338"/>
            </a:xfrm>
            <a:custGeom>
              <a:avLst/>
              <a:gdLst>
                <a:gd name="T0" fmla="*/ 0 w 3152"/>
                <a:gd name="T1" fmla="*/ 3154 h 3154"/>
                <a:gd name="T2" fmla="*/ 1077 w 3152"/>
                <a:gd name="T3" fmla="*/ 2075 h 3154"/>
                <a:gd name="T4" fmla="*/ 3151 w 3152"/>
                <a:gd name="T5" fmla="*/ 0 h 3154"/>
                <a:gd name="T6" fmla="*/ 3152 w 3152"/>
                <a:gd name="T7" fmla="*/ 0 h 3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52" h="3154">
                  <a:moveTo>
                    <a:pt x="0" y="3154"/>
                  </a:moveTo>
                  <a:lnTo>
                    <a:pt x="1077" y="2075"/>
                  </a:lnTo>
                  <a:lnTo>
                    <a:pt x="3151" y="0"/>
                  </a:lnTo>
                  <a:lnTo>
                    <a:pt x="315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25" name="Freeform 425"/>
            <p:cNvSpPr>
              <a:spLocks/>
            </p:cNvSpPr>
            <p:nvPr/>
          </p:nvSpPr>
          <p:spPr bwMode="auto">
            <a:xfrm>
              <a:off x="3819" y="3468"/>
              <a:ext cx="315" cy="314"/>
            </a:xfrm>
            <a:custGeom>
              <a:avLst/>
              <a:gdLst>
                <a:gd name="T0" fmla="*/ 0 w 2926"/>
                <a:gd name="T1" fmla="*/ 2928 h 2928"/>
                <a:gd name="T2" fmla="*/ 805 w 2926"/>
                <a:gd name="T3" fmla="*/ 2122 h 2928"/>
                <a:gd name="T4" fmla="*/ 2925 w 2926"/>
                <a:gd name="T5" fmla="*/ 0 h 2928"/>
                <a:gd name="T6" fmla="*/ 2926 w 2926"/>
                <a:gd name="T7" fmla="*/ 0 h 2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6" h="2928">
                  <a:moveTo>
                    <a:pt x="0" y="2928"/>
                  </a:moveTo>
                  <a:lnTo>
                    <a:pt x="805" y="2122"/>
                  </a:lnTo>
                  <a:lnTo>
                    <a:pt x="2925" y="0"/>
                  </a:lnTo>
                  <a:lnTo>
                    <a:pt x="292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26" name="Freeform 426"/>
            <p:cNvSpPr>
              <a:spLocks/>
            </p:cNvSpPr>
            <p:nvPr/>
          </p:nvSpPr>
          <p:spPr bwMode="auto">
            <a:xfrm>
              <a:off x="3855" y="3480"/>
              <a:ext cx="289" cy="289"/>
            </a:xfrm>
            <a:custGeom>
              <a:avLst/>
              <a:gdLst>
                <a:gd name="T0" fmla="*/ 0 w 2694"/>
                <a:gd name="T1" fmla="*/ 2697 h 2697"/>
                <a:gd name="T2" fmla="*/ 532 w 2694"/>
                <a:gd name="T3" fmla="*/ 2164 h 2697"/>
                <a:gd name="T4" fmla="*/ 2693 w 2694"/>
                <a:gd name="T5" fmla="*/ 0 h 2697"/>
                <a:gd name="T6" fmla="*/ 2694 w 2694"/>
                <a:gd name="T7" fmla="*/ 0 h 2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4" h="2697">
                  <a:moveTo>
                    <a:pt x="0" y="2697"/>
                  </a:moveTo>
                  <a:lnTo>
                    <a:pt x="532" y="2164"/>
                  </a:lnTo>
                  <a:lnTo>
                    <a:pt x="2693" y="0"/>
                  </a:lnTo>
                  <a:lnTo>
                    <a:pt x="269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27" name="Freeform 427"/>
            <p:cNvSpPr>
              <a:spLocks/>
            </p:cNvSpPr>
            <p:nvPr/>
          </p:nvSpPr>
          <p:spPr bwMode="auto">
            <a:xfrm>
              <a:off x="3890" y="3491"/>
              <a:ext cx="264" cy="265"/>
            </a:xfrm>
            <a:custGeom>
              <a:avLst/>
              <a:gdLst>
                <a:gd name="T0" fmla="*/ 0 w 2462"/>
                <a:gd name="T1" fmla="*/ 2463 h 2463"/>
                <a:gd name="T2" fmla="*/ 260 w 2462"/>
                <a:gd name="T3" fmla="*/ 2203 h 2463"/>
                <a:gd name="T4" fmla="*/ 2461 w 2462"/>
                <a:gd name="T5" fmla="*/ 0 h 2463"/>
                <a:gd name="T6" fmla="*/ 2462 w 2462"/>
                <a:gd name="T7" fmla="*/ 0 h 2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62" h="2463">
                  <a:moveTo>
                    <a:pt x="0" y="2463"/>
                  </a:moveTo>
                  <a:lnTo>
                    <a:pt x="260" y="2203"/>
                  </a:lnTo>
                  <a:lnTo>
                    <a:pt x="2461" y="0"/>
                  </a:lnTo>
                  <a:lnTo>
                    <a:pt x="246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28" name="Freeform 428"/>
            <p:cNvSpPr>
              <a:spLocks/>
            </p:cNvSpPr>
            <p:nvPr/>
          </p:nvSpPr>
          <p:spPr bwMode="auto">
            <a:xfrm>
              <a:off x="3924" y="3503"/>
              <a:ext cx="239" cy="240"/>
            </a:xfrm>
            <a:custGeom>
              <a:avLst/>
              <a:gdLst>
                <a:gd name="T0" fmla="*/ 0 w 2225"/>
                <a:gd name="T1" fmla="*/ 2224 h 2224"/>
                <a:gd name="T2" fmla="*/ 2224 w 2225"/>
                <a:gd name="T3" fmla="*/ 0 h 2224"/>
                <a:gd name="T4" fmla="*/ 2225 w 2225"/>
                <a:gd name="T5" fmla="*/ 0 h 2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25" h="2224">
                  <a:moveTo>
                    <a:pt x="0" y="2224"/>
                  </a:moveTo>
                  <a:lnTo>
                    <a:pt x="2224" y="0"/>
                  </a:lnTo>
                  <a:lnTo>
                    <a:pt x="222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29" name="Freeform 429"/>
            <p:cNvSpPr>
              <a:spLocks/>
            </p:cNvSpPr>
            <p:nvPr/>
          </p:nvSpPr>
          <p:spPr bwMode="auto">
            <a:xfrm>
              <a:off x="3960" y="3516"/>
              <a:ext cx="213" cy="213"/>
            </a:xfrm>
            <a:custGeom>
              <a:avLst/>
              <a:gdLst>
                <a:gd name="T0" fmla="*/ 0 w 1981"/>
                <a:gd name="T1" fmla="*/ 1982 h 1982"/>
                <a:gd name="T2" fmla="*/ 1980 w 1981"/>
                <a:gd name="T3" fmla="*/ 0 h 1982"/>
                <a:gd name="T4" fmla="*/ 1981 w 1981"/>
                <a:gd name="T5" fmla="*/ 0 h 1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1" h="1982">
                  <a:moveTo>
                    <a:pt x="0" y="1982"/>
                  </a:moveTo>
                  <a:lnTo>
                    <a:pt x="1980" y="0"/>
                  </a:lnTo>
                  <a:lnTo>
                    <a:pt x="198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30" name="Freeform 430"/>
            <p:cNvSpPr>
              <a:spLocks/>
            </p:cNvSpPr>
            <p:nvPr/>
          </p:nvSpPr>
          <p:spPr bwMode="auto">
            <a:xfrm>
              <a:off x="3995" y="3530"/>
              <a:ext cx="186" cy="186"/>
            </a:xfrm>
            <a:custGeom>
              <a:avLst/>
              <a:gdLst>
                <a:gd name="T0" fmla="*/ 0 w 1735"/>
                <a:gd name="T1" fmla="*/ 1736 h 1736"/>
                <a:gd name="T2" fmla="*/ 1734 w 1735"/>
                <a:gd name="T3" fmla="*/ 0 h 1736"/>
                <a:gd name="T4" fmla="*/ 1735 w 1735"/>
                <a:gd name="T5" fmla="*/ 0 h 1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5" h="1736">
                  <a:moveTo>
                    <a:pt x="0" y="1736"/>
                  </a:moveTo>
                  <a:lnTo>
                    <a:pt x="1734" y="0"/>
                  </a:lnTo>
                  <a:lnTo>
                    <a:pt x="173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31" name="Freeform 431"/>
            <p:cNvSpPr>
              <a:spLocks/>
            </p:cNvSpPr>
            <p:nvPr/>
          </p:nvSpPr>
          <p:spPr bwMode="auto">
            <a:xfrm>
              <a:off x="4029" y="3544"/>
              <a:ext cx="160" cy="159"/>
            </a:xfrm>
            <a:custGeom>
              <a:avLst/>
              <a:gdLst>
                <a:gd name="T0" fmla="*/ 0 w 1484"/>
                <a:gd name="T1" fmla="*/ 1484 h 1484"/>
                <a:gd name="T2" fmla="*/ 1483 w 1484"/>
                <a:gd name="T3" fmla="*/ 0 h 1484"/>
                <a:gd name="T4" fmla="*/ 1484 w 1484"/>
                <a:gd name="T5" fmla="*/ 0 h 1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4" h="1484">
                  <a:moveTo>
                    <a:pt x="0" y="1484"/>
                  </a:moveTo>
                  <a:lnTo>
                    <a:pt x="1483" y="0"/>
                  </a:lnTo>
                  <a:lnTo>
                    <a:pt x="148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32" name="Freeform 432"/>
            <p:cNvSpPr>
              <a:spLocks/>
            </p:cNvSpPr>
            <p:nvPr/>
          </p:nvSpPr>
          <p:spPr bwMode="auto">
            <a:xfrm>
              <a:off x="4064" y="3558"/>
              <a:ext cx="132" cy="132"/>
            </a:xfrm>
            <a:custGeom>
              <a:avLst/>
              <a:gdLst>
                <a:gd name="T0" fmla="*/ 0 w 1225"/>
                <a:gd name="T1" fmla="*/ 1226 h 1226"/>
                <a:gd name="T2" fmla="*/ 1224 w 1225"/>
                <a:gd name="T3" fmla="*/ 0 h 1226"/>
                <a:gd name="T4" fmla="*/ 1225 w 1225"/>
                <a:gd name="T5" fmla="*/ 0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25" h="1226">
                  <a:moveTo>
                    <a:pt x="0" y="1226"/>
                  </a:moveTo>
                  <a:lnTo>
                    <a:pt x="1224" y="0"/>
                  </a:lnTo>
                  <a:lnTo>
                    <a:pt x="122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33" name="Freeform 433"/>
            <p:cNvSpPr>
              <a:spLocks/>
            </p:cNvSpPr>
            <p:nvPr/>
          </p:nvSpPr>
          <p:spPr bwMode="auto">
            <a:xfrm>
              <a:off x="4100" y="3574"/>
              <a:ext cx="103" cy="103"/>
            </a:xfrm>
            <a:custGeom>
              <a:avLst/>
              <a:gdLst>
                <a:gd name="T0" fmla="*/ 0 w 962"/>
                <a:gd name="T1" fmla="*/ 962 h 962"/>
                <a:gd name="T2" fmla="*/ 961 w 962"/>
                <a:gd name="T3" fmla="*/ 0 h 962"/>
                <a:gd name="T4" fmla="*/ 962 w 962"/>
                <a:gd name="T5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2" h="962">
                  <a:moveTo>
                    <a:pt x="0" y="962"/>
                  </a:moveTo>
                  <a:lnTo>
                    <a:pt x="961" y="0"/>
                  </a:lnTo>
                  <a:lnTo>
                    <a:pt x="96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34" name="Freeform 434"/>
            <p:cNvSpPr>
              <a:spLocks/>
            </p:cNvSpPr>
            <p:nvPr/>
          </p:nvSpPr>
          <p:spPr bwMode="auto">
            <a:xfrm>
              <a:off x="4135" y="3589"/>
              <a:ext cx="74" cy="74"/>
            </a:xfrm>
            <a:custGeom>
              <a:avLst/>
              <a:gdLst>
                <a:gd name="T0" fmla="*/ 0 w 694"/>
                <a:gd name="T1" fmla="*/ 693 h 693"/>
                <a:gd name="T2" fmla="*/ 693 w 694"/>
                <a:gd name="T3" fmla="*/ 0 h 693"/>
                <a:gd name="T4" fmla="*/ 694 w 694"/>
                <a:gd name="T5" fmla="*/ 0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4" h="693">
                  <a:moveTo>
                    <a:pt x="0" y="693"/>
                  </a:moveTo>
                  <a:lnTo>
                    <a:pt x="693" y="0"/>
                  </a:lnTo>
                  <a:lnTo>
                    <a:pt x="69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35" name="Freeform 435"/>
            <p:cNvSpPr>
              <a:spLocks/>
            </p:cNvSpPr>
            <p:nvPr/>
          </p:nvSpPr>
          <p:spPr bwMode="auto">
            <a:xfrm>
              <a:off x="4169" y="3605"/>
              <a:ext cx="46" cy="46"/>
            </a:xfrm>
            <a:custGeom>
              <a:avLst/>
              <a:gdLst>
                <a:gd name="T0" fmla="*/ 0 w 422"/>
                <a:gd name="T1" fmla="*/ 420 h 420"/>
                <a:gd name="T2" fmla="*/ 421 w 422"/>
                <a:gd name="T3" fmla="*/ 0 h 420"/>
                <a:gd name="T4" fmla="*/ 422 w 422"/>
                <a:gd name="T5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2" h="420">
                  <a:moveTo>
                    <a:pt x="0" y="420"/>
                  </a:moveTo>
                  <a:lnTo>
                    <a:pt x="421" y="0"/>
                  </a:lnTo>
                  <a:lnTo>
                    <a:pt x="42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36" name="Freeform 436"/>
            <p:cNvSpPr>
              <a:spLocks/>
            </p:cNvSpPr>
            <p:nvPr/>
          </p:nvSpPr>
          <p:spPr bwMode="auto">
            <a:xfrm>
              <a:off x="4205" y="3621"/>
              <a:ext cx="15" cy="16"/>
            </a:xfrm>
            <a:custGeom>
              <a:avLst/>
              <a:gdLst>
                <a:gd name="T0" fmla="*/ 0 w 148"/>
                <a:gd name="T1" fmla="*/ 146 h 146"/>
                <a:gd name="T2" fmla="*/ 147 w 148"/>
                <a:gd name="T3" fmla="*/ 0 h 146"/>
                <a:gd name="T4" fmla="*/ 148 w 148"/>
                <a:gd name="T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" h="146">
                  <a:moveTo>
                    <a:pt x="0" y="146"/>
                  </a:moveTo>
                  <a:lnTo>
                    <a:pt x="147" y="0"/>
                  </a:lnTo>
                  <a:lnTo>
                    <a:pt x="14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37" name="Freeform 437"/>
            <p:cNvSpPr>
              <a:spLocks/>
            </p:cNvSpPr>
            <p:nvPr/>
          </p:nvSpPr>
          <p:spPr bwMode="auto">
            <a:xfrm>
              <a:off x="3702" y="3326"/>
              <a:ext cx="72" cy="72"/>
            </a:xfrm>
            <a:custGeom>
              <a:avLst/>
              <a:gdLst>
                <a:gd name="T0" fmla="*/ 0 w 671"/>
                <a:gd name="T1" fmla="*/ 671 h 671"/>
                <a:gd name="T2" fmla="*/ 670 w 671"/>
                <a:gd name="T3" fmla="*/ 0 h 671"/>
                <a:gd name="T4" fmla="*/ 671 w 671"/>
                <a:gd name="T5" fmla="*/ 0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1" h="671">
                  <a:moveTo>
                    <a:pt x="0" y="671"/>
                  </a:moveTo>
                  <a:lnTo>
                    <a:pt x="670" y="0"/>
                  </a:lnTo>
                  <a:lnTo>
                    <a:pt x="67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38" name="Freeform 438"/>
            <p:cNvSpPr>
              <a:spLocks/>
            </p:cNvSpPr>
            <p:nvPr/>
          </p:nvSpPr>
          <p:spPr bwMode="auto">
            <a:xfrm>
              <a:off x="3774" y="3322"/>
              <a:ext cx="4" cy="4"/>
            </a:xfrm>
            <a:custGeom>
              <a:avLst/>
              <a:gdLst>
                <a:gd name="T0" fmla="*/ 0 w 36"/>
                <a:gd name="T1" fmla="*/ 34 h 34"/>
                <a:gd name="T2" fmla="*/ 35 w 36"/>
                <a:gd name="T3" fmla="*/ 0 h 34"/>
                <a:gd name="T4" fmla="*/ 36 w 36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34">
                  <a:moveTo>
                    <a:pt x="0" y="34"/>
                  </a:moveTo>
                  <a:lnTo>
                    <a:pt x="35" y="0"/>
                  </a:lnTo>
                  <a:lnTo>
                    <a:pt x="3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39" name="Freeform 439"/>
            <p:cNvSpPr>
              <a:spLocks/>
            </p:cNvSpPr>
            <p:nvPr/>
          </p:nvSpPr>
          <p:spPr bwMode="auto">
            <a:xfrm>
              <a:off x="3649" y="3342"/>
              <a:ext cx="131" cy="129"/>
            </a:xfrm>
            <a:custGeom>
              <a:avLst/>
              <a:gdLst>
                <a:gd name="T0" fmla="*/ 0 w 1223"/>
                <a:gd name="T1" fmla="*/ 1222 h 1222"/>
                <a:gd name="T2" fmla="*/ 1222 w 1223"/>
                <a:gd name="T3" fmla="*/ 0 h 1222"/>
                <a:gd name="T4" fmla="*/ 1223 w 1223"/>
                <a:gd name="T5" fmla="*/ 0 h 1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23" h="1222">
                  <a:moveTo>
                    <a:pt x="0" y="1222"/>
                  </a:moveTo>
                  <a:lnTo>
                    <a:pt x="1222" y="0"/>
                  </a:lnTo>
                  <a:lnTo>
                    <a:pt x="122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40" name="Freeform 440"/>
            <p:cNvSpPr>
              <a:spLocks/>
            </p:cNvSpPr>
            <p:nvPr/>
          </p:nvSpPr>
          <p:spPr bwMode="auto">
            <a:xfrm>
              <a:off x="3780" y="3324"/>
              <a:ext cx="18" cy="18"/>
            </a:xfrm>
            <a:custGeom>
              <a:avLst/>
              <a:gdLst>
                <a:gd name="T0" fmla="*/ 0 w 165"/>
                <a:gd name="T1" fmla="*/ 165 h 165"/>
                <a:gd name="T2" fmla="*/ 164 w 165"/>
                <a:gd name="T3" fmla="*/ 0 h 165"/>
                <a:gd name="T4" fmla="*/ 165 w 165"/>
                <a:gd name="T5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5" h="165">
                  <a:moveTo>
                    <a:pt x="0" y="165"/>
                  </a:moveTo>
                  <a:lnTo>
                    <a:pt x="164" y="0"/>
                  </a:lnTo>
                  <a:lnTo>
                    <a:pt x="16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41" name="Freeform 441"/>
            <p:cNvSpPr>
              <a:spLocks/>
            </p:cNvSpPr>
            <p:nvPr/>
          </p:nvSpPr>
          <p:spPr bwMode="auto">
            <a:xfrm>
              <a:off x="3621" y="3358"/>
              <a:ext cx="164" cy="165"/>
            </a:xfrm>
            <a:custGeom>
              <a:avLst/>
              <a:gdLst>
                <a:gd name="T0" fmla="*/ 0 w 1536"/>
                <a:gd name="T1" fmla="*/ 1536 h 1536"/>
                <a:gd name="T2" fmla="*/ 1535 w 1536"/>
                <a:gd name="T3" fmla="*/ 0 h 1536"/>
                <a:gd name="T4" fmla="*/ 1536 w 1536"/>
                <a:gd name="T5" fmla="*/ 0 h 1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6" h="1536">
                  <a:moveTo>
                    <a:pt x="0" y="1536"/>
                  </a:moveTo>
                  <a:lnTo>
                    <a:pt x="1535" y="0"/>
                  </a:lnTo>
                  <a:lnTo>
                    <a:pt x="153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42" name="Freeform 442"/>
            <p:cNvSpPr>
              <a:spLocks/>
            </p:cNvSpPr>
            <p:nvPr/>
          </p:nvSpPr>
          <p:spPr bwMode="auto">
            <a:xfrm>
              <a:off x="3785" y="3326"/>
              <a:ext cx="32" cy="32"/>
            </a:xfrm>
            <a:custGeom>
              <a:avLst/>
              <a:gdLst>
                <a:gd name="T0" fmla="*/ 0 w 293"/>
                <a:gd name="T1" fmla="*/ 292 h 292"/>
                <a:gd name="T2" fmla="*/ 292 w 293"/>
                <a:gd name="T3" fmla="*/ 0 h 292"/>
                <a:gd name="T4" fmla="*/ 293 w 293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3" h="292">
                  <a:moveTo>
                    <a:pt x="0" y="292"/>
                  </a:moveTo>
                  <a:lnTo>
                    <a:pt x="292" y="0"/>
                  </a:lnTo>
                  <a:lnTo>
                    <a:pt x="29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43" name="Freeform 443"/>
            <p:cNvSpPr>
              <a:spLocks/>
            </p:cNvSpPr>
            <p:nvPr/>
          </p:nvSpPr>
          <p:spPr bwMode="auto">
            <a:xfrm>
              <a:off x="3605" y="3374"/>
              <a:ext cx="186" cy="186"/>
            </a:xfrm>
            <a:custGeom>
              <a:avLst/>
              <a:gdLst>
                <a:gd name="T0" fmla="*/ 0 w 1735"/>
                <a:gd name="T1" fmla="*/ 1737 h 1737"/>
                <a:gd name="T2" fmla="*/ 1734 w 1735"/>
                <a:gd name="T3" fmla="*/ 0 h 1737"/>
                <a:gd name="T4" fmla="*/ 1735 w 1735"/>
                <a:gd name="T5" fmla="*/ 0 h 1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5" h="1737">
                  <a:moveTo>
                    <a:pt x="0" y="1737"/>
                  </a:moveTo>
                  <a:lnTo>
                    <a:pt x="1734" y="0"/>
                  </a:lnTo>
                  <a:lnTo>
                    <a:pt x="173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44" name="Freeform 444"/>
            <p:cNvSpPr>
              <a:spLocks/>
            </p:cNvSpPr>
            <p:nvPr/>
          </p:nvSpPr>
          <p:spPr bwMode="auto">
            <a:xfrm>
              <a:off x="3791" y="3329"/>
              <a:ext cx="45" cy="46"/>
            </a:xfrm>
            <a:custGeom>
              <a:avLst/>
              <a:gdLst>
                <a:gd name="T0" fmla="*/ 0 w 419"/>
                <a:gd name="T1" fmla="*/ 417 h 417"/>
                <a:gd name="T2" fmla="*/ 418 w 419"/>
                <a:gd name="T3" fmla="*/ 0 h 417"/>
                <a:gd name="T4" fmla="*/ 419 w 419"/>
                <a:gd name="T5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9" h="417">
                  <a:moveTo>
                    <a:pt x="0" y="417"/>
                  </a:moveTo>
                  <a:lnTo>
                    <a:pt x="418" y="0"/>
                  </a:lnTo>
                  <a:lnTo>
                    <a:pt x="41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45" name="Freeform 445"/>
            <p:cNvSpPr>
              <a:spLocks/>
            </p:cNvSpPr>
            <p:nvPr/>
          </p:nvSpPr>
          <p:spPr bwMode="auto">
            <a:xfrm>
              <a:off x="3596" y="3390"/>
              <a:ext cx="201" cy="201"/>
            </a:xfrm>
            <a:custGeom>
              <a:avLst/>
              <a:gdLst>
                <a:gd name="T0" fmla="*/ 0 w 1872"/>
                <a:gd name="T1" fmla="*/ 1872 h 1872"/>
                <a:gd name="T2" fmla="*/ 1871 w 1872"/>
                <a:gd name="T3" fmla="*/ 0 h 1872"/>
                <a:gd name="T4" fmla="*/ 1872 w 1872"/>
                <a:gd name="T5" fmla="*/ 0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72" h="1872">
                  <a:moveTo>
                    <a:pt x="0" y="1872"/>
                  </a:moveTo>
                  <a:lnTo>
                    <a:pt x="1871" y="0"/>
                  </a:lnTo>
                  <a:lnTo>
                    <a:pt x="187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46" name="Freeform 446"/>
            <p:cNvSpPr>
              <a:spLocks/>
            </p:cNvSpPr>
            <p:nvPr/>
          </p:nvSpPr>
          <p:spPr bwMode="auto">
            <a:xfrm>
              <a:off x="3797" y="3332"/>
              <a:ext cx="58" cy="56"/>
            </a:xfrm>
            <a:custGeom>
              <a:avLst/>
              <a:gdLst>
                <a:gd name="T0" fmla="*/ 0 w 541"/>
                <a:gd name="T1" fmla="*/ 541 h 541"/>
                <a:gd name="T2" fmla="*/ 540 w 541"/>
                <a:gd name="T3" fmla="*/ 0 h 541"/>
                <a:gd name="T4" fmla="*/ 541 w 541"/>
                <a:gd name="T5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1" h="541">
                  <a:moveTo>
                    <a:pt x="0" y="541"/>
                  </a:moveTo>
                  <a:lnTo>
                    <a:pt x="540" y="0"/>
                  </a:lnTo>
                  <a:lnTo>
                    <a:pt x="54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47" name="Freeform 447"/>
            <p:cNvSpPr>
              <a:spLocks/>
            </p:cNvSpPr>
            <p:nvPr/>
          </p:nvSpPr>
          <p:spPr bwMode="auto">
            <a:xfrm>
              <a:off x="3591" y="3406"/>
              <a:ext cx="212" cy="212"/>
            </a:xfrm>
            <a:custGeom>
              <a:avLst/>
              <a:gdLst>
                <a:gd name="T0" fmla="*/ 0 w 1976"/>
                <a:gd name="T1" fmla="*/ 1978 h 1978"/>
                <a:gd name="T2" fmla="*/ 1975 w 1976"/>
                <a:gd name="T3" fmla="*/ 0 h 1978"/>
                <a:gd name="T4" fmla="*/ 1976 w 1976"/>
                <a:gd name="T5" fmla="*/ 0 h 1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6" h="1978">
                  <a:moveTo>
                    <a:pt x="0" y="1978"/>
                  </a:moveTo>
                  <a:lnTo>
                    <a:pt x="1975" y="0"/>
                  </a:lnTo>
                  <a:lnTo>
                    <a:pt x="197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48" name="Freeform 448"/>
            <p:cNvSpPr>
              <a:spLocks/>
            </p:cNvSpPr>
            <p:nvPr/>
          </p:nvSpPr>
          <p:spPr bwMode="auto">
            <a:xfrm>
              <a:off x="3803" y="3335"/>
              <a:ext cx="71" cy="71"/>
            </a:xfrm>
            <a:custGeom>
              <a:avLst/>
              <a:gdLst>
                <a:gd name="T0" fmla="*/ 0 w 659"/>
                <a:gd name="T1" fmla="*/ 658 h 658"/>
                <a:gd name="T2" fmla="*/ 658 w 659"/>
                <a:gd name="T3" fmla="*/ 0 h 658"/>
                <a:gd name="T4" fmla="*/ 659 w 659"/>
                <a:gd name="T5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9" h="658">
                  <a:moveTo>
                    <a:pt x="0" y="658"/>
                  </a:moveTo>
                  <a:lnTo>
                    <a:pt x="658" y="0"/>
                  </a:lnTo>
                  <a:lnTo>
                    <a:pt x="65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49" name="Freeform 449"/>
            <p:cNvSpPr>
              <a:spLocks/>
            </p:cNvSpPr>
            <p:nvPr/>
          </p:nvSpPr>
          <p:spPr bwMode="auto">
            <a:xfrm>
              <a:off x="3588" y="3422"/>
              <a:ext cx="223" cy="221"/>
            </a:xfrm>
            <a:custGeom>
              <a:avLst/>
              <a:gdLst>
                <a:gd name="T0" fmla="*/ 0 w 2061"/>
                <a:gd name="T1" fmla="*/ 2061 h 2061"/>
                <a:gd name="T2" fmla="*/ 2060 w 2061"/>
                <a:gd name="T3" fmla="*/ 0 h 2061"/>
                <a:gd name="T4" fmla="*/ 2061 w 2061"/>
                <a:gd name="T5" fmla="*/ 0 h 20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61" h="2061">
                  <a:moveTo>
                    <a:pt x="0" y="2061"/>
                  </a:moveTo>
                  <a:lnTo>
                    <a:pt x="2060" y="0"/>
                  </a:lnTo>
                  <a:lnTo>
                    <a:pt x="206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50" name="Freeform 450"/>
            <p:cNvSpPr>
              <a:spLocks/>
            </p:cNvSpPr>
            <p:nvPr/>
          </p:nvSpPr>
          <p:spPr bwMode="auto">
            <a:xfrm>
              <a:off x="3809" y="3339"/>
              <a:ext cx="81" cy="83"/>
            </a:xfrm>
            <a:custGeom>
              <a:avLst/>
              <a:gdLst>
                <a:gd name="T0" fmla="*/ 0 w 772"/>
                <a:gd name="T1" fmla="*/ 772 h 772"/>
                <a:gd name="T2" fmla="*/ 771 w 772"/>
                <a:gd name="T3" fmla="*/ 0 h 772"/>
                <a:gd name="T4" fmla="*/ 772 w 772"/>
                <a:gd name="T5" fmla="*/ 0 h 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2" h="772">
                  <a:moveTo>
                    <a:pt x="0" y="772"/>
                  </a:moveTo>
                  <a:lnTo>
                    <a:pt x="771" y="0"/>
                  </a:lnTo>
                  <a:lnTo>
                    <a:pt x="77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51" name="Freeform 451"/>
            <p:cNvSpPr>
              <a:spLocks/>
            </p:cNvSpPr>
            <p:nvPr/>
          </p:nvSpPr>
          <p:spPr bwMode="auto">
            <a:xfrm>
              <a:off x="3586" y="3438"/>
              <a:ext cx="228" cy="229"/>
            </a:xfrm>
            <a:custGeom>
              <a:avLst/>
              <a:gdLst>
                <a:gd name="T0" fmla="*/ 0 w 2131"/>
                <a:gd name="T1" fmla="*/ 2133 h 2133"/>
                <a:gd name="T2" fmla="*/ 2130 w 2131"/>
                <a:gd name="T3" fmla="*/ 0 h 2133"/>
                <a:gd name="T4" fmla="*/ 2131 w 2131"/>
                <a:gd name="T5" fmla="*/ 0 h 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1" h="2133">
                  <a:moveTo>
                    <a:pt x="0" y="2133"/>
                  </a:moveTo>
                  <a:lnTo>
                    <a:pt x="2130" y="0"/>
                  </a:lnTo>
                  <a:lnTo>
                    <a:pt x="213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52" name="Freeform 452"/>
            <p:cNvSpPr>
              <a:spLocks/>
            </p:cNvSpPr>
            <p:nvPr/>
          </p:nvSpPr>
          <p:spPr bwMode="auto">
            <a:xfrm>
              <a:off x="3814" y="3344"/>
              <a:ext cx="95" cy="94"/>
            </a:xfrm>
            <a:custGeom>
              <a:avLst/>
              <a:gdLst>
                <a:gd name="T0" fmla="*/ 0 w 882"/>
                <a:gd name="T1" fmla="*/ 882 h 882"/>
                <a:gd name="T2" fmla="*/ 881 w 882"/>
                <a:gd name="T3" fmla="*/ 0 h 882"/>
                <a:gd name="T4" fmla="*/ 882 w 882"/>
                <a:gd name="T5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2" h="882">
                  <a:moveTo>
                    <a:pt x="0" y="882"/>
                  </a:moveTo>
                  <a:lnTo>
                    <a:pt x="881" y="0"/>
                  </a:lnTo>
                  <a:lnTo>
                    <a:pt x="88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53" name="Freeform 453"/>
            <p:cNvSpPr>
              <a:spLocks/>
            </p:cNvSpPr>
            <p:nvPr/>
          </p:nvSpPr>
          <p:spPr bwMode="auto">
            <a:xfrm>
              <a:off x="3585" y="3454"/>
              <a:ext cx="235" cy="236"/>
            </a:xfrm>
            <a:custGeom>
              <a:avLst/>
              <a:gdLst>
                <a:gd name="T0" fmla="*/ 0 w 2191"/>
                <a:gd name="T1" fmla="*/ 2190 h 2190"/>
                <a:gd name="T2" fmla="*/ 2189 w 2191"/>
                <a:gd name="T3" fmla="*/ 0 h 2190"/>
                <a:gd name="T4" fmla="*/ 2191 w 2191"/>
                <a:gd name="T5" fmla="*/ 0 h 2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1" h="2190">
                  <a:moveTo>
                    <a:pt x="0" y="2190"/>
                  </a:moveTo>
                  <a:lnTo>
                    <a:pt x="2189" y="0"/>
                  </a:lnTo>
                  <a:lnTo>
                    <a:pt x="219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54" name="Freeform 454"/>
            <p:cNvSpPr>
              <a:spLocks/>
            </p:cNvSpPr>
            <p:nvPr/>
          </p:nvSpPr>
          <p:spPr bwMode="auto">
            <a:xfrm>
              <a:off x="3820" y="3348"/>
              <a:ext cx="107" cy="107"/>
            </a:xfrm>
            <a:custGeom>
              <a:avLst/>
              <a:gdLst>
                <a:gd name="T0" fmla="*/ 0 w 990"/>
                <a:gd name="T1" fmla="*/ 990 h 990"/>
                <a:gd name="T2" fmla="*/ 989 w 990"/>
                <a:gd name="T3" fmla="*/ 0 h 990"/>
                <a:gd name="T4" fmla="*/ 990 w 990"/>
                <a:gd name="T5" fmla="*/ 0 h 9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0" h="990">
                  <a:moveTo>
                    <a:pt x="0" y="990"/>
                  </a:moveTo>
                  <a:lnTo>
                    <a:pt x="989" y="0"/>
                  </a:lnTo>
                  <a:lnTo>
                    <a:pt x="99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55" name="Freeform 455"/>
            <p:cNvSpPr>
              <a:spLocks/>
            </p:cNvSpPr>
            <p:nvPr/>
          </p:nvSpPr>
          <p:spPr bwMode="auto">
            <a:xfrm>
              <a:off x="3586" y="3471"/>
              <a:ext cx="240" cy="240"/>
            </a:xfrm>
            <a:custGeom>
              <a:avLst/>
              <a:gdLst>
                <a:gd name="T0" fmla="*/ 0 w 2238"/>
                <a:gd name="T1" fmla="*/ 2240 h 2240"/>
                <a:gd name="T2" fmla="*/ 2237 w 2238"/>
                <a:gd name="T3" fmla="*/ 0 h 2240"/>
                <a:gd name="T4" fmla="*/ 2238 w 2238"/>
                <a:gd name="T5" fmla="*/ 0 h 2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8" h="2240">
                  <a:moveTo>
                    <a:pt x="0" y="2240"/>
                  </a:moveTo>
                  <a:lnTo>
                    <a:pt x="2237" y="0"/>
                  </a:lnTo>
                  <a:lnTo>
                    <a:pt x="223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56" name="Freeform 456"/>
            <p:cNvSpPr>
              <a:spLocks/>
            </p:cNvSpPr>
            <p:nvPr/>
          </p:nvSpPr>
          <p:spPr bwMode="auto">
            <a:xfrm>
              <a:off x="3826" y="3353"/>
              <a:ext cx="117" cy="117"/>
            </a:xfrm>
            <a:custGeom>
              <a:avLst/>
              <a:gdLst>
                <a:gd name="T0" fmla="*/ 0 w 1093"/>
                <a:gd name="T1" fmla="*/ 1092 h 1092"/>
                <a:gd name="T2" fmla="*/ 1092 w 1093"/>
                <a:gd name="T3" fmla="*/ 0 h 1092"/>
                <a:gd name="T4" fmla="*/ 1093 w 1093"/>
                <a:gd name="T5" fmla="*/ 0 h 1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93" h="1092">
                  <a:moveTo>
                    <a:pt x="0" y="1092"/>
                  </a:moveTo>
                  <a:lnTo>
                    <a:pt x="1092" y="0"/>
                  </a:lnTo>
                  <a:lnTo>
                    <a:pt x="109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57" name="Freeform 457"/>
            <p:cNvSpPr>
              <a:spLocks/>
            </p:cNvSpPr>
            <p:nvPr/>
          </p:nvSpPr>
          <p:spPr bwMode="auto">
            <a:xfrm>
              <a:off x="3587" y="3487"/>
              <a:ext cx="245" cy="244"/>
            </a:xfrm>
            <a:custGeom>
              <a:avLst/>
              <a:gdLst>
                <a:gd name="T0" fmla="*/ 0 w 2276"/>
                <a:gd name="T1" fmla="*/ 2278 h 2278"/>
                <a:gd name="T2" fmla="*/ 2275 w 2276"/>
                <a:gd name="T3" fmla="*/ 0 h 2278"/>
                <a:gd name="T4" fmla="*/ 2276 w 2276"/>
                <a:gd name="T5" fmla="*/ 0 h 2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6" h="2278">
                  <a:moveTo>
                    <a:pt x="0" y="2278"/>
                  </a:moveTo>
                  <a:lnTo>
                    <a:pt x="2275" y="0"/>
                  </a:lnTo>
                  <a:lnTo>
                    <a:pt x="227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58" name="Freeform 458"/>
            <p:cNvSpPr>
              <a:spLocks/>
            </p:cNvSpPr>
            <p:nvPr/>
          </p:nvSpPr>
          <p:spPr bwMode="auto">
            <a:xfrm>
              <a:off x="3832" y="3358"/>
              <a:ext cx="127" cy="129"/>
            </a:xfrm>
            <a:custGeom>
              <a:avLst/>
              <a:gdLst>
                <a:gd name="T0" fmla="*/ 0 w 1193"/>
                <a:gd name="T1" fmla="*/ 1192 h 1192"/>
                <a:gd name="T2" fmla="*/ 1191 w 1193"/>
                <a:gd name="T3" fmla="*/ 0 h 1192"/>
                <a:gd name="T4" fmla="*/ 1193 w 1193"/>
                <a:gd name="T5" fmla="*/ 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3" h="1192">
                  <a:moveTo>
                    <a:pt x="0" y="1192"/>
                  </a:moveTo>
                  <a:lnTo>
                    <a:pt x="1191" y="0"/>
                  </a:lnTo>
                  <a:lnTo>
                    <a:pt x="119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59" name="Freeform 459"/>
            <p:cNvSpPr>
              <a:spLocks/>
            </p:cNvSpPr>
            <p:nvPr/>
          </p:nvSpPr>
          <p:spPr bwMode="auto">
            <a:xfrm>
              <a:off x="3590" y="3503"/>
              <a:ext cx="248" cy="249"/>
            </a:xfrm>
            <a:custGeom>
              <a:avLst/>
              <a:gdLst>
                <a:gd name="T0" fmla="*/ 0 w 2306"/>
                <a:gd name="T1" fmla="*/ 2307 h 2307"/>
                <a:gd name="T2" fmla="*/ 2305 w 2306"/>
                <a:gd name="T3" fmla="*/ 0 h 2307"/>
                <a:gd name="T4" fmla="*/ 2306 w 2306"/>
                <a:gd name="T5" fmla="*/ 0 h 2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06" h="2307">
                  <a:moveTo>
                    <a:pt x="0" y="2307"/>
                  </a:moveTo>
                  <a:lnTo>
                    <a:pt x="2305" y="0"/>
                  </a:lnTo>
                  <a:lnTo>
                    <a:pt x="230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60" name="Freeform 460"/>
            <p:cNvSpPr>
              <a:spLocks/>
            </p:cNvSpPr>
            <p:nvPr/>
          </p:nvSpPr>
          <p:spPr bwMode="auto">
            <a:xfrm>
              <a:off x="3837" y="3364"/>
              <a:ext cx="138" cy="138"/>
            </a:xfrm>
            <a:custGeom>
              <a:avLst/>
              <a:gdLst>
                <a:gd name="T0" fmla="*/ 0 w 1289"/>
                <a:gd name="T1" fmla="*/ 1290 h 1290"/>
                <a:gd name="T2" fmla="*/ 1288 w 1289"/>
                <a:gd name="T3" fmla="*/ 0 h 1290"/>
                <a:gd name="T4" fmla="*/ 1289 w 1289"/>
                <a:gd name="T5" fmla="*/ 0 h 1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89" h="1290">
                  <a:moveTo>
                    <a:pt x="0" y="1290"/>
                  </a:moveTo>
                  <a:lnTo>
                    <a:pt x="1288" y="0"/>
                  </a:lnTo>
                  <a:lnTo>
                    <a:pt x="128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61" name="Freeform 461"/>
            <p:cNvSpPr>
              <a:spLocks/>
            </p:cNvSpPr>
            <p:nvPr/>
          </p:nvSpPr>
          <p:spPr bwMode="auto">
            <a:xfrm>
              <a:off x="3593" y="3519"/>
              <a:ext cx="250" cy="250"/>
            </a:xfrm>
            <a:custGeom>
              <a:avLst/>
              <a:gdLst>
                <a:gd name="T0" fmla="*/ 0 w 2326"/>
                <a:gd name="T1" fmla="*/ 2327 h 2327"/>
                <a:gd name="T2" fmla="*/ 2325 w 2326"/>
                <a:gd name="T3" fmla="*/ 0 h 2327"/>
                <a:gd name="T4" fmla="*/ 2326 w 2326"/>
                <a:gd name="T5" fmla="*/ 0 h 2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6" h="2327">
                  <a:moveTo>
                    <a:pt x="0" y="2327"/>
                  </a:moveTo>
                  <a:lnTo>
                    <a:pt x="2325" y="0"/>
                  </a:lnTo>
                  <a:lnTo>
                    <a:pt x="232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62" name="Freeform 462"/>
            <p:cNvSpPr>
              <a:spLocks/>
            </p:cNvSpPr>
            <p:nvPr/>
          </p:nvSpPr>
          <p:spPr bwMode="auto">
            <a:xfrm>
              <a:off x="3843" y="3370"/>
              <a:ext cx="148" cy="149"/>
            </a:xfrm>
            <a:custGeom>
              <a:avLst/>
              <a:gdLst>
                <a:gd name="T0" fmla="*/ 0 w 1383"/>
                <a:gd name="T1" fmla="*/ 1384 h 1384"/>
                <a:gd name="T2" fmla="*/ 1382 w 1383"/>
                <a:gd name="T3" fmla="*/ 0 h 1384"/>
                <a:gd name="T4" fmla="*/ 1383 w 1383"/>
                <a:gd name="T5" fmla="*/ 0 h 1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83" h="1384">
                  <a:moveTo>
                    <a:pt x="0" y="1384"/>
                  </a:moveTo>
                  <a:lnTo>
                    <a:pt x="1382" y="0"/>
                  </a:lnTo>
                  <a:lnTo>
                    <a:pt x="138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63" name="Freeform 463"/>
            <p:cNvSpPr>
              <a:spLocks/>
            </p:cNvSpPr>
            <p:nvPr/>
          </p:nvSpPr>
          <p:spPr bwMode="auto">
            <a:xfrm>
              <a:off x="3598" y="3535"/>
              <a:ext cx="250" cy="250"/>
            </a:xfrm>
            <a:custGeom>
              <a:avLst/>
              <a:gdLst>
                <a:gd name="T0" fmla="*/ 0 w 2336"/>
                <a:gd name="T1" fmla="*/ 2337 h 2337"/>
                <a:gd name="T2" fmla="*/ 2335 w 2336"/>
                <a:gd name="T3" fmla="*/ 0 h 2337"/>
                <a:gd name="T4" fmla="*/ 2336 w 2336"/>
                <a:gd name="T5" fmla="*/ 0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36" h="2337">
                  <a:moveTo>
                    <a:pt x="0" y="2337"/>
                  </a:moveTo>
                  <a:lnTo>
                    <a:pt x="2335" y="0"/>
                  </a:lnTo>
                  <a:lnTo>
                    <a:pt x="233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64" name="Freeform 464"/>
            <p:cNvSpPr>
              <a:spLocks/>
            </p:cNvSpPr>
            <p:nvPr/>
          </p:nvSpPr>
          <p:spPr bwMode="auto">
            <a:xfrm>
              <a:off x="3848" y="3376"/>
              <a:ext cx="159" cy="159"/>
            </a:xfrm>
            <a:custGeom>
              <a:avLst/>
              <a:gdLst>
                <a:gd name="T0" fmla="*/ 0 w 1474"/>
                <a:gd name="T1" fmla="*/ 1475 h 1475"/>
                <a:gd name="T2" fmla="*/ 1473 w 1474"/>
                <a:gd name="T3" fmla="*/ 0 h 1475"/>
                <a:gd name="T4" fmla="*/ 1474 w 1474"/>
                <a:gd name="T5" fmla="*/ 0 h 1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4" h="1475">
                  <a:moveTo>
                    <a:pt x="0" y="1475"/>
                  </a:moveTo>
                  <a:lnTo>
                    <a:pt x="1473" y="0"/>
                  </a:lnTo>
                  <a:lnTo>
                    <a:pt x="147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65" name="Freeform 465"/>
            <p:cNvSpPr>
              <a:spLocks/>
            </p:cNvSpPr>
            <p:nvPr/>
          </p:nvSpPr>
          <p:spPr bwMode="auto">
            <a:xfrm>
              <a:off x="3603" y="3551"/>
              <a:ext cx="250" cy="251"/>
            </a:xfrm>
            <a:custGeom>
              <a:avLst/>
              <a:gdLst>
                <a:gd name="T0" fmla="*/ 0 w 2342"/>
                <a:gd name="T1" fmla="*/ 2342 h 2342"/>
                <a:gd name="T2" fmla="*/ 2341 w 2342"/>
                <a:gd name="T3" fmla="*/ 0 h 2342"/>
                <a:gd name="T4" fmla="*/ 2342 w 2342"/>
                <a:gd name="T5" fmla="*/ 0 h 2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2" h="2342">
                  <a:moveTo>
                    <a:pt x="0" y="2342"/>
                  </a:moveTo>
                  <a:lnTo>
                    <a:pt x="2341" y="0"/>
                  </a:lnTo>
                  <a:lnTo>
                    <a:pt x="234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66" name="Freeform 466"/>
            <p:cNvSpPr>
              <a:spLocks/>
            </p:cNvSpPr>
            <p:nvPr/>
          </p:nvSpPr>
          <p:spPr bwMode="auto">
            <a:xfrm>
              <a:off x="3854" y="3383"/>
              <a:ext cx="168" cy="168"/>
            </a:xfrm>
            <a:custGeom>
              <a:avLst/>
              <a:gdLst>
                <a:gd name="T0" fmla="*/ 0 w 1562"/>
                <a:gd name="T1" fmla="*/ 1562 h 1562"/>
                <a:gd name="T2" fmla="*/ 1561 w 1562"/>
                <a:gd name="T3" fmla="*/ 0 h 1562"/>
                <a:gd name="T4" fmla="*/ 1562 w 1562"/>
                <a:gd name="T5" fmla="*/ 0 h 1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2" h="1562">
                  <a:moveTo>
                    <a:pt x="0" y="1562"/>
                  </a:moveTo>
                  <a:lnTo>
                    <a:pt x="1561" y="0"/>
                  </a:lnTo>
                  <a:lnTo>
                    <a:pt x="156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67" name="Freeform 467"/>
            <p:cNvSpPr>
              <a:spLocks/>
            </p:cNvSpPr>
            <p:nvPr/>
          </p:nvSpPr>
          <p:spPr bwMode="auto">
            <a:xfrm>
              <a:off x="3609" y="3567"/>
              <a:ext cx="250" cy="250"/>
            </a:xfrm>
            <a:custGeom>
              <a:avLst/>
              <a:gdLst>
                <a:gd name="T0" fmla="*/ 0 w 2342"/>
                <a:gd name="T1" fmla="*/ 2344 h 2344"/>
                <a:gd name="T2" fmla="*/ 2341 w 2342"/>
                <a:gd name="T3" fmla="*/ 0 h 2344"/>
                <a:gd name="T4" fmla="*/ 2342 w 2342"/>
                <a:gd name="T5" fmla="*/ 0 h 2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2" h="2344">
                  <a:moveTo>
                    <a:pt x="0" y="2344"/>
                  </a:moveTo>
                  <a:lnTo>
                    <a:pt x="2341" y="0"/>
                  </a:lnTo>
                  <a:lnTo>
                    <a:pt x="234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68" name="Freeform 468"/>
            <p:cNvSpPr>
              <a:spLocks/>
            </p:cNvSpPr>
            <p:nvPr/>
          </p:nvSpPr>
          <p:spPr bwMode="auto">
            <a:xfrm>
              <a:off x="3860" y="3391"/>
              <a:ext cx="178" cy="178"/>
            </a:xfrm>
            <a:custGeom>
              <a:avLst/>
              <a:gdLst>
                <a:gd name="T0" fmla="*/ 0 w 1644"/>
                <a:gd name="T1" fmla="*/ 1644 h 1644"/>
                <a:gd name="T2" fmla="*/ 1643 w 1644"/>
                <a:gd name="T3" fmla="*/ 0 h 1644"/>
                <a:gd name="T4" fmla="*/ 1644 w 1644"/>
                <a:gd name="T5" fmla="*/ 0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4" h="1644">
                  <a:moveTo>
                    <a:pt x="0" y="1644"/>
                  </a:moveTo>
                  <a:lnTo>
                    <a:pt x="1643" y="0"/>
                  </a:lnTo>
                  <a:lnTo>
                    <a:pt x="164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69" name="Freeform 469"/>
            <p:cNvSpPr>
              <a:spLocks/>
            </p:cNvSpPr>
            <p:nvPr/>
          </p:nvSpPr>
          <p:spPr bwMode="auto">
            <a:xfrm>
              <a:off x="3615" y="3583"/>
              <a:ext cx="250" cy="251"/>
            </a:xfrm>
            <a:custGeom>
              <a:avLst/>
              <a:gdLst>
                <a:gd name="T0" fmla="*/ 0 w 2341"/>
                <a:gd name="T1" fmla="*/ 2342 h 2342"/>
                <a:gd name="T2" fmla="*/ 2340 w 2341"/>
                <a:gd name="T3" fmla="*/ 0 h 2342"/>
                <a:gd name="T4" fmla="*/ 2341 w 2341"/>
                <a:gd name="T5" fmla="*/ 0 h 2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1" h="2342">
                  <a:moveTo>
                    <a:pt x="0" y="2342"/>
                  </a:moveTo>
                  <a:lnTo>
                    <a:pt x="2340" y="0"/>
                  </a:lnTo>
                  <a:lnTo>
                    <a:pt x="234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70" name="Freeform 470"/>
            <p:cNvSpPr>
              <a:spLocks/>
            </p:cNvSpPr>
            <p:nvPr/>
          </p:nvSpPr>
          <p:spPr bwMode="auto">
            <a:xfrm>
              <a:off x="3866" y="3398"/>
              <a:ext cx="185" cy="185"/>
            </a:xfrm>
            <a:custGeom>
              <a:avLst/>
              <a:gdLst>
                <a:gd name="T0" fmla="*/ 0 w 1720"/>
                <a:gd name="T1" fmla="*/ 1720 h 1720"/>
                <a:gd name="T2" fmla="*/ 1719 w 1720"/>
                <a:gd name="T3" fmla="*/ 0 h 1720"/>
                <a:gd name="T4" fmla="*/ 1720 w 1720"/>
                <a:gd name="T5" fmla="*/ 0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0" h="1720">
                  <a:moveTo>
                    <a:pt x="0" y="1720"/>
                  </a:moveTo>
                  <a:lnTo>
                    <a:pt x="1719" y="0"/>
                  </a:lnTo>
                  <a:lnTo>
                    <a:pt x="172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71" name="Freeform 471"/>
            <p:cNvSpPr>
              <a:spLocks/>
            </p:cNvSpPr>
            <p:nvPr/>
          </p:nvSpPr>
          <p:spPr bwMode="auto">
            <a:xfrm>
              <a:off x="3621" y="3599"/>
              <a:ext cx="250" cy="250"/>
            </a:xfrm>
            <a:custGeom>
              <a:avLst/>
              <a:gdLst>
                <a:gd name="T0" fmla="*/ 0 w 2338"/>
                <a:gd name="T1" fmla="*/ 2338 h 2338"/>
                <a:gd name="T2" fmla="*/ 2337 w 2338"/>
                <a:gd name="T3" fmla="*/ 0 h 2338"/>
                <a:gd name="T4" fmla="*/ 2338 w 2338"/>
                <a:gd name="T5" fmla="*/ 0 h 2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38" h="2338">
                  <a:moveTo>
                    <a:pt x="0" y="2338"/>
                  </a:moveTo>
                  <a:lnTo>
                    <a:pt x="2337" y="0"/>
                  </a:lnTo>
                  <a:lnTo>
                    <a:pt x="233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72" name="Freeform 472"/>
            <p:cNvSpPr>
              <a:spLocks/>
            </p:cNvSpPr>
            <p:nvPr/>
          </p:nvSpPr>
          <p:spPr bwMode="auto">
            <a:xfrm>
              <a:off x="3872" y="3407"/>
              <a:ext cx="192" cy="192"/>
            </a:xfrm>
            <a:custGeom>
              <a:avLst/>
              <a:gdLst>
                <a:gd name="T0" fmla="*/ 0 w 1790"/>
                <a:gd name="T1" fmla="*/ 1791 h 1791"/>
                <a:gd name="T2" fmla="*/ 1789 w 1790"/>
                <a:gd name="T3" fmla="*/ 0 h 1791"/>
                <a:gd name="T4" fmla="*/ 1790 w 1790"/>
                <a:gd name="T5" fmla="*/ 0 h 1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90" h="1791">
                  <a:moveTo>
                    <a:pt x="0" y="1791"/>
                  </a:moveTo>
                  <a:lnTo>
                    <a:pt x="1789" y="0"/>
                  </a:lnTo>
                  <a:lnTo>
                    <a:pt x="179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73" name="Freeform 473"/>
            <p:cNvSpPr>
              <a:spLocks/>
            </p:cNvSpPr>
            <p:nvPr/>
          </p:nvSpPr>
          <p:spPr bwMode="auto">
            <a:xfrm>
              <a:off x="3645" y="3615"/>
              <a:ext cx="232" cy="233"/>
            </a:xfrm>
            <a:custGeom>
              <a:avLst/>
              <a:gdLst>
                <a:gd name="T0" fmla="*/ 0 w 2169"/>
                <a:gd name="T1" fmla="*/ 2169 h 2169"/>
                <a:gd name="T2" fmla="*/ 2168 w 2169"/>
                <a:gd name="T3" fmla="*/ 0 h 2169"/>
                <a:gd name="T4" fmla="*/ 2169 w 2169"/>
                <a:gd name="T5" fmla="*/ 0 h 2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9" h="2169">
                  <a:moveTo>
                    <a:pt x="0" y="2169"/>
                  </a:moveTo>
                  <a:lnTo>
                    <a:pt x="2168" y="0"/>
                  </a:lnTo>
                  <a:lnTo>
                    <a:pt x="216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74" name="Freeform 474"/>
            <p:cNvSpPr>
              <a:spLocks/>
            </p:cNvSpPr>
            <p:nvPr/>
          </p:nvSpPr>
          <p:spPr bwMode="auto">
            <a:xfrm>
              <a:off x="3877" y="3416"/>
              <a:ext cx="200" cy="199"/>
            </a:xfrm>
            <a:custGeom>
              <a:avLst/>
              <a:gdLst>
                <a:gd name="T0" fmla="*/ 0 w 1856"/>
                <a:gd name="T1" fmla="*/ 1856 h 1856"/>
                <a:gd name="T2" fmla="*/ 1855 w 1856"/>
                <a:gd name="T3" fmla="*/ 0 h 1856"/>
                <a:gd name="T4" fmla="*/ 1856 w 1856"/>
                <a:gd name="T5" fmla="*/ 0 h 1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56" h="1856">
                  <a:moveTo>
                    <a:pt x="0" y="1856"/>
                  </a:moveTo>
                  <a:lnTo>
                    <a:pt x="1855" y="0"/>
                  </a:lnTo>
                  <a:lnTo>
                    <a:pt x="185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75" name="Freeform 475"/>
            <p:cNvSpPr>
              <a:spLocks/>
            </p:cNvSpPr>
            <p:nvPr/>
          </p:nvSpPr>
          <p:spPr bwMode="auto">
            <a:xfrm>
              <a:off x="3680" y="3632"/>
              <a:ext cx="203" cy="203"/>
            </a:xfrm>
            <a:custGeom>
              <a:avLst/>
              <a:gdLst>
                <a:gd name="T0" fmla="*/ 0 w 1896"/>
                <a:gd name="T1" fmla="*/ 1897 h 1897"/>
                <a:gd name="T2" fmla="*/ 1894 w 1896"/>
                <a:gd name="T3" fmla="*/ 0 h 1897"/>
                <a:gd name="T4" fmla="*/ 1896 w 1896"/>
                <a:gd name="T5" fmla="*/ 0 h 1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96" h="1897">
                  <a:moveTo>
                    <a:pt x="0" y="1897"/>
                  </a:moveTo>
                  <a:lnTo>
                    <a:pt x="1894" y="0"/>
                  </a:lnTo>
                  <a:lnTo>
                    <a:pt x="189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76" name="Freeform 476"/>
            <p:cNvSpPr>
              <a:spLocks/>
            </p:cNvSpPr>
            <p:nvPr/>
          </p:nvSpPr>
          <p:spPr bwMode="auto">
            <a:xfrm>
              <a:off x="3883" y="3425"/>
              <a:ext cx="206" cy="207"/>
            </a:xfrm>
            <a:custGeom>
              <a:avLst/>
              <a:gdLst>
                <a:gd name="T0" fmla="*/ 0 w 1917"/>
                <a:gd name="T1" fmla="*/ 1917 h 1917"/>
                <a:gd name="T2" fmla="*/ 1916 w 1917"/>
                <a:gd name="T3" fmla="*/ 0 h 1917"/>
                <a:gd name="T4" fmla="*/ 1917 w 1917"/>
                <a:gd name="T5" fmla="*/ 0 h 1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17" h="1917">
                  <a:moveTo>
                    <a:pt x="0" y="1917"/>
                  </a:moveTo>
                  <a:lnTo>
                    <a:pt x="1916" y="0"/>
                  </a:lnTo>
                  <a:lnTo>
                    <a:pt x="191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77" name="Freeform 477"/>
            <p:cNvSpPr>
              <a:spLocks/>
            </p:cNvSpPr>
            <p:nvPr/>
          </p:nvSpPr>
          <p:spPr bwMode="auto">
            <a:xfrm>
              <a:off x="3714" y="3648"/>
              <a:ext cx="175" cy="174"/>
            </a:xfrm>
            <a:custGeom>
              <a:avLst/>
              <a:gdLst>
                <a:gd name="T0" fmla="*/ 0 w 1623"/>
                <a:gd name="T1" fmla="*/ 1624 h 1624"/>
                <a:gd name="T2" fmla="*/ 1622 w 1623"/>
                <a:gd name="T3" fmla="*/ 0 h 1624"/>
                <a:gd name="T4" fmla="*/ 1623 w 1623"/>
                <a:gd name="T5" fmla="*/ 0 h 1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3" h="1624">
                  <a:moveTo>
                    <a:pt x="0" y="1624"/>
                  </a:moveTo>
                  <a:lnTo>
                    <a:pt x="1622" y="0"/>
                  </a:lnTo>
                  <a:lnTo>
                    <a:pt x="162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78" name="Freeform 478"/>
            <p:cNvSpPr>
              <a:spLocks/>
            </p:cNvSpPr>
            <p:nvPr/>
          </p:nvSpPr>
          <p:spPr bwMode="auto">
            <a:xfrm>
              <a:off x="3889" y="3436"/>
              <a:ext cx="212" cy="212"/>
            </a:xfrm>
            <a:custGeom>
              <a:avLst/>
              <a:gdLst>
                <a:gd name="T0" fmla="*/ 0 w 1973"/>
                <a:gd name="T1" fmla="*/ 1974 h 1974"/>
                <a:gd name="T2" fmla="*/ 1972 w 1973"/>
                <a:gd name="T3" fmla="*/ 0 h 1974"/>
                <a:gd name="T4" fmla="*/ 1973 w 1973"/>
                <a:gd name="T5" fmla="*/ 0 h 1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3" h="1974">
                  <a:moveTo>
                    <a:pt x="0" y="1974"/>
                  </a:moveTo>
                  <a:lnTo>
                    <a:pt x="1972" y="0"/>
                  </a:lnTo>
                  <a:lnTo>
                    <a:pt x="197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79" name="Freeform 479"/>
            <p:cNvSpPr>
              <a:spLocks/>
            </p:cNvSpPr>
            <p:nvPr/>
          </p:nvSpPr>
          <p:spPr bwMode="auto">
            <a:xfrm>
              <a:off x="3750" y="3664"/>
              <a:ext cx="146" cy="145"/>
            </a:xfrm>
            <a:custGeom>
              <a:avLst/>
              <a:gdLst>
                <a:gd name="T0" fmla="*/ 0 w 1351"/>
                <a:gd name="T1" fmla="*/ 1352 h 1352"/>
                <a:gd name="T2" fmla="*/ 1350 w 1351"/>
                <a:gd name="T3" fmla="*/ 0 h 1352"/>
                <a:gd name="T4" fmla="*/ 1351 w 1351"/>
                <a:gd name="T5" fmla="*/ 0 h 1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51" h="1352">
                  <a:moveTo>
                    <a:pt x="0" y="1352"/>
                  </a:moveTo>
                  <a:lnTo>
                    <a:pt x="1350" y="0"/>
                  </a:lnTo>
                  <a:lnTo>
                    <a:pt x="135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80" name="Freeform 480"/>
            <p:cNvSpPr>
              <a:spLocks/>
            </p:cNvSpPr>
            <p:nvPr/>
          </p:nvSpPr>
          <p:spPr bwMode="auto">
            <a:xfrm>
              <a:off x="3895" y="3446"/>
              <a:ext cx="217" cy="218"/>
            </a:xfrm>
            <a:custGeom>
              <a:avLst/>
              <a:gdLst>
                <a:gd name="T0" fmla="*/ 0 w 2027"/>
                <a:gd name="T1" fmla="*/ 2026 h 2026"/>
                <a:gd name="T2" fmla="*/ 2026 w 2027"/>
                <a:gd name="T3" fmla="*/ 0 h 2026"/>
                <a:gd name="T4" fmla="*/ 2027 w 2027"/>
                <a:gd name="T5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27" h="2026">
                  <a:moveTo>
                    <a:pt x="0" y="2026"/>
                  </a:moveTo>
                  <a:lnTo>
                    <a:pt x="2026" y="0"/>
                  </a:lnTo>
                  <a:lnTo>
                    <a:pt x="202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81" name="Freeform 481"/>
            <p:cNvSpPr>
              <a:spLocks/>
            </p:cNvSpPr>
            <p:nvPr/>
          </p:nvSpPr>
          <p:spPr bwMode="auto">
            <a:xfrm>
              <a:off x="3785" y="3679"/>
              <a:ext cx="116" cy="116"/>
            </a:xfrm>
            <a:custGeom>
              <a:avLst/>
              <a:gdLst>
                <a:gd name="T0" fmla="*/ 0 w 1078"/>
                <a:gd name="T1" fmla="*/ 1079 h 1079"/>
                <a:gd name="T2" fmla="*/ 1077 w 1078"/>
                <a:gd name="T3" fmla="*/ 0 h 1079"/>
                <a:gd name="T4" fmla="*/ 1078 w 1078"/>
                <a:gd name="T5" fmla="*/ 0 h 1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78" h="1079">
                  <a:moveTo>
                    <a:pt x="0" y="1079"/>
                  </a:moveTo>
                  <a:lnTo>
                    <a:pt x="1077" y="0"/>
                  </a:lnTo>
                  <a:lnTo>
                    <a:pt x="107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82" name="Freeform 482"/>
            <p:cNvSpPr>
              <a:spLocks/>
            </p:cNvSpPr>
            <p:nvPr/>
          </p:nvSpPr>
          <p:spPr bwMode="auto">
            <a:xfrm>
              <a:off x="3900" y="3457"/>
              <a:ext cx="223" cy="222"/>
            </a:xfrm>
            <a:custGeom>
              <a:avLst/>
              <a:gdLst>
                <a:gd name="T0" fmla="*/ 0 w 2075"/>
                <a:gd name="T1" fmla="*/ 2075 h 2075"/>
                <a:gd name="T2" fmla="*/ 2074 w 2075"/>
                <a:gd name="T3" fmla="*/ 0 h 2075"/>
                <a:gd name="T4" fmla="*/ 2075 w 2075"/>
                <a:gd name="T5" fmla="*/ 0 h 20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" h="2075">
                  <a:moveTo>
                    <a:pt x="0" y="2075"/>
                  </a:moveTo>
                  <a:lnTo>
                    <a:pt x="2074" y="0"/>
                  </a:lnTo>
                  <a:lnTo>
                    <a:pt x="207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83" name="Freeform 483"/>
            <p:cNvSpPr>
              <a:spLocks/>
            </p:cNvSpPr>
            <p:nvPr/>
          </p:nvSpPr>
          <p:spPr bwMode="auto">
            <a:xfrm>
              <a:off x="3819" y="3696"/>
              <a:ext cx="88" cy="87"/>
            </a:xfrm>
            <a:custGeom>
              <a:avLst/>
              <a:gdLst>
                <a:gd name="T0" fmla="*/ 0 w 806"/>
                <a:gd name="T1" fmla="*/ 806 h 806"/>
                <a:gd name="T2" fmla="*/ 805 w 806"/>
                <a:gd name="T3" fmla="*/ 0 h 806"/>
                <a:gd name="T4" fmla="*/ 806 w 806"/>
                <a:gd name="T5" fmla="*/ 0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06" h="806">
                  <a:moveTo>
                    <a:pt x="0" y="806"/>
                  </a:moveTo>
                  <a:lnTo>
                    <a:pt x="805" y="0"/>
                  </a:lnTo>
                  <a:lnTo>
                    <a:pt x="80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84" name="Freeform 484"/>
            <p:cNvSpPr>
              <a:spLocks/>
            </p:cNvSpPr>
            <p:nvPr/>
          </p:nvSpPr>
          <p:spPr bwMode="auto">
            <a:xfrm>
              <a:off x="3906" y="3468"/>
              <a:ext cx="228" cy="228"/>
            </a:xfrm>
            <a:custGeom>
              <a:avLst/>
              <a:gdLst>
                <a:gd name="T0" fmla="*/ 0 w 2121"/>
                <a:gd name="T1" fmla="*/ 2122 h 2122"/>
                <a:gd name="T2" fmla="*/ 2120 w 2121"/>
                <a:gd name="T3" fmla="*/ 0 h 2122"/>
                <a:gd name="T4" fmla="*/ 2121 w 2121"/>
                <a:gd name="T5" fmla="*/ 0 h 2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21" h="2122">
                  <a:moveTo>
                    <a:pt x="0" y="2122"/>
                  </a:moveTo>
                  <a:lnTo>
                    <a:pt x="2120" y="0"/>
                  </a:lnTo>
                  <a:lnTo>
                    <a:pt x="212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85" name="Freeform 485"/>
            <p:cNvSpPr>
              <a:spLocks/>
            </p:cNvSpPr>
            <p:nvPr/>
          </p:nvSpPr>
          <p:spPr bwMode="auto">
            <a:xfrm>
              <a:off x="3855" y="3711"/>
              <a:ext cx="55" cy="56"/>
            </a:xfrm>
            <a:custGeom>
              <a:avLst/>
              <a:gdLst>
                <a:gd name="T0" fmla="*/ 0 w 533"/>
                <a:gd name="T1" fmla="*/ 533 h 533"/>
                <a:gd name="T2" fmla="*/ 532 w 533"/>
                <a:gd name="T3" fmla="*/ 0 h 533"/>
                <a:gd name="T4" fmla="*/ 533 w 533"/>
                <a:gd name="T5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3" h="533">
                  <a:moveTo>
                    <a:pt x="0" y="533"/>
                  </a:moveTo>
                  <a:lnTo>
                    <a:pt x="532" y="0"/>
                  </a:lnTo>
                  <a:lnTo>
                    <a:pt x="53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86" name="Freeform 486"/>
            <p:cNvSpPr>
              <a:spLocks/>
            </p:cNvSpPr>
            <p:nvPr/>
          </p:nvSpPr>
          <p:spPr bwMode="auto">
            <a:xfrm>
              <a:off x="3912" y="3480"/>
              <a:ext cx="232" cy="231"/>
            </a:xfrm>
            <a:custGeom>
              <a:avLst/>
              <a:gdLst>
                <a:gd name="T0" fmla="*/ 0 w 2162"/>
                <a:gd name="T1" fmla="*/ 2164 h 2164"/>
                <a:gd name="T2" fmla="*/ 2161 w 2162"/>
                <a:gd name="T3" fmla="*/ 0 h 2164"/>
                <a:gd name="T4" fmla="*/ 2162 w 2162"/>
                <a:gd name="T5" fmla="*/ 0 h 2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2" h="2164">
                  <a:moveTo>
                    <a:pt x="0" y="2164"/>
                  </a:moveTo>
                  <a:lnTo>
                    <a:pt x="2161" y="0"/>
                  </a:lnTo>
                  <a:lnTo>
                    <a:pt x="216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87" name="Freeform 487"/>
            <p:cNvSpPr>
              <a:spLocks/>
            </p:cNvSpPr>
            <p:nvPr/>
          </p:nvSpPr>
          <p:spPr bwMode="auto">
            <a:xfrm>
              <a:off x="3890" y="3728"/>
              <a:ext cx="27" cy="28"/>
            </a:xfrm>
            <a:custGeom>
              <a:avLst/>
              <a:gdLst>
                <a:gd name="T0" fmla="*/ 0 w 261"/>
                <a:gd name="T1" fmla="*/ 260 h 260"/>
                <a:gd name="T2" fmla="*/ 260 w 261"/>
                <a:gd name="T3" fmla="*/ 0 h 260"/>
                <a:gd name="T4" fmla="*/ 261 w 261"/>
                <a:gd name="T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1" h="260">
                  <a:moveTo>
                    <a:pt x="0" y="260"/>
                  </a:moveTo>
                  <a:lnTo>
                    <a:pt x="260" y="0"/>
                  </a:lnTo>
                  <a:lnTo>
                    <a:pt x="26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88" name="Freeform 488"/>
            <p:cNvSpPr>
              <a:spLocks/>
            </p:cNvSpPr>
            <p:nvPr/>
          </p:nvSpPr>
          <p:spPr bwMode="auto">
            <a:xfrm>
              <a:off x="3917" y="3491"/>
              <a:ext cx="237" cy="237"/>
            </a:xfrm>
            <a:custGeom>
              <a:avLst/>
              <a:gdLst>
                <a:gd name="T0" fmla="*/ 0 w 2202"/>
                <a:gd name="T1" fmla="*/ 2203 h 2203"/>
                <a:gd name="T2" fmla="*/ 2201 w 2202"/>
                <a:gd name="T3" fmla="*/ 0 h 2203"/>
                <a:gd name="T4" fmla="*/ 2202 w 2202"/>
                <a:gd name="T5" fmla="*/ 0 h 2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2" h="2203">
                  <a:moveTo>
                    <a:pt x="0" y="2203"/>
                  </a:moveTo>
                  <a:lnTo>
                    <a:pt x="2201" y="0"/>
                  </a:lnTo>
                  <a:lnTo>
                    <a:pt x="220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89" name="Freeform 489"/>
            <p:cNvSpPr>
              <a:spLocks/>
            </p:cNvSpPr>
            <p:nvPr/>
          </p:nvSpPr>
          <p:spPr bwMode="auto">
            <a:xfrm>
              <a:off x="3924" y="3503"/>
              <a:ext cx="239" cy="240"/>
            </a:xfrm>
            <a:custGeom>
              <a:avLst/>
              <a:gdLst>
                <a:gd name="T0" fmla="*/ 0 w 2225"/>
                <a:gd name="T1" fmla="*/ 2224 h 2224"/>
                <a:gd name="T2" fmla="*/ 2224 w 2225"/>
                <a:gd name="T3" fmla="*/ 0 h 2224"/>
                <a:gd name="T4" fmla="*/ 2225 w 2225"/>
                <a:gd name="T5" fmla="*/ 0 h 2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25" h="2224">
                  <a:moveTo>
                    <a:pt x="0" y="2224"/>
                  </a:moveTo>
                  <a:lnTo>
                    <a:pt x="2224" y="0"/>
                  </a:lnTo>
                  <a:lnTo>
                    <a:pt x="222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90" name="Freeform 490"/>
            <p:cNvSpPr>
              <a:spLocks/>
            </p:cNvSpPr>
            <p:nvPr/>
          </p:nvSpPr>
          <p:spPr bwMode="auto">
            <a:xfrm>
              <a:off x="3960" y="3516"/>
              <a:ext cx="213" cy="213"/>
            </a:xfrm>
            <a:custGeom>
              <a:avLst/>
              <a:gdLst>
                <a:gd name="T0" fmla="*/ 0 w 1981"/>
                <a:gd name="T1" fmla="*/ 1982 h 1982"/>
                <a:gd name="T2" fmla="*/ 1980 w 1981"/>
                <a:gd name="T3" fmla="*/ 0 h 1982"/>
                <a:gd name="T4" fmla="*/ 1981 w 1981"/>
                <a:gd name="T5" fmla="*/ 0 h 1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1" h="1982">
                  <a:moveTo>
                    <a:pt x="0" y="1982"/>
                  </a:moveTo>
                  <a:lnTo>
                    <a:pt x="1980" y="0"/>
                  </a:lnTo>
                  <a:lnTo>
                    <a:pt x="198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91" name="Freeform 491"/>
            <p:cNvSpPr>
              <a:spLocks/>
            </p:cNvSpPr>
            <p:nvPr/>
          </p:nvSpPr>
          <p:spPr bwMode="auto">
            <a:xfrm>
              <a:off x="3995" y="3530"/>
              <a:ext cx="186" cy="186"/>
            </a:xfrm>
            <a:custGeom>
              <a:avLst/>
              <a:gdLst>
                <a:gd name="T0" fmla="*/ 0 w 1735"/>
                <a:gd name="T1" fmla="*/ 1736 h 1736"/>
                <a:gd name="T2" fmla="*/ 1734 w 1735"/>
                <a:gd name="T3" fmla="*/ 0 h 1736"/>
                <a:gd name="T4" fmla="*/ 1735 w 1735"/>
                <a:gd name="T5" fmla="*/ 0 h 1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5" h="1736">
                  <a:moveTo>
                    <a:pt x="0" y="1736"/>
                  </a:moveTo>
                  <a:lnTo>
                    <a:pt x="1734" y="0"/>
                  </a:lnTo>
                  <a:lnTo>
                    <a:pt x="173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92" name="Freeform 492"/>
            <p:cNvSpPr>
              <a:spLocks/>
            </p:cNvSpPr>
            <p:nvPr/>
          </p:nvSpPr>
          <p:spPr bwMode="auto">
            <a:xfrm>
              <a:off x="4029" y="3544"/>
              <a:ext cx="160" cy="159"/>
            </a:xfrm>
            <a:custGeom>
              <a:avLst/>
              <a:gdLst>
                <a:gd name="T0" fmla="*/ 0 w 1484"/>
                <a:gd name="T1" fmla="*/ 1484 h 1484"/>
                <a:gd name="T2" fmla="*/ 1483 w 1484"/>
                <a:gd name="T3" fmla="*/ 0 h 1484"/>
                <a:gd name="T4" fmla="*/ 1484 w 1484"/>
                <a:gd name="T5" fmla="*/ 0 h 1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4" h="1484">
                  <a:moveTo>
                    <a:pt x="0" y="1484"/>
                  </a:moveTo>
                  <a:lnTo>
                    <a:pt x="1483" y="0"/>
                  </a:lnTo>
                  <a:lnTo>
                    <a:pt x="148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93" name="Freeform 493"/>
            <p:cNvSpPr>
              <a:spLocks/>
            </p:cNvSpPr>
            <p:nvPr/>
          </p:nvSpPr>
          <p:spPr bwMode="auto">
            <a:xfrm>
              <a:off x="4064" y="3558"/>
              <a:ext cx="132" cy="132"/>
            </a:xfrm>
            <a:custGeom>
              <a:avLst/>
              <a:gdLst>
                <a:gd name="T0" fmla="*/ 0 w 1225"/>
                <a:gd name="T1" fmla="*/ 1226 h 1226"/>
                <a:gd name="T2" fmla="*/ 1224 w 1225"/>
                <a:gd name="T3" fmla="*/ 0 h 1226"/>
                <a:gd name="T4" fmla="*/ 1225 w 1225"/>
                <a:gd name="T5" fmla="*/ 0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25" h="1226">
                  <a:moveTo>
                    <a:pt x="0" y="1226"/>
                  </a:moveTo>
                  <a:lnTo>
                    <a:pt x="1224" y="0"/>
                  </a:lnTo>
                  <a:lnTo>
                    <a:pt x="1225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94" name="Freeform 494"/>
            <p:cNvSpPr>
              <a:spLocks/>
            </p:cNvSpPr>
            <p:nvPr/>
          </p:nvSpPr>
          <p:spPr bwMode="auto">
            <a:xfrm>
              <a:off x="4100" y="3574"/>
              <a:ext cx="103" cy="103"/>
            </a:xfrm>
            <a:custGeom>
              <a:avLst/>
              <a:gdLst>
                <a:gd name="T0" fmla="*/ 0 w 962"/>
                <a:gd name="T1" fmla="*/ 962 h 962"/>
                <a:gd name="T2" fmla="*/ 961 w 962"/>
                <a:gd name="T3" fmla="*/ 0 h 962"/>
                <a:gd name="T4" fmla="*/ 962 w 962"/>
                <a:gd name="T5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2" h="962">
                  <a:moveTo>
                    <a:pt x="0" y="962"/>
                  </a:moveTo>
                  <a:lnTo>
                    <a:pt x="961" y="0"/>
                  </a:lnTo>
                  <a:lnTo>
                    <a:pt x="96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95" name="Freeform 495"/>
            <p:cNvSpPr>
              <a:spLocks/>
            </p:cNvSpPr>
            <p:nvPr/>
          </p:nvSpPr>
          <p:spPr bwMode="auto">
            <a:xfrm>
              <a:off x="4135" y="3589"/>
              <a:ext cx="74" cy="74"/>
            </a:xfrm>
            <a:custGeom>
              <a:avLst/>
              <a:gdLst>
                <a:gd name="T0" fmla="*/ 0 w 694"/>
                <a:gd name="T1" fmla="*/ 693 h 693"/>
                <a:gd name="T2" fmla="*/ 693 w 694"/>
                <a:gd name="T3" fmla="*/ 0 h 693"/>
                <a:gd name="T4" fmla="*/ 694 w 694"/>
                <a:gd name="T5" fmla="*/ 0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4" h="693">
                  <a:moveTo>
                    <a:pt x="0" y="693"/>
                  </a:moveTo>
                  <a:lnTo>
                    <a:pt x="693" y="0"/>
                  </a:lnTo>
                  <a:lnTo>
                    <a:pt x="69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96" name="Freeform 496"/>
            <p:cNvSpPr>
              <a:spLocks/>
            </p:cNvSpPr>
            <p:nvPr/>
          </p:nvSpPr>
          <p:spPr bwMode="auto">
            <a:xfrm>
              <a:off x="4169" y="3605"/>
              <a:ext cx="46" cy="46"/>
            </a:xfrm>
            <a:custGeom>
              <a:avLst/>
              <a:gdLst>
                <a:gd name="T0" fmla="*/ 0 w 422"/>
                <a:gd name="T1" fmla="*/ 420 h 420"/>
                <a:gd name="T2" fmla="*/ 421 w 422"/>
                <a:gd name="T3" fmla="*/ 0 h 420"/>
                <a:gd name="T4" fmla="*/ 422 w 422"/>
                <a:gd name="T5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2" h="420">
                  <a:moveTo>
                    <a:pt x="0" y="420"/>
                  </a:moveTo>
                  <a:lnTo>
                    <a:pt x="421" y="0"/>
                  </a:lnTo>
                  <a:lnTo>
                    <a:pt x="42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697" name="Freeform 497"/>
            <p:cNvSpPr>
              <a:spLocks/>
            </p:cNvSpPr>
            <p:nvPr/>
          </p:nvSpPr>
          <p:spPr bwMode="auto">
            <a:xfrm>
              <a:off x="4205" y="3621"/>
              <a:ext cx="15" cy="16"/>
            </a:xfrm>
            <a:custGeom>
              <a:avLst/>
              <a:gdLst>
                <a:gd name="T0" fmla="*/ 0 w 148"/>
                <a:gd name="T1" fmla="*/ 146 h 146"/>
                <a:gd name="T2" fmla="*/ 147 w 148"/>
                <a:gd name="T3" fmla="*/ 0 h 146"/>
                <a:gd name="T4" fmla="*/ 148 w 148"/>
                <a:gd name="T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" h="146">
                  <a:moveTo>
                    <a:pt x="0" y="146"/>
                  </a:moveTo>
                  <a:lnTo>
                    <a:pt x="147" y="0"/>
                  </a:lnTo>
                  <a:lnTo>
                    <a:pt x="14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0283" name="Group 498"/>
          <p:cNvGrpSpPr>
            <a:grpSpLocks/>
          </p:cNvGrpSpPr>
          <p:nvPr/>
        </p:nvGrpSpPr>
        <p:grpSpPr bwMode="auto">
          <a:xfrm>
            <a:off x="7670800" y="3883025"/>
            <a:ext cx="1403350" cy="1093788"/>
            <a:chOff x="4890" y="2716"/>
            <a:chExt cx="766" cy="627"/>
          </a:xfrm>
        </p:grpSpPr>
        <p:sp>
          <p:nvSpPr>
            <p:cNvPr id="51699" name="Freeform 499"/>
            <p:cNvSpPr>
              <a:spLocks/>
            </p:cNvSpPr>
            <p:nvPr/>
          </p:nvSpPr>
          <p:spPr bwMode="auto">
            <a:xfrm>
              <a:off x="4894" y="3119"/>
              <a:ext cx="762" cy="207"/>
            </a:xfrm>
            <a:custGeom>
              <a:avLst/>
              <a:gdLst>
                <a:gd name="T0" fmla="*/ 7099 w 7100"/>
                <a:gd name="T1" fmla="*/ 1050 h 1933"/>
                <a:gd name="T2" fmla="*/ 7038 w 7100"/>
                <a:gd name="T3" fmla="*/ 865 h 1933"/>
                <a:gd name="T4" fmla="*/ 6853 w 7100"/>
                <a:gd name="T5" fmla="*/ 685 h 1933"/>
                <a:gd name="T6" fmla="*/ 6546 w 7100"/>
                <a:gd name="T7" fmla="*/ 515 h 1933"/>
                <a:gd name="T8" fmla="*/ 6132 w 7100"/>
                <a:gd name="T9" fmla="*/ 361 h 1933"/>
                <a:gd name="T10" fmla="*/ 5624 w 7100"/>
                <a:gd name="T11" fmla="*/ 229 h 1933"/>
                <a:gd name="T12" fmla="*/ 5040 w 7100"/>
                <a:gd name="T13" fmla="*/ 124 h 1933"/>
                <a:gd name="T14" fmla="*/ 4403 w 7100"/>
                <a:gd name="T15" fmla="*/ 49 h 1933"/>
                <a:gd name="T16" fmla="*/ 3735 w 7100"/>
                <a:gd name="T17" fmla="*/ 7 h 1933"/>
                <a:gd name="T18" fmla="*/ 3059 w 7100"/>
                <a:gd name="T19" fmla="*/ 0 h 1933"/>
                <a:gd name="T20" fmla="*/ 2400 w 7100"/>
                <a:gd name="T21" fmla="*/ 27 h 1933"/>
                <a:gd name="T22" fmla="*/ 1784 w 7100"/>
                <a:gd name="T23" fmla="*/ 90 h 1933"/>
                <a:gd name="T24" fmla="*/ 1231 w 7100"/>
                <a:gd name="T25" fmla="*/ 183 h 1933"/>
                <a:gd name="T26" fmla="*/ 761 w 7100"/>
                <a:gd name="T27" fmla="*/ 304 h 1933"/>
                <a:gd name="T28" fmla="*/ 391 w 7100"/>
                <a:gd name="T29" fmla="*/ 450 h 1933"/>
                <a:gd name="T30" fmla="*/ 136 w 7100"/>
                <a:gd name="T31" fmla="*/ 615 h 1933"/>
                <a:gd name="T32" fmla="*/ 4 w 7100"/>
                <a:gd name="T33" fmla="*/ 792 h 1933"/>
                <a:gd name="T34" fmla="*/ 0 w 7100"/>
                <a:gd name="T35" fmla="*/ 975 h 1933"/>
                <a:gd name="T36" fmla="*/ 124 w 7100"/>
                <a:gd name="T37" fmla="*/ 1157 h 1933"/>
                <a:gd name="T38" fmla="*/ 371 w 7100"/>
                <a:gd name="T39" fmla="*/ 1334 h 1933"/>
                <a:gd name="T40" fmla="*/ 733 w 7100"/>
                <a:gd name="T41" fmla="*/ 1497 h 1933"/>
                <a:gd name="T42" fmla="*/ 1197 w 7100"/>
                <a:gd name="T43" fmla="*/ 1641 h 1933"/>
                <a:gd name="T44" fmla="*/ 1744 w 7100"/>
                <a:gd name="T45" fmla="*/ 1759 h 1933"/>
                <a:gd name="T46" fmla="*/ 2357 w 7100"/>
                <a:gd name="T47" fmla="*/ 1851 h 1933"/>
                <a:gd name="T48" fmla="*/ 3014 w 7100"/>
                <a:gd name="T49" fmla="*/ 1909 h 1933"/>
                <a:gd name="T50" fmla="*/ 3688 w 7100"/>
                <a:gd name="T51" fmla="*/ 1933 h 1933"/>
                <a:gd name="T52" fmla="*/ 4359 w 7100"/>
                <a:gd name="T53" fmla="*/ 1923 h 1933"/>
                <a:gd name="T54" fmla="*/ 4998 w 7100"/>
                <a:gd name="T55" fmla="*/ 1878 h 1933"/>
                <a:gd name="T56" fmla="*/ 5586 w 7100"/>
                <a:gd name="T57" fmla="*/ 1800 h 1933"/>
                <a:gd name="T58" fmla="*/ 6101 w 7100"/>
                <a:gd name="T59" fmla="*/ 1692 h 1933"/>
                <a:gd name="T60" fmla="*/ 6522 w 7100"/>
                <a:gd name="T61" fmla="*/ 1558 h 1933"/>
                <a:gd name="T62" fmla="*/ 6835 w 7100"/>
                <a:gd name="T63" fmla="*/ 1402 h 1933"/>
                <a:gd name="T64" fmla="*/ 7030 w 7100"/>
                <a:gd name="T65" fmla="*/ 1231 h 1933"/>
                <a:gd name="T66" fmla="*/ 7099 w 7100"/>
                <a:gd name="T67" fmla="*/ 1050 h 1933"/>
                <a:gd name="T68" fmla="*/ 7100 w 7100"/>
                <a:gd name="T69" fmla="*/ 1050 h 1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100" h="1933">
                  <a:moveTo>
                    <a:pt x="7099" y="1050"/>
                  </a:moveTo>
                  <a:lnTo>
                    <a:pt x="7038" y="865"/>
                  </a:lnTo>
                  <a:lnTo>
                    <a:pt x="6853" y="685"/>
                  </a:lnTo>
                  <a:lnTo>
                    <a:pt x="6546" y="515"/>
                  </a:lnTo>
                  <a:lnTo>
                    <a:pt x="6132" y="361"/>
                  </a:lnTo>
                  <a:lnTo>
                    <a:pt x="5624" y="229"/>
                  </a:lnTo>
                  <a:lnTo>
                    <a:pt x="5040" y="124"/>
                  </a:lnTo>
                  <a:lnTo>
                    <a:pt x="4403" y="49"/>
                  </a:lnTo>
                  <a:lnTo>
                    <a:pt x="3735" y="7"/>
                  </a:lnTo>
                  <a:lnTo>
                    <a:pt x="3059" y="0"/>
                  </a:lnTo>
                  <a:lnTo>
                    <a:pt x="2400" y="27"/>
                  </a:lnTo>
                  <a:lnTo>
                    <a:pt x="1784" y="90"/>
                  </a:lnTo>
                  <a:lnTo>
                    <a:pt x="1231" y="183"/>
                  </a:lnTo>
                  <a:lnTo>
                    <a:pt x="761" y="304"/>
                  </a:lnTo>
                  <a:lnTo>
                    <a:pt x="391" y="450"/>
                  </a:lnTo>
                  <a:lnTo>
                    <a:pt x="136" y="615"/>
                  </a:lnTo>
                  <a:lnTo>
                    <a:pt x="4" y="792"/>
                  </a:lnTo>
                  <a:lnTo>
                    <a:pt x="0" y="975"/>
                  </a:lnTo>
                  <a:lnTo>
                    <a:pt x="124" y="1157"/>
                  </a:lnTo>
                  <a:lnTo>
                    <a:pt x="371" y="1334"/>
                  </a:lnTo>
                  <a:lnTo>
                    <a:pt x="733" y="1497"/>
                  </a:lnTo>
                  <a:lnTo>
                    <a:pt x="1197" y="1641"/>
                  </a:lnTo>
                  <a:lnTo>
                    <a:pt x="1744" y="1759"/>
                  </a:lnTo>
                  <a:lnTo>
                    <a:pt x="2357" y="1851"/>
                  </a:lnTo>
                  <a:lnTo>
                    <a:pt x="3014" y="1909"/>
                  </a:lnTo>
                  <a:lnTo>
                    <a:pt x="3688" y="1933"/>
                  </a:lnTo>
                  <a:lnTo>
                    <a:pt x="4359" y="1923"/>
                  </a:lnTo>
                  <a:lnTo>
                    <a:pt x="4998" y="1878"/>
                  </a:lnTo>
                  <a:lnTo>
                    <a:pt x="5586" y="1800"/>
                  </a:lnTo>
                  <a:lnTo>
                    <a:pt x="6101" y="1692"/>
                  </a:lnTo>
                  <a:lnTo>
                    <a:pt x="6522" y="1558"/>
                  </a:lnTo>
                  <a:lnTo>
                    <a:pt x="6835" y="1402"/>
                  </a:lnTo>
                  <a:lnTo>
                    <a:pt x="7030" y="1231"/>
                  </a:lnTo>
                  <a:lnTo>
                    <a:pt x="7099" y="1050"/>
                  </a:lnTo>
                  <a:lnTo>
                    <a:pt x="7100" y="1050"/>
                  </a:lnTo>
                </a:path>
              </a:pathLst>
            </a:custGeom>
            <a:noFill/>
            <a:ln w="9525" cap="flat" cmpd="sng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00" name="Freeform 500"/>
            <p:cNvSpPr>
              <a:spLocks/>
            </p:cNvSpPr>
            <p:nvPr/>
          </p:nvSpPr>
          <p:spPr bwMode="auto">
            <a:xfrm>
              <a:off x="5586" y="3106"/>
              <a:ext cx="70" cy="126"/>
            </a:xfrm>
            <a:custGeom>
              <a:avLst/>
              <a:gdLst>
                <a:gd name="T0" fmla="*/ 0 w 655"/>
                <a:gd name="T1" fmla="*/ 0 h 1176"/>
                <a:gd name="T2" fmla="*/ 654 w 655"/>
                <a:gd name="T3" fmla="*/ 1176 h 1176"/>
                <a:gd name="T4" fmla="*/ 655 w 655"/>
                <a:gd name="T5" fmla="*/ 1176 h 1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5" h="1176">
                  <a:moveTo>
                    <a:pt x="0" y="0"/>
                  </a:moveTo>
                  <a:lnTo>
                    <a:pt x="654" y="1176"/>
                  </a:lnTo>
                  <a:lnTo>
                    <a:pt x="655" y="1176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01" name="Freeform 501"/>
            <p:cNvSpPr>
              <a:spLocks/>
            </p:cNvSpPr>
            <p:nvPr/>
          </p:nvSpPr>
          <p:spPr bwMode="auto">
            <a:xfrm>
              <a:off x="4892" y="2957"/>
              <a:ext cx="146" cy="257"/>
            </a:xfrm>
            <a:custGeom>
              <a:avLst/>
              <a:gdLst>
                <a:gd name="T0" fmla="*/ 1349 w 1349"/>
                <a:gd name="T1" fmla="*/ 0 h 2391"/>
                <a:gd name="T2" fmla="*/ 0 w 1349"/>
                <a:gd name="T3" fmla="*/ 2391 h 2391"/>
                <a:gd name="T4" fmla="*/ 1 w 1349"/>
                <a:gd name="T5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9" h="2391">
                  <a:moveTo>
                    <a:pt x="1349" y="0"/>
                  </a:moveTo>
                  <a:lnTo>
                    <a:pt x="0" y="2391"/>
                  </a:lnTo>
                  <a:lnTo>
                    <a:pt x="1" y="2391"/>
                  </a:lnTo>
                </a:path>
              </a:pathLst>
            </a:custGeom>
            <a:noFill/>
            <a:ln w="95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02" name="Freeform 502"/>
            <p:cNvSpPr>
              <a:spLocks/>
            </p:cNvSpPr>
            <p:nvPr/>
          </p:nvSpPr>
          <p:spPr bwMode="auto">
            <a:xfrm>
              <a:off x="5269" y="2772"/>
              <a:ext cx="3" cy="15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03" name="Freeform 503"/>
            <p:cNvSpPr>
              <a:spLocks/>
            </p:cNvSpPr>
            <p:nvPr/>
          </p:nvSpPr>
          <p:spPr bwMode="auto">
            <a:xfrm>
              <a:off x="5269" y="2803"/>
              <a:ext cx="3" cy="93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04" name="Freeform 504"/>
            <p:cNvSpPr>
              <a:spLocks/>
            </p:cNvSpPr>
            <p:nvPr/>
          </p:nvSpPr>
          <p:spPr bwMode="auto">
            <a:xfrm>
              <a:off x="5269" y="2911"/>
              <a:ext cx="3" cy="15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05" name="Freeform 505"/>
            <p:cNvSpPr>
              <a:spLocks/>
            </p:cNvSpPr>
            <p:nvPr/>
          </p:nvSpPr>
          <p:spPr bwMode="auto">
            <a:xfrm>
              <a:off x="5269" y="2942"/>
              <a:ext cx="3" cy="92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06" name="Freeform 506"/>
            <p:cNvSpPr>
              <a:spLocks/>
            </p:cNvSpPr>
            <p:nvPr/>
          </p:nvSpPr>
          <p:spPr bwMode="auto">
            <a:xfrm>
              <a:off x="5269" y="3050"/>
              <a:ext cx="3" cy="15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07" name="Freeform 507"/>
            <p:cNvSpPr>
              <a:spLocks/>
            </p:cNvSpPr>
            <p:nvPr/>
          </p:nvSpPr>
          <p:spPr bwMode="auto">
            <a:xfrm>
              <a:off x="5269" y="3081"/>
              <a:ext cx="3" cy="93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08" name="Freeform 508"/>
            <p:cNvSpPr>
              <a:spLocks/>
            </p:cNvSpPr>
            <p:nvPr/>
          </p:nvSpPr>
          <p:spPr bwMode="auto">
            <a:xfrm>
              <a:off x="5269" y="3189"/>
              <a:ext cx="3" cy="15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09" name="Freeform 509"/>
            <p:cNvSpPr>
              <a:spLocks/>
            </p:cNvSpPr>
            <p:nvPr/>
          </p:nvSpPr>
          <p:spPr bwMode="auto">
            <a:xfrm>
              <a:off x="5269" y="3220"/>
              <a:ext cx="3" cy="93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10" name="Freeform 510"/>
            <p:cNvSpPr>
              <a:spLocks/>
            </p:cNvSpPr>
            <p:nvPr/>
          </p:nvSpPr>
          <p:spPr bwMode="auto">
            <a:xfrm>
              <a:off x="5269" y="3328"/>
              <a:ext cx="3" cy="15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11" name="Freeform 511"/>
            <p:cNvSpPr>
              <a:spLocks/>
            </p:cNvSpPr>
            <p:nvPr/>
          </p:nvSpPr>
          <p:spPr bwMode="auto">
            <a:xfrm>
              <a:off x="5037" y="2798"/>
              <a:ext cx="90" cy="159"/>
            </a:xfrm>
            <a:custGeom>
              <a:avLst/>
              <a:gdLst>
                <a:gd name="T0" fmla="*/ 0 w 840"/>
                <a:gd name="T1" fmla="*/ 1485 h 1485"/>
                <a:gd name="T2" fmla="*/ 839 w 840"/>
                <a:gd name="T3" fmla="*/ 0 h 1485"/>
                <a:gd name="T4" fmla="*/ 840 w 840"/>
                <a:gd name="T5" fmla="*/ 0 h 1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0" h="1485">
                  <a:moveTo>
                    <a:pt x="0" y="1485"/>
                  </a:moveTo>
                  <a:lnTo>
                    <a:pt x="839" y="0"/>
                  </a:lnTo>
                  <a:lnTo>
                    <a:pt x="840" y="0"/>
                  </a:lnTo>
                </a:path>
              </a:pathLst>
            </a:custGeom>
            <a:noFill/>
            <a:ln w="95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12" name="Freeform 512"/>
            <p:cNvSpPr>
              <a:spLocks/>
            </p:cNvSpPr>
            <p:nvPr/>
          </p:nvSpPr>
          <p:spPr bwMode="auto">
            <a:xfrm>
              <a:off x="5356" y="3280"/>
              <a:ext cx="1" cy="15"/>
            </a:xfrm>
            <a:custGeom>
              <a:avLst/>
              <a:gdLst>
                <a:gd name="T0" fmla="*/ 0 w 1"/>
                <a:gd name="T1" fmla="*/ 143 h 143"/>
                <a:gd name="T2" fmla="*/ 0 w 1"/>
                <a:gd name="T3" fmla="*/ 0 h 143"/>
                <a:gd name="T4" fmla="*/ 1 w 1"/>
                <a:gd name="T5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14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13" name="Freeform 513"/>
            <p:cNvSpPr>
              <a:spLocks/>
            </p:cNvSpPr>
            <p:nvPr/>
          </p:nvSpPr>
          <p:spPr bwMode="auto">
            <a:xfrm>
              <a:off x="5356" y="3172"/>
              <a:ext cx="1" cy="92"/>
            </a:xfrm>
            <a:custGeom>
              <a:avLst/>
              <a:gdLst>
                <a:gd name="T0" fmla="*/ 0 w 3"/>
                <a:gd name="T1" fmla="*/ 864 h 864"/>
                <a:gd name="T2" fmla="*/ 2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14" name="Freeform 514"/>
            <p:cNvSpPr>
              <a:spLocks/>
            </p:cNvSpPr>
            <p:nvPr/>
          </p:nvSpPr>
          <p:spPr bwMode="auto">
            <a:xfrm>
              <a:off x="5356" y="3141"/>
              <a:ext cx="1" cy="15"/>
            </a:xfrm>
            <a:custGeom>
              <a:avLst/>
              <a:gdLst>
                <a:gd name="T0" fmla="*/ 0 w 2"/>
                <a:gd name="T1" fmla="*/ 142 h 142"/>
                <a:gd name="T2" fmla="*/ 1 w 2"/>
                <a:gd name="T3" fmla="*/ 0 h 142"/>
                <a:gd name="T4" fmla="*/ 2 w 2"/>
                <a:gd name="T5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42">
                  <a:moveTo>
                    <a:pt x="0" y="142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15" name="Freeform 515"/>
            <p:cNvSpPr>
              <a:spLocks/>
            </p:cNvSpPr>
            <p:nvPr/>
          </p:nvSpPr>
          <p:spPr bwMode="auto">
            <a:xfrm>
              <a:off x="5357" y="3033"/>
              <a:ext cx="0" cy="92"/>
            </a:xfrm>
            <a:custGeom>
              <a:avLst/>
              <a:gdLst>
                <a:gd name="T0" fmla="*/ 0 w 3"/>
                <a:gd name="T1" fmla="*/ 864 h 864"/>
                <a:gd name="T2" fmla="*/ 2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16" name="Freeform 516"/>
            <p:cNvSpPr>
              <a:spLocks/>
            </p:cNvSpPr>
            <p:nvPr/>
          </p:nvSpPr>
          <p:spPr bwMode="auto">
            <a:xfrm>
              <a:off x="5357" y="3002"/>
              <a:ext cx="0" cy="15"/>
            </a:xfrm>
            <a:custGeom>
              <a:avLst/>
              <a:gdLst>
                <a:gd name="T0" fmla="*/ 0 w 1"/>
                <a:gd name="T1" fmla="*/ 143 h 143"/>
                <a:gd name="T2" fmla="*/ 0 w 1"/>
                <a:gd name="T3" fmla="*/ 0 h 143"/>
                <a:gd name="T4" fmla="*/ 1 w 1"/>
                <a:gd name="T5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14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17" name="Freeform 517"/>
            <p:cNvSpPr>
              <a:spLocks/>
            </p:cNvSpPr>
            <p:nvPr/>
          </p:nvSpPr>
          <p:spPr bwMode="auto">
            <a:xfrm>
              <a:off x="5357" y="2893"/>
              <a:ext cx="0" cy="93"/>
            </a:xfrm>
            <a:custGeom>
              <a:avLst/>
              <a:gdLst>
                <a:gd name="T0" fmla="*/ 0 w 3"/>
                <a:gd name="T1" fmla="*/ 864 h 864"/>
                <a:gd name="T2" fmla="*/ 1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1" y="0"/>
                  </a:lnTo>
                  <a:lnTo>
                    <a:pt x="3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18" name="Freeform 518"/>
            <p:cNvSpPr>
              <a:spLocks/>
            </p:cNvSpPr>
            <p:nvPr/>
          </p:nvSpPr>
          <p:spPr bwMode="auto">
            <a:xfrm>
              <a:off x="5357" y="2863"/>
              <a:ext cx="0" cy="15"/>
            </a:xfrm>
            <a:custGeom>
              <a:avLst/>
              <a:gdLst>
                <a:gd name="T0" fmla="*/ 0 w 1"/>
                <a:gd name="T1" fmla="*/ 144 h 144"/>
                <a:gd name="T2" fmla="*/ 0 w 1"/>
                <a:gd name="T3" fmla="*/ 0 h 144"/>
                <a:gd name="T4" fmla="*/ 1 w 1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4">
                  <a:moveTo>
                    <a:pt x="0" y="14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19" name="Freeform 519"/>
            <p:cNvSpPr>
              <a:spLocks/>
            </p:cNvSpPr>
            <p:nvPr/>
          </p:nvSpPr>
          <p:spPr bwMode="auto">
            <a:xfrm>
              <a:off x="5357" y="2755"/>
              <a:ext cx="0" cy="93"/>
            </a:xfrm>
            <a:custGeom>
              <a:avLst/>
              <a:gdLst>
                <a:gd name="T0" fmla="*/ 0 w 3"/>
                <a:gd name="T1" fmla="*/ 864 h 864"/>
                <a:gd name="T2" fmla="*/ 2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20" name="Freeform 520"/>
            <p:cNvSpPr>
              <a:spLocks/>
            </p:cNvSpPr>
            <p:nvPr/>
          </p:nvSpPr>
          <p:spPr bwMode="auto">
            <a:xfrm>
              <a:off x="5357" y="2724"/>
              <a:ext cx="1" cy="15"/>
            </a:xfrm>
            <a:custGeom>
              <a:avLst/>
              <a:gdLst>
                <a:gd name="T0" fmla="*/ 0 w 2"/>
                <a:gd name="T1" fmla="*/ 144 h 144"/>
                <a:gd name="T2" fmla="*/ 1 w 2"/>
                <a:gd name="T3" fmla="*/ 0 h 144"/>
                <a:gd name="T4" fmla="*/ 2 w 2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44">
                  <a:moveTo>
                    <a:pt x="0" y="144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21" name="Freeform 521"/>
            <p:cNvSpPr>
              <a:spLocks/>
            </p:cNvSpPr>
            <p:nvPr/>
          </p:nvSpPr>
          <p:spPr bwMode="auto">
            <a:xfrm>
              <a:off x="5101" y="3127"/>
              <a:ext cx="510" cy="152"/>
            </a:xfrm>
            <a:custGeom>
              <a:avLst/>
              <a:gdLst>
                <a:gd name="T0" fmla="*/ 0 w 4751"/>
                <a:gd name="T1" fmla="*/ 0 h 1417"/>
                <a:gd name="T2" fmla="*/ 4750 w 4751"/>
                <a:gd name="T3" fmla="*/ 1417 h 1417"/>
                <a:gd name="T4" fmla="*/ 4751 w 4751"/>
                <a:gd name="T5" fmla="*/ 1417 h 1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51" h="1417">
                  <a:moveTo>
                    <a:pt x="0" y="0"/>
                  </a:moveTo>
                  <a:lnTo>
                    <a:pt x="4750" y="1417"/>
                  </a:lnTo>
                  <a:lnTo>
                    <a:pt x="4751" y="1417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22" name="Freeform 522"/>
            <p:cNvSpPr>
              <a:spLocks/>
            </p:cNvSpPr>
            <p:nvPr/>
          </p:nvSpPr>
          <p:spPr bwMode="auto">
            <a:xfrm>
              <a:off x="5101" y="2716"/>
              <a:ext cx="262" cy="411"/>
            </a:xfrm>
            <a:custGeom>
              <a:avLst/>
              <a:gdLst>
                <a:gd name="T0" fmla="*/ 0 w 2437"/>
                <a:gd name="T1" fmla="*/ 3822 h 3822"/>
                <a:gd name="T2" fmla="*/ 59 w 2437"/>
                <a:gd name="T3" fmla="*/ 3224 h 3822"/>
                <a:gd name="T4" fmla="*/ 190 w 2437"/>
                <a:gd name="T5" fmla="*/ 2642 h 3822"/>
                <a:gd name="T6" fmla="*/ 688 w 2437"/>
                <a:gd name="T7" fmla="*/ 1554 h 3822"/>
                <a:gd name="T8" fmla="*/ 1008 w 2437"/>
                <a:gd name="T9" fmla="*/ 1053 h 3822"/>
                <a:gd name="T10" fmla="*/ 1441 w 2437"/>
                <a:gd name="T11" fmla="*/ 637 h 3822"/>
                <a:gd name="T12" fmla="*/ 1896 w 2437"/>
                <a:gd name="T13" fmla="*/ 247 h 3822"/>
                <a:gd name="T14" fmla="*/ 2152 w 2437"/>
                <a:gd name="T15" fmla="*/ 98 h 3822"/>
                <a:gd name="T16" fmla="*/ 2436 w 2437"/>
                <a:gd name="T17" fmla="*/ 0 h 3822"/>
                <a:gd name="T18" fmla="*/ 2437 w 2437"/>
                <a:gd name="T19" fmla="*/ 0 h 3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37" h="3822">
                  <a:moveTo>
                    <a:pt x="0" y="3822"/>
                  </a:moveTo>
                  <a:lnTo>
                    <a:pt x="59" y="3224"/>
                  </a:lnTo>
                  <a:lnTo>
                    <a:pt x="190" y="2642"/>
                  </a:lnTo>
                  <a:lnTo>
                    <a:pt x="688" y="1554"/>
                  </a:lnTo>
                  <a:lnTo>
                    <a:pt x="1008" y="1053"/>
                  </a:lnTo>
                  <a:lnTo>
                    <a:pt x="1441" y="637"/>
                  </a:lnTo>
                  <a:lnTo>
                    <a:pt x="1896" y="247"/>
                  </a:lnTo>
                  <a:lnTo>
                    <a:pt x="2152" y="98"/>
                  </a:lnTo>
                  <a:lnTo>
                    <a:pt x="2436" y="0"/>
                  </a:lnTo>
                  <a:lnTo>
                    <a:pt x="243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23" name="Freeform 523"/>
            <p:cNvSpPr>
              <a:spLocks/>
            </p:cNvSpPr>
            <p:nvPr/>
          </p:nvSpPr>
          <p:spPr bwMode="auto">
            <a:xfrm>
              <a:off x="5363" y="2716"/>
              <a:ext cx="247" cy="565"/>
            </a:xfrm>
            <a:custGeom>
              <a:avLst/>
              <a:gdLst>
                <a:gd name="T0" fmla="*/ 0 w 2306"/>
                <a:gd name="T1" fmla="*/ 0 h 5260"/>
                <a:gd name="T2" fmla="*/ 524 w 2306"/>
                <a:gd name="T3" fmla="*/ 518 h 5260"/>
                <a:gd name="T4" fmla="*/ 763 w 2306"/>
                <a:gd name="T5" fmla="*/ 794 h 5260"/>
                <a:gd name="T6" fmla="*/ 959 w 2306"/>
                <a:gd name="T7" fmla="*/ 1105 h 5260"/>
                <a:gd name="T8" fmla="*/ 1322 w 2306"/>
                <a:gd name="T9" fmla="*/ 1747 h 5260"/>
                <a:gd name="T10" fmla="*/ 1616 w 2306"/>
                <a:gd name="T11" fmla="*/ 2420 h 5260"/>
                <a:gd name="T12" fmla="*/ 1899 w 2306"/>
                <a:gd name="T13" fmla="*/ 3099 h 5260"/>
                <a:gd name="T14" fmla="*/ 2118 w 2306"/>
                <a:gd name="T15" fmla="*/ 3800 h 5260"/>
                <a:gd name="T16" fmla="*/ 2305 w 2306"/>
                <a:gd name="T17" fmla="*/ 5260 h 5260"/>
                <a:gd name="T18" fmla="*/ 2306 w 2306"/>
                <a:gd name="T19" fmla="*/ 5260 h 5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06" h="5260">
                  <a:moveTo>
                    <a:pt x="0" y="0"/>
                  </a:moveTo>
                  <a:lnTo>
                    <a:pt x="524" y="518"/>
                  </a:lnTo>
                  <a:lnTo>
                    <a:pt x="763" y="794"/>
                  </a:lnTo>
                  <a:lnTo>
                    <a:pt x="959" y="1105"/>
                  </a:lnTo>
                  <a:lnTo>
                    <a:pt x="1322" y="1747"/>
                  </a:lnTo>
                  <a:lnTo>
                    <a:pt x="1616" y="2420"/>
                  </a:lnTo>
                  <a:lnTo>
                    <a:pt x="1899" y="3099"/>
                  </a:lnTo>
                  <a:lnTo>
                    <a:pt x="2118" y="3800"/>
                  </a:lnTo>
                  <a:lnTo>
                    <a:pt x="2305" y="5260"/>
                  </a:lnTo>
                  <a:lnTo>
                    <a:pt x="2306" y="526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24" name="Freeform 524"/>
            <p:cNvSpPr>
              <a:spLocks/>
            </p:cNvSpPr>
            <p:nvPr/>
          </p:nvSpPr>
          <p:spPr bwMode="auto">
            <a:xfrm>
              <a:off x="5377" y="2731"/>
              <a:ext cx="30" cy="54"/>
            </a:xfrm>
            <a:custGeom>
              <a:avLst/>
              <a:gdLst>
                <a:gd name="T0" fmla="*/ 0 w 272"/>
                <a:gd name="T1" fmla="*/ 0 h 488"/>
                <a:gd name="T2" fmla="*/ 271 w 272"/>
                <a:gd name="T3" fmla="*/ 488 h 488"/>
                <a:gd name="T4" fmla="*/ 272 w 272"/>
                <a:gd name="T5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488">
                  <a:moveTo>
                    <a:pt x="0" y="0"/>
                  </a:moveTo>
                  <a:lnTo>
                    <a:pt x="271" y="488"/>
                  </a:lnTo>
                  <a:lnTo>
                    <a:pt x="272" y="488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25" name="Freeform 525"/>
            <p:cNvSpPr>
              <a:spLocks/>
            </p:cNvSpPr>
            <p:nvPr/>
          </p:nvSpPr>
          <p:spPr bwMode="auto">
            <a:xfrm>
              <a:off x="5422" y="2810"/>
              <a:ext cx="30" cy="56"/>
            </a:xfrm>
            <a:custGeom>
              <a:avLst/>
              <a:gdLst>
                <a:gd name="T0" fmla="*/ 0 w 280"/>
                <a:gd name="T1" fmla="*/ 0 h 502"/>
                <a:gd name="T2" fmla="*/ 279 w 280"/>
                <a:gd name="T3" fmla="*/ 502 h 502"/>
                <a:gd name="T4" fmla="*/ 280 w 280"/>
                <a:gd name="T5" fmla="*/ 502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0" h="502">
                  <a:moveTo>
                    <a:pt x="0" y="0"/>
                  </a:moveTo>
                  <a:lnTo>
                    <a:pt x="279" y="502"/>
                  </a:lnTo>
                  <a:lnTo>
                    <a:pt x="280" y="502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26" name="Freeform 526"/>
            <p:cNvSpPr>
              <a:spLocks/>
            </p:cNvSpPr>
            <p:nvPr/>
          </p:nvSpPr>
          <p:spPr bwMode="auto">
            <a:xfrm>
              <a:off x="5467" y="2892"/>
              <a:ext cx="30" cy="56"/>
            </a:xfrm>
            <a:custGeom>
              <a:avLst/>
              <a:gdLst>
                <a:gd name="T0" fmla="*/ 0 w 280"/>
                <a:gd name="T1" fmla="*/ 0 h 502"/>
                <a:gd name="T2" fmla="*/ 279 w 280"/>
                <a:gd name="T3" fmla="*/ 502 h 502"/>
                <a:gd name="T4" fmla="*/ 280 w 280"/>
                <a:gd name="T5" fmla="*/ 502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0" h="502">
                  <a:moveTo>
                    <a:pt x="0" y="0"/>
                  </a:moveTo>
                  <a:lnTo>
                    <a:pt x="279" y="502"/>
                  </a:lnTo>
                  <a:lnTo>
                    <a:pt x="280" y="502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27" name="Freeform 527"/>
            <p:cNvSpPr>
              <a:spLocks/>
            </p:cNvSpPr>
            <p:nvPr/>
          </p:nvSpPr>
          <p:spPr bwMode="auto">
            <a:xfrm>
              <a:off x="5512" y="2972"/>
              <a:ext cx="29" cy="56"/>
            </a:xfrm>
            <a:custGeom>
              <a:avLst/>
              <a:gdLst>
                <a:gd name="T0" fmla="*/ 0 w 280"/>
                <a:gd name="T1" fmla="*/ 0 h 503"/>
                <a:gd name="T2" fmla="*/ 279 w 280"/>
                <a:gd name="T3" fmla="*/ 503 h 503"/>
                <a:gd name="T4" fmla="*/ 280 w 280"/>
                <a:gd name="T5" fmla="*/ 503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0" h="503">
                  <a:moveTo>
                    <a:pt x="0" y="0"/>
                  </a:moveTo>
                  <a:lnTo>
                    <a:pt x="279" y="503"/>
                  </a:lnTo>
                  <a:lnTo>
                    <a:pt x="280" y="50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28" name="Freeform 528"/>
            <p:cNvSpPr>
              <a:spLocks/>
            </p:cNvSpPr>
            <p:nvPr/>
          </p:nvSpPr>
          <p:spPr bwMode="auto">
            <a:xfrm>
              <a:off x="5557" y="3053"/>
              <a:ext cx="29" cy="55"/>
            </a:xfrm>
            <a:custGeom>
              <a:avLst/>
              <a:gdLst>
                <a:gd name="T0" fmla="*/ 0 w 273"/>
                <a:gd name="T1" fmla="*/ 0 h 488"/>
                <a:gd name="T2" fmla="*/ 272 w 273"/>
                <a:gd name="T3" fmla="*/ 488 h 488"/>
                <a:gd name="T4" fmla="*/ 273 w 273"/>
                <a:gd name="T5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3" h="488">
                  <a:moveTo>
                    <a:pt x="0" y="0"/>
                  </a:moveTo>
                  <a:lnTo>
                    <a:pt x="272" y="488"/>
                  </a:lnTo>
                  <a:lnTo>
                    <a:pt x="273" y="488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29" name="Freeform 529"/>
            <p:cNvSpPr>
              <a:spLocks/>
            </p:cNvSpPr>
            <p:nvPr/>
          </p:nvSpPr>
          <p:spPr bwMode="auto">
            <a:xfrm>
              <a:off x="5174" y="2729"/>
              <a:ext cx="156" cy="157"/>
            </a:xfrm>
            <a:custGeom>
              <a:avLst/>
              <a:gdLst>
                <a:gd name="T0" fmla="*/ 0 w 1450"/>
                <a:gd name="T1" fmla="*/ 1450 h 1450"/>
                <a:gd name="T2" fmla="*/ 882 w 1450"/>
                <a:gd name="T3" fmla="*/ 568 h 1450"/>
                <a:gd name="T4" fmla="*/ 1449 w 1450"/>
                <a:gd name="T5" fmla="*/ 0 h 1450"/>
                <a:gd name="T6" fmla="*/ 1450 w 1450"/>
                <a:gd name="T7" fmla="*/ 0 h 1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0" h="1450">
                  <a:moveTo>
                    <a:pt x="0" y="1450"/>
                  </a:moveTo>
                  <a:lnTo>
                    <a:pt x="882" y="568"/>
                  </a:lnTo>
                  <a:lnTo>
                    <a:pt x="1449" y="0"/>
                  </a:lnTo>
                  <a:lnTo>
                    <a:pt x="145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30" name="Freeform 530"/>
            <p:cNvSpPr>
              <a:spLocks/>
            </p:cNvSpPr>
            <p:nvPr/>
          </p:nvSpPr>
          <p:spPr bwMode="auto">
            <a:xfrm>
              <a:off x="5155" y="2812"/>
              <a:ext cx="114" cy="116"/>
            </a:xfrm>
            <a:custGeom>
              <a:avLst/>
              <a:gdLst>
                <a:gd name="T0" fmla="*/ 0 w 1063"/>
                <a:gd name="T1" fmla="*/ 1063 h 1063"/>
                <a:gd name="T2" fmla="*/ 1062 w 1063"/>
                <a:gd name="T3" fmla="*/ 0 h 1063"/>
                <a:gd name="T4" fmla="*/ 1063 w 1063"/>
                <a:gd name="T5" fmla="*/ 0 h 1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3" h="1063">
                  <a:moveTo>
                    <a:pt x="0" y="1063"/>
                  </a:moveTo>
                  <a:lnTo>
                    <a:pt x="1062" y="0"/>
                  </a:lnTo>
                  <a:lnTo>
                    <a:pt x="106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31" name="Freeform 531"/>
            <p:cNvSpPr>
              <a:spLocks/>
            </p:cNvSpPr>
            <p:nvPr/>
          </p:nvSpPr>
          <p:spPr bwMode="auto">
            <a:xfrm>
              <a:off x="5357" y="2717"/>
              <a:ext cx="7" cy="7"/>
            </a:xfrm>
            <a:custGeom>
              <a:avLst/>
              <a:gdLst>
                <a:gd name="T0" fmla="*/ 0 w 60"/>
                <a:gd name="T1" fmla="*/ 60 h 60"/>
                <a:gd name="T2" fmla="*/ 59 w 60"/>
                <a:gd name="T3" fmla="*/ 0 h 60"/>
                <a:gd name="T4" fmla="*/ 60 w 60"/>
                <a:gd name="T5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" h="60">
                  <a:moveTo>
                    <a:pt x="0" y="60"/>
                  </a:moveTo>
                  <a:lnTo>
                    <a:pt x="59" y="0"/>
                  </a:lnTo>
                  <a:lnTo>
                    <a:pt x="60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32" name="Freeform 532"/>
            <p:cNvSpPr>
              <a:spLocks/>
            </p:cNvSpPr>
            <p:nvPr/>
          </p:nvSpPr>
          <p:spPr bwMode="auto">
            <a:xfrm>
              <a:off x="5269" y="2724"/>
              <a:ext cx="88" cy="86"/>
            </a:xfrm>
            <a:custGeom>
              <a:avLst/>
              <a:gdLst>
                <a:gd name="T0" fmla="*/ 0 w 822"/>
                <a:gd name="T1" fmla="*/ 821 h 821"/>
                <a:gd name="T2" fmla="*/ 821 w 822"/>
                <a:gd name="T3" fmla="*/ 0 h 821"/>
                <a:gd name="T4" fmla="*/ 822 w 822"/>
                <a:gd name="T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2" h="821">
                  <a:moveTo>
                    <a:pt x="0" y="821"/>
                  </a:moveTo>
                  <a:lnTo>
                    <a:pt x="821" y="0"/>
                  </a:lnTo>
                  <a:lnTo>
                    <a:pt x="82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33" name="Freeform 533"/>
            <p:cNvSpPr>
              <a:spLocks/>
            </p:cNvSpPr>
            <p:nvPr/>
          </p:nvSpPr>
          <p:spPr bwMode="auto">
            <a:xfrm>
              <a:off x="5134" y="2834"/>
              <a:ext cx="133" cy="135"/>
            </a:xfrm>
            <a:custGeom>
              <a:avLst/>
              <a:gdLst>
                <a:gd name="T0" fmla="*/ 0 w 1263"/>
                <a:gd name="T1" fmla="*/ 1263 h 1263"/>
                <a:gd name="T2" fmla="*/ 1262 w 1263"/>
                <a:gd name="T3" fmla="*/ 0 h 1263"/>
                <a:gd name="T4" fmla="*/ 1263 w 1263"/>
                <a:gd name="T5" fmla="*/ 0 h 1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63" h="1263">
                  <a:moveTo>
                    <a:pt x="0" y="1263"/>
                  </a:moveTo>
                  <a:lnTo>
                    <a:pt x="1262" y="0"/>
                  </a:lnTo>
                  <a:lnTo>
                    <a:pt x="126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34" name="Freeform 534"/>
            <p:cNvSpPr>
              <a:spLocks/>
            </p:cNvSpPr>
            <p:nvPr/>
          </p:nvSpPr>
          <p:spPr bwMode="auto">
            <a:xfrm>
              <a:off x="5357" y="2728"/>
              <a:ext cx="18" cy="17"/>
            </a:xfrm>
            <a:custGeom>
              <a:avLst/>
              <a:gdLst>
                <a:gd name="T0" fmla="*/ 0 w 162"/>
                <a:gd name="T1" fmla="*/ 161 h 161"/>
                <a:gd name="T2" fmla="*/ 161 w 162"/>
                <a:gd name="T3" fmla="*/ 0 h 161"/>
                <a:gd name="T4" fmla="*/ 162 w 162"/>
                <a:gd name="T5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" h="161">
                  <a:moveTo>
                    <a:pt x="0" y="161"/>
                  </a:moveTo>
                  <a:lnTo>
                    <a:pt x="161" y="0"/>
                  </a:lnTo>
                  <a:lnTo>
                    <a:pt x="162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35" name="Freeform 535"/>
            <p:cNvSpPr>
              <a:spLocks/>
            </p:cNvSpPr>
            <p:nvPr/>
          </p:nvSpPr>
          <p:spPr bwMode="auto">
            <a:xfrm>
              <a:off x="5269" y="2745"/>
              <a:ext cx="88" cy="89"/>
            </a:xfrm>
            <a:custGeom>
              <a:avLst/>
              <a:gdLst>
                <a:gd name="T0" fmla="*/ 0 w 821"/>
                <a:gd name="T1" fmla="*/ 821 h 821"/>
                <a:gd name="T2" fmla="*/ 820 w 821"/>
                <a:gd name="T3" fmla="*/ 0 h 821"/>
                <a:gd name="T4" fmla="*/ 821 w 821"/>
                <a:gd name="T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1" h="821">
                  <a:moveTo>
                    <a:pt x="0" y="821"/>
                  </a:moveTo>
                  <a:lnTo>
                    <a:pt x="820" y="0"/>
                  </a:lnTo>
                  <a:lnTo>
                    <a:pt x="82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36" name="Freeform 536"/>
            <p:cNvSpPr>
              <a:spLocks/>
            </p:cNvSpPr>
            <p:nvPr/>
          </p:nvSpPr>
          <p:spPr bwMode="auto">
            <a:xfrm>
              <a:off x="5120" y="2855"/>
              <a:ext cx="149" cy="147"/>
            </a:xfrm>
            <a:custGeom>
              <a:avLst/>
              <a:gdLst>
                <a:gd name="T0" fmla="*/ 0 w 1386"/>
                <a:gd name="T1" fmla="*/ 1387 h 1387"/>
                <a:gd name="T2" fmla="*/ 1385 w 1386"/>
                <a:gd name="T3" fmla="*/ 0 h 1387"/>
                <a:gd name="T4" fmla="*/ 1386 w 1386"/>
                <a:gd name="T5" fmla="*/ 0 h 1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86" h="1387">
                  <a:moveTo>
                    <a:pt x="0" y="1387"/>
                  </a:moveTo>
                  <a:lnTo>
                    <a:pt x="1385" y="0"/>
                  </a:lnTo>
                  <a:lnTo>
                    <a:pt x="138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37" name="Freeform 537"/>
            <p:cNvSpPr>
              <a:spLocks/>
            </p:cNvSpPr>
            <p:nvPr/>
          </p:nvSpPr>
          <p:spPr bwMode="auto">
            <a:xfrm>
              <a:off x="5383" y="2739"/>
              <a:ext cx="3" cy="2"/>
            </a:xfrm>
            <a:custGeom>
              <a:avLst/>
              <a:gdLst>
                <a:gd name="T0" fmla="*/ 0 w 22"/>
                <a:gd name="T1" fmla="*/ 21 h 21"/>
                <a:gd name="T2" fmla="*/ 21 w 22"/>
                <a:gd name="T3" fmla="*/ 0 h 21"/>
                <a:gd name="T4" fmla="*/ 22 w 22"/>
                <a:gd name="T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21">
                  <a:moveTo>
                    <a:pt x="0" y="21"/>
                  </a:moveTo>
                  <a:lnTo>
                    <a:pt x="21" y="0"/>
                  </a:lnTo>
                  <a:lnTo>
                    <a:pt x="2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38" name="Freeform 538"/>
            <p:cNvSpPr>
              <a:spLocks/>
            </p:cNvSpPr>
            <p:nvPr/>
          </p:nvSpPr>
          <p:spPr bwMode="auto">
            <a:xfrm>
              <a:off x="5269" y="2741"/>
              <a:ext cx="114" cy="116"/>
            </a:xfrm>
            <a:custGeom>
              <a:avLst/>
              <a:gdLst>
                <a:gd name="T0" fmla="*/ 0 w 1064"/>
                <a:gd name="T1" fmla="*/ 1063 h 1063"/>
                <a:gd name="T2" fmla="*/ 820 w 1064"/>
                <a:gd name="T3" fmla="*/ 244 h 1063"/>
                <a:gd name="T4" fmla="*/ 1063 w 1064"/>
                <a:gd name="T5" fmla="*/ 0 h 1063"/>
                <a:gd name="T6" fmla="*/ 1064 w 1064"/>
                <a:gd name="T7" fmla="*/ 0 h 1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4" h="1063">
                  <a:moveTo>
                    <a:pt x="0" y="1063"/>
                  </a:moveTo>
                  <a:lnTo>
                    <a:pt x="820" y="244"/>
                  </a:lnTo>
                  <a:lnTo>
                    <a:pt x="1063" y="0"/>
                  </a:lnTo>
                  <a:lnTo>
                    <a:pt x="106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39" name="Freeform 539"/>
            <p:cNvSpPr>
              <a:spLocks/>
            </p:cNvSpPr>
            <p:nvPr/>
          </p:nvSpPr>
          <p:spPr bwMode="auto">
            <a:xfrm>
              <a:off x="5112" y="2877"/>
              <a:ext cx="157" cy="157"/>
            </a:xfrm>
            <a:custGeom>
              <a:avLst/>
              <a:gdLst>
                <a:gd name="T0" fmla="*/ 0 w 1458"/>
                <a:gd name="T1" fmla="*/ 1458 h 1458"/>
                <a:gd name="T2" fmla="*/ 1457 w 1458"/>
                <a:gd name="T3" fmla="*/ 0 h 1458"/>
                <a:gd name="T4" fmla="*/ 1458 w 1458"/>
                <a:gd name="T5" fmla="*/ 0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58" h="1458">
                  <a:moveTo>
                    <a:pt x="0" y="1458"/>
                  </a:moveTo>
                  <a:lnTo>
                    <a:pt x="1457" y="0"/>
                  </a:lnTo>
                  <a:lnTo>
                    <a:pt x="145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40" name="Freeform 540"/>
            <p:cNvSpPr>
              <a:spLocks/>
            </p:cNvSpPr>
            <p:nvPr/>
          </p:nvSpPr>
          <p:spPr bwMode="auto">
            <a:xfrm>
              <a:off x="5391" y="2750"/>
              <a:ext cx="5" cy="6"/>
            </a:xfrm>
            <a:custGeom>
              <a:avLst/>
              <a:gdLst>
                <a:gd name="T0" fmla="*/ 0 w 53"/>
                <a:gd name="T1" fmla="*/ 52 h 52"/>
                <a:gd name="T2" fmla="*/ 52 w 53"/>
                <a:gd name="T3" fmla="*/ 0 h 52"/>
                <a:gd name="T4" fmla="*/ 53 w 53"/>
                <a:gd name="T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52">
                  <a:moveTo>
                    <a:pt x="0" y="52"/>
                  </a:moveTo>
                  <a:lnTo>
                    <a:pt x="52" y="0"/>
                  </a:lnTo>
                  <a:lnTo>
                    <a:pt x="5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41" name="Freeform 541"/>
            <p:cNvSpPr>
              <a:spLocks/>
            </p:cNvSpPr>
            <p:nvPr/>
          </p:nvSpPr>
          <p:spPr bwMode="auto">
            <a:xfrm>
              <a:off x="5269" y="2756"/>
              <a:ext cx="122" cy="121"/>
            </a:xfrm>
            <a:custGeom>
              <a:avLst/>
              <a:gdLst>
                <a:gd name="T0" fmla="*/ 0 w 1136"/>
                <a:gd name="T1" fmla="*/ 1136 h 1136"/>
                <a:gd name="T2" fmla="*/ 819 w 1136"/>
                <a:gd name="T3" fmla="*/ 316 h 1136"/>
                <a:gd name="T4" fmla="*/ 1135 w 1136"/>
                <a:gd name="T5" fmla="*/ 0 h 1136"/>
                <a:gd name="T6" fmla="*/ 1136 w 1136"/>
                <a:gd name="T7" fmla="*/ 0 h 1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36" h="1136">
                  <a:moveTo>
                    <a:pt x="0" y="1136"/>
                  </a:moveTo>
                  <a:lnTo>
                    <a:pt x="819" y="316"/>
                  </a:lnTo>
                  <a:lnTo>
                    <a:pt x="1135" y="0"/>
                  </a:lnTo>
                  <a:lnTo>
                    <a:pt x="113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42" name="Freeform 542"/>
            <p:cNvSpPr>
              <a:spLocks/>
            </p:cNvSpPr>
            <p:nvPr/>
          </p:nvSpPr>
          <p:spPr bwMode="auto">
            <a:xfrm>
              <a:off x="5108" y="2899"/>
              <a:ext cx="159" cy="161"/>
            </a:xfrm>
            <a:custGeom>
              <a:avLst/>
              <a:gdLst>
                <a:gd name="T0" fmla="*/ 0 w 1501"/>
                <a:gd name="T1" fmla="*/ 1503 h 1503"/>
                <a:gd name="T2" fmla="*/ 1500 w 1501"/>
                <a:gd name="T3" fmla="*/ 0 h 1503"/>
                <a:gd name="T4" fmla="*/ 1501 w 1501"/>
                <a:gd name="T5" fmla="*/ 0 h 1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1" h="1503">
                  <a:moveTo>
                    <a:pt x="0" y="1503"/>
                  </a:moveTo>
                  <a:lnTo>
                    <a:pt x="1500" y="0"/>
                  </a:lnTo>
                  <a:lnTo>
                    <a:pt x="150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43" name="Freeform 543"/>
            <p:cNvSpPr>
              <a:spLocks/>
            </p:cNvSpPr>
            <p:nvPr/>
          </p:nvSpPr>
          <p:spPr bwMode="auto">
            <a:xfrm>
              <a:off x="5398" y="2761"/>
              <a:ext cx="10" cy="8"/>
            </a:xfrm>
            <a:custGeom>
              <a:avLst/>
              <a:gdLst>
                <a:gd name="T0" fmla="*/ 0 w 82"/>
                <a:gd name="T1" fmla="*/ 81 h 81"/>
                <a:gd name="T2" fmla="*/ 81 w 82"/>
                <a:gd name="T3" fmla="*/ 0 h 81"/>
                <a:gd name="T4" fmla="*/ 82 w 82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" h="81">
                  <a:moveTo>
                    <a:pt x="0" y="81"/>
                  </a:moveTo>
                  <a:lnTo>
                    <a:pt x="81" y="0"/>
                  </a:lnTo>
                  <a:lnTo>
                    <a:pt x="8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44" name="Freeform 544"/>
            <p:cNvSpPr>
              <a:spLocks/>
            </p:cNvSpPr>
            <p:nvPr/>
          </p:nvSpPr>
          <p:spPr bwMode="auto">
            <a:xfrm>
              <a:off x="5269" y="2769"/>
              <a:ext cx="130" cy="130"/>
            </a:xfrm>
            <a:custGeom>
              <a:avLst/>
              <a:gdLst>
                <a:gd name="T0" fmla="*/ 0 w 1209"/>
                <a:gd name="T1" fmla="*/ 1209 h 1209"/>
                <a:gd name="T2" fmla="*/ 819 w 1209"/>
                <a:gd name="T3" fmla="*/ 390 h 1209"/>
                <a:gd name="T4" fmla="*/ 1208 w 1209"/>
                <a:gd name="T5" fmla="*/ 0 h 1209"/>
                <a:gd name="T6" fmla="*/ 1209 w 1209"/>
                <a:gd name="T7" fmla="*/ 0 h 1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9" h="1209">
                  <a:moveTo>
                    <a:pt x="0" y="1209"/>
                  </a:moveTo>
                  <a:lnTo>
                    <a:pt x="819" y="390"/>
                  </a:lnTo>
                  <a:lnTo>
                    <a:pt x="1208" y="0"/>
                  </a:lnTo>
                  <a:lnTo>
                    <a:pt x="120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45" name="Freeform 545"/>
            <p:cNvSpPr>
              <a:spLocks/>
            </p:cNvSpPr>
            <p:nvPr/>
          </p:nvSpPr>
          <p:spPr bwMode="auto">
            <a:xfrm>
              <a:off x="5105" y="2921"/>
              <a:ext cx="164" cy="164"/>
            </a:xfrm>
            <a:custGeom>
              <a:avLst/>
              <a:gdLst>
                <a:gd name="T0" fmla="*/ 0 w 1530"/>
                <a:gd name="T1" fmla="*/ 1531 h 1531"/>
                <a:gd name="T2" fmla="*/ 1529 w 1530"/>
                <a:gd name="T3" fmla="*/ 0 h 1531"/>
                <a:gd name="T4" fmla="*/ 1530 w 1530"/>
                <a:gd name="T5" fmla="*/ 0 h 1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0" h="1531">
                  <a:moveTo>
                    <a:pt x="0" y="1531"/>
                  </a:moveTo>
                  <a:lnTo>
                    <a:pt x="1529" y="0"/>
                  </a:lnTo>
                  <a:lnTo>
                    <a:pt x="153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46" name="Freeform 546"/>
            <p:cNvSpPr>
              <a:spLocks/>
            </p:cNvSpPr>
            <p:nvPr/>
          </p:nvSpPr>
          <p:spPr bwMode="auto">
            <a:xfrm>
              <a:off x="5407" y="2772"/>
              <a:ext cx="10" cy="11"/>
            </a:xfrm>
            <a:custGeom>
              <a:avLst/>
              <a:gdLst>
                <a:gd name="T0" fmla="*/ 0 w 112"/>
                <a:gd name="T1" fmla="*/ 111 h 111"/>
                <a:gd name="T2" fmla="*/ 111 w 112"/>
                <a:gd name="T3" fmla="*/ 0 h 111"/>
                <a:gd name="T4" fmla="*/ 112 w 112"/>
                <a:gd name="T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2" h="111">
                  <a:moveTo>
                    <a:pt x="0" y="111"/>
                  </a:moveTo>
                  <a:lnTo>
                    <a:pt x="111" y="0"/>
                  </a:lnTo>
                  <a:lnTo>
                    <a:pt x="11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47" name="Freeform 547"/>
            <p:cNvSpPr>
              <a:spLocks/>
            </p:cNvSpPr>
            <p:nvPr/>
          </p:nvSpPr>
          <p:spPr bwMode="auto">
            <a:xfrm>
              <a:off x="5269" y="2783"/>
              <a:ext cx="140" cy="137"/>
            </a:xfrm>
            <a:custGeom>
              <a:avLst/>
              <a:gdLst>
                <a:gd name="T0" fmla="*/ 0 w 1281"/>
                <a:gd name="T1" fmla="*/ 1281 h 1281"/>
                <a:gd name="T2" fmla="*/ 819 w 1281"/>
                <a:gd name="T3" fmla="*/ 463 h 1281"/>
                <a:gd name="T4" fmla="*/ 1280 w 1281"/>
                <a:gd name="T5" fmla="*/ 0 h 1281"/>
                <a:gd name="T6" fmla="*/ 1281 w 1281"/>
                <a:gd name="T7" fmla="*/ 0 h 1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1" h="1281">
                  <a:moveTo>
                    <a:pt x="0" y="1281"/>
                  </a:moveTo>
                  <a:lnTo>
                    <a:pt x="819" y="463"/>
                  </a:lnTo>
                  <a:lnTo>
                    <a:pt x="1280" y="0"/>
                  </a:lnTo>
                  <a:lnTo>
                    <a:pt x="128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48" name="Freeform 548"/>
            <p:cNvSpPr>
              <a:spLocks/>
            </p:cNvSpPr>
            <p:nvPr/>
          </p:nvSpPr>
          <p:spPr bwMode="auto">
            <a:xfrm>
              <a:off x="5103" y="2943"/>
              <a:ext cx="166" cy="167"/>
            </a:xfrm>
            <a:custGeom>
              <a:avLst/>
              <a:gdLst>
                <a:gd name="T0" fmla="*/ 0 w 1551"/>
                <a:gd name="T1" fmla="*/ 1552 h 1552"/>
                <a:gd name="T2" fmla="*/ 1550 w 1551"/>
                <a:gd name="T3" fmla="*/ 0 h 1552"/>
                <a:gd name="T4" fmla="*/ 1551 w 1551"/>
                <a:gd name="T5" fmla="*/ 0 h 1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1" h="1552">
                  <a:moveTo>
                    <a:pt x="0" y="1552"/>
                  </a:moveTo>
                  <a:lnTo>
                    <a:pt x="1550" y="0"/>
                  </a:lnTo>
                  <a:lnTo>
                    <a:pt x="155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49" name="Freeform 549"/>
            <p:cNvSpPr>
              <a:spLocks/>
            </p:cNvSpPr>
            <p:nvPr/>
          </p:nvSpPr>
          <p:spPr bwMode="auto">
            <a:xfrm>
              <a:off x="5415" y="2783"/>
              <a:ext cx="14" cy="14"/>
            </a:xfrm>
            <a:custGeom>
              <a:avLst/>
              <a:gdLst>
                <a:gd name="T0" fmla="*/ 0 w 139"/>
                <a:gd name="T1" fmla="*/ 139 h 139"/>
                <a:gd name="T2" fmla="*/ 138 w 139"/>
                <a:gd name="T3" fmla="*/ 0 h 139"/>
                <a:gd name="T4" fmla="*/ 139 w 139"/>
                <a:gd name="T5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" h="139">
                  <a:moveTo>
                    <a:pt x="0" y="139"/>
                  </a:moveTo>
                  <a:lnTo>
                    <a:pt x="138" y="0"/>
                  </a:lnTo>
                  <a:lnTo>
                    <a:pt x="13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50" name="Freeform 550"/>
            <p:cNvSpPr>
              <a:spLocks/>
            </p:cNvSpPr>
            <p:nvPr/>
          </p:nvSpPr>
          <p:spPr bwMode="auto">
            <a:xfrm>
              <a:off x="5269" y="2797"/>
              <a:ext cx="146" cy="146"/>
            </a:xfrm>
            <a:custGeom>
              <a:avLst/>
              <a:gdLst>
                <a:gd name="T0" fmla="*/ 0 w 1354"/>
                <a:gd name="T1" fmla="*/ 1353 h 1353"/>
                <a:gd name="T2" fmla="*/ 818 w 1354"/>
                <a:gd name="T3" fmla="*/ 536 h 1353"/>
                <a:gd name="T4" fmla="*/ 1353 w 1354"/>
                <a:gd name="T5" fmla="*/ 0 h 1353"/>
                <a:gd name="T6" fmla="*/ 1354 w 1354"/>
                <a:gd name="T7" fmla="*/ 0 h 1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4" h="1353">
                  <a:moveTo>
                    <a:pt x="0" y="1353"/>
                  </a:moveTo>
                  <a:lnTo>
                    <a:pt x="818" y="536"/>
                  </a:lnTo>
                  <a:lnTo>
                    <a:pt x="1353" y="0"/>
                  </a:lnTo>
                  <a:lnTo>
                    <a:pt x="135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51" name="Freeform 551"/>
            <p:cNvSpPr>
              <a:spLocks/>
            </p:cNvSpPr>
            <p:nvPr/>
          </p:nvSpPr>
          <p:spPr bwMode="auto">
            <a:xfrm>
              <a:off x="5106" y="3126"/>
              <a:ext cx="3" cy="2"/>
            </a:xfrm>
            <a:custGeom>
              <a:avLst/>
              <a:gdLst>
                <a:gd name="T0" fmla="*/ 0 w 20"/>
                <a:gd name="T1" fmla="*/ 19 h 19"/>
                <a:gd name="T2" fmla="*/ 18 w 20"/>
                <a:gd name="T3" fmla="*/ 0 h 19"/>
                <a:gd name="T4" fmla="*/ 20 w 20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9">
                  <a:moveTo>
                    <a:pt x="0" y="19"/>
                  </a:moveTo>
                  <a:lnTo>
                    <a:pt x="18" y="0"/>
                  </a:lnTo>
                  <a:lnTo>
                    <a:pt x="2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52" name="Freeform 552"/>
            <p:cNvSpPr>
              <a:spLocks/>
            </p:cNvSpPr>
            <p:nvPr/>
          </p:nvSpPr>
          <p:spPr bwMode="auto">
            <a:xfrm>
              <a:off x="5422" y="2794"/>
              <a:ext cx="17" cy="16"/>
            </a:xfrm>
            <a:custGeom>
              <a:avLst/>
              <a:gdLst>
                <a:gd name="T0" fmla="*/ 0 w 161"/>
                <a:gd name="T1" fmla="*/ 160 h 160"/>
                <a:gd name="T2" fmla="*/ 160 w 161"/>
                <a:gd name="T3" fmla="*/ 0 h 160"/>
                <a:gd name="T4" fmla="*/ 161 w 161"/>
                <a:gd name="T5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1" h="160">
                  <a:moveTo>
                    <a:pt x="0" y="160"/>
                  </a:moveTo>
                  <a:lnTo>
                    <a:pt x="160" y="0"/>
                  </a:lnTo>
                  <a:lnTo>
                    <a:pt x="16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53" name="Freeform 553"/>
            <p:cNvSpPr>
              <a:spLocks/>
            </p:cNvSpPr>
            <p:nvPr/>
          </p:nvSpPr>
          <p:spPr bwMode="auto">
            <a:xfrm>
              <a:off x="5108" y="2965"/>
              <a:ext cx="159" cy="161"/>
            </a:xfrm>
            <a:custGeom>
              <a:avLst/>
              <a:gdLst>
                <a:gd name="T0" fmla="*/ 0 w 1504"/>
                <a:gd name="T1" fmla="*/ 1503 h 1503"/>
                <a:gd name="T2" fmla="*/ 1503 w 1504"/>
                <a:gd name="T3" fmla="*/ 0 h 1503"/>
                <a:gd name="T4" fmla="*/ 1504 w 1504"/>
                <a:gd name="T5" fmla="*/ 0 h 1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4" h="1503">
                  <a:moveTo>
                    <a:pt x="0" y="1503"/>
                  </a:moveTo>
                  <a:lnTo>
                    <a:pt x="1503" y="0"/>
                  </a:lnTo>
                  <a:lnTo>
                    <a:pt x="150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54" name="Freeform 554"/>
            <p:cNvSpPr>
              <a:spLocks/>
            </p:cNvSpPr>
            <p:nvPr/>
          </p:nvSpPr>
          <p:spPr bwMode="auto">
            <a:xfrm>
              <a:off x="5357" y="2812"/>
              <a:ext cx="65" cy="66"/>
            </a:xfrm>
            <a:custGeom>
              <a:avLst/>
              <a:gdLst>
                <a:gd name="T0" fmla="*/ 0 w 608"/>
                <a:gd name="T1" fmla="*/ 608 h 608"/>
                <a:gd name="T2" fmla="*/ 607 w 608"/>
                <a:gd name="T3" fmla="*/ 0 h 608"/>
                <a:gd name="T4" fmla="*/ 608 w 608"/>
                <a:gd name="T5" fmla="*/ 0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8" h="608">
                  <a:moveTo>
                    <a:pt x="0" y="608"/>
                  </a:moveTo>
                  <a:lnTo>
                    <a:pt x="607" y="0"/>
                  </a:lnTo>
                  <a:lnTo>
                    <a:pt x="60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55" name="Freeform 555"/>
            <p:cNvSpPr>
              <a:spLocks/>
            </p:cNvSpPr>
            <p:nvPr/>
          </p:nvSpPr>
          <p:spPr bwMode="auto">
            <a:xfrm>
              <a:off x="5269" y="2877"/>
              <a:ext cx="88" cy="88"/>
            </a:xfrm>
            <a:custGeom>
              <a:avLst/>
              <a:gdLst>
                <a:gd name="T0" fmla="*/ 0 w 819"/>
                <a:gd name="T1" fmla="*/ 819 h 819"/>
                <a:gd name="T2" fmla="*/ 818 w 819"/>
                <a:gd name="T3" fmla="*/ 0 h 819"/>
                <a:gd name="T4" fmla="*/ 819 w 819"/>
                <a:gd name="T5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9" h="819">
                  <a:moveTo>
                    <a:pt x="0" y="819"/>
                  </a:moveTo>
                  <a:lnTo>
                    <a:pt x="818" y="0"/>
                  </a:lnTo>
                  <a:lnTo>
                    <a:pt x="81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56" name="Freeform 556"/>
            <p:cNvSpPr>
              <a:spLocks/>
            </p:cNvSpPr>
            <p:nvPr/>
          </p:nvSpPr>
          <p:spPr bwMode="auto">
            <a:xfrm>
              <a:off x="5123" y="3124"/>
              <a:ext cx="9" cy="9"/>
            </a:xfrm>
            <a:custGeom>
              <a:avLst/>
              <a:gdLst>
                <a:gd name="T0" fmla="*/ 0 w 89"/>
                <a:gd name="T1" fmla="*/ 88 h 88"/>
                <a:gd name="T2" fmla="*/ 88 w 89"/>
                <a:gd name="T3" fmla="*/ 0 h 88"/>
                <a:gd name="T4" fmla="*/ 89 w 89"/>
                <a:gd name="T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88">
                  <a:moveTo>
                    <a:pt x="0" y="88"/>
                  </a:moveTo>
                  <a:lnTo>
                    <a:pt x="88" y="0"/>
                  </a:lnTo>
                  <a:lnTo>
                    <a:pt x="8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57" name="Freeform 557"/>
            <p:cNvSpPr>
              <a:spLocks/>
            </p:cNvSpPr>
            <p:nvPr/>
          </p:nvSpPr>
          <p:spPr bwMode="auto">
            <a:xfrm>
              <a:off x="5430" y="2807"/>
              <a:ext cx="19" cy="19"/>
            </a:xfrm>
            <a:custGeom>
              <a:avLst/>
              <a:gdLst>
                <a:gd name="T0" fmla="*/ 0 w 174"/>
                <a:gd name="T1" fmla="*/ 172 h 172"/>
                <a:gd name="T2" fmla="*/ 172 w 174"/>
                <a:gd name="T3" fmla="*/ 0 h 172"/>
                <a:gd name="T4" fmla="*/ 174 w 174"/>
                <a:gd name="T5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" h="172">
                  <a:moveTo>
                    <a:pt x="0" y="172"/>
                  </a:moveTo>
                  <a:lnTo>
                    <a:pt x="172" y="0"/>
                  </a:lnTo>
                  <a:lnTo>
                    <a:pt x="17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58" name="Freeform 558"/>
            <p:cNvSpPr>
              <a:spLocks/>
            </p:cNvSpPr>
            <p:nvPr/>
          </p:nvSpPr>
          <p:spPr bwMode="auto">
            <a:xfrm>
              <a:off x="5132" y="2986"/>
              <a:ext cx="137" cy="137"/>
            </a:xfrm>
            <a:custGeom>
              <a:avLst/>
              <a:gdLst>
                <a:gd name="T0" fmla="*/ 0 w 1278"/>
                <a:gd name="T1" fmla="*/ 1278 h 1278"/>
                <a:gd name="T2" fmla="*/ 1277 w 1278"/>
                <a:gd name="T3" fmla="*/ 0 h 1278"/>
                <a:gd name="T4" fmla="*/ 1278 w 1278"/>
                <a:gd name="T5" fmla="*/ 0 h 1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8" h="1278">
                  <a:moveTo>
                    <a:pt x="0" y="1278"/>
                  </a:moveTo>
                  <a:lnTo>
                    <a:pt x="1277" y="0"/>
                  </a:lnTo>
                  <a:lnTo>
                    <a:pt x="127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759" name="Freeform 559"/>
            <p:cNvSpPr>
              <a:spLocks/>
            </p:cNvSpPr>
            <p:nvPr/>
          </p:nvSpPr>
          <p:spPr bwMode="auto">
            <a:xfrm>
              <a:off x="5357" y="2826"/>
              <a:ext cx="73" cy="73"/>
            </a:xfrm>
            <a:custGeom>
              <a:avLst/>
              <a:gdLst>
                <a:gd name="T0" fmla="*/ 0 w 683"/>
                <a:gd name="T1" fmla="*/ 682 h 682"/>
                <a:gd name="T2" fmla="*/ 682 w 683"/>
                <a:gd name="T3" fmla="*/ 0 h 682"/>
                <a:gd name="T4" fmla="*/ 683 w 683"/>
                <a:gd name="T5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3" h="682">
                  <a:moveTo>
                    <a:pt x="0" y="682"/>
                  </a:moveTo>
                  <a:lnTo>
                    <a:pt x="682" y="0"/>
                  </a:lnTo>
                  <a:lnTo>
                    <a:pt x="68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378" name="Group 560"/>
            <p:cNvGrpSpPr>
              <a:grpSpLocks/>
            </p:cNvGrpSpPr>
            <p:nvPr/>
          </p:nvGrpSpPr>
          <p:grpSpPr bwMode="auto">
            <a:xfrm>
              <a:off x="5103" y="2717"/>
              <a:ext cx="507" cy="562"/>
              <a:chOff x="3630" y="2100"/>
              <a:chExt cx="788" cy="873"/>
            </a:xfrm>
          </p:grpSpPr>
          <p:sp>
            <p:nvSpPr>
              <p:cNvPr id="51761" name="Freeform 561"/>
              <p:cNvSpPr>
                <a:spLocks/>
              </p:cNvSpPr>
              <p:nvPr/>
            </p:nvSpPr>
            <p:spPr bwMode="auto">
              <a:xfrm>
                <a:off x="3889" y="2383"/>
                <a:ext cx="136" cy="137"/>
              </a:xfrm>
              <a:custGeom>
                <a:avLst/>
                <a:gdLst>
                  <a:gd name="T0" fmla="*/ 0 w 818"/>
                  <a:gd name="T1" fmla="*/ 818 h 818"/>
                  <a:gd name="T2" fmla="*/ 816 w 818"/>
                  <a:gd name="T3" fmla="*/ 0 h 818"/>
                  <a:gd name="T4" fmla="*/ 818 w 818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8">
                    <a:moveTo>
                      <a:pt x="0" y="818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62" name="Freeform 562"/>
              <p:cNvSpPr>
                <a:spLocks/>
              </p:cNvSpPr>
              <p:nvPr/>
            </p:nvSpPr>
            <p:spPr bwMode="auto">
              <a:xfrm>
                <a:off x="3687" y="2729"/>
                <a:ext cx="27" cy="25"/>
              </a:xfrm>
              <a:custGeom>
                <a:avLst/>
                <a:gdLst>
                  <a:gd name="T0" fmla="*/ 0 w 153"/>
                  <a:gd name="T1" fmla="*/ 151 h 151"/>
                  <a:gd name="T2" fmla="*/ 152 w 153"/>
                  <a:gd name="T3" fmla="*/ 0 h 151"/>
                  <a:gd name="T4" fmla="*/ 153 w 153"/>
                  <a:gd name="T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" h="151">
                    <a:moveTo>
                      <a:pt x="0" y="151"/>
                    </a:moveTo>
                    <a:lnTo>
                      <a:pt x="152" y="0"/>
                    </a:lnTo>
                    <a:lnTo>
                      <a:pt x="15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63" name="Freeform 563"/>
              <p:cNvSpPr>
                <a:spLocks/>
              </p:cNvSpPr>
              <p:nvPr/>
            </p:nvSpPr>
            <p:spPr bwMode="auto">
              <a:xfrm>
                <a:off x="4150" y="2260"/>
                <a:ext cx="30" cy="31"/>
              </a:xfrm>
              <a:custGeom>
                <a:avLst/>
                <a:gdLst>
                  <a:gd name="T0" fmla="*/ 0 w 180"/>
                  <a:gd name="T1" fmla="*/ 180 h 180"/>
                  <a:gd name="T2" fmla="*/ 179 w 180"/>
                  <a:gd name="T3" fmla="*/ 0 h 180"/>
                  <a:gd name="T4" fmla="*/ 180 w 180"/>
                  <a:gd name="T5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0" h="180">
                    <a:moveTo>
                      <a:pt x="0" y="180"/>
                    </a:moveTo>
                    <a:lnTo>
                      <a:pt x="179" y="0"/>
                    </a:lnTo>
                    <a:lnTo>
                      <a:pt x="18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64" name="Freeform 564"/>
              <p:cNvSpPr>
                <a:spLocks/>
              </p:cNvSpPr>
              <p:nvPr/>
            </p:nvSpPr>
            <p:spPr bwMode="auto">
              <a:xfrm>
                <a:off x="3712" y="2552"/>
                <a:ext cx="176" cy="177"/>
              </a:xfrm>
              <a:custGeom>
                <a:avLst/>
                <a:gdLst>
                  <a:gd name="T0" fmla="*/ 0 w 1058"/>
                  <a:gd name="T1" fmla="*/ 1058 h 1058"/>
                  <a:gd name="T2" fmla="*/ 1057 w 1058"/>
                  <a:gd name="T3" fmla="*/ 0 h 1058"/>
                  <a:gd name="T4" fmla="*/ 1058 w 1058"/>
                  <a:gd name="T5" fmla="*/ 0 h 10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58" h="1058">
                    <a:moveTo>
                      <a:pt x="0" y="1058"/>
                    </a:moveTo>
                    <a:lnTo>
                      <a:pt x="1057" y="0"/>
                    </a:lnTo>
                    <a:lnTo>
                      <a:pt x="105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65" name="Freeform 565"/>
              <p:cNvSpPr>
                <a:spLocks/>
              </p:cNvSpPr>
              <p:nvPr/>
            </p:nvSpPr>
            <p:spPr bwMode="auto">
              <a:xfrm>
                <a:off x="4025" y="2291"/>
                <a:ext cx="125" cy="126"/>
              </a:xfrm>
              <a:custGeom>
                <a:avLst/>
                <a:gdLst>
                  <a:gd name="T0" fmla="*/ 0 w 757"/>
                  <a:gd name="T1" fmla="*/ 755 h 755"/>
                  <a:gd name="T2" fmla="*/ 756 w 757"/>
                  <a:gd name="T3" fmla="*/ 0 h 755"/>
                  <a:gd name="T4" fmla="*/ 757 w 757"/>
                  <a:gd name="T5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7" h="755">
                    <a:moveTo>
                      <a:pt x="0" y="755"/>
                    </a:moveTo>
                    <a:lnTo>
                      <a:pt x="756" y="0"/>
                    </a:lnTo>
                    <a:lnTo>
                      <a:pt x="75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66" name="Freeform 566"/>
              <p:cNvSpPr>
                <a:spLocks/>
              </p:cNvSpPr>
              <p:nvPr/>
            </p:nvSpPr>
            <p:spPr bwMode="auto">
              <a:xfrm>
                <a:off x="3889" y="2417"/>
                <a:ext cx="136" cy="137"/>
              </a:xfrm>
              <a:custGeom>
                <a:avLst/>
                <a:gdLst>
                  <a:gd name="T0" fmla="*/ 0 w 818"/>
                  <a:gd name="T1" fmla="*/ 817 h 817"/>
                  <a:gd name="T2" fmla="*/ 816 w 818"/>
                  <a:gd name="T3" fmla="*/ 0 h 817"/>
                  <a:gd name="T4" fmla="*/ 818 w 818"/>
                  <a:gd name="T5" fmla="*/ 0 h 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7">
                    <a:moveTo>
                      <a:pt x="0" y="817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67" name="Freeform 567"/>
              <p:cNvSpPr>
                <a:spLocks/>
              </p:cNvSpPr>
              <p:nvPr/>
            </p:nvSpPr>
            <p:spPr bwMode="auto">
              <a:xfrm>
                <a:off x="3714" y="2727"/>
                <a:ext cx="35" cy="35"/>
              </a:xfrm>
              <a:custGeom>
                <a:avLst/>
                <a:gdLst>
                  <a:gd name="T0" fmla="*/ 0 w 211"/>
                  <a:gd name="T1" fmla="*/ 211 h 211"/>
                  <a:gd name="T2" fmla="*/ 210 w 211"/>
                  <a:gd name="T3" fmla="*/ 0 h 211"/>
                  <a:gd name="T4" fmla="*/ 211 w 211"/>
                  <a:gd name="T5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1" h="211">
                    <a:moveTo>
                      <a:pt x="0" y="211"/>
                    </a:moveTo>
                    <a:lnTo>
                      <a:pt x="210" y="0"/>
                    </a:lnTo>
                    <a:lnTo>
                      <a:pt x="21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68" name="Freeform 568"/>
              <p:cNvSpPr>
                <a:spLocks/>
              </p:cNvSpPr>
              <p:nvPr/>
            </p:nvSpPr>
            <p:spPr bwMode="auto">
              <a:xfrm>
                <a:off x="4162" y="2282"/>
                <a:ext cx="31" cy="30"/>
              </a:xfrm>
              <a:custGeom>
                <a:avLst/>
                <a:gdLst>
                  <a:gd name="T0" fmla="*/ 0 w 182"/>
                  <a:gd name="T1" fmla="*/ 182 h 182"/>
                  <a:gd name="T2" fmla="*/ 181 w 182"/>
                  <a:gd name="T3" fmla="*/ 0 h 182"/>
                  <a:gd name="T4" fmla="*/ 182 w 182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2">
                    <a:moveTo>
                      <a:pt x="0" y="182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69" name="Freeform 569"/>
              <p:cNvSpPr>
                <a:spLocks/>
              </p:cNvSpPr>
              <p:nvPr/>
            </p:nvSpPr>
            <p:spPr bwMode="auto">
              <a:xfrm>
                <a:off x="3749" y="2586"/>
                <a:ext cx="140" cy="141"/>
              </a:xfrm>
              <a:custGeom>
                <a:avLst/>
                <a:gdLst>
                  <a:gd name="T0" fmla="*/ 0 w 843"/>
                  <a:gd name="T1" fmla="*/ 843 h 843"/>
                  <a:gd name="T2" fmla="*/ 842 w 843"/>
                  <a:gd name="T3" fmla="*/ 0 h 843"/>
                  <a:gd name="T4" fmla="*/ 843 w 843"/>
                  <a:gd name="T5" fmla="*/ 0 h 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3" h="843">
                    <a:moveTo>
                      <a:pt x="0" y="843"/>
                    </a:moveTo>
                    <a:lnTo>
                      <a:pt x="842" y="0"/>
                    </a:lnTo>
                    <a:lnTo>
                      <a:pt x="84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70" name="Freeform 570"/>
              <p:cNvSpPr>
                <a:spLocks/>
              </p:cNvSpPr>
              <p:nvPr/>
            </p:nvSpPr>
            <p:spPr bwMode="auto">
              <a:xfrm>
                <a:off x="4025" y="2312"/>
                <a:ext cx="137" cy="139"/>
              </a:xfrm>
              <a:custGeom>
                <a:avLst/>
                <a:gdLst>
                  <a:gd name="T0" fmla="*/ 0 w 830"/>
                  <a:gd name="T1" fmla="*/ 829 h 829"/>
                  <a:gd name="T2" fmla="*/ 829 w 830"/>
                  <a:gd name="T3" fmla="*/ 0 h 829"/>
                  <a:gd name="T4" fmla="*/ 830 w 830"/>
                  <a:gd name="T5" fmla="*/ 0 h 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0" h="829">
                    <a:moveTo>
                      <a:pt x="0" y="829"/>
                    </a:moveTo>
                    <a:lnTo>
                      <a:pt x="829" y="0"/>
                    </a:lnTo>
                    <a:lnTo>
                      <a:pt x="83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71" name="Freeform 571"/>
              <p:cNvSpPr>
                <a:spLocks/>
              </p:cNvSpPr>
              <p:nvPr/>
            </p:nvSpPr>
            <p:spPr bwMode="auto">
              <a:xfrm>
                <a:off x="3889" y="2450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72" name="Freeform 572"/>
              <p:cNvSpPr>
                <a:spLocks/>
              </p:cNvSpPr>
              <p:nvPr/>
            </p:nvSpPr>
            <p:spPr bwMode="auto">
              <a:xfrm>
                <a:off x="3739" y="2725"/>
                <a:ext cx="44" cy="45"/>
              </a:xfrm>
              <a:custGeom>
                <a:avLst/>
                <a:gdLst>
                  <a:gd name="T0" fmla="*/ 0 w 267"/>
                  <a:gd name="T1" fmla="*/ 266 h 266"/>
                  <a:gd name="T2" fmla="*/ 266 w 267"/>
                  <a:gd name="T3" fmla="*/ 0 h 266"/>
                  <a:gd name="T4" fmla="*/ 267 w 267"/>
                  <a:gd name="T5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7" h="266">
                    <a:moveTo>
                      <a:pt x="0" y="266"/>
                    </a:moveTo>
                    <a:lnTo>
                      <a:pt x="266" y="0"/>
                    </a:lnTo>
                    <a:lnTo>
                      <a:pt x="2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73" name="Freeform 573"/>
              <p:cNvSpPr>
                <a:spLocks/>
              </p:cNvSpPr>
              <p:nvPr/>
            </p:nvSpPr>
            <p:spPr bwMode="auto">
              <a:xfrm>
                <a:off x="4174" y="2303"/>
                <a:ext cx="31" cy="31"/>
              </a:xfrm>
              <a:custGeom>
                <a:avLst/>
                <a:gdLst>
                  <a:gd name="T0" fmla="*/ 0 w 182"/>
                  <a:gd name="T1" fmla="*/ 181 h 181"/>
                  <a:gd name="T2" fmla="*/ 181 w 182"/>
                  <a:gd name="T3" fmla="*/ 0 h 181"/>
                  <a:gd name="T4" fmla="*/ 182 w 182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1">
                    <a:moveTo>
                      <a:pt x="0" y="181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74" name="Freeform 574"/>
              <p:cNvSpPr>
                <a:spLocks/>
              </p:cNvSpPr>
              <p:nvPr/>
            </p:nvSpPr>
            <p:spPr bwMode="auto">
              <a:xfrm>
                <a:off x="3784" y="2620"/>
                <a:ext cx="105" cy="105"/>
              </a:xfrm>
              <a:custGeom>
                <a:avLst/>
                <a:gdLst>
                  <a:gd name="T0" fmla="*/ 0 w 631"/>
                  <a:gd name="T1" fmla="*/ 631 h 631"/>
                  <a:gd name="T2" fmla="*/ 630 w 631"/>
                  <a:gd name="T3" fmla="*/ 0 h 631"/>
                  <a:gd name="T4" fmla="*/ 631 w 631"/>
                  <a:gd name="T5" fmla="*/ 0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1" h="631">
                    <a:moveTo>
                      <a:pt x="0" y="631"/>
                    </a:moveTo>
                    <a:lnTo>
                      <a:pt x="630" y="0"/>
                    </a:lnTo>
                    <a:lnTo>
                      <a:pt x="63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75" name="Freeform 575"/>
              <p:cNvSpPr>
                <a:spLocks/>
              </p:cNvSpPr>
              <p:nvPr/>
            </p:nvSpPr>
            <p:spPr bwMode="auto">
              <a:xfrm>
                <a:off x="4025" y="2335"/>
                <a:ext cx="149" cy="151"/>
              </a:xfrm>
              <a:custGeom>
                <a:avLst/>
                <a:gdLst>
                  <a:gd name="T0" fmla="*/ 0 w 903"/>
                  <a:gd name="T1" fmla="*/ 902 h 902"/>
                  <a:gd name="T2" fmla="*/ 902 w 903"/>
                  <a:gd name="T3" fmla="*/ 0 h 902"/>
                  <a:gd name="T4" fmla="*/ 903 w 903"/>
                  <a:gd name="T5" fmla="*/ 0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3" h="902">
                    <a:moveTo>
                      <a:pt x="0" y="902"/>
                    </a:moveTo>
                    <a:lnTo>
                      <a:pt x="902" y="0"/>
                    </a:lnTo>
                    <a:lnTo>
                      <a:pt x="90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76" name="Freeform 576"/>
              <p:cNvSpPr>
                <a:spLocks/>
              </p:cNvSpPr>
              <p:nvPr/>
            </p:nvSpPr>
            <p:spPr bwMode="auto">
              <a:xfrm>
                <a:off x="3889" y="2484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77" name="Freeform 577"/>
              <p:cNvSpPr>
                <a:spLocks/>
              </p:cNvSpPr>
              <p:nvPr/>
            </p:nvSpPr>
            <p:spPr bwMode="auto">
              <a:xfrm>
                <a:off x="3765" y="2725"/>
                <a:ext cx="54" cy="52"/>
              </a:xfrm>
              <a:custGeom>
                <a:avLst/>
                <a:gdLst>
                  <a:gd name="T0" fmla="*/ 0 w 318"/>
                  <a:gd name="T1" fmla="*/ 317 h 317"/>
                  <a:gd name="T2" fmla="*/ 317 w 318"/>
                  <a:gd name="T3" fmla="*/ 0 h 317"/>
                  <a:gd name="T4" fmla="*/ 318 w 318"/>
                  <a:gd name="T5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8" h="317">
                    <a:moveTo>
                      <a:pt x="0" y="317"/>
                    </a:moveTo>
                    <a:lnTo>
                      <a:pt x="317" y="0"/>
                    </a:lnTo>
                    <a:lnTo>
                      <a:pt x="3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78" name="Freeform 578"/>
              <p:cNvSpPr>
                <a:spLocks/>
              </p:cNvSpPr>
              <p:nvPr/>
            </p:nvSpPr>
            <p:spPr bwMode="auto">
              <a:xfrm>
                <a:off x="4186" y="2325"/>
                <a:ext cx="31" cy="31"/>
              </a:xfrm>
              <a:custGeom>
                <a:avLst/>
                <a:gdLst>
                  <a:gd name="T0" fmla="*/ 0 w 184"/>
                  <a:gd name="T1" fmla="*/ 182 h 182"/>
                  <a:gd name="T2" fmla="*/ 183 w 184"/>
                  <a:gd name="T3" fmla="*/ 0 h 182"/>
                  <a:gd name="T4" fmla="*/ 184 w 184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2">
                    <a:moveTo>
                      <a:pt x="0" y="182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79" name="Freeform 579"/>
              <p:cNvSpPr>
                <a:spLocks/>
              </p:cNvSpPr>
              <p:nvPr/>
            </p:nvSpPr>
            <p:spPr bwMode="auto">
              <a:xfrm>
                <a:off x="3819" y="2654"/>
                <a:ext cx="70" cy="71"/>
              </a:xfrm>
              <a:custGeom>
                <a:avLst/>
                <a:gdLst>
                  <a:gd name="T0" fmla="*/ 0 w 423"/>
                  <a:gd name="T1" fmla="*/ 423 h 423"/>
                  <a:gd name="T2" fmla="*/ 422 w 423"/>
                  <a:gd name="T3" fmla="*/ 0 h 423"/>
                  <a:gd name="T4" fmla="*/ 423 w 423"/>
                  <a:gd name="T5" fmla="*/ 0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3" h="423">
                    <a:moveTo>
                      <a:pt x="0" y="423"/>
                    </a:moveTo>
                    <a:lnTo>
                      <a:pt x="422" y="0"/>
                    </a:lnTo>
                    <a:lnTo>
                      <a:pt x="42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80" name="Freeform 580"/>
              <p:cNvSpPr>
                <a:spLocks/>
              </p:cNvSpPr>
              <p:nvPr/>
            </p:nvSpPr>
            <p:spPr bwMode="auto">
              <a:xfrm>
                <a:off x="4025" y="2356"/>
                <a:ext cx="163" cy="164"/>
              </a:xfrm>
              <a:custGeom>
                <a:avLst/>
                <a:gdLst>
                  <a:gd name="T0" fmla="*/ 0 w 975"/>
                  <a:gd name="T1" fmla="*/ 976 h 976"/>
                  <a:gd name="T2" fmla="*/ 974 w 975"/>
                  <a:gd name="T3" fmla="*/ 0 h 976"/>
                  <a:gd name="T4" fmla="*/ 975 w 975"/>
                  <a:gd name="T5" fmla="*/ 0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5" h="976">
                    <a:moveTo>
                      <a:pt x="0" y="976"/>
                    </a:moveTo>
                    <a:lnTo>
                      <a:pt x="974" y="0"/>
                    </a:lnTo>
                    <a:lnTo>
                      <a:pt x="97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81" name="Freeform 581"/>
              <p:cNvSpPr>
                <a:spLocks/>
              </p:cNvSpPr>
              <p:nvPr/>
            </p:nvSpPr>
            <p:spPr bwMode="auto">
              <a:xfrm>
                <a:off x="3889" y="2518"/>
                <a:ext cx="136" cy="136"/>
              </a:xfrm>
              <a:custGeom>
                <a:avLst/>
                <a:gdLst>
                  <a:gd name="T0" fmla="*/ 0 w 816"/>
                  <a:gd name="T1" fmla="*/ 815 h 815"/>
                  <a:gd name="T2" fmla="*/ 815 w 816"/>
                  <a:gd name="T3" fmla="*/ 0 h 815"/>
                  <a:gd name="T4" fmla="*/ 816 w 816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5">
                    <a:moveTo>
                      <a:pt x="0" y="815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82" name="Freeform 582"/>
              <p:cNvSpPr>
                <a:spLocks/>
              </p:cNvSpPr>
              <p:nvPr/>
            </p:nvSpPr>
            <p:spPr bwMode="auto">
              <a:xfrm>
                <a:off x="3792" y="2725"/>
                <a:ext cx="62" cy="62"/>
              </a:xfrm>
              <a:custGeom>
                <a:avLst/>
                <a:gdLst>
                  <a:gd name="T0" fmla="*/ 0 w 366"/>
                  <a:gd name="T1" fmla="*/ 364 h 364"/>
                  <a:gd name="T2" fmla="*/ 365 w 366"/>
                  <a:gd name="T3" fmla="*/ 0 h 364"/>
                  <a:gd name="T4" fmla="*/ 366 w 366"/>
                  <a:gd name="T5" fmla="*/ 0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6" h="364">
                    <a:moveTo>
                      <a:pt x="0" y="364"/>
                    </a:moveTo>
                    <a:lnTo>
                      <a:pt x="365" y="0"/>
                    </a:lnTo>
                    <a:lnTo>
                      <a:pt x="36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83" name="Freeform 583"/>
              <p:cNvSpPr>
                <a:spLocks/>
              </p:cNvSpPr>
              <p:nvPr/>
            </p:nvSpPr>
            <p:spPr bwMode="auto">
              <a:xfrm>
                <a:off x="4199" y="2347"/>
                <a:ext cx="31" cy="30"/>
              </a:xfrm>
              <a:custGeom>
                <a:avLst/>
                <a:gdLst>
                  <a:gd name="T0" fmla="*/ 0 w 184"/>
                  <a:gd name="T1" fmla="*/ 184 h 184"/>
                  <a:gd name="T2" fmla="*/ 183 w 184"/>
                  <a:gd name="T3" fmla="*/ 0 h 184"/>
                  <a:gd name="T4" fmla="*/ 184 w 184"/>
                  <a:gd name="T5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4">
                    <a:moveTo>
                      <a:pt x="0" y="184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84" name="Freeform 584"/>
              <p:cNvSpPr>
                <a:spLocks/>
              </p:cNvSpPr>
              <p:nvPr/>
            </p:nvSpPr>
            <p:spPr bwMode="auto">
              <a:xfrm>
                <a:off x="3852" y="2688"/>
                <a:ext cx="36" cy="37"/>
              </a:xfrm>
              <a:custGeom>
                <a:avLst/>
                <a:gdLst>
                  <a:gd name="T0" fmla="*/ 0 w 219"/>
                  <a:gd name="T1" fmla="*/ 219 h 219"/>
                  <a:gd name="T2" fmla="*/ 218 w 219"/>
                  <a:gd name="T3" fmla="*/ 0 h 219"/>
                  <a:gd name="T4" fmla="*/ 219 w 219"/>
                  <a:gd name="T5" fmla="*/ 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9" h="219">
                    <a:moveTo>
                      <a:pt x="0" y="219"/>
                    </a:moveTo>
                    <a:lnTo>
                      <a:pt x="218" y="0"/>
                    </a:lnTo>
                    <a:lnTo>
                      <a:pt x="21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85" name="Freeform 585"/>
              <p:cNvSpPr>
                <a:spLocks/>
              </p:cNvSpPr>
              <p:nvPr/>
            </p:nvSpPr>
            <p:spPr bwMode="auto">
              <a:xfrm>
                <a:off x="4025" y="2377"/>
                <a:ext cx="174" cy="175"/>
              </a:xfrm>
              <a:custGeom>
                <a:avLst/>
                <a:gdLst>
                  <a:gd name="T0" fmla="*/ 0 w 1049"/>
                  <a:gd name="T1" fmla="*/ 1048 h 1048"/>
                  <a:gd name="T2" fmla="*/ 1048 w 1049"/>
                  <a:gd name="T3" fmla="*/ 0 h 1048"/>
                  <a:gd name="T4" fmla="*/ 1049 w 1049"/>
                  <a:gd name="T5" fmla="*/ 0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9" h="1048">
                    <a:moveTo>
                      <a:pt x="0" y="1048"/>
                    </a:moveTo>
                    <a:lnTo>
                      <a:pt x="1048" y="0"/>
                    </a:lnTo>
                    <a:lnTo>
                      <a:pt x="104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86" name="Freeform 586"/>
              <p:cNvSpPr>
                <a:spLocks/>
              </p:cNvSpPr>
              <p:nvPr/>
            </p:nvSpPr>
            <p:spPr bwMode="auto">
              <a:xfrm>
                <a:off x="3889" y="2552"/>
                <a:ext cx="136" cy="136"/>
              </a:xfrm>
              <a:custGeom>
                <a:avLst/>
                <a:gdLst>
                  <a:gd name="T0" fmla="*/ 0 w 815"/>
                  <a:gd name="T1" fmla="*/ 815 h 815"/>
                  <a:gd name="T2" fmla="*/ 814 w 815"/>
                  <a:gd name="T3" fmla="*/ 0 h 815"/>
                  <a:gd name="T4" fmla="*/ 815 w 815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5">
                    <a:moveTo>
                      <a:pt x="0" y="815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87" name="Freeform 587"/>
              <p:cNvSpPr>
                <a:spLocks/>
              </p:cNvSpPr>
              <p:nvPr/>
            </p:nvSpPr>
            <p:spPr bwMode="auto">
              <a:xfrm>
                <a:off x="3817" y="2725"/>
                <a:ext cx="69" cy="69"/>
              </a:xfrm>
              <a:custGeom>
                <a:avLst/>
                <a:gdLst>
                  <a:gd name="T0" fmla="*/ 0 w 411"/>
                  <a:gd name="T1" fmla="*/ 410 h 410"/>
                  <a:gd name="T2" fmla="*/ 410 w 411"/>
                  <a:gd name="T3" fmla="*/ 0 h 410"/>
                  <a:gd name="T4" fmla="*/ 411 w 411"/>
                  <a:gd name="T5" fmla="*/ 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1" h="410">
                    <a:moveTo>
                      <a:pt x="0" y="410"/>
                    </a:moveTo>
                    <a:lnTo>
                      <a:pt x="410" y="0"/>
                    </a:lnTo>
                    <a:lnTo>
                      <a:pt x="41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88" name="Freeform 588"/>
              <p:cNvSpPr>
                <a:spLocks/>
              </p:cNvSpPr>
              <p:nvPr/>
            </p:nvSpPr>
            <p:spPr bwMode="auto">
              <a:xfrm>
                <a:off x="4211" y="2368"/>
                <a:ext cx="31" cy="31"/>
              </a:xfrm>
              <a:custGeom>
                <a:avLst/>
                <a:gdLst>
                  <a:gd name="T0" fmla="*/ 0 w 187"/>
                  <a:gd name="T1" fmla="*/ 186 h 186"/>
                  <a:gd name="T2" fmla="*/ 186 w 187"/>
                  <a:gd name="T3" fmla="*/ 0 h 186"/>
                  <a:gd name="T4" fmla="*/ 187 w 187"/>
                  <a:gd name="T5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6">
                    <a:moveTo>
                      <a:pt x="0" y="186"/>
                    </a:moveTo>
                    <a:lnTo>
                      <a:pt x="186" y="0"/>
                    </a:lnTo>
                    <a:lnTo>
                      <a:pt x="18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89" name="Freeform 589"/>
              <p:cNvSpPr>
                <a:spLocks/>
              </p:cNvSpPr>
              <p:nvPr/>
            </p:nvSpPr>
            <p:spPr bwMode="auto">
              <a:xfrm>
                <a:off x="3885" y="2722"/>
                <a:ext cx="4" cy="3"/>
              </a:xfrm>
              <a:custGeom>
                <a:avLst/>
                <a:gdLst>
                  <a:gd name="T0" fmla="*/ 0 w 18"/>
                  <a:gd name="T1" fmla="*/ 17 h 17"/>
                  <a:gd name="T2" fmla="*/ 17 w 18"/>
                  <a:gd name="T3" fmla="*/ 0 h 17"/>
                  <a:gd name="T4" fmla="*/ 18 w 18"/>
                  <a:gd name="T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" h="17">
                    <a:moveTo>
                      <a:pt x="0" y="17"/>
                    </a:moveTo>
                    <a:lnTo>
                      <a:pt x="17" y="0"/>
                    </a:lnTo>
                    <a:lnTo>
                      <a:pt x="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90" name="Freeform 590"/>
              <p:cNvSpPr>
                <a:spLocks/>
              </p:cNvSpPr>
              <p:nvPr/>
            </p:nvSpPr>
            <p:spPr bwMode="auto">
              <a:xfrm>
                <a:off x="4025" y="2400"/>
                <a:ext cx="186" cy="188"/>
              </a:xfrm>
              <a:custGeom>
                <a:avLst/>
                <a:gdLst>
                  <a:gd name="T0" fmla="*/ 0 w 1121"/>
                  <a:gd name="T1" fmla="*/ 1121 h 1121"/>
                  <a:gd name="T2" fmla="*/ 1120 w 1121"/>
                  <a:gd name="T3" fmla="*/ 0 h 1121"/>
                  <a:gd name="T4" fmla="*/ 1121 w 1121"/>
                  <a:gd name="T5" fmla="*/ 0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1" h="1121">
                    <a:moveTo>
                      <a:pt x="0" y="1121"/>
                    </a:moveTo>
                    <a:lnTo>
                      <a:pt x="1120" y="0"/>
                    </a:lnTo>
                    <a:lnTo>
                      <a:pt x="112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91" name="Freeform 591"/>
              <p:cNvSpPr>
                <a:spLocks/>
              </p:cNvSpPr>
              <p:nvPr/>
            </p:nvSpPr>
            <p:spPr bwMode="auto">
              <a:xfrm>
                <a:off x="3889" y="2586"/>
                <a:ext cx="136" cy="136"/>
              </a:xfrm>
              <a:custGeom>
                <a:avLst/>
                <a:gdLst>
                  <a:gd name="T0" fmla="*/ 0 w 815"/>
                  <a:gd name="T1" fmla="*/ 814 h 814"/>
                  <a:gd name="T2" fmla="*/ 814 w 815"/>
                  <a:gd name="T3" fmla="*/ 0 h 814"/>
                  <a:gd name="T4" fmla="*/ 815 w 815"/>
                  <a:gd name="T5" fmla="*/ 0 h 8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4">
                    <a:moveTo>
                      <a:pt x="0" y="814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92" name="Freeform 592"/>
              <p:cNvSpPr>
                <a:spLocks/>
              </p:cNvSpPr>
              <p:nvPr/>
            </p:nvSpPr>
            <p:spPr bwMode="auto">
              <a:xfrm>
                <a:off x="3843" y="2756"/>
                <a:ext cx="46" cy="45"/>
              </a:xfrm>
              <a:custGeom>
                <a:avLst/>
                <a:gdLst>
                  <a:gd name="T0" fmla="*/ 0 w 270"/>
                  <a:gd name="T1" fmla="*/ 271 h 271"/>
                  <a:gd name="T2" fmla="*/ 269 w 270"/>
                  <a:gd name="T3" fmla="*/ 0 h 271"/>
                  <a:gd name="T4" fmla="*/ 270 w 270"/>
                  <a:gd name="T5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0" h="271">
                    <a:moveTo>
                      <a:pt x="0" y="271"/>
                    </a:moveTo>
                    <a:lnTo>
                      <a:pt x="269" y="0"/>
                    </a:lnTo>
                    <a:lnTo>
                      <a:pt x="27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93" name="Freeform 593"/>
              <p:cNvSpPr>
                <a:spLocks/>
              </p:cNvSpPr>
              <p:nvPr/>
            </p:nvSpPr>
            <p:spPr bwMode="auto">
              <a:xfrm>
                <a:off x="4223" y="2390"/>
                <a:ext cx="31" cy="31"/>
              </a:xfrm>
              <a:custGeom>
                <a:avLst/>
                <a:gdLst>
                  <a:gd name="T0" fmla="*/ 0 w 187"/>
                  <a:gd name="T1" fmla="*/ 185 h 185"/>
                  <a:gd name="T2" fmla="*/ 185 w 187"/>
                  <a:gd name="T3" fmla="*/ 0 h 185"/>
                  <a:gd name="T4" fmla="*/ 187 w 187"/>
                  <a:gd name="T5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5">
                    <a:moveTo>
                      <a:pt x="0" y="185"/>
                    </a:moveTo>
                    <a:lnTo>
                      <a:pt x="185" y="0"/>
                    </a:lnTo>
                    <a:lnTo>
                      <a:pt x="18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94" name="Freeform 594"/>
              <p:cNvSpPr>
                <a:spLocks/>
              </p:cNvSpPr>
              <p:nvPr/>
            </p:nvSpPr>
            <p:spPr bwMode="auto">
              <a:xfrm>
                <a:off x="3889" y="2725"/>
                <a:ext cx="31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95" name="Freeform 595"/>
              <p:cNvSpPr>
                <a:spLocks/>
              </p:cNvSpPr>
              <p:nvPr/>
            </p:nvSpPr>
            <p:spPr bwMode="auto">
              <a:xfrm>
                <a:off x="4025" y="2421"/>
                <a:ext cx="198" cy="199"/>
              </a:xfrm>
              <a:custGeom>
                <a:avLst/>
                <a:gdLst>
                  <a:gd name="T0" fmla="*/ 0 w 1195"/>
                  <a:gd name="T1" fmla="*/ 1194 h 1194"/>
                  <a:gd name="T2" fmla="*/ 1194 w 1195"/>
                  <a:gd name="T3" fmla="*/ 0 h 1194"/>
                  <a:gd name="T4" fmla="*/ 1195 w 1195"/>
                  <a:gd name="T5" fmla="*/ 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95" h="1194">
                    <a:moveTo>
                      <a:pt x="0" y="1194"/>
                    </a:moveTo>
                    <a:lnTo>
                      <a:pt x="1194" y="0"/>
                    </a:lnTo>
                    <a:lnTo>
                      <a:pt x="119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96" name="Freeform 596"/>
              <p:cNvSpPr>
                <a:spLocks/>
              </p:cNvSpPr>
              <p:nvPr/>
            </p:nvSpPr>
            <p:spPr bwMode="auto">
              <a:xfrm>
                <a:off x="3920" y="2620"/>
                <a:ext cx="105" cy="105"/>
              </a:xfrm>
              <a:custGeom>
                <a:avLst/>
                <a:gdLst>
                  <a:gd name="T0" fmla="*/ 0 w 632"/>
                  <a:gd name="T1" fmla="*/ 633 h 633"/>
                  <a:gd name="T2" fmla="*/ 631 w 632"/>
                  <a:gd name="T3" fmla="*/ 0 h 633"/>
                  <a:gd name="T4" fmla="*/ 632 w 632"/>
                  <a:gd name="T5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2" h="633">
                    <a:moveTo>
                      <a:pt x="0" y="633"/>
                    </a:moveTo>
                    <a:lnTo>
                      <a:pt x="631" y="0"/>
                    </a:lnTo>
                    <a:lnTo>
                      <a:pt x="63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97" name="Freeform 597"/>
              <p:cNvSpPr>
                <a:spLocks/>
              </p:cNvSpPr>
              <p:nvPr/>
            </p:nvSpPr>
            <p:spPr bwMode="auto">
              <a:xfrm>
                <a:off x="3869" y="2790"/>
                <a:ext cx="20" cy="18"/>
              </a:xfrm>
              <a:custGeom>
                <a:avLst/>
                <a:gdLst>
                  <a:gd name="T0" fmla="*/ 0 w 114"/>
                  <a:gd name="T1" fmla="*/ 114 h 114"/>
                  <a:gd name="T2" fmla="*/ 113 w 114"/>
                  <a:gd name="T3" fmla="*/ 0 h 114"/>
                  <a:gd name="T4" fmla="*/ 114 w 114"/>
                  <a:gd name="T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4" h="114">
                    <a:moveTo>
                      <a:pt x="0" y="114"/>
                    </a:moveTo>
                    <a:lnTo>
                      <a:pt x="113" y="0"/>
                    </a:lnTo>
                    <a:lnTo>
                      <a:pt x="11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98" name="Freeform 598"/>
              <p:cNvSpPr>
                <a:spLocks/>
              </p:cNvSpPr>
              <p:nvPr/>
            </p:nvSpPr>
            <p:spPr bwMode="auto">
              <a:xfrm>
                <a:off x="4235" y="2412"/>
                <a:ext cx="30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799" name="Freeform 599"/>
              <p:cNvSpPr>
                <a:spLocks/>
              </p:cNvSpPr>
              <p:nvPr/>
            </p:nvSpPr>
            <p:spPr bwMode="auto">
              <a:xfrm>
                <a:off x="3889" y="2727"/>
                <a:ext cx="62" cy="62"/>
              </a:xfrm>
              <a:custGeom>
                <a:avLst/>
                <a:gdLst>
                  <a:gd name="T0" fmla="*/ 0 w 379"/>
                  <a:gd name="T1" fmla="*/ 377 h 377"/>
                  <a:gd name="T2" fmla="*/ 378 w 379"/>
                  <a:gd name="T3" fmla="*/ 0 h 377"/>
                  <a:gd name="T4" fmla="*/ 379 w 379"/>
                  <a:gd name="T5" fmla="*/ 0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9" h="377">
                    <a:moveTo>
                      <a:pt x="0" y="377"/>
                    </a:moveTo>
                    <a:lnTo>
                      <a:pt x="378" y="0"/>
                    </a:lnTo>
                    <a:lnTo>
                      <a:pt x="37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00" name="Freeform 600"/>
              <p:cNvSpPr>
                <a:spLocks/>
              </p:cNvSpPr>
              <p:nvPr/>
            </p:nvSpPr>
            <p:spPr bwMode="auto">
              <a:xfrm>
                <a:off x="4025" y="2443"/>
                <a:ext cx="210" cy="211"/>
              </a:xfrm>
              <a:custGeom>
                <a:avLst/>
                <a:gdLst>
                  <a:gd name="T0" fmla="*/ 0 w 1267"/>
                  <a:gd name="T1" fmla="*/ 1268 h 1268"/>
                  <a:gd name="T2" fmla="*/ 1266 w 1267"/>
                  <a:gd name="T3" fmla="*/ 0 h 1268"/>
                  <a:gd name="T4" fmla="*/ 1267 w 1267"/>
                  <a:gd name="T5" fmla="*/ 0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7" h="1268">
                    <a:moveTo>
                      <a:pt x="0" y="1268"/>
                    </a:moveTo>
                    <a:lnTo>
                      <a:pt x="1266" y="0"/>
                    </a:lnTo>
                    <a:lnTo>
                      <a:pt x="12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01" name="Freeform 601"/>
              <p:cNvSpPr>
                <a:spLocks/>
              </p:cNvSpPr>
              <p:nvPr/>
            </p:nvSpPr>
            <p:spPr bwMode="auto">
              <a:xfrm>
                <a:off x="3951" y="2654"/>
                <a:ext cx="74" cy="75"/>
              </a:xfrm>
              <a:custGeom>
                <a:avLst/>
                <a:gdLst>
                  <a:gd name="T0" fmla="*/ 0 w 436"/>
                  <a:gd name="T1" fmla="*/ 436 h 436"/>
                  <a:gd name="T2" fmla="*/ 435 w 436"/>
                  <a:gd name="T3" fmla="*/ 0 h 436"/>
                  <a:gd name="T4" fmla="*/ 436 w 436"/>
                  <a:gd name="T5" fmla="*/ 0 h 4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6" h="436">
                    <a:moveTo>
                      <a:pt x="0" y="436"/>
                    </a:moveTo>
                    <a:lnTo>
                      <a:pt x="435" y="0"/>
                    </a:lnTo>
                    <a:lnTo>
                      <a:pt x="43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02" name="Freeform 602"/>
              <p:cNvSpPr>
                <a:spLocks/>
              </p:cNvSpPr>
              <p:nvPr/>
            </p:nvSpPr>
            <p:spPr bwMode="auto">
              <a:xfrm>
                <a:off x="3896" y="2729"/>
                <a:ext cx="89" cy="89"/>
              </a:xfrm>
              <a:custGeom>
                <a:avLst/>
                <a:gdLst>
                  <a:gd name="T0" fmla="*/ 0 w 527"/>
                  <a:gd name="T1" fmla="*/ 527 h 527"/>
                  <a:gd name="T2" fmla="*/ 526 w 527"/>
                  <a:gd name="T3" fmla="*/ 0 h 527"/>
                  <a:gd name="T4" fmla="*/ 527 w 527"/>
                  <a:gd name="T5" fmla="*/ 0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" h="527">
                    <a:moveTo>
                      <a:pt x="0" y="527"/>
                    </a:moveTo>
                    <a:lnTo>
                      <a:pt x="526" y="0"/>
                    </a:lnTo>
                    <a:lnTo>
                      <a:pt x="52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03" name="Freeform 603"/>
              <p:cNvSpPr>
                <a:spLocks/>
              </p:cNvSpPr>
              <p:nvPr/>
            </p:nvSpPr>
            <p:spPr bwMode="auto">
              <a:xfrm>
                <a:off x="4247" y="2436"/>
                <a:ext cx="30" cy="28"/>
              </a:xfrm>
              <a:custGeom>
                <a:avLst/>
                <a:gdLst>
                  <a:gd name="T0" fmla="*/ 0 w 173"/>
                  <a:gd name="T1" fmla="*/ 173 h 173"/>
                  <a:gd name="T2" fmla="*/ 172 w 173"/>
                  <a:gd name="T3" fmla="*/ 0 h 173"/>
                  <a:gd name="T4" fmla="*/ 173 w 173"/>
                  <a:gd name="T5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" h="173">
                    <a:moveTo>
                      <a:pt x="0" y="173"/>
                    </a:moveTo>
                    <a:lnTo>
                      <a:pt x="172" y="0"/>
                    </a:lnTo>
                    <a:lnTo>
                      <a:pt x="17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04" name="Freeform 604"/>
              <p:cNvSpPr>
                <a:spLocks/>
              </p:cNvSpPr>
              <p:nvPr/>
            </p:nvSpPr>
            <p:spPr bwMode="auto">
              <a:xfrm>
                <a:off x="3983" y="2465"/>
                <a:ext cx="264" cy="264"/>
              </a:xfrm>
              <a:custGeom>
                <a:avLst/>
                <a:gdLst>
                  <a:gd name="T0" fmla="*/ 0 w 1583"/>
                  <a:gd name="T1" fmla="*/ 1583 h 1583"/>
                  <a:gd name="T2" fmla="*/ 243 w 1583"/>
                  <a:gd name="T3" fmla="*/ 1340 h 1583"/>
                  <a:gd name="T4" fmla="*/ 1582 w 1583"/>
                  <a:gd name="T5" fmla="*/ 0 h 1583"/>
                  <a:gd name="T6" fmla="*/ 1583 w 1583"/>
                  <a:gd name="T7" fmla="*/ 0 h 15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83" h="1583">
                    <a:moveTo>
                      <a:pt x="0" y="1583"/>
                    </a:moveTo>
                    <a:lnTo>
                      <a:pt x="243" y="1340"/>
                    </a:lnTo>
                    <a:lnTo>
                      <a:pt x="1582" y="0"/>
                    </a:lnTo>
                    <a:lnTo>
                      <a:pt x="158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05" name="Freeform 605"/>
              <p:cNvSpPr>
                <a:spLocks/>
              </p:cNvSpPr>
              <p:nvPr/>
            </p:nvSpPr>
            <p:spPr bwMode="auto">
              <a:xfrm>
                <a:off x="3921" y="2730"/>
                <a:ext cx="94" cy="95"/>
              </a:xfrm>
              <a:custGeom>
                <a:avLst/>
                <a:gdLst>
                  <a:gd name="T0" fmla="*/ 0 w 562"/>
                  <a:gd name="T1" fmla="*/ 561 h 561"/>
                  <a:gd name="T2" fmla="*/ 560 w 562"/>
                  <a:gd name="T3" fmla="*/ 0 h 561"/>
                  <a:gd name="T4" fmla="*/ 562 w 562"/>
                  <a:gd name="T5" fmla="*/ 0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2" h="561">
                    <a:moveTo>
                      <a:pt x="0" y="561"/>
                    </a:moveTo>
                    <a:lnTo>
                      <a:pt x="560" y="0"/>
                    </a:lnTo>
                    <a:lnTo>
                      <a:pt x="56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06" name="Freeform 606"/>
              <p:cNvSpPr>
                <a:spLocks/>
              </p:cNvSpPr>
              <p:nvPr/>
            </p:nvSpPr>
            <p:spPr bwMode="auto">
              <a:xfrm>
                <a:off x="4259" y="2460"/>
                <a:ext cx="27" cy="25"/>
              </a:xfrm>
              <a:custGeom>
                <a:avLst/>
                <a:gdLst>
                  <a:gd name="T0" fmla="*/ 0 w 161"/>
                  <a:gd name="T1" fmla="*/ 160 h 160"/>
                  <a:gd name="T2" fmla="*/ 160 w 161"/>
                  <a:gd name="T3" fmla="*/ 0 h 160"/>
                  <a:gd name="T4" fmla="*/ 161 w 16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1" h="160">
                    <a:moveTo>
                      <a:pt x="0" y="160"/>
                    </a:moveTo>
                    <a:lnTo>
                      <a:pt x="160" y="0"/>
                    </a:lnTo>
                    <a:lnTo>
                      <a:pt x="16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07" name="Freeform 607"/>
              <p:cNvSpPr>
                <a:spLocks/>
              </p:cNvSpPr>
              <p:nvPr/>
            </p:nvSpPr>
            <p:spPr bwMode="auto">
              <a:xfrm>
                <a:off x="4015" y="2486"/>
                <a:ext cx="244" cy="246"/>
              </a:xfrm>
              <a:custGeom>
                <a:avLst/>
                <a:gdLst>
                  <a:gd name="T0" fmla="*/ 0 w 1467"/>
                  <a:gd name="T1" fmla="*/ 1466 h 1466"/>
                  <a:gd name="T2" fmla="*/ 52 w 1467"/>
                  <a:gd name="T3" fmla="*/ 1414 h 1466"/>
                  <a:gd name="T4" fmla="*/ 1465 w 1467"/>
                  <a:gd name="T5" fmla="*/ 0 h 1466"/>
                  <a:gd name="T6" fmla="*/ 1467 w 1467"/>
                  <a:gd name="T7" fmla="*/ 0 h 1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67" h="1466">
                    <a:moveTo>
                      <a:pt x="0" y="1466"/>
                    </a:moveTo>
                    <a:lnTo>
                      <a:pt x="52" y="1414"/>
                    </a:lnTo>
                    <a:lnTo>
                      <a:pt x="1465" y="0"/>
                    </a:lnTo>
                    <a:lnTo>
                      <a:pt x="14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08" name="Freeform 608"/>
              <p:cNvSpPr>
                <a:spLocks/>
              </p:cNvSpPr>
              <p:nvPr/>
            </p:nvSpPr>
            <p:spPr bwMode="auto">
              <a:xfrm>
                <a:off x="3947" y="2756"/>
                <a:ext cx="78" cy="76"/>
              </a:xfrm>
              <a:custGeom>
                <a:avLst/>
                <a:gdLst>
                  <a:gd name="T0" fmla="*/ 0 w 457"/>
                  <a:gd name="T1" fmla="*/ 456 h 456"/>
                  <a:gd name="T2" fmla="*/ 456 w 457"/>
                  <a:gd name="T3" fmla="*/ 0 h 456"/>
                  <a:gd name="T4" fmla="*/ 457 w 457"/>
                  <a:gd name="T5" fmla="*/ 0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7" h="456">
                    <a:moveTo>
                      <a:pt x="0" y="456"/>
                    </a:moveTo>
                    <a:lnTo>
                      <a:pt x="456" y="0"/>
                    </a:lnTo>
                    <a:lnTo>
                      <a:pt x="45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09" name="Freeform 609"/>
              <p:cNvSpPr>
                <a:spLocks/>
              </p:cNvSpPr>
              <p:nvPr/>
            </p:nvSpPr>
            <p:spPr bwMode="auto">
              <a:xfrm>
                <a:off x="4271" y="2484"/>
                <a:ext cx="24" cy="24"/>
              </a:xfrm>
              <a:custGeom>
                <a:avLst/>
                <a:gdLst>
                  <a:gd name="T0" fmla="*/ 0 w 146"/>
                  <a:gd name="T1" fmla="*/ 146 h 146"/>
                  <a:gd name="T2" fmla="*/ 145 w 146"/>
                  <a:gd name="T3" fmla="*/ 0 h 146"/>
                  <a:gd name="T4" fmla="*/ 146 w 146"/>
                  <a:gd name="T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6" h="146">
                    <a:moveTo>
                      <a:pt x="0" y="146"/>
                    </a:moveTo>
                    <a:lnTo>
                      <a:pt x="145" y="0"/>
                    </a:lnTo>
                    <a:lnTo>
                      <a:pt x="14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10" name="Freeform 610"/>
              <p:cNvSpPr>
                <a:spLocks/>
              </p:cNvSpPr>
              <p:nvPr/>
            </p:nvSpPr>
            <p:spPr bwMode="auto">
              <a:xfrm>
                <a:off x="4025" y="2508"/>
                <a:ext cx="246" cy="247"/>
              </a:xfrm>
              <a:custGeom>
                <a:avLst/>
                <a:gdLst>
                  <a:gd name="T0" fmla="*/ 0 w 1487"/>
                  <a:gd name="T1" fmla="*/ 1486 h 1486"/>
                  <a:gd name="T2" fmla="*/ 135 w 1487"/>
                  <a:gd name="T3" fmla="*/ 1351 h 1486"/>
                  <a:gd name="T4" fmla="*/ 1486 w 1487"/>
                  <a:gd name="T5" fmla="*/ 0 h 1486"/>
                  <a:gd name="T6" fmla="*/ 1487 w 1487"/>
                  <a:gd name="T7" fmla="*/ 0 h 1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7" h="1486">
                    <a:moveTo>
                      <a:pt x="0" y="1486"/>
                    </a:moveTo>
                    <a:lnTo>
                      <a:pt x="135" y="1351"/>
                    </a:lnTo>
                    <a:lnTo>
                      <a:pt x="1486" y="0"/>
                    </a:lnTo>
                    <a:lnTo>
                      <a:pt x="148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11" name="Freeform 611"/>
              <p:cNvSpPr>
                <a:spLocks/>
              </p:cNvSpPr>
              <p:nvPr/>
            </p:nvSpPr>
            <p:spPr bwMode="auto">
              <a:xfrm>
                <a:off x="3974" y="2790"/>
                <a:ext cx="51" cy="52"/>
              </a:xfrm>
              <a:custGeom>
                <a:avLst/>
                <a:gdLst>
                  <a:gd name="T0" fmla="*/ 0 w 299"/>
                  <a:gd name="T1" fmla="*/ 299 h 299"/>
                  <a:gd name="T2" fmla="*/ 298 w 299"/>
                  <a:gd name="T3" fmla="*/ 0 h 299"/>
                  <a:gd name="T4" fmla="*/ 299 w 299"/>
                  <a:gd name="T5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9" h="299">
                    <a:moveTo>
                      <a:pt x="0" y="299"/>
                    </a:moveTo>
                    <a:lnTo>
                      <a:pt x="298" y="0"/>
                    </a:lnTo>
                    <a:lnTo>
                      <a:pt x="29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12" name="Freeform 612"/>
              <p:cNvSpPr>
                <a:spLocks/>
              </p:cNvSpPr>
              <p:nvPr/>
            </p:nvSpPr>
            <p:spPr bwMode="auto">
              <a:xfrm>
                <a:off x="4283" y="2508"/>
                <a:ext cx="22" cy="21"/>
              </a:xfrm>
              <a:custGeom>
                <a:avLst/>
                <a:gdLst>
                  <a:gd name="T0" fmla="*/ 0 w 133"/>
                  <a:gd name="T1" fmla="*/ 132 h 132"/>
                  <a:gd name="T2" fmla="*/ 131 w 133"/>
                  <a:gd name="T3" fmla="*/ 0 h 132"/>
                  <a:gd name="T4" fmla="*/ 133 w 133"/>
                  <a:gd name="T5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3" h="132">
                    <a:moveTo>
                      <a:pt x="0" y="132"/>
                    </a:moveTo>
                    <a:lnTo>
                      <a:pt x="131" y="0"/>
                    </a:lnTo>
                    <a:lnTo>
                      <a:pt x="13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13" name="Freeform 613"/>
              <p:cNvSpPr>
                <a:spLocks/>
              </p:cNvSpPr>
              <p:nvPr/>
            </p:nvSpPr>
            <p:spPr bwMode="auto">
              <a:xfrm>
                <a:off x="4025" y="2530"/>
                <a:ext cx="260" cy="260"/>
              </a:xfrm>
              <a:custGeom>
                <a:avLst/>
                <a:gdLst>
                  <a:gd name="T0" fmla="*/ 0 w 1561"/>
                  <a:gd name="T1" fmla="*/ 1561 h 1561"/>
                  <a:gd name="T2" fmla="*/ 321 w 1561"/>
                  <a:gd name="T3" fmla="*/ 1240 h 1561"/>
                  <a:gd name="T4" fmla="*/ 1560 w 1561"/>
                  <a:gd name="T5" fmla="*/ 0 h 1561"/>
                  <a:gd name="T6" fmla="*/ 1561 w 1561"/>
                  <a:gd name="T7" fmla="*/ 0 h 1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61" h="1561">
                    <a:moveTo>
                      <a:pt x="0" y="1561"/>
                    </a:moveTo>
                    <a:lnTo>
                      <a:pt x="321" y="1240"/>
                    </a:lnTo>
                    <a:lnTo>
                      <a:pt x="1560" y="0"/>
                    </a:lnTo>
                    <a:lnTo>
                      <a:pt x="156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14" name="Freeform 614"/>
              <p:cNvSpPr>
                <a:spLocks/>
              </p:cNvSpPr>
              <p:nvPr/>
            </p:nvSpPr>
            <p:spPr bwMode="auto">
              <a:xfrm>
                <a:off x="4001" y="2825"/>
                <a:ext cx="24" cy="24"/>
              </a:xfrm>
              <a:custGeom>
                <a:avLst/>
                <a:gdLst>
                  <a:gd name="T0" fmla="*/ 0 w 143"/>
                  <a:gd name="T1" fmla="*/ 141 h 141"/>
                  <a:gd name="T2" fmla="*/ 142 w 143"/>
                  <a:gd name="T3" fmla="*/ 0 h 141"/>
                  <a:gd name="T4" fmla="*/ 143 w 143"/>
                  <a:gd name="T5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141">
                    <a:moveTo>
                      <a:pt x="0" y="141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15" name="Freeform 615"/>
              <p:cNvSpPr>
                <a:spLocks/>
              </p:cNvSpPr>
              <p:nvPr/>
            </p:nvSpPr>
            <p:spPr bwMode="auto">
              <a:xfrm>
                <a:off x="4296" y="2532"/>
                <a:ext cx="20" cy="18"/>
              </a:xfrm>
              <a:custGeom>
                <a:avLst/>
                <a:gdLst>
                  <a:gd name="T0" fmla="*/ 0 w 120"/>
                  <a:gd name="T1" fmla="*/ 118 h 118"/>
                  <a:gd name="T2" fmla="*/ 119 w 120"/>
                  <a:gd name="T3" fmla="*/ 0 h 118"/>
                  <a:gd name="T4" fmla="*/ 120 w 120"/>
                  <a:gd name="T5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0" h="118">
                    <a:moveTo>
                      <a:pt x="0" y="118"/>
                    </a:moveTo>
                    <a:lnTo>
                      <a:pt x="119" y="0"/>
                    </a:lnTo>
                    <a:lnTo>
                      <a:pt x="1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16" name="Freeform 616"/>
              <p:cNvSpPr>
                <a:spLocks/>
              </p:cNvSpPr>
              <p:nvPr/>
            </p:nvSpPr>
            <p:spPr bwMode="auto">
              <a:xfrm>
                <a:off x="4025" y="2551"/>
                <a:ext cx="271" cy="274"/>
              </a:xfrm>
              <a:custGeom>
                <a:avLst/>
                <a:gdLst>
                  <a:gd name="T0" fmla="*/ 0 w 1633"/>
                  <a:gd name="T1" fmla="*/ 1635 h 1635"/>
                  <a:gd name="T2" fmla="*/ 503 w 1633"/>
                  <a:gd name="T3" fmla="*/ 1131 h 1635"/>
                  <a:gd name="T4" fmla="*/ 1632 w 1633"/>
                  <a:gd name="T5" fmla="*/ 0 h 1635"/>
                  <a:gd name="T6" fmla="*/ 1633 w 1633"/>
                  <a:gd name="T7" fmla="*/ 0 h 1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33" h="1635">
                    <a:moveTo>
                      <a:pt x="0" y="1635"/>
                    </a:moveTo>
                    <a:lnTo>
                      <a:pt x="503" y="1131"/>
                    </a:lnTo>
                    <a:lnTo>
                      <a:pt x="1632" y="0"/>
                    </a:lnTo>
                    <a:lnTo>
                      <a:pt x="163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17" name="Freeform 617"/>
              <p:cNvSpPr>
                <a:spLocks/>
              </p:cNvSpPr>
              <p:nvPr/>
            </p:nvSpPr>
            <p:spPr bwMode="auto">
              <a:xfrm>
                <a:off x="4026" y="2744"/>
                <a:ext cx="110" cy="110"/>
              </a:xfrm>
              <a:custGeom>
                <a:avLst/>
                <a:gdLst>
                  <a:gd name="T0" fmla="*/ 0 w 669"/>
                  <a:gd name="T1" fmla="*/ 668 h 668"/>
                  <a:gd name="T2" fmla="*/ 667 w 669"/>
                  <a:gd name="T3" fmla="*/ 0 h 668"/>
                  <a:gd name="T4" fmla="*/ 669 w 669"/>
                  <a:gd name="T5" fmla="*/ 0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69" h="668">
                    <a:moveTo>
                      <a:pt x="0" y="668"/>
                    </a:moveTo>
                    <a:lnTo>
                      <a:pt x="667" y="0"/>
                    </a:lnTo>
                    <a:lnTo>
                      <a:pt x="66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18" name="Freeform 618"/>
              <p:cNvSpPr>
                <a:spLocks/>
              </p:cNvSpPr>
              <p:nvPr/>
            </p:nvSpPr>
            <p:spPr bwMode="auto">
              <a:xfrm>
                <a:off x="4308" y="2555"/>
                <a:ext cx="19" cy="18"/>
              </a:xfrm>
              <a:custGeom>
                <a:avLst/>
                <a:gdLst>
                  <a:gd name="T0" fmla="*/ 0 w 107"/>
                  <a:gd name="T1" fmla="*/ 106 h 106"/>
                  <a:gd name="T2" fmla="*/ 106 w 107"/>
                  <a:gd name="T3" fmla="*/ 0 h 106"/>
                  <a:gd name="T4" fmla="*/ 107 w 107"/>
                  <a:gd name="T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7" h="106">
                    <a:moveTo>
                      <a:pt x="0" y="106"/>
                    </a:moveTo>
                    <a:lnTo>
                      <a:pt x="106" y="0"/>
                    </a:lnTo>
                    <a:lnTo>
                      <a:pt x="10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19" name="Freeform 619"/>
              <p:cNvSpPr>
                <a:spLocks/>
              </p:cNvSpPr>
              <p:nvPr/>
            </p:nvSpPr>
            <p:spPr bwMode="auto">
              <a:xfrm>
                <a:off x="4137" y="2573"/>
                <a:ext cx="171" cy="171"/>
              </a:xfrm>
              <a:custGeom>
                <a:avLst/>
                <a:gdLst>
                  <a:gd name="T0" fmla="*/ 0 w 1024"/>
                  <a:gd name="T1" fmla="*/ 1024 h 1024"/>
                  <a:gd name="T2" fmla="*/ 1023 w 1024"/>
                  <a:gd name="T3" fmla="*/ 0 h 1024"/>
                  <a:gd name="T4" fmla="*/ 1024 w 1024"/>
                  <a:gd name="T5" fmla="*/ 0 h 10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24" h="1024">
                    <a:moveTo>
                      <a:pt x="0" y="1024"/>
                    </a:moveTo>
                    <a:lnTo>
                      <a:pt x="1023" y="0"/>
                    </a:lnTo>
                    <a:lnTo>
                      <a:pt x="102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20" name="Freeform 620"/>
              <p:cNvSpPr>
                <a:spLocks/>
              </p:cNvSpPr>
              <p:nvPr/>
            </p:nvSpPr>
            <p:spPr bwMode="auto">
              <a:xfrm>
                <a:off x="4052" y="2749"/>
                <a:ext cx="116" cy="116"/>
              </a:xfrm>
              <a:custGeom>
                <a:avLst/>
                <a:gdLst>
                  <a:gd name="T0" fmla="*/ 0 w 688"/>
                  <a:gd name="T1" fmla="*/ 688 h 688"/>
                  <a:gd name="T2" fmla="*/ 687 w 688"/>
                  <a:gd name="T3" fmla="*/ 0 h 688"/>
                  <a:gd name="T4" fmla="*/ 688 w 688"/>
                  <a:gd name="T5" fmla="*/ 0 h 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8" h="688">
                    <a:moveTo>
                      <a:pt x="0" y="688"/>
                    </a:moveTo>
                    <a:lnTo>
                      <a:pt x="687" y="0"/>
                    </a:lnTo>
                    <a:lnTo>
                      <a:pt x="68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21" name="Freeform 621"/>
              <p:cNvSpPr>
                <a:spLocks/>
              </p:cNvSpPr>
              <p:nvPr/>
            </p:nvSpPr>
            <p:spPr bwMode="auto">
              <a:xfrm>
                <a:off x="4320" y="2579"/>
                <a:ext cx="15" cy="16"/>
              </a:xfrm>
              <a:custGeom>
                <a:avLst/>
                <a:gdLst>
                  <a:gd name="T0" fmla="*/ 0 w 96"/>
                  <a:gd name="T1" fmla="*/ 95 h 95"/>
                  <a:gd name="T2" fmla="*/ 95 w 96"/>
                  <a:gd name="T3" fmla="*/ 0 h 95"/>
                  <a:gd name="T4" fmla="*/ 96 w 96"/>
                  <a:gd name="T5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95">
                    <a:moveTo>
                      <a:pt x="0" y="95"/>
                    </a:moveTo>
                    <a:lnTo>
                      <a:pt x="95" y="0"/>
                    </a:lnTo>
                    <a:lnTo>
                      <a:pt x="9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22" name="Freeform 622"/>
              <p:cNvSpPr>
                <a:spLocks/>
              </p:cNvSpPr>
              <p:nvPr/>
            </p:nvSpPr>
            <p:spPr bwMode="auto">
              <a:xfrm>
                <a:off x="4166" y="2595"/>
                <a:ext cx="154" cy="154"/>
              </a:xfrm>
              <a:custGeom>
                <a:avLst/>
                <a:gdLst>
                  <a:gd name="T0" fmla="*/ 0 w 920"/>
                  <a:gd name="T1" fmla="*/ 919 h 919"/>
                  <a:gd name="T2" fmla="*/ 919 w 920"/>
                  <a:gd name="T3" fmla="*/ 0 h 919"/>
                  <a:gd name="T4" fmla="*/ 920 w 920"/>
                  <a:gd name="T5" fmla="*/ 0 h 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0" h="919">
                    <a:moveTo>
                      <a:pt x="0" y="919"/>
                    </a:moveTo>
                    <a:lnTo>
                      <a:pt x="919" y="0"/>
                    </a:lnTo>
                    <a:lnTo>
                      <a:pt x="9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23" name="Freeform 623"/>
              <p:cNvSpPr>
                <a:spLocks/>
              </p:cNvSpPr>
              <p:nvPr/>
            </p:nvSpPr>
            <p:spPr bwMode="auto">
              <a:xfrm>
                <a:off x="4079" y="2753"/>
                <a:ext cx="117" cy="120"/>
              </a:xfrm>
              <a:custGeom>
                <a:avLst/>
                <a:gdLst>
                  <a:gd name="T0" fmla="*/ 0 w 706"/>
                  <a:gd name="T1" fmla="*/ 705 h 705"/>
                  <a:gd name="T2" fmla="*/ 705 w 706"/>
                  <a:gd name="T3" fmla="*/ 0 h 705"/>
                  <a:gd name="T4" fmla="*/ 706 w 706"/>
                  <a:gd name="T5" fmla="*/ 0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06" h="705">
                    <a:moveTo>
                      <a:pt x="0" y="705"/>
                    </a:moveTo>
                    <a:lnTo>
                      <a:pt x="705" y="0"/>
                    </a:lnTo>
                    <a:lnTo>
                      <a:pt x="70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24" name="Freeform 624"/>
              <p:cNvSpPr>
                <a:spLocks/>
              </p:cNvSpPr>
              <p:nvPr/>
            </p:nvSpPr>
            <p:spPr bwMode="auto">
              <a:xfrm>
                <a:off x="4332" y="2603"/>
                <a:ext cx="13" cy="14"/>
              </a:xfrm>
              <a:custGeom>
                <a:avLst/>
                <a:gdLst>
                  <a:gd name="T0" fmla="*/ 0 w 82"/>
                  <a:gd name="T1" fmla="*/ 82 h 82"/>
                  <a:gd name="T2" fmla="*/ 81 w 82"/>
                  <a:gd name="T3" fmla="*/ 0 h 82"/>
                  <a:gd name="T4" fmla="*/ 82 w 82"/>
                  <a:gd name="T5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" h="82">
                    <a:moveTo>
                      <a:pt x="0" y="82"/>
                    </a:moveTo>
                    <a:lnTo>
                      <a:pt x="81" y="0"/>
                    </a:lnTo>
                    <a:lnTo>
                      <a:pt x="8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25" name="Freeform 625"/>
              <p:cNvSpPr>
                <a:spLocks/>
              </p:cNvSpPr>
              <p:nvPr/>
            </p:nvSpPr>
            <p:spPr bwMode="auto">
              <a:xfrm>
                <a:off x="4195" y="2617"/>
                <a:ext cx="137" cy="136"/>
              </a:xfrm>
              <a:custGeom>
                <a:avLst/>
                <a:gdLst>
                  <a:gd name="T0" fmla="*/ 0 w 819"/>
                  <a:gd name="T1" fmla="*/ 818 h 818"/>
                  <a:gd name="T2" fmla="*/ 818 w 819"/>
                  <a:gd name="T3" fmla="*/ 0 h 818"/>
                  <a:gd name="T4" fmla="*/ 819 w 819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8">
                    <a:moveTo>
                      <a:pt x="0" y="818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26" name="Freeform 626"/>
              <p:cNvSpPr>
                <a:spLocks/>
              </p:cNvSpPr>
              <p:nvPr/>
            </p:nvSpPr>
            <p:spPr bwMode="auto">
              <a:xfrm>
                <a:off x="4104" y="2760"/>
                <a:ext cx="120" cy="119"/>
              </a:xfrm>
              <a:custGeom>
                <a:avLst/>
                <a:gdLst>
                  <a:gd name="T0" fmla="*/ 0 w 718"/>
                  <a:gd name="T1" fmla="*/ 718 h 718"/>
                  <a:gd name="T2" fmla="*/ 717 w 718"/>
                  <a:gd name="T3" fmla="*/ 0 h 718"/>
                  <a:gd name="T4" fmla="*/ 718 w 718"/>
                  <a:gd name="T5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8" h="718">
                    <a:moveTo>
                      <a:pt x="0" y="718"/>
                    </a:moveTo>
                    <a:lnTo>
                      <a:pt x="717" y="0"/>
                    </a:lnTo>
                    <a:lnTo>
                      <a:pt x="7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27" name="Freeform 627"/>
              <p:cNvSpPr>
                <a:spLocks/>
              </p:cNvSpPr>
              <p:nvPr/>
            </p:nvSpPr>
            <p:spPr bwMode="auto">
              <a:xfrm>
                <a:off x="4344" y="2629"/>
                <a:ext cx="11" cy="11"/>
              </a:xfrm>
              <a:custGeom>
                <a:avLst/>
                <a:gdLst>
                  <a:gd name="T0" fmla="*/ 0 w 67"/>
                  <a:gd name="T1" fmla="*/ 66 h 66"/>
                  <a:gd name="T2" fmla="*/ 66 w 67"/>
                  <a:gd name="T3" fmla="*/ 0 h 66"/>
                  <a:gd name="T4" fmla="*/ 67 w 67"/>
                  <a:gd name="T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" h="66">
                    <a:moveTo>
                      <a:pt x="0" y="66"/>
                    </a:moveTo>
                    <a:lnTo>
                      <a:pt x="66" y="0"/>
                    </a:lnTo>
                    <a:lnTo>
                      <a:pt x="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28" name="Freeform 628"/>
              <p:cNvSpPr>
                <a:spLocks/>
              </p:cNvSpPr>
              <p:nvPr/>
            </p:nvSpPr>
            <p:spPr bwMode="auto">
              <a:xfrm>
                <a:off x="4224" y="2640"/>
                <a:ext cx="120" cy="120"/>
              </a:xfrm>
              <a:custGeom>
                <a:avLst/>
                <a:gdLst>
                  <a:gd name="T0" fmla="*/ 0 w 721"/>
                  <a:gd name="T1" fmla="*/ 721 h 721"/>
                  <a:gd name="T2" fmla="*/ 720 w 721"/>
                  <a:gd name="T3" fmla="*/ 0 h 721"/>
                  <a:gd name="T4" fmla="*/ 721 w 721"/>
                  <a:gd name="T5" fmla="*/ 0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1" h="721">
                    <a:moveTo>
                      <a:pt x="0" y="721"/>
                    </a:moveTo>
                    <a:lnTo>
                      <a:pt x="720" y="0"/>
                    </a:lnTo>
                    <a:lnTo>
                      <a:pt x="72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29" name="Freeform 629"/>
              <p:cNvSpPr>
                <a:spLocks/>
              </p:cNvSpPr>
              <p:nvPr/>
            </p:nvSpPr>
            <p:spPr bwMode="auto">
              <a:xfrm>
                <a:off x="4130" y="2766"/>
                <a:ext cx="124" cy="120"/>
              </a:xfrm>
              <a:custGeom>
                <a:avLst/>
                <a:gdLst>
                  <a:gd name="T0" fmla="*/ 0 w 731"/>
                  <a:gd name="T1" fmla="*/ 731 h 731"/>
                  <a:gd name="T2" fmla="*/ 729 w 731"/>
                  <a:gd name="T3" fmla="*/ 0 h 731"/>
                  <a:gd name="T4" fmla="*/ 731 w 731"/>
                  <a:gd name="T5" fmla="*/ 0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1" h="731">
                    <a:moveTo>
                      <a:pt x="0" y="731"/>
                    </a:moveTo>
                    <a:lnTo>
                      <a:pt x="729" y="0"/>
                    </a:lnTo>
                    <a:lnTo>
                      <a:pt x="73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30" name="Freeform 630"/>
              <p:cNvSpPr>
                <a:spLocks/>
              </p:cNvSpPr>
              <p:nvPr/>
            </p:nvSpPr>
            <p:spPr bwMode="auto">
              <a:xfrm>
                <a:off x="4356" y="2653"/>
                <a:ext cx="8" cy="7"/>
              </a:xfrm>
              <a:custGeom>
                <a:avLst/>
                <a:gdLst>
                  <a:gd name="T0" fmla="*/ 0 w 49"/>
                  <a:gd name="T1" fmla="*/ 48 h 48"/>
                  <a:gd name="T2" fmla="*/ 48 w 49"/>
                  <a:gd name="T3" fmla="*/ 0 h 48"/>
                  <a:gd name="T4" fmla="*/ 49 w 49"/>
                  <a:gd name="T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" h="48">
                    <a:moveTo>
                      <a:pt x="0" y="48"/>
                    </a:moveTo>
                    <a:lnTo>
                      <a:pt x="48" y="0"/>
                    </a:lnTo>
                    <a:lnTo>
                      <a:pt x="4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31" name="Freeform 631"/>
              <p:cNvSpPr>
                <a:spLocks/>
              </p:cNvSpPr>
              <p:nvPr/>
            </p:nvSpPr>
            <p:spPr bwMode="auto">
              <a:xfrm>
                <a:off x="4252" y="2660"/>
                <a:ext cx="104" cy="106"/>
              </a:xfrm>
              <a:custGeom>
                <a:avLst/>
                <a:gdLst>
                  <a:gd name="T0" fmla="*/ 0 w 626"/>
                  <a:gd name="T1" fmla="*/ 625 h 625"/>
                  <a:gd name="T2" fmla="*/ 625 w 626"/>
                  <a:gd name="T3" fmla="*/ 0 h 625"/>
                  <a:gd name="T4" fmla="*/ 626 w 626"/>
                  <a:gd name="T5" fmla="*/ 0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26" h="625">
                    <a:moveTo>
                      <a:pt x="0" y="625"/>
                    </a:moveTo>
                    <a:lnTo>
                      <a:pt x="625" y="0"/>
                    </a:lnTo>
                    <a:lnTo>
                      <a:pt x="62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32" name="Freeform 632"/>
              <p:cNvSpPr>
                <a:spLocks/>
              </p:cNvSpPr>
              <p:nvPr/>
            </p:nvSpPr>
            <p:spPr bwMode="auto">
              <a:xfrm>
                <a:off x="4155" y="2771"/>
                <a:ext cx="124" cy="123"/>
              </a:xfrm>
              <a:custGeom>
                <a:avLst/>
                <a:gdLst>
                  <a:gd name="T0" fmla="*/ 0 w 737"/>
                  <a:gd name="T1" fmla="*/ 737 h 737"/>
                  <a:gd name="T2" fmla="*/ 736 w 737"/>
                  <a:gd name="T3" fmla="*/ 0 h 737"/>
                  <a:gd name="T4" fmla="*/ 737 w 737"/>
                  <a:gd name="T5" fmla="*/ 0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7" h="737">
                    <a:moveTo>
                      <a:pt x="0" y="737"/>
                    </a:moveTo>
                    <a:lnTo>
                      <a:pt x="736" y="0"/>
                    </a:lnTo>
                    <a:lnTo>
                      <a:pt x="73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33" name="Freeform 633"/>
              <p:cNvSpPr>
                <a:spLocks/>
              </p:cNvSpPr>
              <p:nvPr/>
            </p:nvSpPr>
            <p:spPr bwMode="auto">
              <a:xfrm>
                <a:off x="4368" y="2678"/>
                <a:ext cx="5" cy="4"/>
              </a:xfrm>
              <a:custGeom>
                <a:avLst/>
                <a:gdLst>
                  <a:gd name="T0" fmla="*/ 0 w 28"/>
                  <a:gd name="T1" fmla="*/ 27 h 27"/>
                  <a:gd name="T2" fmla="*/ 27 w 28"/>
                  <a:gd name="T3" fmla="*/ 0 h 27"/>
                  <a:gd name="T4" fmla="*/ 28 w 28"/>
                  <a:gd name="T5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7">
                    <a:moveTo>
                      <a:pt x="0" y="27"/>
                    </a:moveTo>
                    <a:lnTo>
                      <a:pt x="27" y="0"/>
                    </a:lnTo>
                    <a:lnTo>
                      <a:pt x="2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34" name="Freeform 634"/>
              <p:cNvSpPr>
                <a:spLocks/>
              </p:cNvSpPr>
              <p:nvPr/>
            </p:nvSpPr>
            <p:spPr bwMode="auto">
              <a:xfrm>
                <a:off x="4279" y="2682"/>
                <a:ext cx="89" cy="89"/>
              </a:xfrm>
              <a:custGeom>
                <a:avLst/>
                <a:gdLst>
                  <a:gd name="T0" fmla="*/ 0 w 535"/>
                  <a:gd name="T1" fmla="*/ 534 h 534"/>
                  <a:gd name="T2" fmla="*/ 534 w 535"/>
                  <a:gd name="T3" fmla="*/ 0 h 534"/>
                  <a:gd name="T4" fmla="*/ 535 w 535"/>
                  <a:gd name="T5" fmla="*/ 0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5" h="534">
                    <a:moveTo>
                      <a:pt x="0" y="534"/>
                    </a:moveTo>
                    <a:lnTo>
                      <a:pt x="534" y="0"/>
                    </a:lnTo>
                    <a:lnTo>
                      <a:pt x="53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35" name="Freeform 635"/>
              <p:cNvSpPr>
                <a:spLocks/>
              </p:cNvSpPr>
              <p:nvPr/>
            </p:nvSpPr>
            <p:spPr bwMode="auto">
              <a:xfrm>
                <a:off x="4182" y="2705"/>
                <a:ext cx="198" cy="198"/>
              </a:xfrm>
              <a:custGeom>
                <a:avLst/>
                <a:gdLst>
                  <a:gd name="T0" fmla="*/ 0 w 1187"/>
                  <a:gd name="T1" fmla="*/ 1187 h 1187"/>
                  <a:gd name="T2" fmla="*/ 741 w 1187"/>
                  <a:gd name="T3" fmla="*/ 446 h 1187"/>
                  <a:gd name="T4" fmla="*/ 1186 w 1187"/>
                  <a:gd name="T5" fmla="*/ 0 h 1187"/>
                  <a:gd name="T6" fmla="*/ 1187 w 1187"/>
                  <a:gd name="T7" fmla="*/ 0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87" h="1187">
                    <a:moveTo>
                      <a:pt x="0" y="1187"/>
                    </a:moveTo>
                    <a:lnTo>
                      <a:pt x="741" y="446"/>
                    </a:lnTo>
                    <a:lnTo>
                      <a:pt x="1186" y="0"/>
                    </a:lnTo>
                    <a:lnTo>
                      <a:pt x="118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36" name="Freeform 636"/>
              <p:cNvSpPr>
                <a:spLocks/>
              </p:cNvSpPr>
              <p:nvPr/>
            </p:nvSpPr>
            <p:spPr bwMode="auto">
              <a:xfrm>
                <a:off x="4208" y="2732"/>
                <a:ext cx="179" cy="178"/>
              </a:xfrm>
              <a:custGeom>
                <a:avLst/>
                <a:gdLst>
                  <a:gd name="T0" fmla="*/ 0 w 1069"/>
                  <a:gd name="T1" fmla="*/ 1069 h 1069"/>
                  <a:gd name="T2" fmla="*/ 742 w 1069"/>
                  <a:gd name="T3" fmla="*/ 328 h 1069"/>
                  <a:gd name="T4" fmla="*/ 1068 w 1069"/>
                  <a:gd name="T5" fmla="*/ 0 h 1069"/>
                  <a:gd name="T6" fmla="*/ 1069 w 1069"/>
                  <a:gd name="T7" fmla="*/ 0 h 10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69" h="1069">
                    <a:moveTo>
                      <a:pt x="0" y="1069"/>
                    </a:moveTo>
                    <a:lnTo>
                      <a:pt x="742" y="328"/>
                    </a:lnTo>
                    <a:lnTo>
                      <a:pt x="1068" y="0"/>
                    </a:lnTo>
                    <a:lnTo>
                      <a:pt x="106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37" name="Freeform 637"/>
              <p:cNvSpPr>
                <a:spLocks/>
              </p:cNvSpPr>
              <p:nvPr/>
            </p:nvSpPr>
            <p:spPr bwMode="auto">
              <a:xfrm>
                <a:off x="4235" y="2760"/>
                <a:ext cx="158" cy="157"/>
              </a:xfrm>
              <a:custGeom>
                <a:avLst/>
                <a:gdLst>
                  <a:gd name="T0" fmla="*/ 0 w 944"/>
                  <a:gd name="T1" fmla="*/ 944 h 944"/>
                  <a:gd name="T2" fmla="*/ 737 w 944"/>
                  <a:gd name="T3" fmla="*/ 207 h 944"/>
                  <a:gd name="T4" fmla="*/ 943 w 944"/>
                  <a:gd name="T5" fmla="*/ 0 h 944"/>
                  <a:gd name="T6" fmla="*/ 944 w 944"/>
                  <a:gd name="T7" fmla="*/ 0 h 9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4" h="944">
                    <a:moveTo>
                      <a:pt x="0" y="944"/>
                    </a:moveTo>
                    <a:lnTo>
                      <a:pt x="737" y="207"/>
                    </a:lnTo>
                    <a:lnTo>
                      <a:pt x="943" y="0"/>
                    </a:lnTo>
                    <a:lnTo>
                      <a:pt x="94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38" name="Freeform 638"/>
              <p:cNvSpPr>
                <a:spLocks/>
              </p:cNvSpPr>
              <p:nvPr/>
            </p:nvSpPr>
            <p:spPr bwMode="auto">
              <a:xfrm>
                <a:off x="4261" y="2790"/>
                <a:ext cx="136" cy="137"/>
              </a:xfrm>
              <a:custGeom>
                <a:avLst/>
                <a:gdLst>
                  <a:gd name="T0" fmla="*/ 0 w 815"/>
                  <a:gd name="T1" fmla="*/ 813 h 813"/>
                  <a:gd name="T2" fmla="*/ 728 w 815"/>
                  <a:gd name="T3" fmla="*/ 85 h 813"/>
                  <a:gd name="T4" fmla="*/ 814 w 815"/>
                  <a:gd name="T5" fmla="*/ 0 h 813"/>
                  <a:gd name="T6" fmla="*/ 815 w 815"/>
                  <a:gd name="T7" fmla="*/ 0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5" h="813">
                    <a:moveTo>
                      <a:pt x="0" y="813"/>
                    </a:moveTo>
                    <a:lnTo>
                      <a:pt x="728" y="85"/>
                    </a:ln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39" name="Freeform 639"/>
              <p:cNvSpPr>
                <a:spLocks/>
              </p:cNvSpPr>
              <p:nvPr/>
            </p:nvSpPr>
            <p:spPr bwMode="auto">
              <a:xfrm>
                <a:off x="4287" y="2821"/>
                <a:ext cx="113" cy="113"/>
              </a:xfrm>
              <a:custGeom>
                <a:avLst/>
                <a:gdLst>
                  <a:gd name="T0" fmla="*/ 0 w 679"/>
                  <a:gd name="T1" fmla="*/ 679 h 679"/>
                  <a:gd name="T2" fmla="*/ 677 w 679"/>
                  <a:gd name="T3" fmla="*/ 0 h 679"/>
                  <a:gd name="T4" fmla="*/ 679 w 679"/>
                  <a:gd name="T5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9" h="679">
                    <a:moveTo>
                      <a:pt x="0" y="679"/>
                    </a:moveTo>
                    <a:lnTo>
                      <a:pt x="677" y="0"/>
                    </a:lnTo>
                    <a:lnTo>
                      <a:pt x="67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40" name="Freeform 640"/>
              <p:cNvSpPr>
                <a:spLocks/>
              </p:cNvSpPr>
              <p:nvPr/>
            </p:nvSpPr>
            <p:spPr bwMode="auto">
              <a:xfrm>
                <a:off x="4313" y="2852"/>
                <a:ext cx="90" cy="89"/>
              </a:xfrm>
              <a:custGeom>
                <a:avLst/>
                <a:gdLst>
                  <a:gd name="T0" fmla="*/ 0 w 542"/>
                  <a:gd name="T1" fmla="*/ 540 h 540"/>
                  <a:gd name="T2" fmla="*/ 541 w 542"/>
                  <a:gd name="T3" fmla="*/ 0 h 540"/>
                  <a:gd name="T4" fmla="*/ 542 w 542"/>
                  <a:gd name="T5" fmla="*/ 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42" h="540">
                    <a:moveTo>
                      <a:pt x="0" y="540"/>
                    </a:moveTo>
                    <a:lnTo>
                      <a:pt x="541" y="0"/>
                    </a:lnTo>
                    <a:lnTo>
                      <a:pt x="54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41" name="Freeform 641"/>
              <p:cNvSpPr>
                <a:spLocks/>
              </p:cNvSpPr>
              <p:nvPr/>
            </p:nvSpPr>
            <p:spPr bwMode="auto">
              <a:xfrm>
                <a:off x="4339" y="2883"/>
                <a:ext cx="67" cy="68"/>
              </a:xfrm>
              <a:custGeom>
                <a:avLst/>
                <a:gdLst>
                  <a:gd name="T0" fmla="*/ 0 w 404"/>
                  <a:gd name="T1" fmla="*/ 403 h 403"/>
                  <a:gd name="T2" fmla="*/ 403 w 404"/>
                  <a:gd name="T3" fmla="*/ 0 h 403"/>
                  <a:gd name="T4" fmla="*/ 404 w 404"/>
                  <a:gd name="T5" fmla="*/ 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4" h="403">
                    <a:moveTo>
                      <a:pt x="0" y="403"/>
                    </a:moveTo>
                    <a:lnTo>
                      <a:pt x="403" y="0"/>
                    </a:lnTo>
                    <a:lnTo>
                      <a:pt x="40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42" name="Freeform 642"/>
              <p:cNvSpPr>
                <a:spLocks/>
              </p:cNvSpPr>
              <p:nvPr/>
            </p:nvSpPr>
            <p:spPr bwMode="auto">
              <a:xfrm>
                <a:off x="4366" y="2914"/>
                <a:ext cx="43" cy="44"/>
              </a:xfrm>
              <a:custGeom>
                <a:avLst/>
                <a:gdLst>
                  <a:gd name="T0" fmla="*/ 0 w 267"/>
                  <a:gd name="T1" fmla="*/ 268 h 268"/>
                  <a:gd name="T2" fmla="*/ 266 w 267"/>
                  <a:gd name="T3" fmla="*/ 0 h 268"/>
                  <a:gd name="T4" fmla="*/ 267 w 267"/>
                  <a:gd name="T5" fmla="*/ 0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7" h="268">
                    <a:moveTo>
                      <a:pt x="0" y="268"/>
                    </a:moveTo>
                    <a:lnTo>
                      <a:pt x="266" y="0"/>
                    </a:lnTo>
                    <a:lnTo>
                      <a:pt x="2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43" name="Freeform 643"/>
              <p:cNvSpPr>
                <a:spLocks/>
              </p:cNvSpPr>
              <p:nvPr/>
            </p:nvSpPr>
            <p:spPr bwMode="auto">
              <a:xfrm>
                <a:off x="4391" y="2942"/>
                <a:ext cx="22" cy="23"/>
              </a:xfrm>
              <a:custGeom>
                <a:avLst/>
                <a:gdLst>
                  <a:gd name="T0" fmla="*/ 0 w 134"/>
                  <a:gd name="T1" fmla="*/ 133 h 133"/>
                  <a:gd name="T2" fmla="*/ 133 w 134"/>
                  <a:gd name="T3" fmla="*/ 0 h 133"/>
                  <a:gd name="T4" fmla="*/ 134 w 134"/>
                  <a:gd name="T5" fmla="*/ 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4" h="133">
                    <a:moveTo>
                      <a:pt x="0" y="133"/>
                    </a:moveTo>
                    <a:lnTo>
                      <a:pt x="133" y="0"/>
                    </a:lnTo>
                    <a:lnTo>
                      <a:pt x="13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44" name="Freeform 644"/>
              <p:cNvSpPr>
                <a:spLocks/>
              </p:cNvSpPr>
              <p:nvPr/>
            </p:nvSpPr>
            <p:spPr bwMode="auto">
              <a:xfrm>
                <a:off x="4417" y="2972"/>
                <a:ext cx="1" cy="1"/>
              </a:xfrm>
              <a:custGeom>
                <a:avLst/>
                <a:gdLst>
                  <a:gd name="T0" fmla="*/ 0 w 3"/>
                  <a:gd name="T1" fmla="*/ 2 h 2"/>
                  <a:gd name="T2" fmla="*/ 2 w 3"/>
                  <a:gd name="T3" fmla="*/ 0 h 2"/>
                  <a:gd name="T4" fmla="*/ 3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2"/>
                    </a:moveTo>
                    <a:lnTo>
                      <a:pt x="2" y="0"/>
                    </a:lnTo>
                    <a:lnTo>
                      <a:pt x="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45" name="Freeform 645"/>
              <p:cNvSpPr>
                <a:spLocks/>
              </p:cNvSpPr>
              <p:nvPr/>
            </p:nvSpPr>
            <p:spPr bwMode="auto">
              <a:xfrm>
                <a:off x="3741" y="2213"/>
                <a:ext cx="148" cy="147"/>
              </a:xfrm>
              <a:custGeom>
                <a:avLst/>
                <a:gdLst>
                  <a:gd name="T0" fmla="*/ 0 w 883"/>
                  <a:gd name="T1" fmla="*/ 882 h 882"/>
                  <a:gd name="T2" fmla="*/ 882 w 883"/>
                  <a:gd name="T3" fmla="*/ 0 h 882"/>
                  <a:gd name="T4" fmla="*/ 883 w 883"/>
                  <a:gd name="T5" fmla="*/ 0 h 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83" h="882">
                    <a:moveTo>
                      <a:pt x="0" y="882"/>
                    </a:moveTo>
                    <a:lnTo>
                      <a:pt x="882" y="0"/>
                    </a:lnTo>
                    <a:lnTo>
                      <a:pt x="88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46" name="Freeform 646"/>
              <p:cNvSpPr>
                <a:spLocks/>
              </p:cNvSpPr>
              <p:nvPr/>
            </p:nvSpPr>
            <p:spPr bwMode="auto">
              <a:xfrm>
                <a:off x="3889" y="2118"/>
                <a:ext cx="94" cy="95"/>
              </a:xfrm>
              <a:custGeom>
                <a:avLst/>
                <a:gdLst>
                  <a:gd name="T0" fmla="*/ 0 w 568"/>
                  <a:gd name="T1" fmla="*/ 568 h 568"/>
                  <a:gd name="T2" fmla="*/ 567 w 568"/>
                  <a:gd name="T3" fmla="*/ 0 h 568"/>
                  <a:gd name="T4" fmla="*/ 568 w 568"/>
                  <a:gd name="T5" fmla="*/ 0 h 5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8" h="568">
                    <a:moveTo>
                      <a:pt x="0" y="568"/>
                    </a:moveTo>
                    <a:lnTo>
                      <a:pt x="567" y="0"/>
                    </a:lnTo>
                    <a:lnTo>
                      <a:pt x="56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47" name="Freeform 647"/>
              <p:cNvSpPr>
                <a:spLocks/>
              </p:cNvSpPr>
              <p:nvPr/>
            </p:nvSpPr>
            <p:spPr bwMode="auto">
              <a:xfrm>
                <a:off x="3711" y="2247"/>
                <a:ext cx="178" cy="178"/>
              </a:xfrm>
              <a:custGeom>
                <a:avLst/>
                <a:gdLst>
                  <a:gd name="T0" fmla="*/ 0 w 1063"/>
                  <a:gd name="T1" fmla="*/ 1063 h 1063"/>
                  <a:gd name="T2" fmla="*/ 1062 w 1063"/>
                  <a:gd name="T3" fmla="*/ 0 h 1063"/>
                  <a:gd name="T4" fmla="*/ 1063 w 1063"/>
                  <a:gd name="T5" fmla="*/ 0 h 1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63" h="1063">
                    <a:moveTo>
                      <a:pt x="0" y="1063"/>
                    </a:moveTo>
                    <a:lnTo>
                      <a:pt x="1062" y="0"/>
                    </a:lnTo>
                    <a:lnTo>
                      <a:pt x="106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48" name="Freeform 648"/>
              <p:cNvSpPr>
                <a:spLocks/>
              </p:cNvSpPr>
              <p:nvPr/>
            </p:nvSpPr>
            <p:spPr bwMode="auto">
              <a:xfrm>
                <a:off x="4025" y="2100"/>
                <a:ext cx="11" cy="11"/>
              </a:xfrm>
              <a:custGeom>
                <a:avLst/>
                <a:gdLst>
                  <a:gd name="T0" fmla="*/ 0 w 60"/>
                  <a:gd name="T1" fmla="*/ 60 h 60"/>
                  <a:gd name="T2" fmla="*/ 59 w 60"/>
                  <a:gd name="T3" fmla="*/ 0 h 60"/>
                  <a:gd name="T4" fmla="*/ 60 w 60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0" h="60">
                    <a:moveTo>
                      <a:pt x="0" y="60"/>
                    </a:moveTo>
                    <a:lnTo>
                      <a:pt x="59" y="0"/>
                    </a:lnTo>
                    <a:lnTo>
                      <a:pt x="6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49" name="Freeform 649"/>
              <p:cNvSpPr>
                <a:spLocks/>
              </p:cNvSpPr>
              <p:nvPr/>
            </p:nvSpPr>
            <p:spPr bwMode="auto">
              <a:xfrm>
                <a:off x="3889" y="2111"/>
                <a:ext cx="136" cy="136"/>
              </a:xfrm>
              <a:custGeom>
                <a:avLst/>
                <a:gdLst>
                  <a:gd name="T0" fmla="*/ 0 w 822"/>
                  <a:gd name="T1" fmla="*/ 821 h 821"/>
                  <a:gd name="T2" fmla="*/ 821 w 822"/>
                  <a:gd name="T3" fmla="*/ 0 h 821"/>
                  <a:gd name="T4" fmla="*/ 822 w 822"/>
                  <a:gd name="T5" fmla="*/ 0 h 8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2" h="821">
                    <a:moveTo>
                      <a:pt x="0" y="821"/>
                    </a:moveTo>
                    <a:lnTo>
                      <a:pt x="821" y="0"/>
                    </a:lnTo>
                    <a:lnTo>
                      <a:pt x="82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50" name="Freeform 650"/>
              <p:cNvSpPr>
                <a:spLocks/>
              </p:cNvSpPr>
              <p:nvPr/>
            </p:nvSpPr>
            <p:spPr bwMode="auto">
              <a:xfrm>
                <a:off x="3679" y="2281"/>
                <a:ext cx="210" cy="211"/>
              </a:xfrm>
              <a:custGeom>
                <a:avLst/>
                <a:gdLst>
                  <a:gd name="T0" fmla="*/ 0 w 1263"/>
                  <a:gd name="T1" fmla="*/ 1263 h 1263"/>
                  <a:gd name="T2" fmla="*/ 1262 w 1263"/>
                  <a:gd name="T3" fmla="*/ 0 h 1263"/>
                  <a:gd name="T4" fmla="*/ 1263 w 1263"/>
                  <a:gd name="T5" fmla="*/ 0 h 1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3" h="1263">
                    <a:moveTo>
                      <a:pt x="0" y="1263"/>
                    </a:moveTo>
                    <a:lnTo>
                      <a:pt x="1262" y="0"/>
                    </a:lnTo>
                    <a:lnTo>
                      <a:pt x="126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51" name="Freeform 651"/>
              <p:cNvSpPr>
                <a:spLocks/>
              </p:cNvSpPr>
              <p:nvPr/>
            </p:nvSpPr>
            <p:spPr bwMode="auto">
              <a:xfrm>
                <a:off x="4025" y="2117"/>
                <a:ext cx="27" cy="27"/>
              </a:xfrm>
              <a:custGeom>
                <a:avLst/>
                <a:gdLst>
                  <a:gd name="T0" fmla="*/ 0 w 162"/>
                  <a:gd name="T1" fmla="*/ 161 h 161"/>
                  <a:gd name="T2" fmla="*/ 161 w 162"/>
                  <a:gd name="T3" fmla="*/ 0 h 161"/>
                  <a:gd name="T4" fmla="*/ 162 w 162"/>
                  <a:gd name="T5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2" h="161">
                    <a:moveTo>
                      <a:pt x="0" y="161"/>
                    </a:moveTo>
                    <a:lnTo>
                      <a:pt x="161" y="0"/>
                    </a:lnTo>
                    <a:lnTo>
                      <a:pt x="16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52" name="Freeform 652"/>
              <p:cNvSpPr>
                <a:spLocks/>
              </p:cNvSpPr>
              <p:nvPr/>
            </p:nvSpPr>
            <p:spPr bwMode="auto">
              <a:xfrm>
                <a:off x="3889" y="2144"/>
                <a:ext cx="136" cy="137"/>
              </a:xfrm>
              <a:custGeom>
                <a:avLst/>
                <a:gdLst>
                  <a:gd name="T0" fmla="*/ 0 w 821"/>
                  <a:gd name="T1" fmla="*/ 821 h 821"/>
                  <a:gd name="T2" fmla="*/ 820 w 821"/>
                  <a:gd name="T3" fmla="*/ 0 h 821"/>
                  <a:gd name="T4" fmla="*/ 821 w 821"/>
                  <a:gd name="T5" fmla="*/ 0 h 8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1" h="821">
                    <a:moveTo>
                      <a:pt x="0" y="821"/>
                    </a:moveTo>
                    <a:lnTo>
                      <a:pt x="820" y="0"/>
                    </a:lnTo>
                    <a:lnTo>
                      <a:pt x="82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53" name="Freeform 653"/>
              <p:cNvSpPr>
                <a:spLocks/>
              </p:cNvSpPr>
              <p:nvPr/>
            </p:nvSpPr>
            <p:spPr bwMode="auto">
              <a:xfrm>
                <a:off x="3657" y="2315"/>
                <a:ext cx="232" cy="232"/>
              </a:xfrm>
              <a:custGeom>
                <a:avLst/>
                <a:gdLst>
                  <a:gd name="T0" fmla="*/ 0 w 1386"/>
                  <a:gd name="T1" fmla="*/ 1387 h 1387"/>
                  <a:gd name="T2" fmla="*/ 1385 w 1386"/>
                  <a:gd name="T3" fmla="*/ 0 h 1387"/>
                  <a:gd name="T4" fmla="*/ 1386 w 1386"/>
                  <a:gd name="T5" fmla="*/ 0 h 1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86" h="1387">
                    <a:moveTo>
                      <a:pt x="0" y="1387"/>
                    </a:moveTo>
                    <a:lnTo>
                      <a:pt x="1385" y="0"/>
                    </a:lnTo>
                    <a:lnTo>
                      <a:pt x="138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54" name="Freeform 654"/>
              <p:cNvSpPr>
                <a:spLocks/>
              </p:cNvSpPr>
              <p:nvPr/>
            </p:nvSpPr>
            <p:spPr bwMode="auto">
              <a:xfrm>
                <a:off x="4065" y="2134"/>
                <a:ext cx="4" cy="4"/>
              </a:xfrm>
              <a:custGeom>
                <a:avLst/>
                <a:gdLst>
                  <a:gd name="T0" fmla="*/ 0 w 22"/>
                  <a:gd name="T1" fmla="*/ 21 h 21"/>
                  <a:gd name="T2" fmla="*/ 21 w 22"/>
                  <a:gd name="T3" fmla="*/ 0 h 21"/>
                  <a:gd name="T4" fmla="*/ 22 w 22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" h="21">
                    <a:moveTo>
                      <a:pt x="0" y="21"/>
                    </a:moveTo>
                    <a:lnTo>
                      <a:pt x="21" y="0"/>
                    </a:lnTo>
                    <a:lnTo>
                      <a:pt x="2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55" name="Freeform 655"/>
              <p:cNvSpPr>
                <a:spLocks/>
              </p:cNvSpPr>
              <p:nvPr/>
            </p:nvSpPr>
            <p:spPr bwMode="auto">
              <a:xfrm>
                <a:off x="3889" y="2178"/>
                <a:ext cx="136" cy="137"/>
              </a:xfrm>
              <a:custGeom>
                <a:avLst/>
                <a:gdLst>
                  <a:gd name="T0" fmla="*/ 0 w 821"/>
                  <a:gd name="T1" fmla="*/ 819 h 819"/>
                  <a:gd name="T2" fmla="*/ 820 w 821"/>
                  <a:gd name="T3" fmla="*/ 0 h 819"/>
                  <a:gd name="T4" fmla="*/ 821 w 821"/>
                  <a:gd name="T5" fmla="*/ 0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1" h="819">
                    <a:moveTo>
                      <a:pt x="0" y="819"/>
                    </a:moveTo>
                    <a:lnTo>
                      <a:pt x="820" y="0"/>
                    </a:lnTo>
                    <a:lnTo>
                      <a:pt x="82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56" name="Freeform 656"/>
              <p:cNvSpPr>
                <a:spLocks/>
              </p:cNvSpPr>
              <p:nvPr/>
            </p:nvSpPr>
            <p:spPr bwMode="auto">
              <a:xfrm>
                <a:off x="4025" y="2138"/>
                <a:ext cx="40" cy="40"/>
              </a:xfrm>
              <a:custGeom>
                <a:avLst/>
                <a:gdLst>
                  <a:gd name="T0" fmla="*/ 0 w 244"/>
                  <a:gd name="T1" fmla="*/ 244 h 244"/>
                  <a:gd name="T2" fmla="*/ 243 w 244"/>
                  <a:gd name="T3" fmla="*/ 0 h 244"/>
                  <a:gd name="T4" fmla="*/ 244 w 244"/>
                  <a:gd name="T5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4" h="244">
                    <a:moveTo>
                      <a:pt x="0" y="244"/>
                    </a:moveTo>
                    <a:lnTo>
                      <a:pt x="243" y="0"/>
                    </a:lnTo>
                    <a:lnTo>
                      <a:pt x="24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57" name="Freeform 657"/>
              <p:cNvSpPr>
                <a:spLocks/>
              </p:cNvSpPr>
              <p:nvPr/>
            </p:nvSpPr>
            <p:spPr bwMode="auto">
              <a:xfrm>
                <a:off x="3645" y="2349"/>
                <a:ext cx="244" cy="243"/>
              </a:xfrm>
              <a:custGeom>
                <a:avLst/>
                <a:gdLst>
                  <a:gd name="T0" fmla="*/ 0 w 1458"/>
                  <a:gd name="T1" fmla="*/ 1458 h 1458"/>
                  <a:gd name="T2" fmla="*/ 1457 w 1458"/>
                  <a:gd name="T3" fmla="*/ 0 h 1458"/>
                  <a:gd name="T4" fmla="*/ 1458 w 1458"/>
                  <a:gd name="T5" fmla="*/ 0 h 1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58" h="1458">
                    <a:moveTo>
                      <a:pt x="0" y="1458"/>
                    </a:moveTo>
                    <a:lnTo>
                      <a:pt x="1457" y="0"/>
                    </a:lnTo>
                    <a:lnTo>
                      <a:pt x="145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58" name="Freeform 658"/>
              <p:cNvSpPr>
                <a:spLocks/>
              </p:cNvSpPr>
              <p:nvPr/>
            </p:nvSpPr>
            <p:spPr bwMode="auto">
              <a:xfrm>
                <a:off x="4077" y="2151"/>
                <a:ext cx="9" cy="8"/>
              </a:xfrm>
              <a:custGeom>
                <a:avLst/>
                <a:gdLst>
                  <a:gd name="T0" fmla="*/ 0 w 53"/>
                  <a:gd name="T1" fmla="*/ 52 h 52"/>
                  <a:gd name="T2" fmla="*/ 52 w 53"/>
                  <a:gd name="T3" fmla="*/ 0 h 52"/>
                  <a:gd name="T4" fmla="*/ 53 w 53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" h="52">
                    <a:moveTo>
                      <a:pt x="0" y="52"/>
                    </a:moveTo>
                    <a:lnTo>
                      <a:pt x="52" y="0"/>
                    </a:lnTo>
                    <a:lnTo>
                      <a:pt x="5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59" name="Freeform 659"/>
              <p:cNvSpPr>
                <a:spLocks/>
              </p:cNvSpPr>
              <p:nvPr/>
            </p:nvSpPr>
            <p:spPr bwMode="auto">
              <a:xfrm>
                <a:off x="3889" y="2212"/>
                <a:ext cx="136" cy="137"/>
              </a:xfrm>
              <a:custGeom>
                <a:avLst/>
                <a:gdLst>
                  <a:gd name="T0" fmla="*/ 0 w 820"/>
                  <a:gd name="T1" fmla="*/ 820 h 820"/>
                  <a:gd name="T2" fmla="*/ 819 w 820"/>
                  <a:gd name="T3" fmla="*/ 0 h 820"/>
                  <a:gd name="T4" fmla="*/ 820 w 820"/>
                  <a:gd name="T5" fmla="*/ 0 h 8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0" h="820">
                    <a:moveTo>
                      <a:pt x="0" y="820"/>
                    </a:moveTo>
                    <a:lnTo>
                      <a:pt x="819" y="0"/>
                    </a:lnTo>
                    <a:lnTo>
                      <a:pt x="8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60" name="Freeform 660"/>
              <p:cNvSpPr>
                <a:spLocks/>
              </p:cNvSpPr>
              <p:nvPr/>
            </p:nvSpPr>
            <p:spPr bwMode="auto">
              <a:xfrm>
                <a:off x="4025" y="2159"/>
                <a:ext cx="54" cy="52"/>
              </a:xfrm>
              <a:custGeom>
                <a:avLst/>
                <a:gdLst>
                  <a:gd name="T0" fmla="*/ 0 w 317"/>
                  <a:gd name="T1" fmla="*/ 316 h 316"/>
                  <a:gd name="T2" fmla="*/ 316 w 317"/>
                  <a:gd name="T3" fmla="*/ 0 h 316"/>
                  <a:gd name="T4" fmla="*/ 317 w 317"/>
                  <a:gd name="T5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7" h="316">
                    <a:moveTo>
                      <a:pt x="0" y="316"/>
                    </a:moveTo>
                    <a:lnTo>
                      <a:pt x="316" y="0"/>
                    </a:lnTo>
                    <a:lnTo>
                      <a:pt x="31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61" name="Freeform 661"/>
              <p:cNvSpPr>
                <a:spLocks/>
              </p:cNvSpPr>
              <p:nvPr/>
            </p:nvSpPr>
            <p:spPr bwMode="auto">
              <a:xfrm>
                <a:off x="3638" y="2383"/>
                <a:ext cx="251" cy="250"/>
              </a:xfrm>
              <a:custGeom>
                <a:avLst/>
                <a:gdLst>
                  <a:gd name="T0" fmla="*/ 0 w 1501"/>
                  <a:gd name="T1" fmla="*/ 1503 h 1503"/>
                  <a:gd name="T2" fmla="*/ 1500 w 1501"/>
                  <a:gd name="T3" fmla="*/ 0 h 1503"/>
                  <a:gd name="T4" fmla="*/ 1501 w 1501"/>
                  <a:gd name="T5" fmla="*/ 0 h 1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01" h="1503">
                    <a:moveTo>
                      <a:pt x="0" y="1503"/>
                    </a:moveTo>
                    <a:lnTo>
                      <a:pt x="1500" y="0"/>
                    </a:lnTo>
                    <a:lnTo>
                      <a:pt x="150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62" name="Freeform 662"/>
              <p:cNvSpPr>
                <a:spLocks/>
              </p:cNvSpPr>
              <p:nvPr/>
            </p:nvSpPr>
            <p:spPr bwMode="auto">
              <a:xfrm>
                <a:off x="4090" y="2168"/>
                <a:ext cx="13" cy="13"/>
              </a:xfrm>
              <a:custGeom>
                <a:avLst/>
                <a:gdLst>
                  <a:gd name="T0" fmla="*/ 0 w 82"/>
                  <a:gd name="T1" fmla="*/ 81 h 81"/>
                  <a:gd name="T2" fmla="*/ 81 w 82"/>
                  <a:gd name="T3" fmla="*/ 0 h 81"/>
                  <a:gd name="T4" fmla="*/ 82 w 82"/>
                  <a:gd name="T5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" h="81">
                    <a:moveTo>
                      <a:pt x="0" y="81"/>
                    </a:moveTo>
                    <a:lnTo>
                      <a:pt x="81" y="0"/>
                    </a:lnTo>
                    <a:lnTo>
                      <a:pt x="8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63" name="Freeform 663"/>
              <p:cNvSpPr>
                <a:spLocks/>
              </p:cNvSpPr>
              <p:nvPr/>
            </p:nvSpPr>
            <p:spPr bwMode="auto">
              <a:xfrm>
                <a:off x="3889" y="2245"/>
                <a:ext cx="136" cy="137"/>
              </a:xfrm>
              <a:custGeom>
                <a:avLst/>
                <a:gdLst>
                  <a:gd name="T0" fmla="*/ 0 w 820"/>
                  <a:gd name="T1" fmla="*/ 819 h 819"/>
                  <a:gd name="T2" fmla="*/ 819 w 820"/>
                  <a:gd name="T3" fmla="*/ 0 h 819"/>
                  <a:gd name="T4" fmla="*/ 820 w 820"/>
                  <a:gd name="T5" fmla="*/ 0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0" h="819">
                    <a:moveTo>
                      <a:pt x="0" y="819"/>
                    </a:moveTo>
                    <a:lnTo>
                      <a:pt x="819" y="0"/>
                    </a:lnTo>
                    <a:lnTo>
                      <a:pt x="8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64" name="Freeform 664"/>
              <p:cNvSpPr>
                <a:spLocks/>
              </p:cNvSpPr>
              <p:nvPr/>
            </p:nvSpPr>
            <p:spPr bwMode="auto">
              <a:xfrm>
                <a:off x="4025" y="2180"/>
                <a:ext cx="65" cy="65"/>
              </a:xfrm>
              <a:custGeom>
                <a:avLst/>
                <a:gdLst>
                  <a:gd name="T0" fmla="*/ 0 w 390"/>
                  <a:gd name="T1" fmla="*/ 390 h 390"/>
                  <a:gd name="T2" fmla="*/ 389 w 390"/>
                  <a:gd name="T3" fmla="*/ 0 h 390"/>
                  <a:gd name="T4" fmla="*/ 390 w 390"/>
                  <a:gd name="T5" fmla="*/ 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0" h="390">
                    <a:moveTo>
                      <a:pt x="0" y="390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65" name="Freeform 665"/>
              <p:cNvSpPr>
                <a:spLocks/>
              </p:cNvSpPr>
              <p:nvPr/>
            </p:nvSpPr>
            <p:spPr bwMode="auto">
              <a:xfrm>
                <a:off x="3633" y="2417"/>
                <a:ext cx="256" cy="257"/>
              </a:xfrm>
              <a:custGeom>
                <a:avLst/>
                <a:gdLst>
                  <a:gd name="T0" fmla="*/ 0 w 1530"/>
                  <a:gd name="T1" fmla="*/ 1531 h 1531"/>
                  <a:gd name="T2" fmla="*/ 1529 w 1530"/>
                  <a:gd name="T3" fmla="*/ 0 h 1531"/>
                  <a:gd name="T4" fmla="*/ 1530 w 1530"/>
                  <a:gd name="T5" fmla="*/ 0 h 15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0" h="1531">
                    <a:moveTo>
                      <a:pt x="0" y="1531"/>
                    </a:moveTo>
                    <a:lnTo>
                      <a:pt x="1529" y="0"/>
                    </a:lnTo>
                    <a:lnTo>
                      <a:pt x="153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66" name="Freeform 666"/>
              <p:cNvSpPr>
                <a:spLocks/>
              </p:cNvSpPr>
              <p:nvPr/>
            </p:nvSpPr>
            <p:spPr bwMode="auto">
              <a:xfrm>
                <a:off x="4102" y="2185"/>
                <a:ext cx="20" cy="18"/>
              </a:xfrm>
              <a:custGeom>
                <a:avLst/>
                <a:gdLst>
                  <a:gd name="T0" fmla="*/ 0 w 112"/>
                  <a:gd name="T1" fmla="*/ 111 h 111"/>
                  <a:gd name="T2" fmla="*/ 111 w 112"/>
                  <a:gd name="T3" fmla="*/ 0 h 111"/>
                  <a:gd name="T4" fmla="*/ 112 w 112"/>
                  <a:gd name="T5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" h="111">
                    <a:moveTo>
                      <a:pt x="0" y="111"/>
                    </a:moveTo>
                    <a:lnTo>
                      <a:pt x="111" y="0"/>
                    </a:lnTo>
                    <a:lnTo>
                      <a:pt x="11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67" name="Freeform 667"/>
              <p:cNvSpPr>
                <a:spLocks/>
              </p:cNvSpPr>
              <p:nvPr/>
            </p:nvSpPr>
            <p:spPr bwMode="auto">
              <a:xfrm>
                <a:off x="3889" y="2279"/>
                <a:ext cx="136" cy="137"/>
              </a:xfrm>
              <a:custGeom>
                <a:avLst/>
                <a:gdLst>
                  <a:gd name="T0" fmla="*/ 0 w 820"/>
                  <a:gd name="T1" fmla="*/ 818 h 818"/>
                  <a:gd name="T2" fmla="*/ 819 w 820"/>
                  <a:gd name="T3" fmla="*/ 0 h 818"/>
                  <a:gd name="T4" fmla="*/ 820 w 820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0" h="818">
                    <a:moveTo>
                      <a:pt x="0" y="818"/>
                    </a:moveTo>
                    <a:lnTo>
                      <a:pt x="819" y="0"/>
                    </a:lnTo>
                    <a:lnTo>
                      <a:pt x="8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68" name="Freeform 668"/>
              <p:cNvSpPr>
                <a:spLocks/>
              </p:cNvSpPr>
              <p:nvPr/>
            </p:nvSpPr>
            <p:spPr bwMode="auto">
              <a:xfrm>
                <a:off x="4025" y="2203"/>
                <a:ext cx="77" cy="76"/>
              </a:xfrm>
              <a:custGeom>
                <a:avLst/>
                <a:gdLst>
                  <a:gd name="T0" fmla="*/ 0 w 462"/>
                  <a:gd name="T1" fmla="*/ 463 h 463"/>
                  <a:gd name="T2" fmla="*/ 461 w 462"/>
                  <a:gd name="T3" fmla="*/ 0 h 463"/>
                  <a:gd name="T4" fmla="*/ 462 w 462"/>
                  <a:gd name="T5" fmla="*/ 0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2" h="463">
                    <a:moveTo>
                      <a:pt x="0" y="463"/>
                    </a:moveTo>
                    <a:lnTo>
                      <a:pt x="461" y="0"/>
                    </a:lnTo>
                    <a:lnTo>
                      <a:pt x="46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69" name="Freeform 669"/>
              <p:cNvSpPr>
                <a:spLocks/>
              </p:cNvSpPr>
              <p:nvPr/>
            </p:nvSpPr>
            <p:spPr bwMode="auto">
              <a:xfrm>
                <a:off x="3630" y="2450"/>
                <a:ext cx="259" cy="259"/>
              </a:xfrm>
              <a:custGeom>
                <a:avLst/>
                <a:gdLst>
                  <a:gd name="T0" fmla="*/ 0 w 1551"/>
                  <a:gd name="T1" fmla="*/ 1552 h 1552"/>
                  <a:gd name="T2" fmla="*/ 1550 w 1551"/>
                  <a:gd name="T3" fmla="*/ 0 h 1552"/>
                  <a:gd name="T4" fmla="*/ 1551 w 1551"/>
                  <a:gd name="T5" fmla="*/ 0 h 1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51" h="1552">
                    <a:moveTo>
                      <a:pt x="0" y="1552"/>
                    </a:moveTo>
                    <a:lnTo>
                      <a:pt x="1550" y="0"/>
                    </a:lnTo>
                    <a:lnTo>
                      <a:pt x="155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70" name="Freeform 670"/>
              <p:cNvSpPr>
                <a:spLocks/>
              </p:cNvSpPr>
              <p:nvPr/>
            </p:nvSpPr>
            <p:spPr bwMode="auto">
              <a:xfrm>
                <a:off x="4114" y="2202"/>
                <a:ext cx="23" cy="23"/>
              </a:xfrm>
              <a:custGeom>
                <a:avLst/>
                <a:gdLst>
                  <a:gd name="T0" fmla="*/ 0 w 139"/>
                  <a:gd name="T1" fmla="*/ 139 h 139"/>
                  <a:gd name="T2" fmla="*/ 138 w 139"/>
                  <a:gd name="T3" fmla="*/ 0 h 139"/>
                  <a:gd name="T4" fmla="*/ 139 w 139"/>
                  <a:gd name="T5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9" h="139">
                    <a:moveTo>
                      <a:pt x="0" y="139"/>
                    </a:moveTo>
                    <a:lnTo>
                      <a:pt x="138" y="0"/>
                    </a:lnTo>
                    <a:lnTo>
                      <a:pt x="13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71" name="Freeform 671"/>
              <p:cNvSpPr>
                <a:spLocks/>
              </p:cNvSpPr>
              <p:nvPr/>
            </p:nvSpPr>
            <p:spPr bwMode="auto">
              <a:xfrm>
                <a:off x="3889" y="2313"/>
                <a:ext cx="136" cy="137"/>
              </a:xfrm>
              <a:custGeom>
                <a:avLst/>
                <a:gdLst>
                  <a:gd name="T0" fmla="*/ 0 w 819"/>
                  <a:gd name="T1" fmla="*/ 817 h 817"/>
                  <a:gd name="T2" fmla="*/ 818 w 819"/>
                  <a:gd name="T3" fmla="*/ 0 h 817"/>
                  <a:gd name="T4" fmla="*/ 819 w 819"/>
                  <a:gd name="T5" fmla="*/ 0 h 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7">
                    <a:moveTo>
                      <a:pt x="0" y="817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72" name="Freeform 672"/>
              <p:cNvSpPr>
                <a:spLocks/>
              </p:cNvSpPr>
              <p:nvPr/>
            </p:nvSpPr>
            <p:spPr bwMode="auto">
              <a:xfrm>
                <a:off x="4025" y="2224"/>
                <a:ext cx="89" cy="89"/>
              </a:xfrm>
              <a:custGeom>
                <a:avLst/>
                <a:gdLst>
                  <a:gd name="T0" fmla="*/ 0 w 536"/>
                  <a:gd name="T1" fmla="*/ 536 h 536"/>
                  <a:gd name="T2" fmla="*/ 535 w 536"/>
                  <a:gd name="T3" fmla="*/ 0 h 536"/>
                  <a:gd name="T4" fmla="*/ 536 w 536"/>
                  <a:gd name="T5" fmla="*/ 0 h 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6" h="536">
                    <a:moveTo>
                      <a:pt x="0" y="536"/>
                    </a:moveTo>
                    <a:lnTo>
                      <a:pt x="535" y="0"/>
                    </a:lnTo>
                    <a:lnTo>
                      <a:pt x="53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73" name="Freeform 673"/>
              <p:cNvSpPr>
                <a:spLocks/>
              </p:cNvSpPr>
              <p:nvPr/>
            </p:nvSpPr>
            <p:spPr bwMode="auto">
              <a:xfrm>
                <a:off x="3636" y="2736"/>
                <a:ext cx="4" cy="3"/>
              </a:xfrm>
              <a:custGeom>
                <a:avLst/>
                <a:gdLst>
                  <a:gd name="T0" fmla="*/ 0 w 20"/>
                  <a:gd name="T1" fmla="*/ 19 h 19"/>
                  <a:gd name="T2" fmla="*/ 18 w 20"/>
                  <a:gd name="T3" fmla="*/ 0 h 19"/>
                  <a:gd name="T4" fmla="*/ 20 w 20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" h="19">
                    <a:moveTo>
                      <a:pt x="0" y="19"/>
                    </a:moveTo>
                    <a:lnTo>
                      <a:pt x="18" y="0"/>
                    </a:lnTo>
                    <a:lnTo>
                      <a:pt x="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74" name="Freeform 674"/>
              <p:cNvSpPr>
                <a:spLocks/>
              </p:cNvSpPr>
              <p:nvPr/>
            </p:nvSpPr>
            <p:spPr bwMode="auto">
              <a:xfrm>
                <a:off x="4126" y="2220"/>
                <a:ext cx="27" cy="27"/>
              </a:xfrm>
              <a:custGeom>
                <a:avLst/>
                <a:gdLst>
                  <a:gd name="T0" fmla="*/ 0 w 161"/>
                  <a:gd name="T1" fmla="*/ 160 h 160"/>
                  <a:gd name="T2" fmla="*/ 160 w 161"/>
                  <a:gd name="T3" fmla="*/ 0 h 160"/>
                  <a:gd name="T4" fmla="*/ 161 w 16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1" h="160">
                    <a:moveTo>
                      <a:pt x="0" y="160"/>
                    </a:moveTo>
                    <a:lnTo>
                      <a:pt x="160" y="0"/>
                    </a:lnTo>
                    <a:lnTo>
                      <a:pt x="16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75" name="Freeform 675"/>
              <p:cNvSpPr>
                <a:spLocks/>
              </p:cNvSpPr>
              <p:nvPr/>
            </p:nvSpPr>
            <p:spPr bwMode="auto">
              <a:xfrm>
                <a:off x="3638" y="2486"/>
                <a:ext cx="251" cy="250"/>
              </a:xfrm>
              <a:custGeom>
                <a:avLst/>
                <a:gdLst>
                  <a:gd name="T0" fmla="*/ 0 w 1504"/>
                  <a:gd name="T1" fmla="*/ 1503 h 1503"/>
                  <a:gd name="T2" fmla="*/ 1503 w 1504"/>
                  <a:gd name="T3" fmla="*/ 0 h 1503"/>
                  <a:gd name="T4" fmla="*/ 1504 w 1504"/>
                  <a:gd name="T5" fmla="*/ 0 h 1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04" h="1503">
                    <a:moveTo>
                      <a:pt x="0" y="1503"/>
                    </a:moveTo>
                    <a:lnTo>
                      <a:pt x="1503" y="0"/>
                    </a:lnTo>
                    <a:lnTo>
                      <a:pt x="150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76" name="Freeform 676"/>
              <p:cNvSpPr>
                <a:spLocks/>
              </p:cNvSpPr>
              <p:nvPr/>
            </p:nvSpPr>
            <p:spPr bwMode="auto">
              <a:xfrm>
                <a:off x="4025" y="2247"/>
                <a:ext cx="101" cy="102"/>
              </a:xfrm>
              <a:custGeom>
                <a:avLst/>
                <a:gdLst>
                  <a:gd name="T0" fmla="*/ 0 w 608"/>
                  <a:gd name="T1" fmla="*/ 608 h 608"/>
                  <a:gd name="T2" fmla="*/ 607 w 608"/>
                  <a:gd name="T3" fmla="*/ 0 h 608"/>
                  <a:gd name="T4" fmla="*/ 608 w 608"/>
                  <a:gd name="T5" fmla="*/ 0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08" h="608">
                    <a:moveTo>
                      <a:pt x="0" y="608"/>
                    </a:moveTo>
                    <a:lnTo>
                      <a:pt x="607" y="0"/>
                    </a:lnTo>
                    <a:lnTo>
                      <a:pt x="60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77" name="Freeform 677"/>
              <p:cNvSpPr>
                <a:spLocks/>
              </p:cNvSpPr>
              <p:nvPr/>
            </p:nvSpPr>
            <p:spPr bwMode="auto">
              <a:xfrm>
                <a:off x="3889" y="2349"/>
                <a:ext cx="136" cy="137"/>
              </a:xfrm>
              <a:custGeom>
                <a:avLst/>
                <a:gdLst>
                  <a:gd name="T0" fmla="*/ 0 w 819"/>
                  <a:gd name="T1" fmla="*/ 819 h 819"/>
                  <a:gd name="T2" fmla="*/ 818 w 819"/>
                  <a:gd name="T3" fmla="*/ 0 h 819"/>
                  <a:gd name="T4" fmla="*/ 819 w 819"/>
                  <a:gd name="T5" fmla="*/ 0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9">
                    <a:moveTo>
                      <a:pt x="0" y="819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78" name="Freeform 678"/>
              <p:cNvSpPr>
                <a:spLocks/>
              </p:cNvSpPr>
              <p:nvPr/>
            </p:nvSpPr>
            <p:spPr bwMode="auto">
              <a:xfrm>
                <a:off x="3661" y="2732"/>
                <a:ext cx="13" cy="14"/>
              </a:xfrm>
              <a:custGeom>
                <a:avLst/>
                <a:gdLst>
                  <a:gd name="T0" fmla="*/ 0 w 89"/>
                  <a:gd name="T1" fmla="*/ 88 h 88"/>
                  <a:gd name="T2" fmla="*/ 88 w 89"/>
                  <a:gd name="T3" fmla="*/ 0 h 88"/>
                  <a:gd name="T4" fmla="*/ 89 w 89"/>
                  <a:gd name="T5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9" h="88">
                    <a:moveTo>
                      <a:pt x="0" y="88"/>
                    </a:moveTo>
                    <a:lnTo>
                      <a:pt x="88" y="0"/>
                    </a:lnTo>
                    <a:lnTo>
                      <a:pt x="8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79" name="Freeform 679"/>
              <p:cNvSpPr>
                <a:spLocks/>
              </p:cNvSpPr>
              <p:nvPr/>
            </p:nvSpPr>
            <p:spPr bwMode="auto">
              <a:xfrm>
                <a:off x="4138" y="2240"/>
                <a:ext cx="30" cy="30"/>
              </a:xfrm>
              <a:custGeom>
                <a:avLst/>
                <a:gdLst>
                  <a:gd name="T0" fmla="*/ 0 w 174"/>
                  <a:gd name="T1" fmla="*/ 172 h 172"/>
                  <a:gd name="T2" fmla="*/ 172 w 174"/>
                  <a:gd name="T3" fmla="*/ 0 h 172"/>
                  <a:gd name="T4" fmla="*/ 174 w 174"/>
                  <a:gd name="T5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4" h="172">
                    <a:moveTo>
                      <a:pt x="0" y="172"/>
                    </a:moveTo>
                    <a:lnTo>
                      <a:pt x="172" y="0"/>
                    </a:lnTo>
                    <a:lnTo>
                      <a:pt x="17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80" name="Freeform 680"/>
              <p:cNvSpPr>
                <a:spLocks/>
              </p:cNvSpPr>
              <p:nvPr/>
            </p:nvSpPr>
            <p:spPr bwMode="auto">
              <a:xfrm>
                <a:off x="3675" y="2518"/>
                <a:ext cx="214" cy="213"/>
              </a:xfrm>
              <a:custGeom>
                <a:avLst/>
                <a:gdLst>
                  <a:gd name="T0" fmla="*/ 0 w 1278"/>
                  <a:gd name="T1" fmla="*/ 1278 h 1278"/>
                  <a:gd name="T2" fmla="*/ 1277 w 1278"/>
                  <a:gd name="T3" fmla="*/ 0 h 1278"/>
                  <a:gd name="T4" fmla="*/ 1278 w 1278"/>
                  <a:gd name="T5" fmla="*/ 0 h 1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78" h="1278">
                    <a:moveTo>
                      <a:pt x="0" y="1278"/>
                    </a:moveTo>
                    <a:lnTo>
                      <a:pt x="1277" y="0"/>
                    </a:lnTo>
                    <a:lnTo>
                      <a:pt x="127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81" name="Freeform 681"/>
              <p:cNvSpPr>
                <a:spLocks/>
              </p:cNvSpPr>
              <p:nvPr/>
            </p:nvSpPr>
            <p:spPr bwMode="auto">
              <a:xfrm>
                <a:off x="4025" y="2269"/>
                <a:ext cx="113" cy="113"/>
              </a:xfrm>
              <a:custGeom>
                <a:avLst/>
                <a:gdLst>
                  <a:gd name="T0" fmla="*/ 0 w 683"/>
                  <a:gd name="T1" fmla="*/ 682 h 682"/>
                  <a:gd name="T2" fmla="*/ 682 w 683"/>
                  <a:gd name="T3" fmla="*/ 0 h 682"/>
                  <a:gd name="T4" fmla="*/ 683 w 683"/>
                  <a:gd name="T5" fmla="*/ 0 h 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3" h="682">
                    <a:moveTo>
                      <a:pt x="0" y="682"/>
                    </a:moveTo>
                    <a:lnTo>
                      <a:pt x="682" y="0"/>
                    </a:lnTo>
                    <a:lnTo>
                      <a:pt x="68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82" name="Freeform 682"/>
              <p:cNvSpPr>
                <a:spLocks/>
              </p:cNvSpPr>
              <p:nvPr/>
            </p:nvSpPr>
            <p:spPr bwMode="auto">
              <a:xfrm>
                <a:off x="3889" y="2383"/>
                <a:ext cx="136" cy="137"/>
              </a:xfrm>
              <a:custGeom>
                <a:avLst/>
                <a:gdLst>
                  <a:gd name="T0" fmla="*/ 0 w 818"/>
                  <a:gd name="T1" fmla="*/ 818 h 818"/>
                  <a:gd name="T2" fmla="*/ 816 w 818"/>
                  <a:gd name="T3" fmla="*/ 0 h 818"/>
                  <a:gd name="T4" fmla="*/ 818 w 818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8">
                    <a:moveTo>
                      <a:pt x="0" y="818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83" name="Freeform 683"/>
              <p:cNvSpPr>
                <a:spLocks/>
              </p:cNvSpPr>
              <p:nvPr/>
            </p:nvSpPr>
            <p:spPr bwMode="auto">
              <a:xfrm>
                <a:off x="3687" y="2729"/>
                <a:ext cx="27" cy="25"/>
              </a:xfrm>
              <a:custGeom>
                <a:avLst/>
                <a:gdLst>
                  <a:gd name="T0" fmla="*/ 0 w 153"/>
                  <a:gd name="T1" fmla="*/ 151 h 151"/>
                  <a:gd name="T2" fmla="*/ 152 w 153"/>
                  <a:gd name="T3" fmla="*/ 0 h 151"/>
                  <a:gd name="T4" fmla="*/ 153 w 153"/>
                  <a:gd name="T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" h="151">
                    <a:moveTo>
                      <a:pt x="0" y="151"/>
                    </a:moveTo>
                    <a:lnTo>
                      <a:pt x="152" y="0"/>
                    </a:lnTo>
                    <a:lnTo>
                      <a:pt x="15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84" name="Freeform 684"/>
              <p:cNvSpPr>
                <a:spLocks/>
              </p:cNvSpPr>
              <p:nvPr/>
            </p:nvSpPr>
            <p:spPr bwMode="auto">
              <a:xfrm>
                <a:off x="4150" y="2260"/>
                <a:ext cx="30" cy="31"/>
              </a:xfrm>
              <a:custGeom>
                <a:avLst/>
                <a:gdLst>
                  <a:gd name="T0" fmla="*/ 0 w 180"/>
                  <a:gd name="T1" fmla="*/ 180 h 180"/>
                  <a:gd name="T2" fmla="*/ 179 w 180"/>
                  <a:gd name="T3" fmla="*/ 0 h 180"/>
                  <a:gd name="T4" fmla="*/ 180 w 180"/>
                  <a:gd name="T5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0" h="180">
                    <a:moveTo>
                      <a:pt x="0" y="180"/>
                    </a:moveTo>
                    <a:lnTo>
                      <a:pt x="179" y="0"/>
                    </a:lnTo>
                    <a:lnTo>
                      <a:pt x="18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85" name="Freeform 685"/>
              <p:cNvSpPr>
                <a:spLocks/>
              </p:cNvSpPr>
              <p:nvPr/>
            </p:nvSpPr>
            <p:spPr bwMode="auto">
              <a:xfrm>
                <a:off x="3712" y="2552"/>
                <a:ext cx="176" cy="177"/>
              </a:xfrm>
              <a:custGeom>
                <a:avLst/>
                <a:gdLst>
                  <a:gd name="T0" fmla="*/ 0 w 1058"/>
                  <a:gd name="T1" fmla="*/ 1058 h 1058"/>
                  <a:gd name="T2" fmla="*/ 1057 w 1058"/>
                  <a:gd name="T3" fmla="*/ 0 h 1058"/>
                  <a:gd name="T4" fmla="*/ 1058 w 1058"/>
                  <a:gd name="T5" fmla="*/ 0 h 10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58" h="1058">
                    <a:moveTo>
                      <a:pt x="0" y="1058"/>
                    </a:moveTo>
                    <a:lnTo>
                      <a:pt x="1057" y="0"/>
                    </a:lnTo>
                    <a:lnTo>
                      <a:pt x="105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86" name="Freeform 686"/>
              <p:cNvSpPr>
                <a:spLocks/>
              </p:cNvSpPr>
              <p:nvPr/>
            </p:nvSpPr>
            <p:spPr bwMode="auto">
              <a:xfrm>
                <a:off x="4025" y="2291"/>
                <a:ext cx="125" cy="126"/>
              </a:xfrm>
              <a:custGeom>
                <a:avLst/>
                <a:gdLst>
                  <a:gd name="T0" fmla="*/ 0 w 757"/>
                  <a:gd name="T1" fmla="*/ 755 h 755"/>
                  <a:gd name="T2" fmla="*/ 756 w 757"/>
                  <a:gd name="T3" fmla="*/ 0 h 755"/>
                  <a:gd name="T4" fmla="*/ 757 w 757"/>
                  <a:gd name="T5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7" h="755">
                    <a:moveTo>
                      <a:pt x="0" y="755"/>
                    </a:moveTo>
                    <a:lnTo>
                      <a:pt x="756" y="0"/>
                    </a:lnTo>
                    <a:lnTo>
                      <a:pt x="75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87" name="Freeform 687"/>
              <p:cNvSpPr>
                <a:spLocks/>
              </p:cNvSpPr>
              <p:nvPr/>
            </p:nvSpPr>
            <p:spPr bwMode="auto">
              <a:xfrm>
                <a:off x="3889" y="2417"/>
                <a:ext cx="136" cy="137"/>
              </a:xfrm>
              <a:custGeom>
                <a:avLst/>
                <a:gdLst>
                  <a:gd name="T0" fmla="*/ 0 w 818"/>
                  <a:gd name="T1" fmla="*/ 817 h 817"/>
                  <a:gd name="T2" fmla="*/ 816 w 818"/>
                  <a:gd name="T3" fmla="*/ 0 h 817"/>
                  <a:gd name="T4" fmla="*/ 818 w 818"/>
                  <a:gd name="T5" fmla="*/ 0 h 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7">
                    <a:moveTo>
                      <a:pt x="0" y="817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88" name="Freeform 688"/>
              <p:cNvSpPr>
                <a:spLocks/>
              </p:cNvSpPr>
              <p:nvPr/>
            </p:nvSpPr>
            <p:spPr bwMode="auto">
              <a:xfrm>
                <a:off x="3714" y="2727"/>
                <a:ext cx="35" cy="35"/>
              </a:xfrm>
              <a:custGeom>
                <a:avLst/>
                <a:gdLst>
                  <a:gd name="T0" fmla="*/ 0 w 211"/>
                  <a:gd name="T1" fmla="*/ 211 h 211"/>
                  <a:gd name="T2" fmla="*/ 210 w 211"/>
                  <a:gd name="T3" fmla="*/ 0 h 211"/>
                  <a:gd name="T4" fmla="*/ 211 w 211"/>
                  <a:gd name="T5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1" h="211">
                    <a:moveTo>
                      <a:pt x="0" y="211"/>
                    </a:moveTo>
                    <a:lnTo>
                      <a:pt x="210" y="0"/>
                    </a:lnTo>
                    <a:lnTo>
                      <a:pt x="21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89" name="Freeform 689"/>
              <p:cNvSpPr>
                <a:spLocks/>
              </p:cNvSpPr>
              <p:nvPr/>
            </p:nvSpPr>
            <p:spPr bwMode="auto">
              <a:xfrm>
                <a:off x="4162" y="2282"/>
                <a:ext cx="31" cy="30"/>
              </a:xfrm>
              <a:custGeom>
                <a:avLst/>
                <a:gdLst>
                  <a:gd name="T0" fmla="*/ 0 w 182"/>
                  <a:gd name="T1" fmla="*/ 182 h 182"/>
                  <a:gd name="T2" fmla="*/ 181 w 182"/>
                  <a:gd name="T3" fmla="*/ 0 h 182"/>
                  <a:gd name="T4" fmla="*/ 182 w 182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2">
                    <a:moveTo>
                      <a:pt x="0" y="182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90" name="Freeform 690"/>
              <p:cNvSpPr>
                <a:spLocks/>
              </p:cNvSpPr>
              <p:nvPr/>
            </p:nvSpPr>
            <p:spPr bwMode="auto">
              <a:xfrm>
                <a:off x="3749" y="2586"/>
                <a:ext cx="140" cy="141"/>
              </a:xfrm>
              <a:custGeom>
                <a:avLst/>
                <a:gdLst>
                  <a:gd name="T0" fmla="*/ 0 w 843"/>
                  <a:gd name="T1" fmla="*/ 843 h 843"/>
                  <a:gd name="T2" fmla="*/ 842 w 843"/>
                  <a:gd name="T3" fmla="*/ 0 h 843"/>
                  <a:gd name="T4" fmla="*/ 843 w 843"/>
                  <a:gd name="T5" fmla="*/ 0 h 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3" h="843">
                    <a:moveTo>
                      <a:pt x="0" y="843"/>
                    </a:moveTo>
                    <a:lnTo>
                      <a:pt x="842" y="0"/>
                    </a:lnTo>
                    <a:lnTo>
                      <a:pt x="84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91" name="Freeform 691"/>
              <p:cNvSpPr>
                <a:spLocks/>
              </p:cNvSpPr>
              <p:nvPr/>
            </p:nvSpPr>
            <p:spPr bwMode="auto">
              <a:xfrm>
                <a:off x="4025" y="2312"/>
                <a:ext cx="137" cy="139"/>
              </a:xfrm>
              <a:custGeom>
                <a:avLst/>
                <a:gdLst>
                  <a:gd name="T0" fmla="*/ 0 w 830"/>
                  <a:gd name="T1" fmla="*/ 829 h 829"/>
                  <a:gd name="T2" fmla="*/ 829 w 830"/>
                  <a:gd name="T3" fmla="*/ 0 h 829"/>
                  <a:gd name="T4" fmla="*/ 830 w 830"/>
                  <a:gd name="T5" fmla="*/ 0 h 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0" h="829">
                    <a:moveTo>
                      <a:pt x="0" y="829"/>
                    </a:moveTo>
                    <a:lnTo>
                      <a:pt x="829" y="0"/>
                    </a:lnTo>
                    <a:lnTo>
                      <a:pt x="83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92" name="Freeform 692"/>
              <p:cNvSpPr>
                <a:spLocks/>
              </p:cNvSpPr>
              <p:nvPr/>
            </p:nvSpPr>
            <p:spPr bwMode="auto">
              <a:xfrm>
                <a:off x="3889" y="2450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93" name="Freeform 693"/>
              <p:cNvSpPr>
                <a:spLocks/>
              </p:cNvSpPr>
              <p:nvPr/>
            </p:nvSpPr>
            <p:spPr bwMode="auto">
              <a:xfrm>
                <a:off x="3739" y="2725"/>
                <a:ext cx="44" cy="45"/>
              </a:xfrm>
              <a:custGeom>
                <a:avLst/>
                <a:gdLst>
                  <a:gd name="T0" fmla="*/ 0 w 267"/>
                  <a:gd name="T1" fmla="*/ 266 h 266"/>
                  <a:gd name="T2" fmla="*/ 266 w 267"/>
                  <a:gd name="T3" fmla="*/ 0 h 266"/>
                  <a:gd name="T4" fmla="*/ 267 w 267"/>
                  <a:gd name="T5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7" h="266">
                    <a:moveTo>
                      <a:pt x="0" y="266"/>
                    </a:moveTo>
                    <a:lnTo>
                      <a:pt x="266" y="0"/>
                    </a:lnTo>
                    <a:lnTo>
                      <a:pt x="2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94" name="Freeform 694"/>
              <p:cNvSpPr>
                <a:spLocks/>
              </p:cNvSpPr>
              <p:nvPr/>
            </p:nvSpPr>
            <p:spPr bwMode="auto">
              <a:xfrm>
                <a:off x="4174" y="2303"/>
                <a:ext cx="31" cy="31"/>
              </a:xfrm>
              <a:custGeom>
                <a:avLst/>
                <a:gdLst>
                  <a:gd name="T0" fmla="*/ 0 w 182"/>
                  <a:gd name="T1" fmla="*/ 181 h 181"/>
                  <a:gd name="T2" fmla="*/ 181 w 182"/>
                  <a:gd name="T3" fmla="*/ 0 h 181"/>
                  <a:gd name="T4" fmla="*/ 182 w 182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1">
                    <a:moveTo>
                      <a:pt x="0" y="181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95" name="Freeform 695"/>
              <p:cNvSpPr>
                <a:spLocks/>
              </p:cNvSpPr>
              <p:nvPr/>
            </p:nvSpPr>
            <p:spPr bwMode="auto">
              <a:xfrm>
                <a:off x="3784" y="2620"/>
                <a:ext cx="105" cy="105"/>
              </a:xfrm>
              <a:custGeom>
                <a:avLst/>
                <a:gdLst>
                  <a:gd name="T0" fmla="*/ 0 w 631"/>
                  <a:gd name="T1" fmla="*/ 631 h 631"/>
                  <a:gd name="T2" fmla="*/ 630 w 631"/>
                  <a:gd name="T3" fmla="*/ 0 h 631"/>
                  <a:gd name="T4" fmla="*/ 631 w 631"/>
                  <a:gd name="T5" fmla="*/ 0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1" h="631">
                    <a:moveTo>
                      <a:pt x="0" y="631"/>
                    </a:moveTo>
                    <a:lnTo>
                      <a:pt x="630" y="0"/>
                    </a:lnTo>
                    <a:lnTo>
                      <a:pt x="63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96" name="Freeform 696"/>
              <p:cNvSpPr>
                <a:spLocks/>
              </p:cNvSpPr>
              <p:nvPr/>
            </p:nvSpPr>
            <p:spPr bwMode="auto">
              <a:xfrm>
                <a:off x="4025" y="2335"/>
                <a:ext cx="149" cy="151"/>
              </a:xfrm>
              <a:custGeom>
                <a:avLst/>
                <a:gdLst>
                  <a:gd name="T0" fmla="*/ 0 w 903"/>
                  <a:gd name="T1" fmla="*/ 902 h 902"/>
                  <a:gd name="T2" fmla="*/ 902 w 903"/>
                  <a:gd name="T3" fmla="*/ 0 h 902"/>
                  <a:gd name="T4" fmla="*/ 903 w 903"/>
                  <a:gd name="T5" fmla="*/ 0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3" h="902">
                    <a:moveTo>
                      <a:pt x="0" y="902"/>
                    </a:moveTo>
                    <a:lnTo>
                      <a:pt x="902" y="0"/>
                    </a:lnTo>
                    <a:lnTo>
                      <a:pt x="90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97" name="Freeform 697"/>
              <p:cNvSpPr>
                <a:spLocks/>
              </p:cNvSpPr>
              <p:nvPr/>
            </p:nvSpPr>
            <p:spPr bwMode="auto">
              <a:xfrm>
                <a:off x="3889" y="2484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98" name="Freeform 698"/>
              <p:cNvSpPr>
                <a:spLocks/>
              </p:cNvSpPr>
              <p:nvPr/>
            </p:nvSpPr>
            <p:spPr bwMode="auto">
              <a:xfrm>
                <a:off x="3765" y="2725"/>
                <a:ext cx="54" cy="52"/>
              </a:xfrm>
              <a:custGeom>
                <a:avLst/>
                <a:gdLst>
                  <a:gd name="T0" fmla="*/ 0 w 318"/>
                  <a:gd name="T1" fmla="*/ 317 h 317"/>
                  <a:gd name="T2" fmla="*/ 317 w 318"/>
                  <a:gd name="T3" fmla="*/ 0 h 317"/>
                  <a:gd name="T4" fmla="*/ 318 w 318"/>
                  <a:gd name="T5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8" h="317">
                    <a:moveTo>
                      <a:pt x="0" y="317"/>
                    </a:moveTo>
                    <a:lnTo>
                      <a:pt x="317" y="0"/>
                    </a:lnTo>
                    <a:lnTo>
                      <a:pt x="3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899" name="Freeform 699"/>
              <p:cNvSpPr>
                <a:spLocks/>
              </p:cNvSpPr>
              <p:nvPr/>
            </p:nvSpPr>
            <p:spPr bwMode="auto">
              <a:xfrm>
                <a:off x="4186" y="2325"/>
                <a:ext cx="31" cy="31"/>
              </a:xfrm>
              <a:custGeom>
                <a:avLst/>
                <a:gdLst>
                  <a:gd name="T0" fmla="*/ 0 w 184"/>
                  <a:gd name="T1" fmla="*/ 182 h 182"/>
                  <a:gd name="T2" fmla="*/ 183 w 184"/>
                  <a:gd name="T3" fmla="*/ 0 h 182"/>
                  <a:gd name="T4" fmla="*/ 184 w 184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2">
                    <a:moveTo>
                      <a:pt x="0" y="182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00" name="Freeform 700"/>
              <p:cNvSpPr>
                <a:spLocks/>
              </p:cNvSpPr>
              <p:nvPr/>
            </p:nvSpPr>
            <p:spPr bwMode="auto">
              <a:xfrm>
                <a:off x="3819" y="2654"/>
                <a:ext cx="70" cy="71"/>
              </a:xfrm>
              <a:custGeom>
                <a:avLst/>
                <a:gdLst>
                  <a:gd name="T0" fmla="*/ 0 w 423"/>
                  <a:gd name="T1" fmla="*/ 423 h 423"/>
                  <a:gd name="T2" fmla="*/ 422 w 423"/>
                  <a:gd name="T3" fmla="*/ 0 h 423"/>
                  <a:gd name="T4" fmla="*/ 423 w 423"/>
                  <a:gd name="T5" fmla="*/ 0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3" h="423">
                    <a:moveTo>
                      <a:pt x="0" y="423"/>
                    </a:moveTo>
                    <a:lnTo>
                      <a:pt x="422" y="0"/>
                    </a:lnTo>
                    <a:lnTo>
                      <a:pt x="42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01" name="Freeform 701"/>
              <p:cNvSpPr>
                <a:spLocks/>
              </p:cNvSpPr>
              <p:nvPr/>
            </p:nvSpPr>
            <p:spPr bwMode="auto">
              <a:xfrm>
                <a:off x="4025" y="2356"/>
                <a:ext cx="163" cy="164"/>
              </a:xfrm>
              <a:custGeom>
                <a:avLst/>
                <a:gdLst>
                  <a:gd name="T0" fmla="*/ 0 w 975"/>
                  <a:gd name="T1" fmla="*/ 976 h 976"/>
                  <a:gd name="T2" fmla="*/ 974 w 975"/>
                  <a:gd name="T3" fmla="*/ 0 h 976"/>
                  <a:gd name="T4" fmla="*/ 975 w 975"/>
                  <a:gd name="T5" fmla="*/ 0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5" h="976">
                    <a:moveTo>
                      <a:pt x="0" y="976"/>
                    </a:moveTo>
                    <a:lnTo>
                      <a:pt x="974" y="0"/>
                    </a:lnTo>
                    <a:lnTo>
                      <a:pt x="97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02" name="Freeform 702"/>
              <p:cNvSpPr>
                <a:spLocks/>
              </p:cNvSpPr>
              <p:nvPr/>
            </p:nvSpPr>
            <p:spPr bwMode="auto">
              <a:xfrm>
                <a:off x="3889" y="2518"/>
                <a:ext cx="136" cy="136"/>
              </a:xfrm>
              <a:custGeom>
                <a:avLst/>
                <a:gdLst>
                  <a:gd name="T0" fmla="*/ 0 w 816"/>
                  <a:gd name="T1" fmla="*/ 815 h 815"/>
                  <a:gd name="T2" fmla="*/ 815 w 816"/>
                  <a:gd name="T3" fmla="*/ 0 h 815"/>
                  <a:gd name="T4" fmla="*/ 816 w 816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5">
                    <a:moveTo>
                      <a:pt x="0" y="815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03" name="Freeform 703"/>
              <p:cNvSpPr>
                <a:spLocks/>
              </p:cNvSpPr>
              <p:nvPr/>
            </p:nvSpPr>
            <p:spPr bwMode="auto">
              <a:xfrm>
                <a:off x="3792" y="2725"/>
                <a:ext cx="62" cy="62"/>
              </a:xfrm>
              <a:custGeom>
                <a:avLst/>
                <a:gdLst>
                  <a:gd name="T0" fmla="*/ 0 w 366"/>
                  <a:gd name="T1" fmla="*/ 364 h 364"/>
                  <a:gd name="T2" fmla="*/ 365 w 366"/>
                  <a:gd name="T3" fmla="*/ 0 h 364"/>
                  <a:gd name="T4" fmla="*/ 366 w 366"/>
                  <a:gd name="T5" fmla="*/ 0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6" h="364">
                    <a:moveTo>
                      <a:pt x="0" y="364"/>
                    </a:moveTo>
                    <a:lnTo>
                      <a:pt x="365" y="0"/>
                    </a:lnTo>
                    <a:lnTo>
                      <a:pt x="36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04" name="Freeform 704"/>
              <p:cNvSpPr>
                <a:spLocks/>
              </p:cNvSpPr>
              <p:nvPr/>
            </p:nvSpPr>
            <p:spPr bwMode="auto">
              <a:xfrm>
                <a:off x="4199" y="2347"/>
                <a:ext cx="31" cy="30"/>
              </a:xfrm>
              <a:custGeom>
                <a:avLst/>
                <a:gdLst>
                  <a:gd name="T0" fmla="*/ 0 w 184"/>
                  <a:gd name="T1" fmla="*/ 184 h 184"/>
                  <a:gd name="T2" fmla="*/ 183 w 184"/>
                  <a:gd name="T3" fmla="*/ 0 h 184"/>
                  <a:gd name="T4" fmla="*/ 184 w 184"/>
                  <a:gd name="T5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4">
                    <a:moveTo>
                      <a:pt x="0" y="184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05" name="Freeform 705"/>
              <p:cNvSpPr>
                <a:spLocks/>
              </p:cNvSpPr>
              <p:nvPr/>
            </p:nvSpPr>
            <p:spPr bwMode="auto">
              <a:xfrm>
                <a:off x="3852" y="2688"/>
                <a:ext cx="36" cy="37"/>
              </a:xfrm>
              <a:custGeom>
                <a:avLst/>
                <a:gdLst>
                  <a:gd name="T0" fmla="*/ 0 w 219"/>
                  <a:gd name="T1" fmla="*/ 219 h 219"/>
                  <a:gd name="T2" fmla="*/ 218 w 219"/>
                  <a:gd name="T3" fmla="*/ 0 h 219"/>
                  <a:gd name="T4" fmla="*/ 219 w 219"/>
                  <a:gd name="T5" fmla="*/ 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9" h="219">
                    <a:moveTo>
                      <a:pt x="0" y="219"/>
                    </a:moveTo>
                    <a:lnTo>
                      <a:pt x="218" y="0"/>
                    </a:lnTo>
                    <a:lnTo>
                      <a:pt x="21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06" name="Freeform 706"/>
              <p:cNvSpPr>
                <a:spLocks/>
              </p:cNvSpPr>
              <p:nvPr/>
            </p:nvSpPr>
            <p:spPr bwMode="auto">
              <a:xfrm>
                <a:off x="4025" y="2377"/>
                <a:ext cx="174" cy="175"/>
              </a:xfrm>
              <a:custGeom>
                <a:avLst/>
                <a:gdLst>
                  <a:gd name="T0" fmla="*/ 0 w 1049"/>
                  <a:gd name="T1" fmla="*/ 1048 h 1048"/>
                  <a:gd name="T2" fmla="*/ 1048 w 1049"/>
                  <a:gd name="T3" fmla="*/ 0 h 1048"/>
                  <a:gd name="T4" fmla="*/ 1049 w 1049"/>
                  <a:gd name="T5" fmla="*/ 0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9" h="1048">
                    <a:moveTo>
                      <a:pt x="0" y="1048"/>
                    </a:moveTo>
                    <a:lnTo>
                      <a:pt x="1048" y="0"/>
                    </a:lnTo>
                    <a:lnTo>
                      <a:pt x="104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07" name="Freeform 707"/>
              <p:cNvSpPr>
                <a:spLocks/>
              </p:cNvSpPr>
              <p:nvPr/>
            </p:nvSpPr>
            <p:spPr bwMode="auto">
              <a:xfrm>
                <a:off x="3889" y="2552"/>
                <a:ext cx="136" cy="136"/>
              </a:xfrm>
              <a:custGeom>
                <a:avLst/>
                <a:gdLst>
                  <a:gd name="T0" fmla="*/ 0 w 815"/>
                  <a:gd name="T1" fmla="*/ 815 h 815"/>
                  <a:gd name="T2" fmla="*/ 814 w 815"/>
                  <a:gd name="T3" fmla="*/ 0 h 815"/>
                  <a:gd name="T4" fmla="*/ 815 w 815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5">
                    <a:moveTo>
                      <a:pt x="0" y="815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08" name="Freeform 708"/>
              <p:cNvSpPr>
                <a:spLocks/>
              </p:cNvSpPr>
              <p:nvPr/>
            </p:nvSpPr>
            <p:spPr bwMode="auto">
              <a:xfrm>
                <a:off x="3817" y="2725"/>
                <a:ext cx="69" cy="69"/>
              </a:xfrm>
              <a:custGeom>
                <a:avLst/>
                <a:gdLst>
                  <a:gd name="T0" fmla="*/ 0 w 411"/>
                  <a:gd name="T1" fmla="*/ 410 h 410"/>
                  <a:gd name="T2" fmla="*/ 410 w 411"/>
                  <a:gd name="T3" fmla="*/ 0 h 410"/>
                  <a:gd name="T4" fmla="*/ 411 w 411"/>
                  <a:gd name="T5" fmla="*/ 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1" h="410">
                    <a:moveTo>
                      <a:pt x="0" y="410"/>
                    </a:moveTo>
                    <a:lnTo>
                      <a:pt x="410" y="0"/>
                    </a:lnTo>
                    <a:lnTo>
                      <a:pt x="41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09" name="Freeform 709"/>
              <p:cNvSpPr>
                <a:spLocks/>
              </p:cNvSpPr>
              <p:nvPr/>
            </p:nvSpPr>
            <p:spPr bwMode="auto">
              <a:xfrm>
                <a:off x="4211" y="2368"/>
                <a:ext cx="31" cy="31"/>
              </a:xfrm>
              <a:custGeom>
                <a:avLst/>
                <a:gdLst>
                  <a:gd name="T0" fmla="*/ 0 w 187"/>
                  <a:gd name="T1" fmla="*/ 186 h 186"/>
                  <a:gd name="T2" fmla="*/ 186 w 187"/>
                  <a:gd name="T3" fmla="*/ 0 h 186"/>
                  <a:gd name="T4" fmla="*/ 187 w 187"/>
                  <a:gd name="T5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6">
                    <a:moveTo>
                      <a:pt x="0" y="186"/>
                    </a:moveTo>
                    <a:lnTo>
                      <a:pt x="186" y="0"/>
                    </a:lnTo>
                    <a:lnTo>
                      <a:pt x="18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10" name="Freeform 710"/>
              <p:cNvSpPr>
                <a:spLocks/>
              </p:cNvSpPr>
              <p:nvPr/>
            </p:nvSpPr>
            <p:spPr bwMode="auto">
              <a:xfrm>
                <a:off x="3885" y="2722"/>
                <a:ext cx="4" cy="3"/>
              </a:xfrm>
              <a:custGeom>
                <a:avLst/>
                <a:gdLst>
                  <a:gd name="T0" fmla="*/ 0 w 18"/>
                  <a:gd name="T1" fmla="*/ 17 h 17"/>
                  <a:gd name="T2" fmla="*/ 17 w 18"/>
                  <a:gd name="T3" fmla="*/ 0 h 17"/>
                  <a:gd name="T4" fmla="*/ 18 w 18"/>
                  <a:gd name="T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" h="17">
                    <a:moveTo>
                      <a:pt x="0" y="17"/>
                    </a:moveTo>
                    <a:lnTo>
                      <a:pt x="17" y="0"/>
                    </a:lnTo>
                    <a:lnTo>
                      <a:pt x="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11" name="Freeform 711"/>
              <p:cNvSpPr>
                <a:spLocks/>
              </p:cNvSpPr>
              <p:nvPr/>
            </p:nvSpPr>
            <p:spPr bwMode="auto">
              <a:xfrm>
                <a:off x="4025" y="2400"/>
                <a:ext cx="186" cy="188"/>
              </a:xfrm>
              <a:custGeom>
                <a:avLst/>
                <a:gdLst>
                  <a:gd name="T0" fmla="*/ 0 w 1121"/>
                  <a:gd name="T1" fmla="*/ 1121 h 1121"/>
                  <a:gd name="T2" fmla="*/ 1120 w 1121"/>
                  <a:gd name="T3" fmla="*/ 0 h 1121"/>
                  <a:gd name="T4" fmla="*/ 1121 w 1121"/>
                  <a:gd name="T5" fmla="*/ 0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1" h="1121">
                    <a:moveTo>
                      <a:pt x="0" y="1121"/>
                    </a:moveTo>
                    <a:lnTo>
                      <a:pt x="1120" y="0"/>
                    </a:lnTo>
                    <a:lnTo>
                      <a:pt x="112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12" name="Freeform 712"/>
              <p:cNvSpPr>
                <a:spLocks/>
              </p:cNvSpPr>
              <p:nvPr/>
            </p:nvSpPr>
            <p:spPr bwMode="auto">
              <a:xfrm>
                <a:off x="3889" y="2586"/>
                <a:ext cx="136" cy="136"/>
              </a:xfrm>
              <a:custGeom>
                <a:avLst/>
                <a:gdLst>
                  <a:gd name="T0" fmla="*/ 0 w 815"/>
                  <a:gd name="T1" fmla="*/ 814 h 814"/>
                  <a:gd name="T2" fmla="*/ 814 w 815"/>
                  <a:gd name="T3" fmla="*/ 0 h 814"/>
                  <a:gd name="T4" fmla="*/ 815 w 815"/>
                  <a:gd name="T5" fmla="*/ 0 h 8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4">
                    <a:moveTo>
                      <a:pt x="0" y="814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13" name="Freeform 713"/>
              <p:cNvSpPr>
                <a:spLocks/>
              </p:cNvSpPr>
              <p:nvPr/>
            </p:nvSpPr>
            <p:spPr bwMode="auto">
              <a:xfrm>
                <a:off x="3843" y="2756"/>
                <a:ext cx="46" cy="45"/>
              </a:xfrm>
              <a:custGeom>
                <a:avLst/>
                <a:gdLst>
                  <a:gd name="T0" fmla="*/ 0 w 270"/>
                  <a:gd name="T1" fmla="*/ 271 h 271"/>
                  <a:gd name="T2" fmla="*/ 269 w 270"/>
                  <a:gd name="T3" fmla="*/ 0 h 271"/>
                  <a:gd name="T4" fmla="*/ 270 w 270"/>
                  <a:gd name="T5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0" h="271">
                    <a:moveTo>
                      <a:pt x="0" y="271"/>
                    </a:moveTo>
                    <a:lnTo>
                      <a:pt x="269" y="0"/>
                    </a:lnTo>
                    <a:lnTo>
                      <a:pt x="27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14" name="Freeform 714"/>
              <p:cNvSpPr>
                <a:spLocks/>
              </p:cNvSpPr>
              <p:nvPr/>
            </p:nvSpPr>
            <p:spPr bwMode="auto">
              <a:xfrm>
                <a:off x="4223" y="2390"/>
                <a:ext cx="31" cy="31"/>
              </a:xfrm>
              <a:custGeom>
                <a:avLst/>
                <a:gdLst>
                  <a:gd name="T0" fmla="*/ 0 w 187"/>
                  <a:gd name="T1" fmla="*/ 185 h 185"/>
                  <a:gd name="T2" fmla="*/ 185 w 187"/>
                  <a:gd name="T3" fmla="*/ 0 h 185"/>
                  <a:gd name="T4" fmla="*/ 187 w 187"/>
                  <a:gd name="T5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5">
                    <a:moveTo>
                      <a:pt x="0" y="185"/>
                    </a:moveTo>
                    <a:lnTo>
                      <a:pt x="185" y="0"/>
                    </a:lnTo>
                    <a:lnTo>
                      <a:pt x="18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15" name="Freeform 715"/>
              <p:cNvSpPr>
                <a:spLocks/>
              </p:cNvSpPr>
              <p:nvPr/>
            </p:nvSpPr>
            <p:spPr bwMode="auto">
              <a:xfrm>
                <a:off x="3889" y="2725"/>
                <a:ext cx="31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16" name="Freeform 716"/>
              <p:cNvSpPr>
                <a:spLocks/>
              </p:cNvSpPr>
              <p:nvPr/>
            </p:nvSpPr>
            <p:spPr bwMode="auto">
              <a:xfrm>
                <a:off x="4025" y="2421"/>
                <a:ext cx="198" cy="199"/>
              </a:xfrm>
              <a:custGeom>
                <a:avLst/>
                <a:gdLst>
                  <a:gd name="T0" fmla="*/ 0 w 1195"/>
                  <a:gd name="T1" fmla="*/ 1194 h 1194"/>
                  <a:gd name="T2" fmla="*/ 1194 w 1195"/>
                  <a:gd name="T3" fmla="*/ 0 h 1194"/>
                  <a:gd name="T4" fmla="*/ 1195 w 1195"/>
                  <a:gd name="T5" fmla="*/ 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95" h="1194">
                    <a:moveTo>
                      <a:pt x="0" y="1194"/>
                    </a:moveTo>
                    <a:lnTo>
                      <a:pt x="1194" y="0"/>
                    </a:lnTo>
                    <a:lnTo>
                      <a:pt x="119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17" name="Freeform 717"/>
              <p:cNvSpPr>
                <a:spLocks/>
              </p:cNvSpPr>
              <p:nvPr/>
            </p:nvSpPr>
            <p:spPr bwMode="auto">
              <a:xfrm>
                <a:off x="3920" y="2620"/>
                <a:ext cx="105" cy="105"/>
              </a:xfrm>
              <a:custGeom>
                <a:avLst/>
                <a:gdLst>
                  <a:gd name="T0" fmla="*/ 0 w 632"/>
                  <a:gd name="T1" fmla="*/ 633 h 633"/>
                  <a:gd name="T2" fmla="*/ 631 w 632"/>
                  <a:gd name="T3" fmla="*/ 0 h 633"/>
                  <a:gd name="T4" fmla="*/ 632 w 632"/>
                  <a:gd name="T5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2" h="633">
                    <a:moveTo>
                      <a:pt x="0" y="633"/>
                    </a:moveTo>
                    <a:lnTo>
                      <a:pt x="631" y="0"/>
                    </a:lnTo>
                    <a:lnTo>
                      <a:pt x="63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18" name="Freeform 718"/>
              <p:cNvSpPr>
                <a:spLocks/>
              </p:cNvSpPr>
              <p:nvPr/>
            </p:nvSpPr>
            <p:spPr bwMode="auto">
              <a:xfrm>
                <a:off x="3869" y="2790"/>
                <a:ext cx="20" cy="18"/>
              </a:xfrm>
              <a:custGeom>
                <a:avLst/>
                <a:gdLst>
                  <a:gd name="T0" fmla="*/ 0 w 114"/>
                  <a:gd name="T1" fmla="*/ 114 h 114"/>
                  <a:gd name="T2" fmla="*/ 113 w 114"/>
                  <a:gd name="T3" fmla="*/ 0 h 114"/>
                  <a:gd name="T4" fmla="*/ 114 w 114"/>
                  <a:gd name="T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4" h="114">
                    <a:moveTo>
                      <a:pt x="0" y="114"/>
                    </a:moveTo>
                    <a:lnTo>
                      <a:pt x="113" y="0"/>
                    </a:lnTo>
                    <a:lnTo>
                      <a:pt x="11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19" name="Freeform 719"/>
              <p:cNvSpPr>
                <a:spLocks/>
              </p:cNvSpPr>
              <p:nvPr/>
            </p:nvSpPr>
            <p:spPr bwMode="auto">
              <a:xfrm>
                <a:off x="4235" y="2412"/>
                <a:ext cx="30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20" name="Freeform 720"/>
              <p:cNvSpPr>
                <a:spLocks/>
              </p:cNvSpPr>
              <p:nvPr/>
            </p:nvSpPr>
            <p:spPr bwMode="auto">
              <a:xfrm>
                <a:off x="3889" y="2727"/>
                <a:ext cx="62" cy="62"/>
              </a:xfrm>
              <a:custGeom>
                <a:avLst/>
                <a:gdLst>
                  <a:gd name="T0" fmla="*/ 0 w 379"/>
                  <a:gd name="T1" fmla="*/ 377 h 377"/>
                  <a:gd name="T2" fmla="*/ 378 w 379"/>
                  <a:gd name="T3" fmla="*/ 0 h 377"/>
                  <a:gd name="T4" fmla="*/ 379 w 379"/>
                  <a:gd name="T5" fmla="*/ 0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9" h="377">
                    <a:moveTo>
                      <a:pt x="0" y="377"/>
                    </a:moveTo>
                    <a:lnTo>
                      <a:pt x="378" y="0"/>
                    </a:lnTo>
                    <a:lnTo>
                      <a:pt x="37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21" name="Freeform 721"/>
              <p:cNvSpPr>
                <a:spLocks/>
              </p:cNvSpPr>
              <p:nvPr/>
            </p:nvSpPr>
            <p:spPr bwMode="auto">
              <a:xfrm>
                <a:off x="4025" y="2443"/>
                <a:ext cx="210" cy="211"/>
              </a:xfrm>
              <a:custGeom>
                <a:avLst/>
                <a:gdLst>
                  <a:gd name="T0" fmla="*/ 0 w 1267"/>
                  <a:gd name="T1" fmla="*/ 1268 h 1268"/>
                  <a:gd name="T2" fmla="*/ 1266 w 1267"/>
                  <a:gd name="T3" fmla="*/ 0 h 1268"/>
                  <a:gd name="T4" fmla="*/ 1267 w 1267"/>
                  <a:gd name="T5" fmla="*/ 0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7" h="1268">
                    <a:moveTo>
                      <a:pt x="0" y="1268"/>
                    </a:moveTo>
                    <a:lnTo>
                      <a:pt x="1266" y="0"/>
                    </a:lnTo>
                    <a:lnTo>
                      <a:pt x="12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22" name="Freeform 722"/>
              <p:cNvSpPr>
                <a:spLocks/>
              </p:cNvSpPr>
              <p:nvPr/>
            </p:nvSpPr>
            <p:spPr bwMode="auto">
              <a:xfrm>
                <a:off x="3951" y="2654"/>
                <a:ext cx="74" cy="75"/>
              </a:xfrm>
              <a:custGeom>
                <a:avLst/>
                <a:gdLst>
                  <a:gd name="T0" fmla="*/ 0 w 436"/>
                  <a:gd name="T1" fmla="*/ 436 h 436"/>
                  <a:gd name="T2" fmla="*/ 435 w 436"/>
                  <a:gd name="T3" fmla="*/ 0 h 436"/>
                  <a:gd name="T4" fmla="*/ 436 w 436"/>
                  <a:gd name="T5" fmla="*/ 0 h 4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6" h="436">
                    <a:moveTo>
                      <a:pt x="0" y="436"/>
                    </a:moveTo>
                    <a:lnTo>
                      <a:pt x="435" y="0"/>
                    </a:lnTo>
                    <a:lnTo>
                      <a:pt x="43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23" name="Freeform 723"/>
              <p:cNvSpPr>
                <a:spLocks/>
              </p:cNvSpPr>
              <p:nvPr/>
            </p:nvSpPr>
            <p:spPr bwMode="auto">
              <a:xfrm>
                <a:off x="3896" y="2729"/>
                <a:ext cx="89" cy="89"/>
              </a:xfrm>
              <a:custGeom>
                <a:avLst/>
                <a:gdLst>
                  <a:gd name="T0" fmla="*/ 0 w 527"/>
                  <a:gd name="T1" fmla="*/ 527 h 527"/>
                  <a:gd name="T2" fmla="*/ 526 w 527"/>
                  <a:gd name="T3" fmla="*/ 0 h 527"/>
                  <a:gd name="T4" fmla="*/ 527 w 527"/>
                  <a:gd name="T5" fmla="*/ 0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" h="527">
                    <a:moveTo>
                      <a:pt x="0" y="527"/>
                    </a:moveTo>
                    <a:lnTo>
                      <a:pt x="526" y="0"/>
                    </a:lnTo>
                    <a:lnTo>
                      <a:pt x="52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24" name="Freeform 724"/>
              <p:cNvSpPr>
                <a:spLocks/>
              </p:cNvSpPr>
              <p:nvPr/>
            </p:nvSpPr>
            <p:spPr bwMode="auto">
              <a:xfrm>
                <a:off x="4247" y="2436"/>
                <a:ext cx="30" cy="28"/>
              </a:xfrm>
              <a:custGeom>
                <a:avLst/>
                <a:gdLst>
                  <a:gd name="T0" fmla="*/ 0 w 173"/>
                  <a:gd name="T1" fmla="*/ 173 h 173"/>
                  <a:gd name="T2" fmla="*/ 172 w 173"/>
                  <a:gd name="T3" fmla="*/ 0 h 173"/>
                  <a:gd name="T4" fmla="*/ 173 w 173"/>
                  <a:gd name="T5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" h="173">
                    <a:moveTo>
                      <a:pt x="0" y="173"/>
                    </a:moveTo>
                    <a:lnTo>
                      <a:pt x="172" y="0"/>
                    </a:lnTo>
                    <a:lnTo>
                      <a:pt x="17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25" name="Freeform 725"/>
              <p:cNvSpPr>
                <a:spLocks/>
              </p:cNvSpPr>
              <p:nvPr/>
            </p:nvSpPr>
            <p:spPr bwMode="auto">
              <a:xfrm>
                <a:off x="3983" y="2688"/>
                <a:ext cx="42" cy="41"/>
              </a:xfrm>
              <a:custGeom>
                <a:avLst/>
                <a:gdLst>
                  <a:gd name="T0" fmla="*/ 0 w 244"/>
                  <a:gd name="T1" fmla="*/ 243 h 243"/>
                  <a:gd name="T2" fmla="*/ 243 w 244"/>
                  <a:gd name="T3" fmla="*/ 0 h 243"/>
                  <a:gd name="T4" fmla="*/ 244 w 244"/>
                  <a:gd name="T5" fmla="*/ 0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4" h="243">
                    <a:moveTo>
                      <a:pt x="0" y="243"/>
                    </a:moveTo>
                    <a:lnTo>
                      <a:pt x="243" y="0"/>
                    </a:lnTo>
                    <a:lnTo>
                      <a:pt x="24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26" name="Freeform 726"/>
              <p:cNvSpPr>
                <a:spLocks/>
              </p:cNvSpPr>
              <p:nvPr/>
            </p:nvSpPr>
            <p:spPr bwMode="auto">
              <a:xfrm>
                <a:off x="4025" y="2465"/>
                <a:ext cx="222" cy="223"/>
              </a:xfrm>
              <a:custGeom>
                <a:avLst/>
                <a:gdLst>
                  <a:gd name="T0" fmla="*/ 0 w 1340"/>
                  <a:gd name="T1" fmla="*/ 1340 h 1340"/>
                  <a:gd name="T2" fmla="*/ 1339 w 1340"/>
                  <a:gd name="T3" fmla="*/ 0 h 1340"/>
                  <a:gd name="T4" fmla="*/ 1340 w 1340"/>
                  <a:gd name="T5" fmla="*/ 0 h 1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40" h="1340">
                    <a:moveTo>
                      <a:pt x="0" y="1340"/>
                    </a:moveTo>
                    <a:lnTo>
                      <a:pt x="1339" y="0"/>
                    </a:lnTo>
                    <a:lnTo>
                      <a:pt x="134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27" name="Freeform 727"/>
              <p:cNvSpPr>
                <a:spLocks/>
              </p:cNvSpPr>
              <p:nvPr/>
            </p:nvSpPr>
            <p:spPr bwMode="auto">
              <a:xfrm>
                <a:off x="3921" y="2730"/>
                <a:ext cx="94" cy="95"/>
              </a:xfrm>
              <a:custGeom>
                <a:avLst/>
                <a:gdLst>
                  <a:gd name="T0" fmla="*/ 0 w 562"/>
                  <a:gd name="T1" fmla="*/ 561 h 561"/>
                  <a:gd name="T2" fmla="*/ 560 w 562"/>
                  <a:gd name="T3" fmla="*/ 0 h 561"/>
                  <a:gd name="T4" fmla="*/ 562 w 562"/>
                  <a:gd name="T5" fmla="*/ 0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2" h="561">
                    <a:moveTo>
                      <a:pt x="0" y="561"/>
                    </a:moveTo>
                    <a:lnTo>
                      <a:pt x="560" y="0"/>
                    </a:lnTo>
                    <a:lnTo>
                      <a:pt x="56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28" name="Freeform 728"/>
              <p:cNvSpPr>
                <a:spLocks/>
              </p:cNvSpPr>
              <p:nvPr/>
            </p:nvSpPr>
            <p:spPr bwMode="auto">
              <a:xfrm>
                <a:off x="4259" y="2460"/>
                <a:ext cx="27" cy="25"/>
              </a:xfrm>
              <a:custGeom>
                <a:avLst/>
                <a:gdLst>
                  <a:gd name="T0" fmla="*/ 0 w 161"/>
                  <a:gd name="T1" fmla="*/ 160 h 160"/>
                  <a:gd name="T2" fmla="*/ 160 w 161"/>
                  <a:gd name="T3" fmla="*/ 0 h 160"/>
                  <a:gd name="T4" fmla="*/ 161 w 16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1" h="160">
                    <a:moveTo>
                      <a:pt x="0" y="160"/>
                    </a:moveTo>
                    <a:lnTo>
                      <a:pt x="160" y="0"/>
                    </a:lnTo>
                    <a:lnTo>
                      <a:pt x="16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29" name="Freeform 729"/>
              <p:cNvSpPr>
                <a:spLocks/>
              </p:cNvSpPr>
              <p:nvPr/>
            </p:nvSpPr>
            <p:spPr bwMode="auto">
              <a:xfrm>
                <a:off x="4015" y="2722"/>
                <a:ext cx="9" cy="8"/>
              </a:xfrm>
              <a:custGeom>
                <a:avLst/>
                <a:gdLst>
                  <a:gd name="T0" fmla="*/ 0 w 53"/>
                  <a:gd name="T1" fmla="*/ 52 h 52"/>
                  <a:gd name="T2" fmla="*/ 52 w 53"/>
                  <a:gd name="T3" fmla="*/ 0 h 52"/>
                  <a:gd name="T4" fmla="*/ 53 w 53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" h="52">
                    <a:moveTo>
                      <a:pt x="0" y="52"/>
                    </a:moveTo>
                    <a:lnTo>
                      <a:pt x="52" y="0"/>
                    </a:lnTo>
                    <a:lnTo>
                      <a:pt x="5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30" name="Freeform 730"/>
              <p:cNvSpPr>
                <a:spLocks/>
              </p:cNvSpPr>
              <p:nvPr/>
            </p:nvSpPr>
            <p:spPr bwMode="auto">
              <a:xfrm>
                <a:off x="4025" y="2486"/>
                <a:ext cx="234" cy="236"/>
              </a:xfrm>
              <a:custGeom>
                <a:avLst/>
                <a:gdLst>
                  <a:gd name="T0" fmla="*/ 0 w 1415"/>
                  <a:gd name="T1" fmla="*/ 1414 h 1414"/>
                  <a:gd name="T2" fmla="*/ 1413 w 1415"/>
                  <a:gd name="T3" fmla="*/ 0 h 1414"/>
                  <a:gd name="T4" fmla="*/ 1415 w 1415"/>
                  <a:gd name="T5" fmla="*/ 0 h 1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15" h="1414">
                    <a:moveTo>
                      <a:pt x="0" y="1414"/>
                    </a:moveTo>
                    <a:lnTo>
                      <a:pt x="1413" y="0"/>
                    </a:lnTo>
                    <a:lnTo>
                      <a:pt x="141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31" name="Freeform 731"/>
              <p:cNvSpPr>
                <a:spLocks/>
              </p:cNvSpPr>
              <p:nvPr/>
            </p:nvSpPr>
            <p:spPr bwMode="auto">
              <a:xfrm>
                <a:off x="3947" y="2756"/>
                <a:ext cx="78" cy="76"/>
              </a:xfrm>
              <a:custGeom>
                <a:avLst/>
                <a:gdLst>
                  <a:gd name="T0" fmla="*/ 0 w 457"/>
                  <a:gd name="T1" fmla="*/ 456 h 456"/>
                  <a:gd name="T2" fmla="*/ 456 w 457"/>
                  <a:gd name="T3" fmla="*/ 0 h 456"/>
                  <a:gd name="T4" fmla="*/ 457 w 457"/>
                  <a:gd name="T5" fmla="*/ 0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7" h="456">
                    <a:moveTo>
                      <a:pt x="0" y="456"/>
                    </a:moveTo>
                    <a:lnTo>
                      <a:pt x="456" y="0"/>
                    </a:lnTo>
                    <a:lnTo>
                      <a:pt x="45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32" name="Freeform 732"/>
              <p:cNvSpPr>
                <a:spLocks/>
              </p:cNvSpPr>
              <p:nvPr/>
            </p:nvSpPr>
            <p:spPr bwMode="auto">
              <a:xfrm>
                <a:off x="4271" y="2484"/>
                <a:ext cx="24" cy="24"/>
              </a:xfrm>
              <a:custGeom>
                <a:avLst/>
                <a:gdLst>
                  <a:gd name="T0" fmla="*/ 0 w 146"/>
                  <a:gd name="T1" fmla="*/ 146 h 146"/>
                  <a:gd name="T2" fmla="*/ 145 w 146"/>
                  <a:gd name="T3" fmla="*/ 0 h 146"/>
                  <a:gd name="T4" fmla="*/ 146 w 146"/>
                  <a:gd name="T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6" h="146">
                    <a:moveTo>
                      <a:pt x="0" y="146"/>
                    </a:moveTo>
                    <a:lnTo>
                      <a:pt x="145" y="0"/>
                    </a:lnTo>
                    <a:lnTo>
                      <a:pt x="14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33" name="Freeform 733"/>
              <p:cNvSpPr>
                <a:spLocks/>
              </p:cNvSpPr>
              <p:nvPr/>
            </p:nvSpPr>
            <p:spPr bwMode="auto">
              <a:xfrm>
                <a:off x="4025" y="2733"/>
                <a:ext cx="23" cy="23"/>
              </a:xfrm>
              <a:custGeom>
                <a:avLst/>
                <a:gdLst>
                  <a:gd name="T0" fmla="*/ 0 w 136"/>
                  <a:gd name="T1" fmla="*/ 135 h 135"/>
                  <a:gd name="T2" fmla="*/ 135 w 136"/>
                  <a:gd name="T3" fmla="*/ 0 h 135"/>
                  <a:gd name="T4" fmla="*/ 136 w 136"/>
                  <a:gd name="T5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6" h="135">
                    <a:moveTo>
                      <a:pt x="0" y="135"/>
                    </a:moveTo>
                    <a:lnTo>
                      <a:pt x="135" y="0"/>
                    </a:lnTo>
                    <a:lnTo>
                      <a:pt x="13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34" name="Freeform 734"/>
              <p:cNvSpPr>
                <a:spLocks/>
              </p:cNvSpPr>
              <p:nvPr/>
            </p:nvSpPr>
            <p:spPr bwMode="auto">
              <a:xfrm>
                <a:off x="4046" y="2508"/>
                <a:ext cx="225" cy="225"/>
              </a:xfrm>
              <a:custGeom>
                <a:avLst/>
                <a:gdLst>
                  <a:gd name="T0" fmla="*/ 0 w 1352"/>
                  <a:gd name="T1" fmla="*/ 1351 h 1351"/>
                  <a:gd name="T2" fmla="*/ 1351 w 1352"/>
                  <a:gd name="T3" fmla="*/ 0 h 1351"/>
                  <a:gd name="T4" fmla="*/ 1352 w 1352"/>
                  <a:gd name="T5" fmla="*/ 0 h 1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52" h="1351">
                    <a:moveTo>
                      <a:pt x="0" y="1351"/>
                    </a:moveTo>
                    <a:lnTo>
                      <a:pt x="1351" y="0"/>
                    </a:lnTo>
                    <a:lnTo>
                      <a:pt x="135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35" name="Freeform 735"/>
              <p:cNvSpPr>
                <a:spLocks/>
              </p:cNvSpPr>
              <p:nvPr/>
            </p:nvSpPr>
            <p:spPr bwMode="auto">
              <a:xfrm>
                <a:off x="3974" y="2790"/>
                <a:ext cx="51" cy="52"/>
              </a:xfrm>
              <a:custGeom>
                <a:avLst/>
                <a:gdLst>
                  <a:gd name="T0" fmla="*/ 0 w 299"/>
                  <a:gd name="T1" fmla="*/ 299 h 299"/>
                  <a:gd name="T2" fmla="*/ 298 w 299"/>
                  <a:gd name="T3" fmla="*/ 0 h 299"/>
                  <a:gd name="T4" fmla="*/ 299 w 299"/>
                  <a:gd name="T5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9" h="299">
                    <a:moveTo>
                      <a:pt x="0" y="299"/>
                    </a:moveTo>
                    <a:lnTo>
                      <a:pt x="298" y="0"/>
                    </a:lnTo>
                    <a:lnTo>
                      <a:pt x="29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36" name="Freeform 736"/>
              <p:cNvSpPr>
                <a:spLocks/>
              </p:cNvSpPr>
              <p:nvPr/>
            </p:nvSpPr>
            <p:spPr bwMode="auto">
              <a:xfrm>
                <a:off x="4283" y="2508"/>
                <a:ext cx="22" cy="21"/>
              </a:xfrm>
              <a:custGeom>
                <a:avLst/>
                <a:gdLst>
                  <a:gd name="T0" fmla="*/ 0 w 133"/>
                  <a:gd name="T1" fmla="*/ 132 h 132"/>
                  <a:gd name="T2" fmla="*/ 131 w 133"/>
                  <a:gd name="T3" fmla="*/ 0 h 132"/>
                  <a:gd name="T4" fmla="*/ 133 w 133"/>
                  <a:gd name="T5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3" h="132">
                    <a:moveTo>
                      <a:pt x="0" y="132"/>
                    </a:moveTo>
                    <a:lnTo>
                      <a:pt x="131" y="0"/>
                    </a:lnTo>
                    <a:lnTo>
                      <a:pt x="13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37" name="Freeform 737"/>
              <p:cNvSpPr>
                <a:spLocks/>
              </p:cNvSpPr>
              <p:nvPr/>
            </p:nvSpPr>
            <p:spPr bwMode="auto">
              <a:xfrm>
                <a:off x="4025" y="2736"/>
                <a:ext cx="54" cy="54"/>
              </a:xfrm>
              <a:custGeom>
                <a:avLst/>
                <a:gdLst>
                  <a:gd name="T0" fmla="*/ 0 w 322"/>
                  <a:gd name="T1" fmla="*/ 321 h 321"/>
                  <a:gd name="T2" fmla="*/ 321 w 322"/>
                  <a:gd name="T3" fmla="*/ 0 h 321"/>
                  <a:gd name="T4" fmla="*/ 322 w 322"/>
                  <a:gd name="T5" fmla="*/ 0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2" h="321">
                    <a:moveTo>
                      <a:pt x="0" y="321"/>
                    </a:moveTo>
                    <a:lnTo>
                      <a:pt x="321" y="0"/>
                    </a:lnTo>
                    <a:lnTo>
                      <a:pt x="32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38" name="Freeform 738"/>
              <p:cNvSpPr>
                <a:spLocks/>
              </p:cNvSpPr>
              <p:nvPr/>
            </p:nvSpPr>
            <p:spPr bwMode="auto">
              <a:xfrm>
                <a:off x="4077" y="2530"/>
                <a:ext cx="206" cy="206"/>
              </a:xfrm>
              <a:custGeom>
                <a:avLst/>
                <a:gdLst>
                  <a:gd name="T0" fmla="*/ 0 w 1240"/>
                  <a:gd name="T1" fmla="*/ 1240 h 1240"/>
                  <a:gd name="T2" fmla="*/ 1239 w 1240"/>
                  <a:gd name="T3" fmla="*/ 0 h 1240"/>
                  <a:gd name="T4" fmla="*/ 1240 w 1240"/>
                  <a:gd name="T5" fmla="*/ 0 h 1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40" h="1240">
                    <a:moveTo>
                      <a:pt x="0" y="1240"/>
                    </a:moveTo>
                    <a:lnTo>
                      <a:pt x="1239" y="0"/>
                    </a:lnTo>
                    <a:lnTo>
                      <a:pt x="124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39" name="Freeform 739"/>
              <p:cNvSpPr>
                <a:spLocks/>
              </p:cNvSpPr>
              <p:nvPr/>
            </p:nvSpPr>
            <p:spPr bwMode="auto">
              <a:xfrm>
                <a:off x="4001" y="2825"/>
                <a:ext cx="24" cy="24"/>
              </a:xfrm>
              <a:custGeom>
                <a:avLst/>
                <a:gdLst>
                  <a:gd name="T0" fmla="*/ 0 w 143"/>
                  <a:gd name="T1" fmla="*/ 141 h 141"/>
                  <a:gd name="T2" fmla="*/ 142 w 143"/>
                  <a:gd name="T3" fmla="*/ 0 h 141"/>
                  <a:gd name="T4" fmla="*/ 143 w 143"/>
                  <a:gd name="T5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141">
                    <a:moveTo>
                      <a:pt x="0" y="141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40" name="Freeform 740"/>
              <p:cNvSpPr>
                <a:spLocks/>
              </p:cNvSpPr>
              <p:nvPr/>
            </p:nvSpPr>
            <p:spPr bwMode="auto">
              <a:xfrm>
                <a:off x="4296" y="2532"/>
                <a:ext cx="20" cy="18"/>
              </a:xfrm>
              <a:custGeom>
                <a:avLst/>
                <a:gdLst>
                  <a:gd name="T0" fmla="*/ 0 w 120"/>
                  <a:gd name="T1" fmla="*/ 118 h 118"/>
                  <a:gd name="T2" fmla="*/ 119 w 120"/>
                  <a:gd name="T3" fmla="*/ 0 h 118"/>
                  <a:gd name="T4" fmla="*/ 120 w 120"/>
                  <a:gd name="T5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0" h="118">
                    <a:moveTo>
                      <a:pt x="0" y="118"/>
                    </a:moveTo>
                    <a:lnTo>
                      <a:pt x="119" y="0"/>
                    </a:lnTo>
                    <a:lnTo>
                      <a:pt x="1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41" name="Freeform 741"/>
              <p:cNvSpPr>
                <a:spLocks/>
              </p:cNvSpPr>
              <p:nvPr/>
            </p:nvSpPr>
            <p:spPr bwMode="auto">
              <a:xfrm>
                <a:off x="4025" y="2740"/>
                <a:ext cx="84" cy="85"/>
              </a:xfrm>
              <a:custGeom>
                <a:avLst/>
                <a:gdLst>
                  <a:gd name="T0" fmla="*/ 0 w 504"/>
                  <a:gd name="T1" fmla="*/ 504 h 504"/>
                  <a:gd name="T2" fmla="*/ 503 w 504"/>
                  <a:gd name="T3" fmla="*/ 0 h 504"/>
                  <a:gd name="T4" fmla="*/ 504 w 504"/>
                  <a:gd name="T5" fmla="*/ 0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4" h="504">
                    <a:moveTo>
                      <a:pt x="0" y="504"/>
                    </a:moveTo>
                    <a:lnTo>
                      <a:pt x="503" y="0"/>
                    </a:lnTo>
                    <a:lnTo>
                      <a:pt x="50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42" name="Freeform 742"/>
              <p:cNvSpPr>
                <a:spLocks/>
              </p:cNvSpPr>
              <p:nvPr/>
            </p:nvSpPr>
            <p:spPr bwMode="auto">
              <a:xfrm>
                <a:off x="4107" y="2551"/>
                <a:ext cx="189" cy="189"/>
              </a:xfrm>
              <a:custGeom>
                <a:avLst/>
                <a:gdLst>
                  <a:gd name="T0" fmla="*/ 0 w 1130"/>
                  <a:gd name="T1" fmla="*/ 1131 h 1131"/>
                  <a:gd name="T2" fmla="*/ 1129 w 1130"/>
                  <a:gd name="T3" fmla="*/ 0 h 1131"/>
                  <a:gd name="T4" fmla="*/ 1130 w 1130"/>
                  <a:gd name="T5" fmla="*/ 0 h 1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30" h="1131">
                    <a:moveTo>
                      <a:pt x="0" y="1131"/>
                    </a:moveTo>
                    <a:lnTo>
                      <a:pt x="1129" y="0"/>
                    </a:lnTo>
                    <a:lnTo>
                      <a:pt x="113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43" name="Freeform 743"/>
              <p:cNvSpPr>
                <a:spLocks/>
              </p:cNvSpPr>
              <p:nvPr/>
            </p:nvSpPr>
            <p:spPr bwMode="auto">
              <a:xfrm>
                <a:off x="4026" y="2744"/>
                <a:ext cx="110" cy="110"/>
              </a:xfrm>
              <a:custGeom>
                <a:avLst/>
                <a:gdLst>
                  <a:gd name="T0" fmla="*/ 0 w 669"/>
                  <a:gd name="T1" fmla="*/ 668 h 668"/>
                  <a:gd name="T2" fmla="*/ 667 w 669"/>
                  <a:gd name="T3" fmla="*/ 0 h 668"/>
                  <a:gd name="T4" fmla="*/ 669 w 669"/>
                  <a:gd name="T5" fmla="*/ 0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69" h="668">
                    <a:moveTo>
                      <a:pt x="0" y="668"/>
                    </a:moveTo>
                    <a:lnTo>
                      <a:pt x="667" y="0"/>
                    </a:lnTo>
                    <a:lnTo>
                      <a:pt x="66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44" name="Freeform 744"/>
              <p:cNvSpPr>
                <a:spLocks/>
              </p:cNvSpPr>
              <p:nvPr/>
            </p:nvSpPr>
            <p:spPr bwMode="auto">
              <a:xfrm>
                <a:off x="4308" y="2555"/>
                <a:ext cx="19" cy="18"/>
              </a:xfrm>
              <a:custGeom>
                <a:avLst/>
                <a:gdLst>
                  <a:gd name="T0" fmla="*/ 0 w 107"/>
                  <a:gd name="T1" fmla="*/ 106 h 106"/>
                  <a:gd name="T2" fmla="*/ 106 w 107"/>
                  <a:gd name="T3" fmla="*/ 0 h 106"/>
                  <a:gd name="T4" fmla="*/ 107 w 107"/>
                  <a:gd name="T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7" h="106">
                    <a:moveTo>
                      <a:pt x="0" y="106"/>
                    </a:moveTo>
                    <a:lnTo>
                      <a:pt x="106" y="0"/>
                    </a:lnTo>
                    <a:lnTo>
                      <a:pt x="10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45" name="Freeform 745"/>
              <p:cNvSpPr>
                <a:spLocks/>
              </p:cNvSpPr>
              <p:nvPr/>
            </p:nvSpPr>
            <p:spPr bwMode="auto">
              <a:xfrm>
                <a:off x="4137" y="2573"/>
                <a:ext cx="171" cy="171"/>
              </a:xfrm>
              <a:custGeom>
                <a:avLst/>
                <a:gdLst>
                  <a:gd name="T0" fmla="*/ 0 w 1024"/>
                  <a:gd name="T1" fmla="*/ 1024 h 1024"/>
                  <a:gd name="T2" fmla="*/ 1023 w 1024"/>
                  <a:gd name="T3" fmla="*/ 0 h 1024"/>
                  <a:gd name="T4" fmla="*/ 1024 w 1024"/>
                  <a:gd name="T5" fmla="*/ 0 h 10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24" h="1024">
                    <a:moveTo>
                      <a:pt x="0" y="1024"/>
                    </a:moveTo>
                    <a:lnTo>
                      <a:pt x="1023" y="0"/>
                    </a:lnTo>
                    <a:lnTo>
                      <a:pt x="102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46" name="Freeform 746"/>
              <p:cNvSpPr>
                <a:spLocks/>
              </p:cNvSpPr>
              <p:nvPr/>
            </p:nvSpPr>
            <p:spPr bwMode="auto">
              <a:xfrm>
                <a:off x="4052" y="2749"/>
                <a:ext cx="116" cy="116"/>
              </a:xfrm>
              <a:custGeom>
                <a:avLst/>
                <a:gdLst>
                  <a:gd name="T0" fmla="*/ 0 w 688"/>
                  <a:gd name="T1" fmla="*/ 688 h 688"/>
                  <a:gd name="T2" fmla="*/ 687 w 688"/>
                  <a:gd name="T3" fmla="*/ 0 h 688"/>
                  <a:gd name="T4" fmla="*/ 688 w 688"/>
                  <a:gd name="T5" fmla="*/ 0 h 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8" h="688">
                    <a:moveTo>
                      <a:pt x="0" y="688"/>
                    </a:moveTo>
                    <a:lnTo>
                      <a:pt x="687" y="0"/>
                    </a:lnTo>
                    <a:lnTo>
                      <a:pt x="68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47" name="Freeform 747"/>
              <p:cNvSpPr>
                <a:spLocks/>
              </p:cNvSpPr>
              <p:nvPr/>
            </p:nvSpPr>
            <p:spPr bwMode="auto">
              <a:xfrm>
                <a:off x="4320" y="2579"/>
                <a:ext cx="15" cy="16"/>
              </a:xfrm>
              <a:custGeom>
                <a:avLst/>
                <a:gdLst>
                  <a:gd name="T0" fmla="*/ 0 w 96"/>
                  <a:gd name="T1" fmla="*/ 95 h 95"/>
                  <a:gd name="T2" fmla="*/ 95 w 96"/>
                  <a:gd name="T3" fmla="*/ 0 h 95"/>
                  <a:gd name="T4" fmla="*/ 96 w 96"/>
                  <a:gd name="T5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95">
                    <a:moveTo>
                      <a:pt x="0" y="95"/>
                    </a:moveTo>
                    <a:lnTo>
                      <a:pt x="95" y="0"/>
                    </a:lnTo>
                    <a:lnTo>
                      <a:pt x="9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48" name="Freeform 748"/>
              <p:cNvSpPr>
                <a:spLocks/>
              </p:cNvSpPr>
              <p:nvPr/>
            </p:nvSpPr>
            <p:spPr bwMode="auto">
              <a:xfrm>
                <a:off x="4166" y="2595"/>
                <a:ext cx="154" cy="154"/>
              </a:xfrm>
              <a:custGeom>
                <a:avLst/>
                <a:gdLst>
                  <a:gd name="T0" fmla="*/ 0 w 920"/>
                  <a:gd name="T1" fmla="*/ 919 h 919"/>
                  <a:gd name="T2" fmla="*/ 919 w 920"/>
                  <a:gd name="T3" fmla="*/ 0 h 919"/>
                  <a:gd name="T4" fmla="*/ 920 w 920"/>
                  <a:gd name="T5" fmla="*/ 0 h 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0" h="919">
                    <a:moveTo>
                      <a:pt x="0" y="919"/>
                    </a:moveTo>
                    <a:lnTo>
                      <a:pt x="919" y="0"/>
                    </a:lnTo>
                    <a:lnTo>
                      <a:pt x="9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49" name="Freeform 749"/>
              <p:cNvSpPr>
                <a:spLocks/>
              </p:cNvSpPr>
              <p:nvPr/>
            </p:nvSpPr>
            <p:spPr bwMode="auto">
              <a:xfrm>
                <a:off x="4079" y="2753"/>
                <a:ext cx="117" cy="120"/>
              </a:xfrm>
              <a:custGeom>
                <a:avLst/>
                <a:gdLst>
                  <a:gd name="T0" fmla="*/ 0 w 706"/>
                  <a:gd name="T1" fmla="*/ 705 h 705"/>
                  <a:gd name="T2" fmla="*/ 705 w 706"/>
                  <a:gd name="T3" fmla="*/ 0 h 705"/>
                  <a:gd name="T4" fmla="*/ 706 w 706"/>
                  <a:gd name="T5" fmla="*/ 0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06" h="705">
                    <a:moveTo>
                      <a:pt x="0" y="705"/>
                    </a:moveTo>
                    <a:lnTo>
                      <a:pt x="705" y="0"/>
                    </a:lnTo>
                    <a:lnTo>
                      <a:pt x="70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50" name="Freeform 750"/>
              <p:cNvSpPr>
                <a:spLocks/>
              </p:cNvSpPr>
              <p:nvPr/>
            </p:nvSpPr>
            <p:spPr bwMode="auto">
              <a:xfrm>
                <a:off x="4332" y="2603"/>
                <a:ext cx="13" cy="14"/>
              </a:xfrm>
              <a:custGeom>
                <a:avLst/>
                <a:gdLst>
                  <a:gd name="T0" fmla="*/ 0 w 82"/>
                  <a:gd name="T1" fmla="*/ 82 h 82"/>
                  <a:gd name="T2" fmla="*/ 81 w 82"/>
                  <a:gd name="T3" fmla="*/ 0 h 82"/>
                  <a:gd name="T4" fmla="*/ 82 w 82"/>
                  <a:gd name="T5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" h="82">
                    <a:moveTo>
                      <a:pt x="0" y="82"/>
                    </a:moveTo>
                    <a:lnTo>
                      <a:pt x="81" y="0"/>
                    </a:lnTo>
                    <a:lnTo>
                      <a:pt x="8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51" name="Freeform 751"/>
              <p:cNvSpPr>
                <a:spLocks/>
              </p:cNvSpPr>
              <p:nvPr/>
            </p:nvSpPr>
            <p:spPr bwMode="auto">
              <a:xfrm>
                <a:off x="4195" y="2617"/>
                <a:ext cx="137" cy="136"/>
              </a:xfrm>
              <a:custGeom>
                <a:avLst/>
                <a:gdLst>
                  <a:gd name="T0" fmla="*/ 0 w 819"/>
                  <a:gd name="T1" fmla="*/ 818 h 818"/>
                  <a:gd name="T2" fmla="*/ 818 w 819"/>
                  <a:gd name="T3" fmla="*/ 0 h 818"/>
                  <a:gd name="T4" fmla="*/ 819 w 819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8">
                    <a:moveTo>
                      <a:pt x="0" y="818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52" name="Freeform 752"/>
              <p:cNvSpPr>
                <a:spLocks/>
              </p:cNvSpPr>
              <p:nvPr/>
            </p:nvSpPr>
            <p:spPr bwMode="auto">
              <a:xfrm>
                <a:off x="4104" y="2760"/>
                <a:ext cx="120" cy="119"/>
              </a:xfrm>
              <a:custGeom>
                <a:avLst/>
                <a:gdLst>
                  <a:gd name="T0" fmla="*/ 0 w 718"/>
                  <a:gd name="T1" fmla="*/ 718 h 718"/>
                  <a:gd name="T2" fmla="*/ 717 w 718"/>
                  <a:gd name="T3" fmla="*/ 0 h 718"/>
                  <a:gd name="T4" fmla="*/ 718 w 718"/>
                  <a:gd name="T5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8" h="718">
                    <a:moveTo>
                      <a:pt x="0" y="718"/>
                    </a:moveTo>
                    <a:lnTo>
                      <a:pt x="717" y="0"/>
                    </a:lnTo>
                    <a:lnTo>
                      <a:pt x="7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53" name="Freeform 753"/>
              <p:cNvSpPr>
                <a:spLocks/>
              </p:cNvSpPr>
              <p:nvPr/>
            </p:nvSpPr>
            <p:spPr bwMode="auto">
              <a:xfrm>
                <a:off x="4344" y="2629"/>
                <a:ext cx="11" cy="11"/>
              </a:xfrm>
              <a:custGeom>
                <a:avLst/>
                <a:gdLst>
                  <a:gd name="T0" fmla="*/ 0 w 67"/>
                  <a:gd name="T1" fmla="*/ 66 h 66"/>
                  <a:gd name="T2" fmla="*/ 66 w 67"/>
                  <a:gd name="T3" fmla="*/ 0 h 66"/>
                  <a:gd name="T4" fmla="*/ 67 w 67"/>
                  <a:gd name="T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" h="66">
                    <a:moveTo>
                      <a:pt x="0" y="66"/>
                    </a:moveTo>
                    <a:lnTo>
                      <a:pt x="66" y="0"/>
                    </a:lnTo>
                    <a:lnTo>
                      <a:pt x="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54" name="Freeform 754"/>
              <p:cNvSpPr>
                <a:spLocks/>
              </p:cNvSpPr>
              <p:nvPr/>
            </p:nvSpPr>
            <p:spPr bwMode="auto">
              <a:xfrm>
                <a:off x="4224" y="2640"/>
                <a:ext cx="120" cy="120"/>
              </a:xfrm>
              <a:custGeom>
                <a:avLst/>
                <a:gdLst>
                  <a:gd name="T0" fmla="*/ 0 w 721"/>
                  <a:gd name="T1" fmla="*/ 721 h 721"/>
                  <a:gd name="T2" fmla="*/ 720 w 721"/>
                  <a:gd name="T3" fmla="*/ 0 h 721"/>
                  <a:gd name="T4" fmla="*/ 721 w 721"/>
                  <a:gd name="T5" fmla="*/ 0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1" h="721">
                    <a:moveTo>
                      <a:pt x="0" y="721"/>
                    </a:moveTo>
                    <a:lnTo>
                      <a:pt x="720" y="0"/>
                    </a:lnTo>
                    <a:lnTo>
                      <a:pt x="72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55" name="Freeform 755"/>
              <p:cNvSpPr>
                <a:spLocks/>
              </p:cNvSpPr>
              <p:nvPr/>
            </p:nvSpPr>
            <p:spPr bwMode="auto">
              <a:xfrm>
                <a:off x="4130" y="2766"/>
                <a:ext cx="124" cy="120"/>
              </a:xfrm>
              <a:custGeom>
                <a:avLst/>
                <a:gdLst>
                  <a:gd name="T0" fmla="*/ 0 w 731"/>
                  <a:gd name="T1" fmla="*/ 731 h 731"/>
                  <a:gd name="T2" fmla="*/ 729 w 731"/>
                  <a:gd name="T3" fmla="*/ 0 h 731"/>
                  <a:gd name="T4" fmla="*/ 731 w 731"/>
                  <a:gd name="T5" fmla="*/ 0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1" h="731">
                    <a:moveTo>
                      <a:pt x="0" y="731"/>
                    </a:moveTo>
                    <a:lnTo>
                      <a:pt x="729" y="0"/>
                    </a:lnTo>
                    <a:lnTo>
                      <a:pt x="73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56" name="Freeform 756"/>
              <p:cNvSpPr>
                <a:spLocks/>
              </p:cNvSpPr>
              <p:nvPr/>
            </p:nvSpPr>
            <p:spPr bwMode="auto">
              <a:xfrm>
                <a:off x="4356" y="2653"/>
                <a:ext cx="8" cy="7"/>
              </a:xfrm>
              <a:custGeom>
                <a:avLst/>
                <a:gdLst>
                  <a:gd name="T0" fmla="*/ 0 w 49"/>
                  <a:gd name="T1" fmla="*/ 48 h 48"/>
                  <a:gd name="T2" fmla="*/ 48 w 49"/>
                  <a:gd name="T3" fmla="*/ 0 h 48"/>
                  <a:gd name="T4" fmla="*/ 49 w 49"/>
                  <a:gd name="T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" h="48">
                    <a:moveTo>
                      <a:pt x="0" y="48"/>
                    </a:moveTo>
                    <a:lnTo>
                      <a:pt x="48" y="0"/>
                    </a:lnTo>
                    <a:lnTo>
                      <a:pt x="4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57" name="Freeform 757"/>
              <p:cNvSpPr>
                <a:spLocks/>
              </p:cNvSpPr>
              <p:nvPr/>
            </p:nvSpPr>
            <p:spPr bwMode="auto">
              <a:xfrm>
                <a:off x="4252" y="2660"/>
                <a:ext cx="104" cy="106"/>
              </a:xfrm>
              <a:custGeom>
                <a:avLst/>
                <a:gdLst>
                  <a:gd name="T0" fmla="*/ 0 w 626"/>
                  <a:gd name="T1" fmla="*/ 625 h 625"/>
                  <a:gd name="T2" fmla="*/ 625 w 626"/>
                  <a:gd name="T3" fmla="*/ 0 h 625"/>
                  <a:gd name="T4" fmla="*/ 626 w 626"/>
                  <a:gd name="T5" fmla="*/ 0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26" h="625">
                    <a:moveTo>
                      <a:pt x="0" y="625"/>
                    </a:moveTo>
                    <a:lnTo>
                      <a:pt x="625" y="0"/>
                    </a:lnTo>
                    <a:lnTo>
                      <a:pt x="62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58" name="Freeform 758"/>
              <p:cNvSpPr>
                <a:spLocks/>
              </p:cNvSpPr>
              <p:nvPr/>
            </p:nvSpPr>
            <p:spPr bwMode="auto">
              <a:xfrm>
                <a:off x="4155" y="2771"/>
                <a:ext cx="124" cy="123"/>
              </a:xfrm>
              <a:custGeom>
                <a:avLst/>
                <a:gdLst>
                  <a:gd name="T0" fmla="*/ 0 w 737"/>
                  <a:gd name="T1" fmla="*/ 737 h 737"/>
                  <a:gd name="T2" fmla="*/ 736 w 737"/>
                  <a:gd name="T3" fmla="*/ 0 h 737"/>
                  <a:gd name="T4" fmla="*/ 737 w 737"/>
                  <a:gd name="T5" fmla="*/ 0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7" h="737">
                    <a:moveTo>
                      <a:pt x="0" y="737"/>
                    </a:moveTo>
                    <a:lnTo>
                      <a:pt x="736" y="0"/>
                    </a:lnTo>
                    <a:lnTo>
                      <a:pt x="73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59" name="Freeform 759"/>
              <p:cNvSpPr>
                <a:spLocks/>
              </p:cNvSpPr>
              <p:nvPr/>
            </p:nvSpPr>
            <p:spPr bwMode="auto">
              <a:xfrm>
                <a:off x="4368" y="2678"/>
                <a:ext cx="5" cy="4"/>
              </a:xfrm>
              <a:custGeom>
                <a:avLst/>
                <a:gdLst>
                  <a:gd name="T0" fmla="*/ 0 w 28"/>
                  <a:gd name="T1" fmla="*/ 27 h 27"/>
                  <a:gd name="T2" fmla="*/ 27 w 28"/>
                  <a:gd name="T3" fmla="*/ 0 h 27"/>
                  <a:gd name="T4" fmla="*/ 28 w 28"/>
                  <a:gd name="T5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7">
                    <a:moveTo>
                      <a:pt x="0" y="27"/>
                    </a:moveTo>
                    <a:lnTo>
                      <a:pt x="27" y="0"/>
                    </a:lnTo>
                    <a:lnTo>
                      <a:pt x="2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960" name="Freeform 760"/>
              <p:cNvSpPr>
                <a:spLocks/>
              </p:cNvSpPr>
              <p:nvPr/>
            </p:nvSpPr>
            <p:spPr bwMode="auto">
              <a:xfrm>
                <a:off x="4279" y="2682"/>
                <a:ext cx="89" cy="89"/>
              </a:xfrm>
              <a:custGeom>
                <a:avLst/>
                <a:gdLst>
                  <a:gd name="T0" fmla="*/ 0 w 535"/>
                  <a:gd name="T1" fmla="*/ 534 h 534"/>
                  <a:gd name="T2" fmla="*/ 534 w 535"/>
                  <a:gd name="T3" fmla="*/ 0 h 534"/>
                  <a:gd name="T4" fmla="*/ 535 w 535"/>
                  <a:gd name="T5" fmla="*/ 0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5" h="534">
                    <a:moveTo>
                      <a:pt x="0" y="534"/>
                    </a:moveTo>
                    <a:lnTo>
                      <a:pt x="534" y="0"/>
                    </a:lnTo>
                    <a:lnTo>
                      <a:pt x="53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51961" name="Freeform 761"/>
            <p:cNvSpPr>
              <a:spLocks/>
            </p:cNvSpPr>
            <p:nvPr/>
          </p:nvSpPr>
          <p:spPr bwMode="auto">
            <a:xfrm>
              <a:off x="5458" y="3154"/>
              <a:ext cx="81" cy="80"/>
            </a:xfrm>
            <a:custGeom>
              <a:avLst/>
              <a:gdLst>
                <a:gd name="T0" fmla="*/ 0 w 742"/>
                <a:gd name="T1" fmla="*/ 741 h 741"/>
                <a:gd name="T2" fmla="*/ 741 w 742"/>
                <a:gd name="T3" fmla="*/ 0 h 741"/>
                <a:gd name="T4" fmla="*/ 742 w 742"/>
                <a:gd name="T5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2" h="741">
                  <a:moveTo>
                    <a:pt x="0" y="741"/>
                  </a:moveTo>
                  <a:lnTo>
                    <a:pt x="741" y="0"/>
                  </a:lnTo>
                  <a:lnTo>
                    <a:pt x="74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62" name="Freeform 762"/>
            <p:cNvSpPr>
              <a:spLocks/>
            </p:cNvSpPr>
            <p:nvPr/>
          </p:nvSpPr>
          <p:spPr bwMode="auto">
            <a:xfrm>
              <a:off x="5538" y="3106"/>
              <a:ext cx="48" cy="46"/>
            </a:xfrm>
            <a:custGeom>
              <a:avLst/>
              <a:gdLst>
                <a:gd name="T0" fmla="*/ 0 w 446"/>
                <a:gd name="T1" fmla="*/ 446 h 446"/>
                <a:gd name="T2" fmla="*/ 445 w 446"/>
                <a:gd name="T3" fmla="*/ 0 h 446"/>
                <a:gd name="T4" fmla="*/ 446 w 446"/>
                <a:gd name="T5" fmla="*/ 0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6" h="446">
                  <a:moveTo>
                    <a:pt x="0" y="446"/>
                  </a:moveTo>
                  <a:lnTo>
                    <a:pt x="445" y="0"/>
                  </a:lnTo>
                  <a:lnTo>
                    <a:pt x="44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63" name="Freeform 763"/>
            <p:cNvSpPr>
              <a:spLocks/>
            </p:cNvSpPr>
            <p:nvPr/>
          </p:nvSpPr>
          <p:spPr bwMode="auto">
            <a:xfrm>
              <a:off x="5475" y="3159"/>
              <a:ext cx="80" cy="80"/>
            </a:xfrm>
            <a:custGeom>
              <a:avLst/>
              <a:gdLst>
                <a:gd name="T0" fmla="*/ 0 w 743"/>
                <a:gd name="T1" fmla="*/ 741 h 741"/>
                <a:gd name="T2" fmla="*/ 742 w 743"/>
                <a:gd name="T3" fmla="*/ 0 h 741"/>
                <a:gd name="T4" fmla="*/ 743 w 743"/>
                <a:gd name="T5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3" h="741">
                  <a:moveTo>
                    <a:pt x="0" y="741"/>
                  </a:moveTo>
                  <a:lnTo>
                    <a:pt x="742" y="0"/>
                  </a:lnTo>
                  <a:lnTo>
                    <a:pt x="74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64" name="Freeform 764"/>
            <p:cNvSpPr>
              <a:spLocks/>
            </p:cNvSpPr>
            <p:nvPr/>
          </p:nvSpPr>
          <p:spPr bwMode="auto">
            <a:xfrm>
              <a:off x="5555" y="3123"/>
              <a:ext cx="36" cy="36"/>
            </a:xfrm>
            <a:custGeom>
              <a:avLst/>
              <a:gdLst>
                <a:gd name="T0" fmla="*/ 0 w 327"/>
                <a:gd name="T1" fmla="*/ 328 h 328"/>
                <a:gd name="T2" fmla="*/ 326 w 327"/>
                <a:gd name="T3" fmla="*/ 0 h 328"/>
                <a:gd name="T4" fmla="*/ 327 w 327"/>
                <a:gd name="T5" fmla="*/ 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7" h="328">
                  <a:moveTo>
                    <a:pt x="0" y="328"/>
                  </a:moveTo>
                  <a:lnTo>
                    <a:pt x="326" y="0"/>
                  </a:lnTo>
                  <a:lnTo>
                    <a:pt x="32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65" name="Freeform 765"/>
            <p:cNvSpPr>
              <a:spLocks/>
            </p:cNvSpPr>
            <p:nvPr/>
          </p:nvSpPr>
          <p:spPr bwMode="auto">
            <a:xfrm>
              <a:off x="5492" y="3165"/>
              <a:ext cx="79" cy="78"/>
            </a:xfrm>
            <a:custGeom>
              <a:avLst/>
              <a:gdLst>
                <a:gd name="T0" fmla="*/ 0 w 738"/>
                <a:gd name="T1" fmla="*/ 737 h 737"/>
                <a:gd name="T2" fmla="*/ 737 w 738"/>
                <a:gd name="T3" fmla="*/ 0 h 737"/>
                <a:gd name="T4" fmla="*/ 738 w 738"/>
                <a:gd name="T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38" h="737">
                  <a:moveTo>
                    <a:pt x="0" y="737"/>
                  </a:moveTo>
                  <a:lnTo>
                    <a:pt x="737" y="0"/>
                  </a:lnTo>
                  <a:lnTo>
                    <a:pt x="73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66" name="Freeform 766"/>
            <p:cNvSpPr>
              <a:spLocks/>
            </p:cNvSpPr>
            <p:nvPr/>
          </p:nvSpPr>
          <p:spPr bwMode="auto">
            <a:xfrm>
              <a:off x="5571" y="3142"/>
              <a:ext cx="23" cy="23"/>
            </a:xfrm>
            <a:custGeom>
              <a:avLst/>
              <a:gdLst>
                <a:gd name="T0" fmla="*/ 0 w 207"/>
                <a:gd name="T1" fmla="*/ 207 h 207"/>
                <a:gd name="T2" fmla="*/ 206 w 207"/>
                <a:gd name="T3" fmla="*/ 0 h 207"/>
                <a:gd name="T4" fmla="*/ 207 w 207"/>
                <a:gd name="T5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" h="207">
                  <a:moveTo>
                    <a:pt x="0" y="207"/>
                  </a:moveTo>
                  <a:lnTo>
                    <a:pt x="206" y="0"/>
                  </a:lnTo>
                  <a:lnTo>
                    <a:pt x="20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67" name="Freeform 767"/>
            <p:cNvSpPr>
              <a:spLocks/>
            </p:cNvSpPr>
            <p:nvPr/>
          </p:nvSpPr>
          <p:spPr bwMode="auto">
            <a:xfrm>
              <a:off x="5509" y="3170"/>
              <a:ext cx="78" cy="78"/>
            </a:xfrm>
            <a:custGeom>
              <a:avLst/>
              <a:gdLst>
                <a:gd name="T0" fmla="*/ 0 w 729"/>
                <a:gd name="T1" fmla="*/ 728 h 728"/>
                <a:gd name="T2" fmla="*/ 728 w 729"/>
                <a:gd name="T3" fmla="*/ 0 h 728"/>
                <a:gd name="T4" fmla="*/ 729 w 729"/>
                <a:gd name="T5" fmla="*/ 0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9" h="728">
                  <a:moveTo>
                    <a:pt x="0" y="728"/>
                  </a:moveTo>
                  <a:lnTo>
                    <a:pt x="728" y="0"/>
                  </a:lnTo>
                  <a:lnTo>
                    <a:pt x="72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68" name="Freeform 768"/>
            <p:cNvSpPr>
              <a:spLocks/>
            </p:cNvSpPr>
            <p:nvPr/>
          </p:nvSpPr>
          <p:spPr bwMode="auto">
            <a:xfrm>
              <a:off x="5587" y="3161"/>
              <a:ext cx="10" cy="9"/>
            </a:xfrm>
            <a:custGeom>
              <a:avLst/>
              <a:gdLst>
                <a:gd name="T0" fmla="*/ 0 w 87"/>
                <a:gd name="T1" fmla="*/ 85 h 85"/>
                <a:gd name="T2" fmla="*/ 86 w 87"/>
                <a:gd name="T3" fmla="*/ 0 h 85"/>
                <a:gd name="T4" fmla="*/ 87 w 8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7" h="85">
                  <a:moveTo>
                    <a:pt x="0" y="85"/>
                  </a:moveTo>
                  <a:lnTo>
                    <a:pt x="86" y="0"/>
                  </a:lnTo>
                  <a:lnTo>
                    <a:pt x="8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69" name="Freeform 769"/>
            <p:cNvSpPr>
              <a:spLocks/>
            </p:cNvSpPr>
            <p:nvPr/>
          </p:nvSpPr>
          <p:spPr bwMode="auto">
            <a:xfrm>
              <a:off x="5526" y="3181"/>
              <a:ext cx="73" cy="72"/>
            </a:xfrm>
            <a:custGeom>
              <a:avLst/>
              <a:gdLst>
                <a:gd name="T0" fmla="*/ 0 w 679"/>
                <a:gd name="T1" fmla="*/ 679 h 679"/>
                <a:gd name="T2" fmla="*/ 677 w 679"/>
                <a:gd name="T3" fmla="*/ 0 h 679"/>
                <a:gd name="T4" fmla="*/ 679 w 679"/>
                <a:gd name="T5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9" h="679">
                  <a:moveTo>
                    <a:pt x="0" y="679"/>
                  </a:moveTo>
                  <a:lnTo>
                    <a:pt x="677" y="0"/>
                  </a:lnTo>
                  <a:lnTo>
                    <a:pt x="67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70" name="Freeform 770"/>
            <p:cNvSpPr>
              <a:spLocks/>
            </p:cNvSpPr>
            <p:nvPr/>
          </p:nvSpPr>
          <p:spPr bwMode="auto">
            <a:xfrm>
              <a:off x="5543" y="3201"/>
              <a:ext cx="58" cy="58"/>
            </a:xfrm>
            <a:custGeom>
              <a:avLst/>
              <a:gdLst>
                <a:gd name="T0" fmla="*/ 0 w 542"/>
                <a:gd name="T1" fmla="*/ 540 h 540"/>
                <a:gd name="T2" fmla="*/ 541 w 542"/>
                <a:gd name="T3" fmla="*/ 0 h 540"/>
                <a:gd name="T4" fmla="*/ 542 w 542"/>
                <a:gd name="T5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2" h="540">
                  <a:moveTo>
                    <a:pt x="0" y="540"/>
                  </a:moveTo>
                  <a:lnTo>
                    <a:pt x="541" y="0"/>
                  </a:lnTo>
                  <a:lnTo>
                    <a:pt x="54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71" name="Freeform 771"/>
            <p:cNvSpPr>
              <a:spLocks/>
            </p:cNvSpPr>
            <p:nvPr/>
          </p:nvSpPr>
          <p:spPr bwMode="auto">
            <a:xfrm>
              <a:off x="5559" y="3220"/>
              <a:ext cx="44" cy="44"/>
            </a:xfrm>
            <a:custGeom>
              <a:avLst/>
              <a:gdLst>
                <a:gd name="T0" fmla="*/ 0 w 404"/>
                <a:gd name="T1" fmla="*/ 403 h 403"/>
                <a:gd name="T2" fmla="*/ 403 w 404"/>
                <a:gd name="T3" fmla="*/ 0 h 403"/>
                <a:gd name="T4" fmla="*/ 404 w 404"/>
                <a:gd name="T5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4" h="403">
                  <a:moveTo>
                    <a:pt x="0" y="403"/>
                  </a:moveTo>
                  <a:lnTo>
                    <a:pt x="403" y="0"/>
                  </a:lnTo>
                  <a:lnTo>
                    <a:pt x="40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72" name="Freeform 772"/>
            <p:cNvSpPr>
              <a:spLocks/>
            </p:cNvSpPr>
            <p:nvPr/>
          </p:nvSpPr>
          <p:spPr bwMode="auto">
            <a:xfrm>
              <a:off x="5576" y="3240"/>
              <a:ext cx="29" cy="28"/>
            </a:xfrm>
            <a:custGeom>
              <a:avLst/>
              <a:gdLst>
                <a:gd name="T0" fmla="*/ 0 w 267"/>
                <a:gd name="T1" fmla="*/ 268 h 268"/>
                <a:gd name="T2" fmla="*/ 266 w 267"/>
                <a:gd name="T3" fmla="*/ 0 h 268"/>
                <a:gd name="T4" fmla="*/ 267 w 267"/>
                <a:gd name="T5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7" h="268">
                  <a:moveTo>
                    <a:pt x="0" y="268"/>
                  </a:moveTo>
                  <a:lnTo>
                    <a:pt x="266" y="0"/>
                  </a:lnTo>
                  <a:lnTo>
                    <a:pt x="26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73" name="Freeform 773"/>
            <p:cNvSpPr>
              <a:spLocks/>
            </p:cNvSpPr>
            <p:nvPr/>
          </p:nvSpPr>
          <p:spPr bwMode="auto">
            <a:xfrm>
              <a:off x="5593" y="3259"/>
              <a:ext cx="14" cy="14"/>
            </a:xfrm>
            <a:custGeom>
              <a:avLst/>
              <a:gdLst>
                <a:gd name="T0" fmla="*/ 0 w 134"/>
                <a:gd name="T1" fmla="*/ 133 h 133"/>
                <a:gd name="T2" fmla="*/ 133 w 134"/>
                <a:gd name="T3" fmla="*/ 0 h 133"/>
                <a:gd name="T4" fmla="*/ 134 w 134"/>
                <a:gd name="T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33">
                  <a:moveTo>
                    <a:pt x="0" y="133"/>
                  </a:moveTo>
                  <a:lnTo>
                    <a:pt x="133" y="0"/>
                  </a:lnTo>
                  <a:lnTo>
                    <a:pt x="13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74" name="Freeform 774"/>
            <p:cNvSpPr>
              <a:spLocks/>
            </p:cNvSpPr>
            <p:nvPr/>
          </p:nvSpPr>
          <p:spPr bwMode="auto">
            <a:xfrm>
              <a:off x="5610" y="3279"/>
              <a:ext cx="0" cy="0"/>
            </a:xfrm>
            <a:custGeom>
              <a:avLst/>
              <a:gdLst>
                <a:gd name="T0" fmla="*/ 0 w 3"/>
                <a:gd name="T1" fmla="*/ 2 h 2"/>
                <a:gd name="T2" fmla="*/ 2 w 3"/>
                <a:gd name="T3" fmla="*/ 0 h 2"/>
                <a:gd name="T4" fmla="*/ 3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75" name="Freeform 775"/>
            <p:cNvSpPr>
              <a:spLocks/>
            </p:cNvSpPr>
            <p:nvPr/>
          </p:nvSpPr>
          <p:spPr bwMode="auto">
            <a:xfrm>
              <a:off x="4890" y="3209"/>
              <a:ext cx="760" cy="116"/>
            </a:xfrm>
            <a:custGeom>
              <a:avLst/>
              <a:gdLst>
                <a:gd name="T0" fmla="*/ 0 w 7811"/>
                <a:gd name="T1" fmla="*/ 0 h 1154"/>
                <a:gd name="T2" fmla="*/ 63 w 7811"/>
                <a:gd name="T3" fmla="*/ 197 h 1154"/>
                <a:gd name="T4" fmla="*/ 255 w 7811"/>
                <a:gd name="T5" fmla="*/ 389 h 1154"/>
                <a:gd name="T6" fmla="*/ 572 w 7811"/>
                <a:gd name="T7" fmla="*/ 571 h 1154"/>
                <a:gd name="T8" fmla="*/ 1003 w 7811"/>
                <a:gd name="T9" fmla="*/ 738 h 1154"/>
                <a:gd name="T10" fmla="*/ 1532 w 7811"/>
                <a:gd name="T11" fmla="*/ 882 h 1154"/>
                <a:gd name="T12" fmla="*/ 2142 w 7811"/>
                <a:gd name="T13" fmla="*/ 999 h 1154"/>
                <a:gd name="T14" fmla="*/ 2813 w 7811"/>
                <a:gd name="T15" fmla="*/ 1086 h 1154"/>
                <a:gd name="T16" fmla="*/ 3521 w 7811"/>
                <a:gd name="T17" fmla="*/ 1138 h 1154"/>
                <a:gd name="T18" fmla="*/ 4241 w 7811"/>
                <a:gd name="T19" fmla="*/ 1154 h 1154"/>
                <a:gd name="T20" fmla="*/ 4950 w 7811"/>
                <a:gd name="T21" fmla="*/ 1136 h 1154"/>
                <a:gd name="T22" fmla="*/ 5623 w 7811"/>
                <a:gd name="T23" fmla="*/ 1080 h 1154"/>
                <a:gd name="T24" fmla="*/ 6238 w 7811"/>
                <a:gd name="T25" fmla="*/ 992 h 1154"/>
                <a:gd name="T26" fmla="*/ 6774 w 7811"/>
                <a:gd name="T27" fmla="*/ 874 h 1154"/>
                <a:gd name="T28" fmla="*/ 7212 w 7811"/>
                <a:gd name="T29" fmla="*/ 728 h 1154"/>
                <a:gd name="T30" fmla="*/ 7537 w 7811"/>
                <a:gd name="T31" fmla="*/ 560 h 1154"/>
                <a:gd name="T32" fmla="*/ 7739 w 7811"/>
                <a:gd name="T33" fmla="*/ 377 h 1154"/>
                <a:gd name="T34" fmla="*/ 7810 w 7811"/>
                <a:gd name="T35" fmla="*/ 183 h 1154"/>
                <a:gd name="T36" fmla="*/ 7811 w 7811"/>
                <a:gd name="T37" fmla="*/ 183 h 1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811" h="1154">
                  <a:moveTo>
                    <a:pt x="0" y="0"/>
                  </a:moveTo>
                  <a:lnTo>
                    <a:pt x="63" y="197"/>
                  </a:lnTo>
                  <a:lnTo>
                    <a:pt x="255" y="389"/>
                  </a:lnTo>
                  <a:lnTo>
                    <a:pt x="572" y="571"/>
                  </a:lnTo>
                  <a:lnTo>
                    <a:pt x="1003" y="738"/>
                  </a:lnTo>
                  <a:lnTo>
                    <a:pt x="1532" y="882"/>
                  </a:lnTo>
                  <a:lnTo>
                    <a:pt x="2142" y="999"/>
                  </a:lnTo>
                  <a:lnTo>
                    <a:pt x="2813" y="1086"/>
                  </a:lnTo>
                  <a:lnTo>
                    <a:pt x="3521" y="1138"/>
                  </a:lnTo>
                  <a:lnTo>
                    <a:pt x="4241" y="1154"/>
                  </a:lnTo>
                  <a:lnTo>
                    <a:pt x="4950" y="1136"/>
                  </a:lnTo>
                  <a:lnTo>
                    <a:pt x="5623" y="1080"/>
                  </a:lnTo>
                  <a:lnTo>
                    <a:pt x="6238" y="992"/>
                  </a:lnTo>
                  <a:lnTo>
                    <a:pt x="6774" y="874"/>
                  </a:lnTo>
                  <a:lnTo>
                    <a:pt x="7212" y="728"/>
                  </a:lnTo>
                  <a:lnTo>
                    <a:pt x="7537" y="560"/>
                  </a:lnTo>
                  <a:lnTo>
                    <a:pt x="7739" y="377"/>
                  </a:lnTo>
                  <a:lnTo>
                    <a:pt x="7810" y="183"/>
                  </a:lnTo>
                  <a:lnTo>
                    <a:pt x="7811" y="18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76" name="Freeform 776"/>
            <p:cNvSpPr>
              <a:spLocks/>
            </p:cNvSpPr>
            <p:nvPr/>
          </p:nvSpPr>
          <p:spPr bwMode="auto">
            <a:xfrm>
              <a:off x="4894" y="3119"/>
              <a:ext cx="762" cy="207"/>
            </a:xfrm>
            <a:custGeom>
              <a:avLst/>
              <a:gdLst>
                <a:gd name="T0" fmla="*/ 7099 w 7100"/>
                <a:gd name="T1" fmla="*/ 1050 h 1933"/>
                <a:gd name="T2" fmla="*/ 7038 w 7100"/>
                <a:gd name="T3" fmla="*/ 865 h 1933"/>
                <a:gd name="T4" fmla="*/ 6853 w 7100"/>
                <a:gd name="T5" fmla="*/ 685 h 1933"/>
                <a:gd name="T6" fmla="*/ 6546 w 7100"/>
                <a:gd name="T7" fmla="*/ 515 h 1933"/>
                <a:gd name="T8" fmla="*/ 6132 w 7100"/>
                <a:gd name="T9" fmla="*/ 361 h 1933"/>
                <a:gd name="T10" fmla="*/ 5624 w 7100"/>
                <a:gd name="T11" fmla="*/ 229 h 1933"/>
                <a:gd name="T12" fmla="*/ 5040 w 7100"/>
                <a:gd name="T13" fmla="*/ 124 h 1933"/>
                <a:gd name="T14" fmla="*/ 4403 w 7100"/>
                <a:gd name="T15" fmla="*/ 49 h 1933"/>
                <a:gd name="T16" fmla="*/ 3735 w 7100"/>
                <a:gd name="T17" fmla="*/ 7 h 1933"/>
                <a:gd name="T18" fmla="*/ 3059 w 7100"/>
                <a:gd name="T19" fmla="*/ 0 h 1933"/>
                <a:gd name="T20" fmla="*/ 2400 w 7100"/>
                <a:gd name="T21" fmla="*/ 27 h 1933"/>
                <a:gd name="T22" fmla="*/ 1784 w 7100"/>
                <a:gd name="T23" fmla="*/ 90 h 1933"/>
                <a:gd name="T24" fmla="*/ 1231 w 7100"/>
                <a:gd name="T25" fmla="*/ 183 h 1933"/>
                <a:gd name="T26" fmla="*/ 761 w 7100"/>
                <a:gd name="T27" fmla="*/ 304 h 1933"/>
                <a:gd name="T28" fmla="*/ 391 w 7100"/>
                <a:gd name="T29" fmla="*/ 450 h 1933"/>
                <a:gd name="T30" fmla="*/ 136 w 7100"/>
                <a:gd name="T31" fmla="*/ 615 h 1933"/>
                <a:gd name="T32" fmla="*/ 4 w 7100"/>
                <a:gd name="T33" fmla="*/ 792 h 1933"/>
                <a:gd name="T34" fmla="*/ 0 w 7100"/>
                <a:gd name="T35" fmla="*/ 975 h 1933"/>
                <a:gd name="T36" fmla="*/ 124 w 7100"/>
                <a:gd name="T37" fmla="*/ 1157 h 1933"/>
                <a:gd name="T38" fmla="*/ 371 w 7100"/>
                <a:gd name="T39" fmla="*/ 1334 h 1933"/>
                <a:gd name="T40" fmla="*/ 733 w 7100"/>
                <a:gd name="T41" fmla="*/ 1497 h 1933"/>
                <a:gd name="T42" fmla="*/ 1197 w 7100"/>
                <a:gd name="T43" fmla="*/ 1641 h 1933"/>
                <a:gd name="T44" fmla="*/ 1744 w 7100"/>
                <a:gd name="T45" fmla="*/ 1759 h 1933"/>
                <a:gd name="T46" fmla="*/ 2357 w 7100"/>
                <a:gd name="T47" fmla="*/ 1851 h 1933"/>
                <a:gd name="T48" fmla="*/ 3014 w 7100"/>
                <a:gd name="T49" fmla="*/ 1909 h 1933"/>
                <a:gd name="T50" fmla="*/ 3688 w 7100"/>
                <a:gd name="T51" fmla="*/ 1933 h 1933"/>
                <a:gd name="T52" fmla="*/ 4359 w 7100"/>
                <a:gd name="T53" fmla="*/ 1923 h 1933"/>
                <a:gd name="T54" fmla="*/ 4998 w 7100"/>
                <a:gd name="T55" fmla="*/ 1878 h 1933"/>
                <a:gd name="T56" fmla="*/ 5586 w 7100"/>
                <a:gd name="T57" fmla="*/ 1800 h 1933"/>
                <a:gd name="T58" fmla="*/ 6101 w 7100"/>
                <a:gd name="T59" fmla="*/ 1692 h 1933"/>
                <a:gd name="T60" fmla="*/ 6522 w 7100"/>
                <a:gd name="T61" fmla="*/ 1558 h 1933"/>
                <a:gd name="T62" fmla="*/ 6835 w 7100"/>
                <a:gd name="T63" fmla="*/ 1402 h 1933"/>
                <a:gd name="T64" fmla="*/ 7030 w 7100"/>
                <a:gd name="T65" fmla="*/ 1231 h 1933"/>
                <a:gd name="T66" fmla="*/ 7099 w 7100"/>
                <a:gd name="T67" fmla="*/ 1050 h 1933"/>
                <a:gd name="T68" fmla="*/ 7100 w 7100"/>
                <a:gd name="T69" fmla="*/ 1050 h 1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100" h="1933">
                  <a:moveTo>
                    <a:pt x="7099" y="1050"/>
                  </a:moveTo>
                  <a:lnTo>
                    <a:pt x="7038" y="865"/>
                  </a:lnTo>
                  <a:lnTo>
                    <a:pt x="6853" y="685"/>
                  </a:lnTo>
                  <a:lnTo>
                    <a:pt x="6546" y="515"/>
                  </a:lnTo>
                  <a:lnTo>
                    <a:pt x="6132" y="361"/>
                  </a:lnTo>
                  <a:lnTo>
                    <a:pt x="5624" y="229"/>
                  </a:lnTo>
                  <a:lnTo>
                    <a:pt x="5040" y="124"/>
                  </a:lnTo>
                  <a:lnTo>
                    <a:pt x="4403" y="49"/>
                  </a:lnTo>
                  <a:lnTo>
                    <a:pt x="3735" y="7"/>
                  </a:lnTo>
                  <a:lnTo>
                    <a:pt x="3059" y="0"/>
                  </a:lnTo>
                  <a:lnTo>
                    <a:pt x="2400" y="27"/>
                  </a:lnTo>
                  <a:lnTo>
                    <a:pt x="1784" y="90"/>
                  </a:lnTo>
                  <a:lnTo>
                    <a:pt x="1231" y="183"/>
                  </a:lnTo>
                  <a:lnTo>
                    <a:pt x="761" y="304"/>
                  </a:lnTo>
                  <a:lnTo>
                    <a:pt x="391" y="450"/>
                  </a:lnTo>
                  <a:lnTo>
                    <a:pt x="136" y="615"/>
                  </a:lnTo>
                  <a:lnTo>
                    <a:pt x="4" y="792"/>
                  </a:lnTo>
                  <a:lnTo>
                    <a:pt x="0" y="975"/>
                  </a:lnTo>
                  <a:lnTo>
                    <a:pt x="124" y="1157"/>
                  </a:lnTo>
                  <a:lnTo>
                    <a:pt x="371" y="1334"/>
                  </a:lnTo>
                  <a:lnTo>
                    <a:pt x="733" y="1497"/>
                  </a:lnTo>
                  <a:lnTo>
                    <a:pt x="1197" y="1641"/>
                  </a:lnTo>
                  <a:lnTo>
                    <a:pt x="1744" y="1759"/>
                  </a:lnTo>
                  <a:lnTo>
                    <a:pt x="2357" y="1851"/>
                  </a:lnTo>
                  <a:lnTo>
                    <a:pt x="3014" y="1909"/>
                  </a:lnTo>
                  <a:lnTo>
                    <a:pt x="3688" y="1933"/>
                  </a:lnTo>
                  <a:lnTo>
                    <a:pt x="4359" y="1923"/>
                  </a:lnTo>
                  <a:lnTo>
                    <a:pt x="4998" y="1878"/>
                  </a:lnTo>
                  <a:lnTo>
                    <a:pt x="5586" y="1800"/>
                  </a:lnTo>
                  <a:lnTo>
                    <a:pt x="6101" y="1692"/>
                  </a:lnTo>
                  <a:lnTo>
                    <a:pt x="6522" y="1558"/>
                  </a:lnTo>
                  <a:lnTo>
                    <a:pt x="6835" y="1402"/>
                  </a:lnTo>
                  <a:lnTo>
                    <a:pt x="7030" y="1231"/>
                  </a:lnTo>
                  <a:lnTo>
                    <a:pt x="7099" y="1050"/>
                  </a:lnTo>
                  <a:lnTo>
                    <a:pt x="7100" y="1050"/>
                  </a:lnTo>
                </a:path>
              </a:pathLst>
            </a:custGeom>
            <a:noFill/>
            <a:ln w="9525" cap="flat" cmpd="sng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77" name="Freeform 777"/>
            <p:cNvSpPr>
              <a:spLocks/>
            </p:cNvSpPr>
            <p:nvPr/>
          </p:nvSpPr>
          <p:spPr bwMode="auto">
            <a:xfrm>
              <a:off x="5586" y="3106"/>
              <a:ext cx="70" cy="126"/>
            </a:xfrm>
            <a:custGeom>
              <a:avLst/>
              <a:gdLst>
                <a:gd name="T0" fmla="*/ 0 w 655"/>
                <a:gd name="T1" fmla="*/ 0 h 1176"/>
                <a:gd name="T2" fmla="*/ 654 w 655"/>
                <a:gd name="T3" fmla="*/ 1176 h 1176"/>
                <a:gd name="T4" fmla="*/ 655 w 655"/>
                <a:gd name="T5" fmla="*/ 1176 h 1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5" h="1176">
                  <a:moveTo>
                    <a:pt x="0" y="0"/>
                  </a:moveTo>
                  <a:lnTo>
                    <a:pt x="654" y="1176"/>
                  </a:lnTo>
                  <a:lnTo>
                    <a:pt x="655" y="1176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78" name="Freeform 778"/>
            <p:cNvSpPr>
              <a:spLocks/>
            </p:cNvSpPr>
            <p:nvPr/>
          </p:nvSpPr>
          <p:spPr bwMode="auto">
            <a:xfrm>
              <a:off x="4892" y="2957"/>
              <a:ext cx="146" cy="257"/>
            </a:xfrm>
            <a:custGeom>
              <a:avLst/>
              <a:gdLst>
                <a:gd name="T0" fmla="*/ 1349 w 1349"/>
                <a:gd name="T1" fmla="*/ 0 h 2391"/>
                <a:gd name="T2" fmla="*/ 0 w 1349"/>
                <a:gd name="T3" fmla="*/ 2391 h 2391"/>
                <a:gd name="T4" fmla="*/ 1 w 1349"/>
                <a:gd name="T5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9" h="2391">
                  <a:moveTo>
                    <a:pt x="1349" y="0"/>
                  </a:moveTo>
                  <a:lnTo>
                    <a:pt x="0" y="2391"/>
                  </a:lnTo>
                  <a:lnTo>
                    <a:pt x="1" y="2391"/>
                  </a:lnTo>
                </a:path>
              </a:pathLst>
            </a:custGeom>
            <a:noFill/>
            <a:ln w="95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79" name="Freeform 779"/>
            <p:cNvSpPr>
              <a:spLocks/>
            </p:cNvSpPr>
            <p:nvPr/>
          </p:nvSpPr>
          <p:spPr bwMode="auto">
            <a:xfrm>
              <a:off x="5269" y="2772"/>
              <a:ext cx="3" cy="15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80" name="Freeform 780"/>
            <p:cNvSpPr>
              <a:spLocks/>
            </p:cNvSpPr>
            <p:nvPr/>
          </p:nvSpPr>
          <p:spPr bwMode="auto">
            <a:xfrm>
              <a:off x="5269" y="2803"/>
              <a:ext cx="3" cy="93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81" name="Freeform 781"/>
            <p:cNvSpPr>
              <a:spLocks/>
            </p:cNvSpPr>
            <p:nvPr/>
          </p:nvSpPr>
          <p:spPr bwMode="auto">
            <a:xfrm>
              <a:off x="5269" y="2911"/>
              <a:ext cx="3" cy="15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82" name="Freeform 782"/>
            <p:cNvSpPr>
              <a:spLocks/>
            </p:cNvSpPr>
            <p:nvPr/>
          </p:nvSpPr>
          <p:spPr bwMode="auto">
            <a:xfrm>
              <a:off x="5269" y="2942"/>
              <a:ext cx="3" cy="92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83" name="Freeform 783"/>
            <p:cNvSpPr>
              <a:spLocks/>
            </p:cNvSpPr>
            <p:nvPr/>
          </p:nvSpPr>
          <p:spPr bwMode="auto">
            <a:xfrm>
              <a:off x="5269" y="3050"/>
              <a:ext cx="3" cy="15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84" name="Freeform 784"/>
            <p:cNvSpPr>
              <a:spLocks/>
            </p:cNvSpPr>
            <p:nvPr/>
          </p:nvSpPr>
          <p:spPr bwMode="auto">
            <a:xfrm>
              <a:off x="5269" y="3081"/>
              <a:ext cx="3" cy="93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85" name="Freeform 785"/>
            <p:cNvSpPr>
              <a:spLocks/>
            </p:cNvSpPr>
            <p:nvPr/>
          </p:nvSpPr>
          <p:spPr bwMode="auto">
            <a:xfrm>
              <a:off x="5269" y="3189"/>
              <a:ext cx="3" cy="15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86" name="Freeform 786"/>
            <p:cNvSpPr>
              <a:spLocks/>
            </p:cNvSpPr>
            <p:nvPr/>
          </p:nvSpPr>
          <p:spPr bwMode="auto">
            <a:xfrm>
              <a:off x="5269" y="3220"/>
              <a:ext cx="3" cy="93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87" name="Freeform 787"/>
            <p:cNvSpPr>
              <a:spLocks/>
            </p:cNvSpPr>
            <p:nvPr/>
          </p:nvSpPr>
          <p:spPr bwMode="auto">
            <a:xfrm>
              <a:off x="5269" y="3328"/>
              <a:ext cx="3" cy="15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88" name="Freeform 788"/>
            <p:cNvSpPr>
              <a:spLocks/>
            </p:cNvSpPr>
            <p:nvPr/>
          </p:nvSpPr>
          <p:spPr bwMode="auto">
            <a:xfrm>
              <a:off x="5037" y="2798"/>
              <a:ext cx="90" cy="159"/>
            </a:xfrm>
            <a:custGeom>
              <a:avLst/>
              <a:gdLst>
                <a:gd name="T0" fmla="*/ 0 w 840"/>
                <a:gd name="T1" fmla="*/ 1485 h 1485"/>
                <a:gd name="T2" fmla="*/ 839 w 840"/>
                <a:gd name="T3" fmla="*/ 0 h 1485"/>
                <a:gd name="T4" fmla="*/ 840 w 840"/>
                <a:gd name="T5" fmla="*/ 0 h 1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0" h="1485">
                  <a:moveTo>
                    <a:pt x="0" y="1485"/>
                  </a:moveTo>
                  <a:lnTo>
                    <a:pt x="839" y="0"/>
                  </a:lnTo>
                  <a:lnTo>
                    <a:pt x="840" y="0"/>
                  </a:lnTo>
                </a:path>
              </a:pathLst>
            </a:custGeom>
            <a:noFill/>
            <a:ln w="95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89" name="Freeform 789"/>
            <p:cNvSpPr>
              <a:spLocks/>
            </p:cNvSpPr>
            <p:nvPr/>
          </p:nvSpPr>
          <p:spPr bwMode="auto">
            <a:xfrm>
              <a:off x="5356" y="3280"/>
              <a:ext cx="1" cy="15"/>
            </a:xfrm>
            <a:custGeom>
              <a:avLst/>
              <a:gdLst>
                <a:gd name="T0" fmla="*/ 0 w 1"/>
                <a:gd name="T1" fmla="*/ 143 h 143"/>
                <a:gd name="T2" fmla="*/ 0 w 1"/>
                <a:gd name="T3" fmla="*/ 0 h 143"/>
                <a:gd name="T4" fmla="*/ 1 w 1"/>
                <a:gd name="T5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14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90" name="Freeform 790"/>
            <p:cNvSpPr>
              <a:spLocks/>
            </p:cNvSpPr>
            <p:nvPr/>
          </p:nvSpPr>
          <p:spPr bwMode="auto">
            <a:xfrm>
              <a:off x="5356" y="3172"/>
              <a:ext cx="1" cy="92"/>
            </a:xfrm>
            <a:custGeom>
              <a:avLst/>
              <a:gdLst>
                <a:gd name="T0" fmla="*/ 0 w 3"/>
                <a:gd name="T1" fmla="*/ 864 h 864"/>
                <a:gd name="T2" fmla="*/ 2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91" name="Freeform 791"/>
            <p:cNvSpPr>
              <a:spLocks/>
            </p:cNvSpPr>
            <p:nvPr/>
          </p:nvSpPr>
          <p:spPr bwMode="auto">
            <a:xfrm>
              <a:off x="5356" y="3141"/>
              <a:ext cx="1" cy="15"/>
            </a:xfrm>
            <a:custGeom>
              <a:avLst/>
              <a:gdLst>
                <a:gd name="T0" fmla="*/ 0 w 2"/>
                <a:gd name="T1" fmla="*/ 142 h 142"/>
                <a:gd name="T2" fmla="*/ 1 w 2"/>
                <a:gd name="T3" fmla="*/ 0 h 142"/>
                <a:gd name="T4" fmla="*/ 2 w 2"/>
                <a:gd name="T5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42">
                  <a:moveTo>
                    <a:pt x="0" y="142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92" name="Freeform 792"/>
            <p:cNvSpPr>
              <a:spLocks/>
            </p:cNvSpPr>
            <p:nvPr/>
          </p:nvSpPr>
          <p:spPr bwMode="auto">
            <a:xfrm>
              <a:off x="5357" y="3033"/>
              <a:ext cx="0" cy="92"/>
            </a:xfrm>
            <a:custGeom>
              <a:avLst/>
              <a:gdLst>
                <a:gd name="T0" fmla="*/ 0 w 3"/>
                <a:gd name="T1" fmla="*/ 864 h 864"/>
                <a:gd name="T2" fmla="*/ 2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93" name="Freeform 793"/>
            <p:cNvSpPr>
              <a:spLocks/>
            </p:cNvSpPr>
            <p:nvPr/>
          </p:nvSpPr>
          <p:spPr bwMode="auto">
            <a:xfrm>
              <a:off x="5357" y="3002"/>
              <a:ext cx="0" cy="15"/>
            </a:xfrm>
            <a:custGeom>
              <a:avLst/>
              <a:gdLst>
                <a:gd name="T0" fmla="*/ 0 w 1"/>
                <a:gd name="T1" fmla="*/ 143 h 143"/>
                <a:gd name="T2" fmla="*/ 0 w 1"/>
                <a:gd name="T3" fmla="*/ 0 h 143"/>
                <a:gd name="T4" fmla="*/ 1 w 1"/>
                <a:gd name="T5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14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94" name="Freeform 794"/>
            <p:cNvSpPr>
              <a:spLocks/>
            </p:cNvSpPr>
            <p:nvPr/>
          </p:nvSpPr>
          <p:spPr bwMode="auto">
            <a:xfrm>
              <a:off x="5357" y="2893"/>
              <a:ext cx="0" cy="93"/>
            </a:xfrm>
            <a:custGeom>
              <a:avLst/>
              <a:gdLst>
                <a:gd name="T0" fmla="*/ 0 w 3"/>
                <a:gd name="T1" fmla="*/ 864 h 864"/>
                <a:gd name="T2" fmla="*/ 1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1" y="0"/>
                  </a:lnTo>
                  <a:lnTo>
                    <a:pt x="3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95" name="Freeform 795"/>
            <p:cNvSpPr>
              <a:spLocks/>
            </p:cNvSpPr>
            <p:nvPr/>
          </p:nvSpPr>
          <p:spPr bwMode="auto">
            <a:xfrm>
              <a:off x="5357" y="2863"/>
              <a:ext cx="0" cy="15"/>
            </a:xfrm>
            <a:custGeom>
              <a:avLst/>
              <a:gdLst>
                <a:gd name="T0" fmla="*/ 0 w 1"/>
                <a:gd name="T1" fmla="*/ 144 h 144"/>
                <a:gd name="T2" fmla="*/ 0 w 1"/>
                <a:gd name="T3" fmla="*/ 0 h 144"/>
                <a:gd name="T4" fmla="*/ 1 w 1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4">
                  <a:moveTo>
                    <a:pt x="0" y="14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96" name="Freeform 796"/>
            <p:cNvSpPr>
              <a:spLocks/>
            </p:cNvSpPr>
            <p:nvPr/>
          </p:nvSpPr>
          <p:spPr bwMode="auto">
            <a:xfrm>
              <a:off x="5357" y="2755"/>
              <a:ext cx="0" cy="93"/>
            </a:xfrm>
            <a:custGeom>
              <a:avLst/>
              <a:gdLst>
                <a:gd name="T0" fmla="*/ 0 w 3"/>
                <a:gd name="T1" fmla="*/ 864 h 864"/>
                <a:gd name="T2" fmla="*/ 2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97" name="Freeform 797"/>
            <p:cNvSpPr>
              <a:spLocks/>
            </p:cNvSpPr>
            <p:nvPr/>
          </p:nvSpPr>
          <p:spPr bwMode="auto">
            <a:xfrm>
              <a:off x="5357" y="2724"/>
              <a:ext cx="1" cy="15"/>
            </a:xfrm>
            <a:custGeom>
              <a:avLst/>
              <a:gdLst>
                <a:gd name="T0" fmla="*/ 0 w 2"/>
                <a:gd name="T1" fmla="*/ 144 h 144"/>
                <a:gd name="T2" fmla="*/ 1 w 2"/>
                <a:gd name="T3" fmla="*/ 0 h 144"/>
                <a:gd name="T4" fmla="*/ 2 w 2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44">
                  <a:moveTo>
                    <a:pt x="0" y="144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98" name="Freeform 798"/>
            <p:cNvSpPr>
              <a:spLocks/>
            </p:cNvSpPr>
            <p:nvPr/>
          </p:nvSpPr>
          <p:spPr bwMode="auto">
            <a:xfrm>
              <a:off x="5101" y="3127"/>
              <a:ext cx="510" cy="152"/>
            </a:xfrm>
            <a:custGeom>
              <a:avLst/>
              <a:gdLst>
                <a:gd name="T0" fmla="*/ 0 w 4751"/>
                <a:gd name="T1" fmla="*/ 0 h 1417"/>
                <a:gd name="T2" fmla="*/ 4750 w 4751"/>
                <a:gd name="T3" fmla="*/ 1417 h 1417"/>
                <a:gd name="T4" fmla="*/ 4751 w 4751"/>
                <a:gd name="T5" fmla="*/ 1417 h 1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51" h="1417">
                  <a:moveTo>
                    <a:pt x="0" y="0"/>
                  </a:moveTo>
                  <a:lnTo>
                    <a:pt x="4750" y="1417"/>
                  </a:lnTo>
                  <a:lnTo>
                    <a:pt x="4751" y="1417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999" name="Freeform 799"/>
            <p:cNvSpPr>
              <a:spLocks/>
            </p:cNvSpPr>
            <p:nvPr/>
          </p:nvSpPr>
          <p:spPr bwMode="auto">
            <a:xfrm>
              <a:off x="5101" y="2716"/>
              <a:ext cx="262" cy="411"/>
            </a:xfrm>
            <a:custGeom>
              <a:avLst/>
              <a:gdLst>
                <a:gd name="T0" fmla="*/ 0 w 2437"/>
                <a:gd name="T1" fmla="*/ 3822 h 3822"/>
                <a:gd name="T2" fmla="*/ 59 w 2437"/>
                <a:gd name="T3" fmla="*/ 3224 h 3822"/>
                <a:gd name="T4" fmla="*/ 190 w 2437"/>
                <a:gd name="T5" fmla="*/ 2642 h 3822"/>
                <a:gd name="T6" fmla="*/ 688 w 2437"/>
                <a:gd name="T7" fmla="*/ 1554 h 3822"/>
                <a:gd name="T8" fmla="*/ 1008 w 2437"/>
                <a:gd name="T9" fmla="*/ 1053 h 3822"/>
                <a:gd name="T10" fmla="*/ 1441 w 2437"/>
                <a:gd name="T11" fmla="*/ 637 h 3822"/>
                <a:gd name="T12" fmla="*/ 1896 w 2437"/>
                <a:gd name="T13" fmla="*/ 247 h 3822"/>
                <a:gd name="T14" fmla="*/ 2152 w 2437"/>
                <a:gd name="T15" fmla="*/ 98 h 3822"/>
                <a:gd name="T16" fmla="*/ 2436 w 2437"/>
                <a:gd name="T17" fmla="*/ 0 h 3822"/>
                <a:gd name="T18" fmla="*/ 2437 w 2437"/>
                <a:gd name="T19" fmla="*/ 0 h 3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37" h="3822">
                  <a:moveTo>
                    <a:pt x="0" y="3822"/>
                  </a:moveTo>
                  <a:lnTo>
                    <a:pt x="59" y="3224"/>
                  </a:lnTo>
                  <a:lnTo>
                    <a:pt x="190" y="2642"/>
                  </a:lnTo>
                  <a:lnTo>
                    <a:pt x="688" y="1554"/>
                  </a:lnTo>
                  <a:lnTo>
                    <a:pt x="1008" y="1053"/>
                  </a:lnTo>
                  <a:lnTo>
                    <a:pt x="1441" y="637"/>
                  </a:lnTo>
                  <a:lnTo>
                    <a:pt x="1896" y="247"/>
                  </a:lnTo>
                  <a:lnTo>
                    <a:pt x="2152" y="98"/>
                  </a:lnTo>
                  <a:lnTo>
                    <a:pt x="2436" y="0"/>
                  </a:lnTo>
                  <a:lnTo>
                    <a:pt x="243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00" name="Freeform 800"/>
            <p:cNvSpPr>
              <a:spLocks/>
            </p:cNvSpPr>
            <p:nvPr/>
          </p:nvSpPr>
          <p:spPr bwMode="auto">
            <a:xfrm>
              <a:off x="5363" y="2716"/>
              <a:ext cx="247" cy="565"/>
            </a:xfrm>
            <a:custGeom>
              <a:avLst/>
              <a:gdLst>
                <a:gd name="T0" fmla="*/ 0 w 2306"/>
                <a:gd name="T1" fmla="*/ 0 h 5260"/>
                <a:gd name="T2" fmla="*/ 524 w 2306"/>
                <a:gd name="T3" fmla="*/ 518 h 5260"/>
                <a:gd name="T4" fmla="*/ 763 w 2306"/>
                <a:gd name="T5" fmla="*/ 794 h 5260"/>
                <a:gd name="T6" fmla="*/ 959 w 2306"/>
                <a:gd name="T7" fmla="*/ 1105 h 5260"/>
                <a:gd name="T8" fmla="*/ 1322 w 2306"/>
                <a:gd name="T9" fmla="*/ 1747 h 5260"/>
                <a:gd name="T10" fmla="*/ 1616 w 2306"/>
                <a:gd name="T11" fmla="*/ 2420 h 5260"/>
                <a:gd name="T12" fmla="*/ 1899 w 2306"/>
                <a:gd name="T13" fmla="*/ 3099 h 5260"/>
                <a:gd name="T14" fmla="*/ 2118 w 2306"/>
                <a:gd name="T15" fmla="*/ 3800 h 5260"/>
                <a:gd name="T16" fmla="*/ 2305 w 2306"/>
                <a:gd name="T17" fmla="*/ 5260 h 5260"/>
                <a:gd name="T18" fmla="*/ 2306 w 2306"/>
                <a:gd name="T19" fmla="*/ 5260 h 5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06" h="5260">
                  <a:moveTo>
                    <a:pt x="0" y="0"/>
                  </a:moveTo>
                  <a:lnTo>
                    <a:pt x="524" y="518"/>
                  </a:lnTo>
                  <a:lnTo>
                    <a:pt x="763" y="794"/>
                  </a:lnTo>
                  <a:lnTo>
                    <a:pt x="959" y="1105"/>
                  </a:lnTo>
                  <a:lnTo>
                    <a:pt x="1322" y="1747"/>
                  </a:lnTo>
                  <a:lnTo>
                    <a:pt x="1616" y="2420"/>
                  </a:lnTo>
                  <a:lnTo>
                    <a:pt x="1899" y="3099"/>
                  </a:lnTo>
                  <a:lnTo>
                    <a:pt x="2118" y="3800"/>
                  </a:lnTo>
                  <a:lnTo>
                    <a:pt x="2305" y="5260"/>
                  </a:lnTo>
                  <a:lnTo>
                    <a:pt x="2306" y="526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01" name="Freeform 801"/>
            <p:cNvSpPr>
              <a:spLocks/>
            </p:cNvSpPr>
            <p:nvPr/>
          </p:nvSpPr>
          <p:spPr bwMode="auto">
            <a:xfrm>
              <a:off x="5377" y="2731"/>
              <a:ext cx="30" cy="54"/>
            </a:xfrm>
            <a:custGeom>
              <a:avLst/>
              <a:gdLst>
                <a:gd name="T0" fmla="*/ 0 w 272"/>
                <a:gd name="T1" fmla="*/ 0 h 488"/>
                <a:gd name="T2" fmla="*/ 271 w 272"/>
                <a:gd name="T3" fmla="*/ 488 h 488"/>
                <a:gd name="T4" fmla="*/ 272 w 272"/>
                <a:gd name="T5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488">
                  <a:moveTo>
                    <a:pt x="0" y="0"/>
                  </a:moveTo>
                  <a:lnTo>
                    <a:pt x="271" y="488"/>
                  </a:lnTo>
                  <a:lnTo>
                    <a:pt x="272" y="488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02" name="Freeform 802"/>
            <p:cNvSpPr>
              <a:spLocks/>
            </p:cNvSpPr>
            <p:nvPr/>
          </p:nvSpPr>
          <p:spPr bwMode="auto">
            <a:xfrm>
              <a:off x="5422" y="2810"/>
              <a:ext cx="30" cy="56"/>
            </a:xfrm>
            <a:custGeom>
              <a:avLst/>
              <a:gdLst>
                <a:gd name="T0" fmla="*/ 0 w 280"/>
                <a:gd name="T1" fmla="*/ 0 h 502"/>
                <a:gd name="T2" fmla="*/ 279 w 280"/>
                <a:gd name="T3" fmla="*/ 502 h 502"/>
                <a:gd name="T4" fmla="*/ 280 w 280"/>
                <a:gd name="T5" fmla="*/ 502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0" h="502">
                  <a:moveTo>
                    <a:pt x="0" y="0"/>
                  </a:moveTo>
                  <a:lnTo>
                    <a:pt x="279" y="502"/>
                  </a:lnTo>
                  <a:lnTo>
                    <a:pt x="280" y="502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03" name="Freeform 803"/>
            <p:cNvSpPr>
              <a:spLocks/>
            </p:cNvSpPr>
            <p:nvPr/>
          </p:nvSpPr>
          <p:spPr bwMode="auto">
            <a:xfrm>
              <a:off x="5467" y="2892"/>
              <a:ext cx="30" cy="56"/>
            </a:xfrm>
            <a:custGeom>
              <a:avLst/>
              <a:gdLst>
                <a:gd name="T0" fmla="*/ 0 w 280"/>
                <a:gd name="T1" fmla="*/ 0 h 502"/>
                <a:gd name="T2" fmla="*/ 279 w 280"/>
                <a:gd name="T3" fmla="*/ 502 h 502"/>
                <a:gd name="T4" fmla="*/ 280 w 280"/>
                <a:gd name="T5" fmla="*/ 502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0" h="502">
                  <a:moveTo>
                    <a:pt x="0" y="0"/>
                  </a:moveTo>
                  <a:lnTo>
                    <a:pt x="279" y="502"/>
                  </a:lnTo>
                  <a:lnTo>
                    <a:pt x="280" y="502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04" name="Freeform 804"/>
            <p:cNvSpPr>
              <a:spLocks/>
            </p:cNvSpPr>
            <p:nvPr/>
          </p:nvSpPr>
          <p:spPr bwMode="auto">
            <a:xfrm>
              <a:off x="5512" y="2972"/>
              <a:ext cx="29" cy="56"/>
            </a:xfrm>
            <a:custGeom>
              <a:avLst/>
              <a:gdLst>
                <a:gd name="T0" fmla="*/ 0 w 280"/>
                <a:gd name="T1" fmla="*/ 0 h 503"/>
                <a:gd name="T2" fmla="*/ 279 w 280"/>
                <a:gd name="T3" fmla="*/ 503 h 503"/>
                <a:gd name="T4" fmla="*/ 280 w 280"/>
                <a:gd name="T5" fmla="*/ 503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0" h="503">
                  <a:moveTo>
                    <a:pt x="0" y="0"/>
                  </a:moveTo>
                  <a:lnTo>
                    <a:pt x="279" y="503"/>
                  </a:lnTo>
                  <a:lnTo>
                    <a:pt x="280" y="50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05" name="Freeform 805"/>
            <p:cNvSpPr>
              <a:spLocks/>
            </p:cNvSpPr>
            <p:nvPr/>
          </p:nvSpPr>
          <p:spPr bwMode="auto">
            <a:xfrm>
              <a:off x="5557" y="3053"/>
              <a:ext cx="29" cy="55"/>
            </a:xfrm>
            <a:custGeom>
              <a:avLst/>
              <a:gdLst>
                <a:gd name="T0" fmla="*/ 0 w 273"/>
                <a:gd name="T1" fmla="*/ 0 h 488"/>
                <a:gd name="T2" fmla="*/ 272 w 273"/>
                <a:gd name="T3" fmla="*/ 488 h 488"/>
                <a:gd name="T4" fmla="*/ 273 w 273"/>
                <a:gd name="T5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3" h="488">
                  <a:moveTo>
                    <a:pt x="0" y="0"/>
                  </a:moveTo>
                  <a:lnTo>
                    <a:pt x="272" y="488"/>
                  </a:lnTo>
                  <a:lnTo>
                    <a:pt x="273" y="488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06" name="Freeform 806"/>
            <p:cNvSpPr>
              <a:spLocks/>
            </p:cNvSpPr>
            <p:nvPr/>
          </p:nvSpPr>
          <p:spPr bwMode="auto">
            <a:xfrm>
              <a:off x="5174" y="2729"/>
              <a:ext cx="156" cy="157"/>
            </a:xfrm>
            <a:custGeom>
              <a:avLst/>
              <a:gdLst>
                <a:gd name="T0" fmla="*/ 0 w 1450"/>
                <a:gd name="T1" fmla="*/ 1450 h 1450"/>
                <a:gd name="T2" fmla="*/ 882 w 1450"/>
                <a:gd name="T3" fmla="*/ 568 h 1450"/>
                <a:gd name="T4" fmla="*/ 1449 w 1450"/>
                <a:gd name="T5" fmla="*/ 0 h 1450"/>
                <a:gd name="T6" fmla="*/ 1450 w 1450"/>
                <a:gd name="T7" fmla="*/ 0 h 1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0" h="1450">
                  <a:moveTo>
                    <a:pt x="0" y="1450"/>
                  </a:moveTo>
                  <a:lnTo>
                    <a:pt x="882" y="568"/>
                  </a:lnTo>
                  <a:lnTo>
                    <a:pt x="1449" y="0"/>
                  </a:lnTo>
                  <a:lnTo>
                    <a:pt x="145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07" name="Freeform 807"/>
            <p:cNvSpPr>
              <a:spLocks/>
            </p:cNvSpPr>
            <p:nvPr/>
          </p:nvSpPr>
          <p:spPr bwMode="auto">
            <a:xfrm>
              <a:off x="5155" y="2812"/>
              <a:ext cx="114" cy="116"/>
            </a:xfrm>
            <a:custGeom>
              <a:avLst/>
              <a:gdLst>
                <a:gd name="T0" fmla="*/ 0 w 1063"/>
                <a:gd name="T1" fmla="*/ 1063 h 1063"/>
                <a:gd name="T2" fmla="*/ 1062 w 1063"/>
                <a:gd name="T3" fmla="*/ 0 h 1063"/>
                <a:gd name="T4" fmla="*/ 1063 w 1063"/>
                <a:gd name="T5" fmla="*/ 0 h 1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3" h="1063">
                  <a:moveTo>
                    <a:pt x="0" y="1063"/>
                  </a:moveTo>
                  <a:lnTo>
                    <a:pt x="1062" y="0"/>
                  </a:lnTo>
                  <a:lnTo>
                    <a:pt x="106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08" name="Freeform 808"/>
            <p:cNvSpPr>
              <a:spLocks/>
            </p:cNvSpPr>
            <p:nvPr/>
          </p:nvSpPr>
          <p:spPr bwMode="auto">
            <a:xfrm>
              <a:off x="5357" y="2717"/>
              <a:ext cx="7" cy="7"/>
            </a:xfrm>
            <a:custGeom>
              <a:avLst/>
              <a:gdLst>
                <a:gd name="T0" fmla="*/ 0 w 60"/>
                <a:gd name="T1" fmla="*/ 60 h 60"/>
                <a:gd name="T2" fmla="*/ 59 w 60"/>
                <a:gd name="T3" fmla="*/ 0 h 60"/>
                <a:gd name="T4" fmla="*/ 60 w 60"/>
                <a:gd name="T5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" h="60">
                  <a:moveTo>
                    <a:pt x="0" y="60"/>
                  </a:moveTo>
                  <a:lnTo>
                    <a:pt x="59" y="0"/>
                  </a:lnTo>
                  <a:lnTo>
                    <a:pt x="60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09" name="Freeform 809"/>
            <p:cNvSpPr>
              <a:spLocks/>
            </p:cNvSpPr>
            <p:nvPr/>
          </p:nvSpPr>
          <p:spPr bwMode="auto">
            <a:xfrm>
              <a:off x="5269" y="2724"/>
              <a:ext cx="88" cy="86"/>
            </a:xfrm>
            <a:custGeom>
              <a:avLst/>
              <a:gdLst>
                <a:gd name="T0" fmla="*/ 0 w 822"/>
                <a:gd name="T1" fmla="*/ 821 h 821"/>
                <a:gd name="T2" fmla="*/ 821 w 822"/>
                <a:gd name="T3" fmla="*/ 0 h 821"/>
                <a:gd name="T4" fmla="*/ 822 w 822"/>
                <a:gd name="T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2" h="821">
                  <a:moveTo>
                    <a:pt x="0" y="821"/>
                  </a:moveTo>
                  <a:lnTo>
                    <a:pt x="821" y="0"/>
                  </a:lnTo>
                  <a:lnTo>
                    <a:pt x="82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10" name="Freeform 810"/>
            <p:cNvSpPr>
              <a:spLocks/>
            </p:cNvSpPr>
            <p:nvPr/>
          </p:nvSpPr>
          <p:spPr bwMode="auto">
            <a:xfrm>
              <a:off x="5134" y="2834"/>
              <a:ext cx="133" cy="135"/>
            </a:xfrm>
            <a:custGeom>
              <a:avLst/>
              <a:gdLst>
                <a:gd name="T0" fmla="*/ 0 w 1263"/>
                <a:gd name="T1" fmla="*/ 1263 h 1263"/>
                <a:gd name="T2" fmla="*/ 1262 w 1263"/>
                <a:gd name="T3" fmla="*/ 0 h 1263"/>
                <a:gd name="T4" fmla="*/ 1263 w 1263"/>
                <a:gd name="T5" fmla="*/ 0 h 1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63" h="1263">
                  <a:moveTo>
                    <a:pt x="0" y="1263"/>
                  </a:moveTo>
                  <a:lnTo>
                    <a:pt x="1262" y="0"/>
                  </a:lnTo>
                  <a:lnTo>
                    <a:pt x="126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11" name="Freeform 811"/>
            <p:cNvSpPr>
              <a:spLocks/>
            </p:cNvSpPr>
            <p:nvPr/>
          </p:nvSpPr>
          <p:spPr bwMode="auto">
            <a:xfrm>
              <a:off x="5357" y="2728"/>
              <a:ext cx="18" cy="17"/>
            </a:xfrm>
            <a:custGeom>
              <a:avLst/>
              <a:gdLst>
                <a:gd name="T0" fmla="*/ 0 w 162"/>
                <a:gd name="T1" fmla="*/ 161 h 161"/>
                <a:gd name="T2" fmla="*/ 161 w 162"/>
                <a:gd name="T3" fmla="*/ 0 h 161"/>
                <a:gd name="T4" fmla="*/ 162 w 162"/>
                <a:gd name="T5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" h="161">
                  <a:moveTo>
                    <a:pt x="0" y="161"/>
                  </a:moveTo>
                  <a:lnTo>
                    <a:pt x="161" y="0"/>
                  </a:lnTo>
                  <a:lnTo>
                    <a:pt x="162" y="0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12" name="Freeform 812"/>
            <p:cNvSpPr>
              <a:spLocks/>
            </p:cNvSpPr>
            <p:nvPr/>
          </p:nvSpPr>
          <p:spPr bwMode="auto">
            <a:xfrm>
              <a:off x="5269" y="2745"/>
              <a:ext cx="88" cy="89"/>
            </a:xfrm>
            <a:custGeom>
              <a:avLst/>
              <a:gdLst>
                <a:gd name="T0" fmla="*/ 0 w 821"/>
                <a:gd name="T1" fmla="*/ 821 h 821"/>
                <a:gd name="T2" fmla="*/ 820 w 821"/>
                <a:gd name="T3" fmla="*/ 0 h 821"/>
                <a:gd name="T4" fmla="*/ 821 w 821"/>
                <a:gd name="T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1" h="821">
                  <a:moveTo>
                    <a:pt x="0" y="821"/>
                  </a:moveTo>
                  <a:lnTo>
                    <a:pt x="820" y="0"/>
                  </a:lnTo>
                  <a:lnTo>
                    <a:pt x="82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13" name="Freeform 813"/>
            <p:cNvSpPr>
              <a:spLocks/>
            </p:cNvSpPr>
            <p:nvPr/>
          </p:nvSpPr>
          <p:spPr bwMode="auto">
            <a:xfrm>
              <a:off x="5120" y="2855"/>
              <a:ext cx="149" cy="147"/>
            </a:xfrm>
            <a:custGeom>
              <a:avLst/>
              <a:gdLst>
                <a:gd name="T0" fmla="*/ 0 w 1386"/>
                <a:gd name="T1" fmla="*/ 1387 h 1387"/>
                <a:gd name="T2" fmla="*/ 1385 w 1386"/>
                <a:gd name="T3" fmla="*/ 0 h 1387"/>
                <a:gd name="T4" fmla="*/ 1386 w 1386"/>
                <a:gd name="T5" fmla="*/ 0 h 1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86" h="1387">
                  <a:moveTo>
                    <a:pt x="0" y="1387"/>
                  </a:moveTo>
                  <a:lnTo>
                    <a:pt x="1385" y="0"/>
                  </a:lnTo>
                  <a:lnTo>
                    <a:pt x="138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14" name="Freeform 814"/>
            <p:cNvSpPr>
              <a:spLocks/>
            </p:cNvSpPr>
            <p:nvPr/>
          </p:nvSpPr>
          <p:spPr bwMode="auto">
            <a:xfrm>
              <a:off x="5383" y="2739"/>
              <a:ext cx="3" cy="2"/>
            </a:xfrm>
            <a:custGeom>
              <a:avLst/>
              <a:gdLst>
                <a:gd name="T0" fmla="*/ 0 w 22"/>
                <a:gd name="T1" fmla="*/ 21 h 21"/>
                <a:gd name="T2" fmla="*/ 21 w 22"/>
                <a:gd name="T3" fmla="*/ 0 h 21"/>
                <a:gd name="T4" fmla="*/ 22 w 22"/>
                <a:gd name="T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21">
                  <a:moveTo>
                    <a:pt x="0" y="21"/>
                  </a:moveTo>
                  <a:lnTo>
                    <a:pt x="21" y="0"/>
                  </a:lnTo>
                  <a:lnTo>
                    <a:pt x="2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15" name="Freeform 815"/>
            <p:cNvSpPr>
              <a:spLocks/>
            </p:cNvSpPr>
            <p:nvPr/>
          </p:nvSpPr>
          <p:spPr bwMode="auto">
            <a:xfrm>
              <a:off x="5269" y="2741"/>
              <a:ext cx="114" cy="116"/>
            </a:xfrm>
            <a:custGeom>
              <a:avLst/>
              <a:gdLst>
                <a:gd name="T0" fmla="*/ 0 w 1064"/>
                <a:gd name="T1" fmla="*/ 1063 h 1063"/>
                <a:gd name="T2" fmla="*/ 820 w 1064"/>
                <a:gd name="T3" fmla="*/ 244 h 1063"/>
                <a:gd name="T4" fmla="*/ 1063 w 1064"/>
                <a:gd name="T5" fmla="*/ 0 h 1063"/>
                <a:gd name="T6" fmla="*/ 1064 w 1064"/>
                <a:gd name="T7" fmla="*/ 0 h 1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4" h="1063">
                  <a:moveTo>
                    <a:pt x="0" y="1063"/>
                  </a:moveTo>
                  <a:lnTo>
                    <a:pt x="820" y="244"/>
                  </a:lnTo>
                  <a:lnTo>
                    <a:pt x="1063" y="0"/>
                  </a:lnTo>
                  <a:lnTo>
                    <a:pt x="106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16" name="Freeform 816"/>
            <p:cNvSpPr>
              <a:spLocks/>
            </p:cNvSpPr>
            <p:nvPr/>
          </p:nvSpPr>
          <p:spPr bwMode="auto">
            <a:xfrm>
              <a:off x="5112" y="2877"/>
              <a:ext cx="157" cy="157"/>
            </a:xfrm>
            <a:custGeom>
              <a:avLst/>
              <a:gdLst>
                <a:gd name="T0" fmla="*/ 0 w 1458"/>
                <a:gd name="T1" fmla="*/ 1458 h 1458"/>
                <a:gd name="T2" fmla="*/ 1457 w 1458"/>
                <a:gd name="T3" fmla="*/ 0 h 1458"/>
                <a:gd name="T4" fmla="*/ 1458 w 1458"/>
                <a:gd name="T5" fmla="*/ 0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58" h="1458">
                  <a:moveTo>
                    <a:pt x="0" y="1458"/>
                  </a:moveTo>
                  <a:lnTo>
                    <a:pt x="1457" y="0"/>
                  </a:lnTo>
                  <a:lnTo>
                    <a:pt x="145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17" name="Freeform 817"/>
            <p:cNvSpPr>
              <a:spLocks/>
            </p:cNvSpPr>
            <p:nvPr/>
          </p:nvSpPr>
          <p:spPr bwMode="auto">
            <a:xfrm>
              <a:off x="5391" y="2750"/>
              <a:ext cx="5" cy="6"/>
            </a:xfrm>
            <a:custGeom>
              <a:avLst/>
              <a:gdLst>
                <a:gd name="T0" fmla="*/ 0 w 53"/>
                <a:gd name="T1" fmla="*/ 52 h 52"/>
                <a:gd name="T2" fmla="*/ 52 w 53"/>
                <a:gd name="T3" fmla="*/ 0 h 52"/>
                <a:gd name="T4" fmla="*/ 53 w 53"/>
                <a:gd name="T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52">
                  <a:moveTo>
                    <a:pt x="0" y="52"/>
                  </a:moveTo>
                  <a:lnTo>
                    <a:pt x="52" y="0"/>
                  </a:lnTo>
                  <a:lnTo>
                    <a:pt x="5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18" name="Freeform 818"/>
            <p:cNvSpPr>
              <a:spLocks/>
            </p:cNvSpPr>
            <p:nvPr/>
          </p:nvSpPr>
          <p:spPr bwMode="auto">
            <a:xfrm>
              <a:off x="5269" y="2756"/>
              <a:ext cx="122" cy="121"/>
            </a:xfrm>
            <a:custGeom>
              <a:avLst/>
              <a:gdLst>
                <a:gd name="T0" fmla="*/ 0 w 1136"/>
                <a:gd name="T1" fmla="*/ 1136 h 1136"/>
                <a:gd name="T2" fmla="*/ 819 w 1136"/>
                <a:gd name="T3" fmla="*/ 316 h 1136"/>
                <a:gd name="T4" fmla="*/ 1135 w 1136"/>
                <a:gd name="T5" fmla="*/ 0 h 1136"/>
                <a:gd name="T6" fmla="*/ 1136 w 1136"/>
                <a:gd name="T7" fmla="*/ 0 h 1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36" h="1136">
                  <a:moveTo>
                    <a:pt x="0" y="1136"/>
                  </a:moveTo>
                  <a:lnTo>
                    <a:pt x="819" y="316"/>
                  </a:lnTo>
                  <a:lnTo>
                    <a:pt x="1135" y="0"/>
                  </a:lnTo>
                  <a:lnTo>
                    <a:pt x="113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19" name="Freeform 819"/>
            <p:cNvSpPr>
              <a:spLocks/>
            </p:cNvSpPr>
            <p:nvPr/>
          </p:nvSpPr>
          <p:spPr bwMode="auto">
            <a:xfrm>
              <a:off x="5108" y="2899"/>
              <a:ext cx="159" cy="161"/>
            </a:xfrm>
            <a:custGeom>
              <a:avLst/>
              <a:gdLst>
                <a:gd name="T0" fmla="*/ 0 w 1501"/>
                <a:gd name="T1" fmla="*/ 1503 h 1503"/>
                <a:gd name="T2" fmla="*/ 1500 w 1501"/>
                <a:gd name="T3" fmla="*/ 0 h 1503"/>
                <a:gd name="T4" fmla="*/ 1501 w 1501"/>
                <a:gd name="T5" fmla="*/ 0 h 1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1" h="1503">
                  <a:moveTo>
                    <a:pt x="0" y="1503"/>
                  </a:moveTo>
                  <a:lnTo>
                    <a:pt x="1500" y="0"/>
                  </a:lnTo>
                  <a:lnTo>
                    <a:pt x="150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0" name="Freeform 820"/>
            <p:cNvSpPr>
              <a:spLocks/>
            </p:cNvSpPr>
            <p:nvPr/>
          </p:nvSpPr>
          <p:spPr bwMode="auto">
            <a:xfrm>
              <a:off x="5398" y="2761"/>
              <a:ext cx="10" cy="8"/>
            </a:xfrm>
            <a:custGeom>
              <a:avLst/>
              <a:gdLst>
                <a:gd name="T0" fmla="*/ 0 w 82"/>
                <a:gd name="T1" fmla="*/ 81 h 81"/>
                <a:gd name="T2" fmla="*/ 81 w 82"/>
                <a:gd name="T3" fmla="*/ 0 h 81"/>
                <a:gd name="T4" fmla="*/ 82 w 82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" h="81">
                  <a:moveTo>
                    <a:pt x="0" y="81"/>
                  </a:moveTo>
                  <a:lnTo>
                    <a:pt x="81" y="0"/>
                  </a:lnTo>
                  <a:lnTo>
                    <a:pt x="8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1" name="Freeform 821"/>
            <p:cNvSpPr>
              <a:spLocks/>
            </p:cNvSpPr>
            <p:nvPr/>
          </p:nvSpPr>
          <p:spPr bwMode="auto">
            <a:xfrm>
              <a:off x="5269" y="2769"/>
              <a:ext cx="130" cy="130"/>
            </a:xfrm>
            <a:custGeom>
              <a:avLst/>
              <a:gdLst>
                <a:gd name="T0" fmla="*/ 0 w 1209"/>
                <a:gd name="T1" fmla="*/ 1209 h 1209"/>
                <a:gd name="T2" fmla="*/ 819 w 1209"/>
                <a:gd name="T3" fmla="*/ 390 h 1209"/>
                <a:gd name="T4" fmla="*/ 1208 w 1209"/>
                <a:gd name="T5" fmla="*/ 0 h 1209"/>
                <a:gd name="T6" fmla="*/ 1209 w 1209"/>
                <a:gd name="T7" fmla="*/ 0 h 1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9" h="1209">
                  <a:moveTo>
                    <a:pt x="0" y="1209"/>
                  </a:moveTo>
                  <a:lnTo>
                    <a:pt x="819" y="390"/>
                  </a:lnTo>
                  <a:lnTo>
                    <a:pt x="1208" y="0"/>
                  </a:lnTo>
                  <a:lnTo>
                    <a:pt x="120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2" name="Freeform 822"/>
            <p:cNvSpPr>
              <a:spLocks/>
            </p:cNvSpPr>
            <p:nvPr/>
          </p:nvSpPr>
          <p:spPr bwMode="auto">
            <a:xfrm>
              <a:off x="5105" y="2921"/>
              <a:ext cx="164" cy="164"/>
            </a:xfrm>
            <a:custGeom>
              <a:avLst/>
              <a:gdLst>
                <a:gd name="T0" fmla="*/ 0 w 1530"/>
                <a:gd name="T1" fmla="*/ 1531 h 1531"/>
                <a:gd name="T2" fmla="*/ 1529 w 1530"/>
                <a:gd name="T3" fmla="*/ 0 h 1531"/>
                <a:gd name="T4" fmla="*/ 1530 w 1530"/>
                <a:gd name="T5" fmla="*/ 0 h 1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0" h="1531">
                  <a:moveTo>
                    <a:pt x="0" y="1531"/>
                  </a:moveTo>
                  <a:lnTo>
                    <a:pt x="1529" y="0"/>
                  </a:lnTo>
                  <a:lnTo>
                    <a:pt x="153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3" name="Freeform 823"/>
            <p:cNvSpPr>
              <a:spLocks/>
            </p:cNvSpPr>
            <p:nvPr/>
          </p:nvSpPr>
          <p:spPr bwMode="auto">
            <a:xfrm>
              <a:off x="5407" y="2772"/>
              <a:ext cx="10" cy="11"/>
            </a:xfrm>
            <a:custGeom>
              <a:avLst/>
              <a:gdLst>
                <a:gd name="T0" fmla="*/ 0 w 112"/>
                <a:gd name="T1" fmla="*/ 111 h 111"/>
                <a:gd name="T2" fmla="*/ 111 w 112"/>
                <a:gd name="T3" fmla="*/ 0 h 111"/>
                <a:gd name="T4" fmla="*/ 112 w 112"/>
                <a:gd name="T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2" h="111">
                  <a:moveTo>
                    <a:pt x="0" y="111"/>
                  </a:moveTo>
                  <a:lnTo>
                    <a:pt x="111" y="0"/>
                  </a:lnTo>
                  <a:lnTo>
                    <a:pt x="11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4" name="Freeform 824"/>
            <p:cNvSpPr>
              <a:spLocks/>
            </p:cNvSpPr>
            <p:nvPr/>
          </p:nvSpPr>
          <p:spPr bwMode="auto">
            <a:xfrm>
              <a:off x="5269" y="2783"/>
              <a:ext cx="140" cy="137"/>
            </a:xfrm>
            <a:custGeom>
              <a:avLst/>
              <a:gdLst>
                <a:gd name="T0" fmla="*/ 0 w 1281"/>
                <a:gd name="T1" fmla="*/ 1281 h 1281"/>
                <a:gd name="T2" fmla="*/ 819 w 1281"/>
                <a:gd name="T3" fmla="*/ 463 h 1281"/>
                <a:gd name="T4" fmla="*/ 1280 w 1281"/>
                <a:gd name="T5" fmla="*/ 0 h 1281"/>
                <a:gd name="T6" fmla="*/ 1281 w 1281"/>
                <a:gd name="T7" fmla="*/ 0 h 1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1" h="1281">
                  <a:moveTo>
                    <a:pt x="0" y="1281"/>
                  </a:moveTo>
                  <a:lnTo>
                    <a:pt x="819" y="463"/>
                  </a:lnTo>
                  <a:lnTo>
                    <a:pt x="1280" y="0"/>
                  </a:lnTo>
                  <a:lnTo>
                    <a:pt x="128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5" name="Freeform 825"/>
            <p:cNvSpPr>
              <a:spLocks/>
            </p:cNvSpPr>
            <p:nvPr/>
          </p:nvSpPr>
          <p:spPr bwMode="auto">
            <a:xfrm>
              <a:off x="5103" y="2943"/>
              <a:ext cx="166" cy="167"/>
            </a:xfrm>
            <a:custGeom>
              <a:avLst/>
              <a:gdLst>
                <a:gd name="T0" fmla="*/ 0 w 1551"/>
                <a:gd name="T1" fmla="*/ 1552 h 1552"/>
                <a:gd name="T2" fmla="*/ 1550 w 1551"/>
                <a:gd name="T3" fmla="*/ 0 h 1552"/>
                <a:gd name="T4" fmla="*/ 1551 w 1551"/>
                <a:gd name="T5" fmla="*/ 0 h 1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1" h="1552">
                  <a:moveTo>
                    <a:pt x="0" y="1552"/>
                  </a:moveTo>
                  <a:lnTo>
                    <a:pt x="1550" y="0"/>
                  </a:lnTo>
                  <a:lnTo>
                    <a:pt x="155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6" name="Freeform 826"/>
            <p:cNvSpPr>
              <a:spLocks/>
            </p:cNvSpPr>
            <p:nvPr/>
          </p:nvSpPr>
          <p:spPr bwMode="auto">
            <a:xfrm>
              <a:off x="5415" y="2783"/>
              <a:ext cx="14" cy="14"/>
            </a:xfrm>
            <a:custGeom>
              <a:avLst/>
              <a:gdLst>
                <a:gd name="T0" fmla="*/ 0 w 139"/>
                <a:gd name="T1" fmla="*/ 139 h 139"/>
                <a:gd name="T2" fmla="*/ 138 w 139"/>
                <a:gd name="T3" fmla="*/ 0 h 139"/>
                <a:gd name="T4" fmla="*/ 139 w 139"/>
                <a:gd name="T5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" h="139">
                  <a:moveTo>
                    <a:pt x="0" y="139"/>
                  </a:moveTo>
                  <a:lnTo>
                    <a:pt x="138" y="0"/>
                  </a:lnTo>
                  <a:lnTo>
                    <a:pt x="13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7" name="Freeform 827"/>
            <p:cNvSpPr>
              <a:spLocks/>
            </p:cNvSpPr>
            <p:nvPr/>
          </p:nvSpPr>
          <p:spPr bwMode="auto">
            <a:xfrm>
              <a:off x="5269" y="2797"/>
              <a:ext cx="146" cy="146"/>
            </a:xfrm>
            <a:custGeom>
              <a:avLst/>
              <a:gdLst>
                <a:gd name="T0" fmla="*/ 0 w 1354"/>
                <a:gd name="T1" fmla="*/ 1353 h 1353"/>
                <a:gd name="T2" fmla="*/ 818 w 1354"/>
                <a:gd name="T3" fmla="*/ 536 h 1353"/>
                <a:gd name="T4" fmla="*/ 1353 w 1354"/>
                <a:gd name="T5" fmla="*/ 0 h 1353"/>
                <a:gd name="T6" fmla="*/ 1354 w 1354"/>
                <a:gd name="T7" fmla="*/ 0 h 1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4" h="1353">
                  <a:moveTo>
                    <a:pt x="0" y="1353"/>
                  </a:moveTo>
                  <a:lnTo>
                    <a:pt x="818" y="536"/>
                  </a:lnTo>
                  <a:lnTo>
                    <a:pt x="1353" y="0"/>
                  </a:lnTo>
                  <a:lnTo>
                    <a:pt x="135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8" name="Freeform 828"/>
            <p:cNvSpPr>
              <a:spLocks/>
            </p:cNvSpPr>
            <p:nvPr/>
          </p:nvSpPr>
          <p:spPr bwMode="auto">
            <a:xfrm>
              <a:off x="5106" y="3126"/>
              <a:ext cx="3" cy="2"/>
            </a:xfrm>
            <a:custGeom>
              <a:avLst/>
              <a:gdLst>
                <a:gd name="T0" fmla="*/ 0 w 20"/>
                <a:gd name="T1" fmla="*/ 19 h 19"/>
                <a:gd name="T2" fmla="*/ 18 w 20"/>
                <a:gd name="T3" fmla="*/ 0 h 19"/>
                <a:gd name="T4" fmla="*/ 20 w 20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9">
                  <a:moveTo>
                    <a:pt x="0" y="19"/>
                  </a:moveTo>
                  <a:lnTo>
                    <a:pt x="18" y="0"/>
                  </a:lnTo>
                  <a:lnTo>
                    <a:pt x="20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9" name="Freeform 829"/>
            <p:cNvSpPr>
              <a:spLocks/>
            </p:cNvSpPr>
            <p:nvPr/>
          </p:nvSpPr>
          <p:spPr bwMode="auto">
            <a:xfrm>
              <a:off x="5422" y="2794"/>
              <a:ext cx="17" cy="16"/>
            </a:xfrm>
            <a:custGeom>
              <a:avLst/>
              <a:gdLst>
                <a:gd name="T0" fmla="*/ 0 w 161"/>
                <a:gd name="T1" fmla="*/ 160 h 160"/>
                <a:gd name="T2" fmla="*/ 160 w 161"/>
                <a:gd name="T3" fmla="*/ 0 h 160"/>
                <a:gd name="T4" fmla="*/ 161 w 161"/>
                <a:gd name="T5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1" h="160">
                  <a:moveTo>
                    <a:pt x="0" y="160"/>
                  </a:moveTo>
                  <a:lnTo>
                    <a:pt x="160" y="0"/>
                  </a:lnTo>
                  <a:lnTo>
                    <a:pt x="161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30" name="Freeform 830"/>
            <p:cNvSpPr>
              <a:spLocks/>
            </p:cNvSpPr>
            <p:nvPr/>
          </p:nvSpPr>
          <p:spPr bwMode="auto">
            <a:xfrm>
              <a:off x="5108" y="2965"/>
              <a:ext cx="159" cy="161"/>
            </a:xfrm>
            <a:custGeom>
              <a:avLst/>
              <a:gdLst>
                <a:gd name="T0" fmla="*/ 0 w 1504"/>
                <a:gd name="T1" fmla="*/ 1503 h 1503"/>
                <a:gd name="T2" fmla="*/ 1503 w 1504"/>
                <a:gd name="T3" fmla="*/ 0 h 1503"/>
                <a:gd name="T4" fmla="*/ 1504 w 1504"/>
                <a:gd name="T5" fmla="*/ 0 h 1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4" h="1503">
                  <a:moveTo>
                    <a:pt x="0" y="1503"/>
                  </a:moveTo>
                  <a:lnTo>
                    <a:pt x="1503" y="0"/>
                  </a:lnTo>
                  <a:lnTo>
                    <a:pt x="150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31" name="Freeform 831"/>
            <p:cNvSpPr>
              <a:spLocks/>
            </p:cNvSpPr>
            <p:nvPr/>
          </p:nvSpPr>
          <p:spPr bwMode="auto">
            <a:xfrm>
              <a:off x="5357" y="2812"/>
              <a:ext cx="65" cy="66"/>
            </a:xfrm>
            <a:custGeom>
              <a:avLst/>
              <a:gdLst>
                <a:gd name="T0" fmla="*/ 0 w 608"/>
                <a:gd name="T1" fmla="*/ 608 h 608"/>
                <a:gd name="T2" fmla="*/ 607 w 608"/>
                <a:gd name="T3" fmla="*/ 0 h 608"/>
                <a:gd name="T4" fmla="*/ 608 w 608"/>
                <a:gd name="T5" fmla="*/ 0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8" h="608">
                  <a:moveTo>
                    <a:pt x="0" y="608"/>
                  </a:moveTo>
                  <a:lnTo>
                    <a:pt x="607" y="0"/>
                  </a:lnTo>
                  <a:lnTo>
                    <a:pt x="60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32" name="Freeform 832"/>
            <p:cNvSpPr>
              <a:spLocks/>
            </p:cNvSpPr>
            <p:nvPr/>
          </p:nvSpPr>
          <p:spPr bwMode="auto">
            <a:xfrm>
              <a:off x="5269" y="2877"/>
              <a:ext cx="88" cy="88"/>
            </a:xfrm>
            <a:custGeom>
              <a:avLst/>
              <a:gdLst>
                <a:gd name="T0" fmla="*/ 0 w 819"/>
                <a:gd name="T1" fmla="*/ 819 h 819"/>
                <a:gd name="T2" fmla="*/ 818 w 819"/>
                <a:gd name="T3" fmla="*/ 0 h 819"/>
                <a:gd name="T4" fmla="*/ 819 w 819"/>
                <a:gd name="T5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9" h="819">
                  <a:moveTo>
                    <a:pt x="0" y="819"/>
                  </a:moveTo>
                  <a:lnTo>
                    <a:pt x="818" y="0"/>
                  </a:lnTo>
                  <a:lnTo>
                    <a:pt x="81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33" name="Freeform 833"/>
            <p:cNvSpPr>
              <a:spLocks/>
            </p:cNvSpPr>
            <p:nvPr/>
          </p:nvSpPr>
          <p:spPr bwMode="auto">
            <a:xfrm>
              <a:off x="5123" y="3124"/>
              <a:ext cx="9" cy="9"/>
            </a:xfrm>
            <a:custGeom>
              <a:avLst/>
              <a:gdLst>
                <a:gd name="T0" fmla="*/ 0 w 89"/>
                <a:gd name="T1" fmla="*/ 88 h 88"/>
                <a:gd name="T2" fmla="*/ 88 w 89"/>
                <a:gd name="T3" fmla="*/ 0 h 88"/>
                <a:gd name="T4" fmla="*/ 89 w 89"/>
                <a:gd name="T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88">
                  <a:moveTo>
                    <a:pt x="0" y="88"/>
                  </a:moveTo>
                  <a:lnTo>
                    <a:pt x="88" y="0"/>
                  </a:lnTo>
                  <a:lnTo>
                    <a:pt x="8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34" name="Freeform 834"/>
            <p:cNvSpPr>
              <a:spLocks/>
            </p:cNvSpPr>
            <p:nvPr/>
          </p:nvSpPr>
          <p:spPr bwMode="auto">
            <a:xfrm>
              <a:off x="5430" y="2807"/>
              <a:ext cx="19" cy="19"/>
            </a:xfrm>
            <a:custGeom>
              <a:avLst/>
              <a:gdLst>
                <a:gd name="T0" fmla="*/ 0 w 174"/>
                <a:gd name="T1" fmla="*/ 172 h 172"/>
                <a:gd name="T2" fmla="*/ 172 w 174"/>
                <a:gd name="T3" fmla="*/ 0 h 172"/>
                <a:gd name="T4" fmla="*/ 174 w 174"/>
                <a:gd name="T5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" h="172">
                  <a:moveTo>
                    <a:pt x="0" y="172"/>
                  </a:moveTo>
                  <a:lnTo>
                    <a:pt x="172" y="0"/>
                  </a:lnTo>
                  <a:lnTo>
                    <a:pt x="17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35" name="Freeform 835"/>
            <p:cNvSpPr>
              <a:spLocks/>
            </p:cNvSpPr>
            <p:nvPr/>
          </p:nvSpPr>
          <p:spPr bwMode="auto">
            <a:xfrm>
              <a:off x="5132" y="2986"/>
              <a:ext cx="137" cy="137"/>
            </a:xfrm>
            <a:custGeom>
              <a:avLst/>
              <a:gdLst>
                <a:gd name="T0" fmla="*/ 0 w 1278"/>
                <a:gd name="T1" fmla="*/ 1278 h 1278"/>
                <a:gd name="T2" fmla="*/ 1277 w 1278"/>
                <a:gd name="T3" fmla="*/ 0 h 1278"/>
                <a:gd name="T4" fmla="*/ 1278 w 1278"/>
                <a:gd name="T5" fmla="*/ 0 h 1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8" h="1278">
                  <a:moveTo>
                    <a:pt x="0" y="1278"/>
                  </a:moveTo>
                  <a:lnTo>
                    <a:pt x="1277" y="0"/>
                  </a:lnTo>
                  <a:lnTo>
                    <a:pt x="127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36" name="Freeform 836"/>
            <p:cNvSpPr>
              <a:spLocks/>
            </p:cNvSpPr>
            <p:nvPr/>
          </p:nvSpPr>
          <p:spPr bwMode="auto">
            <a:xfrm>
              <a:off x="5357" y="2826"/>
              <a:ext cx="73" cy="73"/>
            </a:xfrm>
            <a:custGeom>
              <a:avLst/>
              <a:gdLst>
                <a:gd name="T0" fmla="*/ 0 w 683"/>
                <a:gd name="T1" fmla="*/ 682 h 682"/>
                <a:gd name="T2" fmla="*/ 682 w 683"/>
                <a:gd name="T3" fmla="*/ 0 h 682"/>
                <a:gd name="T4" fmla="*/ 683 w 683"/>
                <a:gd name="T5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3" h="682">
                  <a:moveTo>
                    <a:pt x="0" y="682"/>
                  </a:moveTo>
                  <a:lnTo>
                    <a:pt x="682" y="0"/>
                  </a:lnTo>
                  <a:lnTo>
                    <a:pt x="68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455" name="Group 837"/>
            <p:cNvGrpSpPr>
              <a:grpSpLocks/>
            </p:cNvGrpSpPr>
            <p:nvPr/>
          </p:nvGrpSpPr>
          <p:grpSpPr bwMode="auto">
            <a:xfrm>
              <a:off x="5103" y="2717"/>
              <a:ext cx="507" cy="562"/>
              <a:chOff x="3630" y="2100"/>
              <a:chExt cx="788" cy="873"/>
            </a:xfrm>
          </p:grpSpPr>
          <p:sp>
            <p:nvSpPr>
              <p:cNvPr id="52038" name="Freeform 838"/>
              <p:cNvSpPr>
                <a:spLocks/>
              </p:cNvSpPr>
              <p:nvPr/>
            </p:nvSpPr>
            <p:spPr bwMode="auto">
              <a:xfrm>
                <a:off x="3889" y="2383"/>
                <a:ext cx="136" cy="137"/>
              </a:xfrm>
              <a:custGeom>
                <a:avLst/>
                <a:gdLst>
                  <a:gd name="T0" fmla="*/ 0 w 818"/>
                  <a:gd name="T1" fmla="*/ 818 h 818"/>
                  <a:gd name="T2" fmla="*/ 816 w 818"/>
                  <a:gd name="T3" fmla="*/ 0 h 818"/>
                  <a:gd name="T4" fmla="*/ 818 w 818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8">
                    <a:moveTo>
                      <a:pt x="0" y="818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39" name="Freeform 839"/>
              <p:cNvSpPr>
                <a:spLocks/>
              </p:cNvSpPr>
              <p:nvPr/>
            </p:nvSpPr>
            <p:spPr bwMode="auto">
              <a:xfrm>
                <a:off x="3687" y="2729"/>
                <a:ext cx="27" cy="25"/>
              </a:xfrm>
              <a:custGeom>
                <a:avLst/>
                <a:gdLst>
                  <a:gd name="T0" fmla="*/ 0 w 153"/>
                  <a:gd name="T1" fmla="*/ 151 h 151"/>
                  <a:gd name="T2" fmla="*/ 152 w 153"/>
                  <a:gd name="T3" fmla="*/ 0 h 151"/>
                  <a:gd name="T4" fmla="*/ 153 w 153"/>
                  <a:gd name="T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" h="151">
                    <a:moveTo>
                      <a:pt x="0" y="151"/>
                    </a:moveTo>
                    <a:lnTo>
                      <a:pt x="152" y="0"/>
                    </a:lnTo>
                    <a:lnTo>
                      <a:pt x="15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40" name="Freeform 840"/>
              <p:cNvSpPr>
                <a:spLocks/>
              </p:cNvSpPr>
              <p:nvPr/>
            </p:nvSpPr>
            <p:spPr bwMode="auto">
              <a:xfrm>
                <a:off x="4150" y="2260"/>
                <a:ext cx="30" cy="31"/>
              </a:xfrm>
              <a:custGeom>
                <a:avLst/>
                <a:gdLst>
                  <a:gd name="T0" fmla="*/ 0 w 180"/>
                  <a:gd name="T1" fmla="*/ 180 h 180"/>
                  <a:gd name="T2" fmla="*/ 179 w 180"/>
                  <a:gd name="T3" fmla="*/ 0 h 180"/>
                  <a:gd name="T4" fmla="*/ 180 w 180"/>
                  <a:gd name="T5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0" h="180">
                    <a:moveTo>
                      <a:pt x="0" y="180"/>
                    </a:moveTo>
                    <a:lnTo>
                      <a:pt x="179" y="0"/>
                    </a:lnTo>
                    <a:lnTo>
                      <a:pt x="18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41" name="Freeform 841"/>
              <p:cNvSpPr>
                <a:spLocks/>
              </p:cNvSpPr>
              <p:nvPr/>
            </p:nvSpPr>
            <p:spPr bwMode="auto">
              <a:xfrm>
                <a:off x="3712" y="2552"/>
                <a:ext cx="176" cy="177"/>
              </a:xfrm>
              <a:custGeom>
                <a:avLst/>
                <a:gdLst>
                  <a:gd name="T0" fmla="*/ 0 w 1058"/>
                  <a:gd name="T1" fmla="*/ 1058 h 1058"/>
                  <a:gd name="T2" fmla="*/ 1057 w 1058"/>
                  <a:gd name="T3" fmla="*/ 0 h 1058"/>
                  <a:gd name="T4" fmla="*/ 1058 w 1058"/>
                  <a:gd name="T5" fmla="*/ 0 h 10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58" h="1058">
                    <a:moveTo>
                      <a:pt x="0" y="1058"/>
                    </a:moveTo>
                    <a:lnTo>
                      <a:pt x="1057" y="0"/>
                    </a:lnTo>
                    <a:lnTo>
                      <a:pt x="105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42" name="Freeform 842"/>
              <p:cNvSpPr>
                <a:spLocks/>
              </p:cNvSpPr>
              <p:nvPr/>
            </p:nvSpPr>
            <p:spPr bwMode="auto">
              <a:xfrm>
                <a:off x="4025" y="2291"/>
                <a:ext cx="125" cy="126"/>
              </a:xfrm>
              <a:custGeom>
                <a:avLst/>
                <a:gdLst>
                  <a:gd name="T0" fmla="*/ 0 w 757"/>
                  <a:gd name="T1" fmla="*/ 755 h 755"/>
                  <a:gd name="T2" fmla="*/ 756 w 757"/>
                  <a:gd name="T3" fmla="*/ 0 h 755"/>
                  <a:gd name="T4" fmla="*/ 757 w 757"/>
                  <a:gd name="T5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7" h="755">
                    <a:moveTo>
                      <a:pt x="0" y="755"/>
                    </a:moveTo>
                    <a:lnTo>
                      <a:pt x="756" y="0"/>
                    </a:lnTo>
                    <a:lnTo>
                      <a:pt x="75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43" name="Freeform 843"/>
              <p:cNvSpPr>
                <a:spLocks/>
              </p:cNvSpPr>
              <p:nvPr/>
            </p:nvSpPr>
            <p:spPr bwMode="auto">
              <a:xfrm>
                <a:off x="3889" y="2417"/>
                <a:ext cx="136" cy="137"/>
              </a:xfrm>
              <a:custGeom>
                <a:avLst/>
                <a:gdLst>
                  <a:gd name="T0" fmla="*/ 0 w 818"/>
                  <a:gd name="T1" fmla="*/ 817 h 817"/>
                  <a:gd name="T2" fmla="*/ 816 w 818"/>
                  <a:gd name="T3" fmla="*/ 0 h 817"/>
                  <a:gd name="T4" fmla="*/ 818 w 818"/>
                  <a:gd name="T5" fmla="*/ 0 h 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7">
                    <a:moveTo>
                      <a:pt x="0" y="817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44" name="Freeform 844"/>
              <p:cNvSpPr>
                <a:spLocks/>
              </p:cNvSpPr>
              <p:nvPr/>
            </p:nvSpPr>
            <p:spPr bwMode="auto">
              <a:xfrm>
                <a:off x="3714" y="2727"/>
                <a:ext cx="35" cy="35"/>
              </a:xfrm>
              <a:custGeom>
                <a:avLst/>
                <a:gdLst>
                  <a:gd name="T0" fmla="*/ 0 w 211"/>
                  <a:gd name="T1" fmla="*/ 211 h 211"/>
                  <a:gd name="T2" fmla="*/ 210 w 211"/>
                  <a:gd name="T3" fmla="*/ 0 h 211"/>
                  <a:gd name="T4" fmla="*/ 211 w 211"/>
                  <a:gd name="T5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1" h="211">
                    <a:moveTo>
                      <a:pt x="0" y="211"/>
                    </a:moveTo>
                    <a:lnTo>
                      <a:pt x="210" y="0"/>
                    </a:lnTo>
                    <a:lnTo>
                      <a:pt x="21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45" name="Freeform 845"/>
              <p:cNvSpPr>
                <a:spLocks/>
              </p:cNvSpPr>
              <p:nvPr/>
            </p:nvSpPr>
            <p:spPr bwMode="auto">
              <a:xfrm>
                <a:off x="4162" y="2282"/>
                <a:ext cx="31" cy="30"/>
              </a:xfrm>
              <a:custGeom>
                <a:avLst/>
                <a:gdLst>
                  <a:gd name="T0" fmla="*/ 0 w 182"/>
                  <a:gd name="T1" fmla="*/ 182 h 182"/>
                  <a:gd name="T2" fmla="*/ 181 w 182"/>
                  <a:gd name="T3" fmla="*/ 0 h 182"/>
                  <a:gd name="T4" fmla="*/ 182 w 182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2">
                    <a:moveTo>
                      <a:pt x="0" y="182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46" name="Freeform 846"/>
              <p:cNvSpPr>
                <a:spLocks/>
              </p:cNvSpPr>
              <p:nvPr/>
            </p:nvSpPr>
            <p:spPr bwMode="auto">
              <a:xfrm>
                <a:off x="3749" y="2586"/>
                <a:ext cx="140" cy="141"/>
              </a:xfrm>
              <a:custGeom>
                <a:avLst/>
                <a:gdLst>
                  <a:gd name="T0" fmla="*/ 0 w 843"/>
                  <a:gd name="T1" fmla="*/ 843 h 843"/>
                  <a:gd name="T2" fmla="*/ 842 w 843"/>
                  <a:gd name="T3" fmla="*/ 0 h 843"/>
                  <a:gd name="T4" fmla="*/ 843 w 843"/>
                  <a:gd name="T5" fmla="*/ 0 h 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3" h="843">
                    <a:moveTo>
                      <a:pt x="0" y="843"/>
                    </a:moveTo>
                    <a:lnTo>
                      <a:pt x="842" y="0"/>
                    </a:lnTo>
                    <a:lnTo>
                      <a:pt x="84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47" name="Freeform 847"/>
              <p:cNvSpPr>
                <a:spLocks/>
              </p:cNvSpPr>
              <p:nvPr/>
            </p:nvSpPr>
            <p:spPr bwMode="auto">
              <a:xfrm>
                <a:off x="4025" y="2312"/>
                <a:ext cx="137" cy="139"/>
              </a:xfrm>
              <a:custGeom>
                <a:avLst/>
                <a:gdLst>
                  <a:gd name="T0" fmla="*/ 0 w 830"/>
                  <a:gd name="T1" fmla="*/ 829 h 829"/>
                  <a:gd name="T2" fmla="*/ 829 w 830"/>
                  <a:gd name="T3" fmla="*/ 0 h 829"/>
                  <a:gd name="T4" fmla="*/ 830 w 830"/>
                  <a:gd name="T5" fmla="*/ 0 h 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0" h="829">
                    <a:moveTo>
                      <a:pt x="0" y="829"/>
                    </a:moveTo>
                    <a:lnTo>
                      <a:pt x="829" y="0"/>
                    </a:lnTo>
                    <a:lnTo>
                      <a:pt x="83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48" name="Freeform 848"/>
              <p:cNvSpPr>
                <a:spLocks/>
              </p:cNvSpPr>
              <p:nvPr/>
            </p:nvSpPr>
            <p:spPr bwMode="auto">
              <a:xfrm>
                <a:off x="3889" y="2450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49" name="Freeform 849"/>
              <p:cNvSpPr>
                <a:spLocks/>
              </p:cNvSpPr>
              <p:nvPr/>
            </p:nvSpPr>
            <p:spPr bwMode="auto">
              <a:xfrm>
                <a:off x="3739" y="2725"/>
                <a:ext cx="44" cy="45"/>
              </a:xfrm>
              <a:custGeom>
                <a:avLst/>
                <a:gdLst>
                  <a:gd name="T0" fmla="*/ 0 w 267"/>
                  <a:gd name="T1" fmla="*/ 266 h 266"/>
                  <a:gd name="T2" fmla="*/ 266 w 267"/>
                  <a:gd name="T3" fmla="*/ 0 h 266"/>
                  <a:gd name="T4" fmla="*/ 267 w 267"/>
                  <a:gd name="T5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7" h="266">
                    <a:moveTo>
                      <a:pt x="0" y="266"/>
                    </a:moveTo>
                    <a:lnTo>
                      <a:pt x="266" y="0"/>
                    </a:lnTo>
                    <a:lnTo>
                      <a:pt x="2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50" name="Freeform 850"/>
              <p:cNvSpPr>
                <a:spLocks/>
              </p:cNvSpPr>
              <p:nvPr/>
            </p:nvSpPr>
            <p:spPr bwMode="auto">
              <a:xfrm>
                <a:off x="4174" y="2303"/>
                <a:ext cx="31" cy="31"/>
              </a:xfrm>
              <a:custGeom>
                <a:avLst/>
                <a:gdLst>
                  <a:gd name="T0" fmla="*/ 0 w 182"/>
                  <a:gd name="T1" fmla="*/ 181 h 181"/>
                  <a:gd name="T2" fmla="*/ 181 w 182"/>
                  <a:gd name="T3" fmla="*/ 0 h 181"/>
                  <a:gd name="T4" fmla="*/ 182 w 182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1">
                    <a:moveTo>
                      <a:pt x="0" y="181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51" name="Freeform 851"/>
              <p:cNvSpPr>
                <a:spLocks/>
              </p:cNvSpPr>
              <p:nvPr/>
            </p:nvSpPr>
            <p:spPr bwMode="auto">
              <a:xfrm>
                <a:off x="3784" y="2620"/>
                <a:ext cx="105" cy="105"/>
              </a:xfrm>
              <a:custGeom>
                <a:avLst/>
                <a:gdLst>
                  <a:gd name="T0" fmla="*/ 0 w 631"/>
                  <a:gd name="T1" fmla="*/ 631 h 631"/>
                  <a:gd name="T2" fmla="*/ 630 w 631"/>
                  <a:gd name="T3" fmla="*/ 0 h 631"/>
                  <a:gd name="T4" fmla="*/ 631 w 631"/>
                  <a:gd name="T5" fmla="*/ 0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1" h="631">
                    <a:moveTo>
                      <a:pt x="0" y="631"/>
                    </a:moveTo>
                    <a:lnTo>
                      <a:pt x="630" y="0"/>
                    </a:lnTo>
                    <a:lnTo>
                      <a:pt x="63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52" name="Freeform 852"/>
              <p:cNvSpPr>
                <a:spLocks/>
              </p:cNvSpPr>
              <p:nvPr/>
            </p:nvSpPr>
            <p:spPr bwMode="auto">
              <a:xfrm>
                <a:off x="4025" y="2335"/>
                <a:ext cx="149" cy="151"/>
              </a:xfrm>
              <a:custGeom>
                <a:avLst/>
                <a:gdLst>
                  <a:gd name="T0" fmla="*/ 0 w 903"/>
                  <a:gd name="T1" fmla="*/ 902 h 902"/>
                  <a:gd name="T2" fmla="*/ 902 w 903"/>
                  <a:gd name="T3" fmla="*/ 0 h 902"/>
                  <a:gd name="T4" fmla="*/ 903 w 903"/>
                  <a:gd name="T5" fmla="*/ 0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3" h="902">
                    <a:moveTo>
                      <a:pt x="0" y="902"/>
                    </a:moveTo>
                    <a:lnTo>
                      <a:pt x="902" y="0"/>
                    </a:lnTo>
                    <a:lnTo>
                      <a:pt x="90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53" name="Freeform 853"/>
              <p:cNvSpPr>
                <a:spLocks/>
              </p:cNvSpPr>
              <p:nvPr/>
            </p:nvSpPr>
            <p:spPr bwMode="auto">
              <a:xfrm>
                <a:off x="3889" y="2484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54" name="Freeform 854"/>
              <p:cNvSpPr>
                <a:spLocks/>
              </p:cNvSpPr>
              <p:nvPr/>
            </p:nvSpPr>
            <p:spPr bwMode="auto">
              <a:xfrm>
                <a:off x="3765" y="2725"/>
                <a:ext cx="54" cy="52"/>
              </a:xfrm>
              <a:custGeom>
                <a:avLst/>
                <a:gdLst>
                  <a:gd name="T0" fmla="*/ 0 w 318"/>
                  <a:gd name="T1" fmla="*/ 317 h 317"/>
                  <a:gd name="T2" fmla="*/ 317 w 318"/>
                  <a:gd name="T3" fmla="*/ 0 h 317"/>
                  <a:gd name="T4" fmla="*/ 318 w 318"/>
                  <a:gd name="T5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8" h="317">
                    <a:moveTo>
                      <a:pt x="0" y="317"/>
                    </a:moveTo>
                    <a:lnTo>
                      <a:pt x="317" y="0"/>
                    </a:lnTo>
                    <a:lnTo>
                      <a:pt x="3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55" name="Freeform 855"/>
              <p:cNvSpPr>
                <a:spLocks/>
              </p:cNvSpPr>
              <p:nvPr/>
            </p:nvSpPr>
            <p:spPr bwMode="auto">
              <a:xfrm>
                <a:off x="4186" y="2325"/>
                <a:ext cx="31" cy="31"/>
              </a:xfrm>
              <a:custGeom>
                <a:avLst/>
                <a:gdLst>
                  <a:gd name="T0" fmla="*/ 0 w 184"/>
                  <a:gd name="T1" fmla="*/ 182 h 182"/>
                  <a:gd name="T2" fmla="*/ 183 w 184"/>
                  <a:gd name="T3" fmla="*/ 0 h 182"/>
                  <a:gd name="T4" fmla="*/ 184 w 184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2">
                    <a:moveTo>
                      <a:pt x="0" y="182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56" name="Freeform 856"/>
              <p:cNvSpPr>
                <a:spLocks/>
              </p:cNvSpPr>
              <p:nvPr/>
            </p:nvSpPr>
            <p:spPr bwMode="auto">
              <a:xfrm>
                <a:off x="3819" y="2654"/>
                <a:ext cx="70" cy="71"/>
              </a:xfrm>
              <a:custGeom>
                <a:avLst/>
                <a:gdLst>
                  <a:gd name="T0" fmla="*/ 0 w 423"/>
                  <a:gd name="T1" fmla="*/ 423 h 423"/>
                  <a:gd name="T2" fmla="*/ 422 w 423"/>
                  <a:gd name="T3" fmla="*/ 0 h 423"/>
                  <a:gd name="T4" fmla="*/ 423 w 423"/>
                  <a:gd name="T5" fmla="*/ 0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3" h="423">
                    <a:moveTo>
                      <a:pt x="0" y="423"/>
                    </a:moveTo>
                    <a:lnTo>
                      <a:pt x="422" y="0"/>
                    </a:lnTo>
                    <a:lnTo>
                      <a:pt x="42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57" name="Freeform 857"/>
              <p:cNvSpPr>
                <a:spLocks/>
              </p:cNvSpPr>
              <p:nvPr/>
            </p:nvSpPr>
            <p:spPr bwMode="auto">
              <a:xfrm>
                <a:off x="4025" y="2356"/>
                <a:ext cx="163" cy="164"/>
              </a:xfrm>
              <a:custGeom>
                <a:avLst/>
                <a:gdLst>
                  <a:gd name="T0" fmla="*/ 0 w 975"/>
                  <a:gd name="T1" fmla="*/ 976 h 976"/>
                  <a:gd name="T2" fmla="*/ 974 w 975"/>
                  <a:gd name="T3" fmla="*/ 0 h 976"/>
                  <a:gd name="T4" fmla="*/ 975 w 975"/>
                  <a:gd name="T5" fmla="*/ 0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5" h="976">
                    <a:moveTo>
                      <a:pt x="0" y="976"/>
                    </a:moveTo>
                    <a:lnTo>
                      <a:pt x="974" y="0"/>
                    </a:lnTo>
                    <a:lnTo>
                      <a:pt x="97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58" name="Freeform 858"/>
              <p:cNvSpPr>
                <a:spLocks/>
              </p:cNvSpPr>
              <p:nvPr/>
            </p:nvSpPr>
            <p:spPr bwMode="auto">
              <a:xfrm>
                <a:off x="3889" y="2518"/>
                <a:ext cx="136" cy="136"/>
              </a:xfrm>
              <a:custGeom>
                <a:avLst/>
                <a:gdLst>
                  <a:gd name="T0" fmla="*/ 0 w 816"/>
                  <a:gd name="T1" fmla="*/ 815 h 815"/>
                  <a:gd name="T2" fmla="*/ 815 w 816"/>
                  <a:gd name="T3" fmla="*/ 0 h 815"/>
                  <a:gd name="T4" fmla="*/ 816 w 816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5">
                    <a:moveTo>
                      <a:pt x="0" y="815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59" name="Freeform 859"/>
              <p:cNvSpPr>
                <a:spLocks/>
              </p:cNvSpPr>
              <p:nvPr/>
            </p:nvSpPr>
            <p:spPr bwMode="auto">
              <a:xfrm>
                <a:off x="3792" y="2725"/>
                <a:ext cx="62" cy="62"/>
              </a:xfrm>
              <a:custGeom>
                <a:avLst/>
                <a:gdLst>
                  <a:gd name="T0" fmla="*/ 0 w 366"/>
                  <a:gd name="T1" fmla="*/ 364 h 364"/>
                  <a:gd name="T2" fmla="*/ 365 w 366"/>
                  <a:gd name="T3" fmla="*/ 0 h 364"/>
                  <a:gd name="T4" fmla="*/ 366 w 366"/>
                  <a:gd name="T5" fmla="*/ 0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6" h="364">
                    <a:moveTo>
                      <a:pt x="0" y="364"/>
                    </a:moveTo>
                    <a:lnTo>
                      <a:pt x="365" y="0"/>
                    </a:lnTo>
                    <a:lnTo>
                      <a:pt x="36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60" name="Freeform 860"/>
              <p:cNvSpPr>
                <a:spLocks/>
              </p:cNvSpPr>
              <p:nvPr/>
            </p:nvSpPr>
            <p:spPr bwMode="auto">
              <a:xfrm>
                <a:off x="4199" y="2347"/>
                <a:ext cx="31" cy="30"/>
              </a:xfrm>
              <a:custGeom>
                <a:avLst/>
                <a:gdLst>
                  <a:gd name="T0" fmla="*/ 0 w 184"/>
                  <a:gd name="T1" fmla="*/ 184 h 184"/>
                  <a:gd name="T2" fmla="*/ 183 w 184"/>
                  <a:gd name="T3" fmla="*/ 0 h 184"/>
                  <a:gd name="T4" fmla="*/ 184 w 184"/>
                  <a:gd name="T5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4">
                    <a:moveTo>
                      <a:pt x="0" y="184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61" name="Freeform 861"/>
              <p:cNvSpPr>
                <a:spLocks/>
              </p:cNvSpPr>
              <p:nvPr/>
            </p:nvSpPr>
            <p:spPr bwMode="auto">
              <a:xfrm>
                <a:off x="3852" y="2688"/>
                <a:ext cx="36" cy="37"/>
              </a:xfrm>
              <a:custGeom>
                <a:avLst/>
                <a:gdLst>
                  <a:gd name="T0" fmla="*/ 0 w 219"/>
                  <a:gd name="T1" fmla="*/ 219 h 219"/>
                  <a:gd name="T2" fmla="*/ 218 w 219"/>
                  <a:gd name="T3" fmla="*/ 0 h 219"/>
                  <a:gd name="T4" fmla="*/ 219 w 219"/>
                  <a:gd name="T5" fmla="*/ 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9" h="219">
                    <a:moveTo>
                      <a:pt x="0" y="219"/>
                    </a:moveTo>
                    <a:lnTo>
                      <a:pt x="218" y="0"/>
                    </a:lnTo>
                    <a:lnTo>
                      <a:pt x="21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62" name="Freeform 862"/>
              <p:cNvSpPr>
                <a:spLocks/>
              </p:cNvSpPr>
              <p:nvPr/>
            </p:nvSpPr>
            <p:spPr bwMode="auto">
              <a:xfrm>
                <a:off x="4025" y="2377"/>
                <a:ext cx="174" cy="175"/>
              </a:xfrm>
              <a:custGeom>
                <a:avLst/>
                <a:gdLst>
                  <a:gd name="T0" fmla="*/ 0 w 1049"/>
                  <a:gd name="T1" fmla="*/ 1048 h 1048"/>
                  <a:gd name="T2" fmla="*/ 1048 w 1049"/>
                  <a:gd name="T3" fmla="*/ 0 h 1048"/>
                  <a:gd name="T4" fmla="*/ 1049 w 1049"/>
                  <a:gd name="T5" fmla="*/ 0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9" h="1048">
                    <a:moveTo>
                      <a:pt x="0" y="1048"/>
                    </a:moveTo>
                    <a:lnTo>
                      <a:pt x="1048" y="0"/>
                    </a:lnTo>
                    <a:lnTo>
                      <a:pt x="104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63" name="Freeform 863"/>
              <p:cNvSpPr>
                <a:spLocks/>
              </p:cNvSpPr>
              <p:nvPr/>
            </p:nvSpPr>
            <p:spPr bwMode="auto">
              <a:xfrm>
                <a:off x="3889" y="2552"/>
                <a:ext cx="136" cy="136"/>
              </a:xfrm>
              <a:custGeom>
                <a:avLst/>
                <a:gdLst>
                  <a:gd name="T0" fmla="*/ 0 w 815"/>
                  <a:gd name="T1" fmla="*/ 815 h 815"/>
                  <a:gd name="T2" fmla="*/ 814 w 815"/>
                  <a:gd name="T3" fmla="*/ 0 h 815"/>
                  <a:gd name="T4" fmla="*/ 815 w 815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5">
                    <a:moveTo>
                      <a:pt x="0" y="815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64" name="Freeform 864"/>
              <p:cNvSpPr>
                <a:spLocks/>
              </p:cNvSpPr>
              <p:nvPr/>
            </p:nvSpPr>
            <p:spPr bwMode="auto">
              <a:xfrm>
                <a:off x="3817" y="2725"/>
                <a:ext cx="69" cy="69"/>
              </a:xfrm>
              <a:custGeom>
                <a:avLst/>
                <a:gdLst>
                  <a:gd name="T0" fmla="*/ 0 w 411"/>
                  <a:gd name="T1" fmla="*/ 410 h 410"/>
                  <a:gd name="T2" fmla="*/ 410 w 411"/>
                  <a:gd name="T3" fmla="*/ 0 h 410"/>
                  <a:gd name="T4" fmla="*/ 411 w 411"/>
                  <a:gd name="T5" fmla="*/ 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1" h="410">
                    <a:moveTo>
                      <a:pt x="0" y="410"/>
                    </a:moveTo>
                    <a:lnTo>
                      <a:pt x="410" y="0"/>
                    </a:lnTo>
                    <a:lnTo>
                      <a:pt x="41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65" name="Freeform 865"/>
              <p:cNvSpPr>
                <a:spLocks/>
              </p:cNvSpPr>
              <p:nvPr/>
            </p:nvSpPr>
            <p:spPr bwMode="auto">
              <a:xfrm>
                <a:off x="4211" y="2368"/>
                <a:ext cx="31" cy="31"/>
              </a:xfrm>
              <a:custGeom>
                <a:avLst/>
                <a:gdLst>
                  <a:gd name="T0" fmla="*/ 0 w 187"/>
                  <a:gd name="T1" fmla="*/ 186 h 186"/>
                  <a:gd name="T2" fmla="*/ 186 w 187"/>
                  <a:gd name="T3" fmla="*/ 0 h 186"/>
                  <a:gd name="T4" fmla="*/ 187 w 187"/>
                  <a:gd name="T5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6">
                    <a:moveTo>
                      <a:pt x="0" y="186"/>
                    </a:moveTo>
                    <a:lnTo>
                      <a:pt x="186" y="0"/>
                    </a:lnTo>
                    <a:lnTo>
                      <a:pt x="18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66" name="Freeform 866"/>
              <p:cNvSpPr>
                <a:spLocks/>
              </p:cNvSpPr>
              <p:nvPr/>
            </p:nvSpPr>
            <p:spPr bwMode="auto">
              <a:xfrm>
                <a:off x="3885" y="2722"/>
                <a:ext cx="4" cy="3"/>
              </a:xfrm>
              <a:custGeom>
                <a:avLst/>
                <a:gdLst>
                  <a:gd name="T0" fmla="*/ 0 w 18"/>
                  <a:gd name="T1" fmla="*/ 17 h 17"/>
                  <a:gd name="T2" fmla="*/ 17 w 18"/>
                  <a:gd name="T3" fmla="*/ 0 h 17"/>
                  <a:gd name="T4" fmla="*/ 18 w 18"/>
                  <a:gd name="T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" h="17">
                    <a:moveTo>
                      <a:pt x="0" y="17"/>
                    </a:moveTo>
                    <a:lnTo>
                      <a:pt x="17" y="0"/>
                    </a:lnTo>
                    <a:lnTo>
                      <a:pt x="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67" name="Freeform 867"/>
              <p:cNvSpPr>
                <a:spLocks/>
              </p:cNvSpPr>
              <p:nvPr/>
            </p:nvSpPr>
            <p:spPr bwMode="auto">
              <a:xfrm>
                <a:off x="4025" y="2400"/>
                <a:ext cx="186" cy="188"/>
              </a:xfrm>
              <a:custGeom>
                <a:avLst/>
                <a:gdLst>
                  <a:gd name="T0" fmla="*/ 0 w 1121"/>
                  <a:gd name="T1" fmla="*/ 1121 h 1121"/>
                  <a:gd name="T2" fmla="*/ 1120 w 1121"/>
                  <a:gd name="T3" fmla="*/ 0 h 1121"/>
                  <a:gd name="T4" fmla="*/ 1121 w 1121"/>
                  <a:gd name="T5" fmla="*/ 0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1" h="1121">
                    <a:moveTo>
                      <a:pt x="0" y="1121"/>
                    </a:moveTo>
                    <a:lnTo>
                      <a:pt x="1120" y="0"/>
                    </a:lnTo>
                    <a:lnTo>
                      <a:pt x="112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68" name="Freeform 868"/>
              <p:cNvSpPr>
                <a:spLocks/>
              </p:cNvSpPr>
              <p:nvPr/>
            </p:nvSpPr>
            <p:spPr bwMode="auto">
              <a:xfrm>
                <a:off x="3889" y="2586"/>
                <a:ext cx="136" cy="136"/>
              </a:xfrm>
              <a:custGeom>
                <a:avLst/>
                <a:gdLst>
                  <a:gd name="T0" fmla="*/ 0 w 815"/>
                  <a:gd name="T1" fmla="*/ 814 h 814"/>
                  <a:gd name="T2" fmla="*/ 814 w 815"/>
                  <a:gd name="T3" fmla="*/ 0 h 814"/>
                  <a:gd name="T4" fmla="*/ 815 w 815"/>
                  <a:gd name="T5" fmla="*/ 0 h 8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4">
                    <a:moveTo>
                      <a:pt x="0" y="814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69" name="Freeform 869"/>
              <p:cNvSpPr>
                <a:spLocks/>
              </p:cNvSpPr>
              <p:nvPr/>
            </p:nvSpPr>
            <p:spPr bwMode="auto">
              <a:xfrm>
                <a:off x="3843" y="2756"/>
                <a:ext cx="46" cy="45"/>
              </a:xfrm>
              <a:custGeom>
                <a:avLst/>
                <a:gdLst>
                  <a:gd name="T0" fmla="*/ 0 w 270"/>
                  <a:gd name="T1" fmla="*/ 271 h 271"/>
                  <a:gd name="T2" fmla="*/ 269 w 270"/>
                  <a:gd name="T3" fmla="*/ 0 h 271"/>
                  <a:gd name="T4" fmla="*/ 270 w 270"/>
                  <a:gd name="T5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0" h="271">
                    <a:moveTo>
                      <a:pt x="0" y="271"/>
                    </a:moveTo>
                    <a:lnTo>
                      <a:pt x="269" y="0"/>
                    </a:lnTo>
                    <a:lnTo>
                      <a:pt x="27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70" name="Freeform 870"/>
              <p:cNvSpPr>
                <a:spLocks/>
              </p:cNvSpPr>
              <p:nvPr/>
            </p:nvSpPr>
            <p:spPr bwMode="auto">
              <a:xfrm>
                <a:off x="4223" y="2390"/>
                <a:ext cx="31" cy="31"/>
              </a:xfrm>
              <a:custGeom>
                <a:avLst/>
                <a:gdLst>
                  <a:gd name="T0" fmla="*/ 0 w 187"/>
                  <a:gd name="T1" fmla="*/ 185 h 185"/>
                  <a:gd name="T2" fmla="*/ 185 w 187"/>
                  <a:gd name="T3" fmla="*/ 0 h 185"/>
                  <a:gd name="T4" fmla="*/ 187 w 187"/>
                  <a:gd name="T5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5">
                    <a:moveTo>
                      <a:pt x="0" y="185"/>
                    </a:moveTo>
                    <a:lnTo>
                      <a:pt x="185" y="0"/>
                    </a:lnTo>
                    <a:lnTo>
                      <a:pt x="18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71" name="Freeform 871"/>
              <p:cNvSpPr>
                <a:spLocks/>
              </p:cNvSpPr>
              <p:nvPr/>
            </p:nvSpPr>
            <p:spPr bwMode="auto">
              <a:xfrm>
                <a:off x="3889" y="2725"/>
                <a:ext cx="31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72" name="Freeform 872"/>
              <p:cNvSpPr>
                <a:spLocks/>
              </p:cNvSpPr>
              <p:nvPr/>
            </p:nvSpPr>
            <p:spPr bwMode="auto">
              <a:xfrm>
                <a:off x="4025" y="2421"/>
                <a:ext cx="198" cy="199"/>
              </a:xfrm>
              <a:custGeom>
                <a:avLst/>
                <a:gdLst>
                  <a:gd name="T0" fmla="*/ 0 w 1195"/>
                  <a:gd name="T1" fmla="*/ 1194 h 1194"/>
                  <a:gd name="T2" fmla="*/ 1194 w 1195"/>
                  <a:gd name="T3" fmla="*/ 0 h 1194"/>
                  <a:gd name="T4" fmla="*/ 1195 w 1195"/>
                  <a:gd name="T5" fmla="*/ 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95" h="1194">
                    <a:moveTo>
                      <a:pt x="0" y="1194"/>
                    </a:moveTo>
                    <a:lnTo>
                      <a:pt x="1194" y="0"/>
                    </a:lnTo>
                    <a:lnTo>
                      <a:pt x="119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73" name="Freeform 873"/>
              <p:cNvSpPr>
                <a:spLocks/>
              </p:cNvSpPr>
              <p:nvPr/>
            </p:nvSpPr>
            <p:spPr bwMode="auto">
              <a:xfrm>
                <a:off x="3920" y="2620"/>
                <a:ext cx="105" cy="105"/>
              </a:xfrm>
              <a:custGeom>
                <a:avLst/>
                <a:gdLst>
                  <a:gd name="T0" fmla="*/ 0 w 632"/>
                  <a:gd name="T1" fmla="*/ 633 h 633"/>
                  <a:gd name="T2" fmla="*/ 631 w 632"/>
                  <a:gd name="T3" fmla="*/ 0 h 633"/>
                  <a:gd name="T4" fmla="*/ 632 w 632"/>
                  <a:gd name="T5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2" h="633">
                    <a:moveTo>
                      <a:pt x="0" y="633"/>
                    </a:moveTo>
                    <a:lnTo>
                      <a:pt x="631" y="0"/>
                    </a:lnTo>
                    <a:lnTo>
                      <a:pt x="63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74" name="Freeform 874"/>
              <p:cNvSpPr>
                <a:spLocks/>
              </p:cNvSpPr>
              <p:nvPr/>
            </p:nvSpPr>
            <p:spPr bwMode="auto">
              <a:xfrm>
                <a:off x="3869" y="2790"/>
                <a:ext cx="20" cy="18"/>
              </a:xfrm>
              <a:custGeom>
                <a:avLst/>
                <a:gdLst>
                  <a:gd name="T0" fmla="*/ 0 w 114"/>
                  <a:gd name="T1" fmla="*/ 114 h 114"/>
                  <a:gd name="T2" fmla="*/ 113 w 114"/>
                  <a:gd name="T3" fmla="*/ 0 h 114"/>
                  <a:gd name="T4" fmla="*/ 114 w 114"/>
                  <a:gd name="T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4" h="114">
                    <a:moveTo>
                      <a:pt x="0" y="114"/>
                    </a:moveTo>
                    <a:lnTo>
                      <a:pt x="113" y="0"/>
                    </a:lnTo>
                    <a:lnTo>
                      <a:pt x="11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75" name="Freeform 875"/>
              <p:cNvSpPr>
                <a:spLocks/>
              </p:cNvSpPr>
              <p:nvPr/>
            </p:nvSpPr>
            <p:spPr bwMode="auto">
              <a:xfrm>
                <a:off x="4235" y="2412"/>
                <a:ext cx="30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76" name="Freeform 876"/>
              <p:cNvSpPr>
                <a:spLocks/>
              </p:cNvSpPr>
              <p:nvPr/>
            </p:nvSpPr>
            <p:spPr bwMode="auto">
              <a:xfrm>
                <a:off x="3889" y="2727"/>
                <a:ext cx="62" cy="62"/>
              </a:xfrm>
              <a:custGeom>
                <a:avLst/>
                <a:gdLst>
                  <a:gd name="T0" fmla="*/ 0 w 379"/>
                  <a:gd name="T1" fmla="*/ 377 h 377"/>
                  <a:gd name="T2" fmla="*/ 378 w 379"/>
                  <a:gd name="T3" fmla="*/ 0 h 377"/>
                  <a:gd name="T4" fmla="*/ 379 w 379"/>
                  <a:gd name="T5" fmla="*/ 0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9" h="377">
                    <a:moveTo>
                      <a:pt x="0" y="377"/>
                    </a:moveTo>
                    <a:lnTo>
                      <a:pt x="378" y="0"/>
                    </a:lnTo>
                    <a:lnTo>
                      <a:pt x="37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77" name="Freeform 877"/>
              <p:cNvSpPr>
                <a:spLocks/>
              </p:cNvSpPr>
              <p:nvPr/>
            </p:nvSpPr>
            <p:spPr bwMode="auto">
              <a:xfrm>
                <a:off x="4025" y="2443"/>
                <a:ext cx="210" cy="211"/>
              </a:xfrm>
              <a:custGeom>
                <a:avLst/>
                <a:gdLst>
                  <a:gd name="T0" fmla="*/ 0 w 1267"/>
                  <a:gd name="T1" fmla="*/ 1268 h 1268"/>
                  <a:gd name="T2" fmla="*/ 1266 w 1267"/>
                  <a:gd name="T3" fmla="*/ 0 h 1268"/>
                  <a:gd name="T4" fmla="*/ 1267 w 1267"/>
                  <a:gd name="T5" fmla="*/ 0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7" h="1268">
                    <a:moveTo>
                      <a:pt x="0" y="1268"/>
                    </a:moveTo>
                    <a:lnTo>
                      <a:pt x="1266" y="0"/>
                    </a:lnTo>
                    <a:lnTo>
                      <a:pt x="12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78" name="Freeform 878"/>
              <p:cNvSpPr>
                <a:spLocks/>
              </p:cNvSpPr>
              <p:nvPr/>
            </p:nvSpPr>
            <p:spPr bwMode="auto">
              <a:xfrm>
                <a:off x="3951" y="2654"/>
                <a:ext cx="74" cy="75"/>
              </a:xfrm>
              <a:custGeom>
                <a:avLst/>
                <a:gdLst>
                  <a:gd name="T0" fmla="*/ 0 w 436"/>
                  <a:gd name="T1" fmla="*/ 436 h 436"/>
                  <a:gd name="T2" fmla="*/ 435 w 436"/>
                  <a:gd name="T3" fmla="*/ 0 h 436"/>
                  <a:gd name="T4" fmla="*/ 436 w 436"/>
                  <a:gd name="T5" fmla="*/ 0 h 4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6" h="436">
                    <a:moveTo>
                      <a:pt x="0" y="436"/>
                    </a:moveTo>
                    <a:lnTo>
                      <a:pt x="435" y="0"/>
                    </a:lnTo>
                    <a:lnTo>
                      <a:pt x="43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79" name="Freeform 879"/>
              <p:cNvSpPr>
                <a:spLocks/>
              </p:cNvSpPr>
              <p:nvPr/>
            </p:nvSpPr>
            <p:spPr bwMode="auto">
              <a:xfrm>
                <a:off x="3896" y="2729"/>
                <a:ext cx="89" cy="89"/>
              </a:xfrm>
              <a:custGeom>
                <a:avLst/>
                <a:gdLst>
                  <a:gd name="T0" fmla="*/ 0 w 527"/>
                  <a:gd name="T1" fmla="*/ 527 h 527"/>
                  <a:gd name="T2" fmla="*/ 526 w 527"/>
                  <a:gd name="T3" fmla="*/ 0 h 527"/>
                  <a:gd name="T4" fmla="*/ 527 w 527"/>
                  <a:gd name="T5" fmla="*/ 0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" h="527">
                    <a:moveTo>
                      <a:pt x="0" y="527"/>
                    </a:moveTo>
                    <a:lnTo>
                      <a:pt x="526" y="0"/>
                    </a:lnTo>
                    <a:lnTo>
                      <a:pt x="52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80" name="Freeform 880"/>
              <p:cNvSpPr>
                <a:spLocks/>
              </p:cNvSpPr>
              <p:nvPr/>
            </p:nvSpPr>
            <p:spPr bwMode="auto">
              <a:xfrm>
                <a:off x="4247" y="2436"/>
                <a:ext cx="30" cy="28"/>
              </a:xfrm>
              <a:custGeom>
                <a:avLst/>
                <a:gdLst>
                  <a:gd name="T0" fmla="*/ 0 w 173"/>
                  <a:gd name="T1" fmla="*/ 173 h 173"/>
                  <a:gd name="T2" fmla="*/ 172 w 173"/>
                  <a:gd name="T3" fmla="*/ 0 h 173"/>
                  <a:gd name="T4" fmla="*/ 173 w 173"/>
                  <a:gd name="T5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" h="173">
                    <a:moveTo>
                      <a:pt x="0" y="173"/>
                    </a:moveTo>
                    <a:lnTo>
                      <a:pt x="172" y="0"/>
                    </a:lnTo>
                    <a:lnTo>
                      <a:pt x="17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81" name="Freeform 881"/>
              <p:cNvSpPr>
                <a:spLocks/>
              </p:cNvSpPr>
              <p:nvPr/>
            </p:nvSpPr>
            <p:spPr bwMode="auto">
              <a:xfrm>
                <a:off x="3983" y="2465"/>
                <a:ext cx="264" cy="264"/>
              </a:xfrm>
              <a:custGeom>
                <a:avLst/>
                <a:gdLst>
                  <a:gd name="T0" fmla="*/ 0 w 1583"/>
                  <a:gd name="T1" fmla="*/ 1583 h 1583"/>
                  <a:gd name="T2" fmla="*/ 243 w 1583"/>
                  <a:gd name="T3" fmla="*/ 1340 h 1583"/>
                  <a:gd name="T4" fmla="*/ 1582 w 1583"/>
                  <a:gd name="T5" fmla="*/ 0 h 1583"/>
                  <a:gd name="T6" fmla="*/ 1583 w 1583"/>
                  <a:gd name="T7" fmla="*/ 0 h 15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83" h="1583">
                    <a:moveTo>
                      <a:pt x="0" y="1583"/>
                    </a:moveTo>
                    <a:lnTo>
                      <a:pt x="243" y="1340"/>
                    </a:lnTo>
                    <a:lnTo>
                      <a:pt x="1582" y="0"/>
                    </a:lnTo>
                    <a:lnTo>
                      <a:pt x="158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82" name="Freeform 882"/>
              <p:cNvSpPr>
                <a:spLocks/>
              </p:cNvSpPr>
              <p:nvPr/>
            </p:nvSpPr>
            <p:spPr bwMode="auto">
              <a:xfrm>
                <a:off x="3921" y="2730"/>
                <a:ext cx="94" cy="95"/>
              </a:xfrm>
              <a:custGeom>
                <a:avLst/>
                <a:gdLst>
                  <a:gd name="T0" fmla="*/ 0 w 562"/>
                  <a:gd name="T1" fmla="*/ 561 h 561"/>
                  <a:gd name="T2" fmla="*/ 560 w 562"/>
                  <a:gd name="T3" fmla="*/ 0 h 561"/>
                  <a:gd name="T4" fmla="*/ 562 w 562"/>
                  <a:gd name="T5" fmla="*/ 0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2" h="561">
                    <a:moveTo>
                      <a:pt x="0" y="561"/>
                    </a:moveTo>
                    <a:lnTo>
                      <a:pt x="560" y="0"/>
                    </a:lnTo>
                    <a:lnTo>
                      <a:pt x="56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83" name="Freeform 883"/>
              <p:cNvSpPr>
                <a:spLocks/>
              </p:cNvSpPr>
              <p:nvPr/>
            </p:nvSpPr>
            <p:spPr bwMode="auto">
              <a:xfrm>
                <a:off x="4259" y="2460"/>
                <a:ext cx="27" cy="25"/>
              </a:xfrm>
              <a:custGeom>
                <a:avLst/>
                <a:gdLst>
                  <a:gd name="T0" fmla="*/ 0 w 161"/>
                  <a:gd name="T1" fmla="*/ 160 h 160"/>
                  <a:gd name="T2" fmla="*/ 160 w 161"/>
                  <a:gd name="T3" fmla="*/ 0 h 160"/>
                  <a:gd name="T4" fmla="*/ 161 w 16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1" h="160">
                    <a:moveTo>
                      <a:pt x="0" y="160"/>
                    </a:moveTo>
                    <a:lnTo>
                      <a:pt x="160" y="0"/>
                    </a:lnTo>
                    <a:lnTo>
                      <a:pt x="16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84" name="Freeform 884"/>
              <p:cNvSpPr>
                <a:spLocks/>
              </p:cNvSpPr>
              <p:nvPr/>
            </p:nvSpPr>
            <p:spPr bwMode="auto">
              <a:xfrm>
                <a:off x="4015" y="2486"/>
                <a:ext cx="244" cy="246"/>
              </a:xfrm>
              <a:custGeom>
                <a:avLst/>
                <a:gdLst>
                  <a:gd name="T0" fmla="*/ 0 w 1467"/>
                  <a:gd name="T1" fmla="*/ 1466 h 1466"/>
                  <a:gd name="T2" fmla="*/ 52 w 1467"/>
                  <a:gd name="T3" fmla="*/ 1414 h 1466"/>
                  <a:gd name="T4" fmla="*/ 1465 w 1467"/>
                  <a:gd name="T5" fmla="*/ 0 h 1466"/>
                  <a:gd name="T6" fmla="*/ 1467 w 1467"/>
                  <a:gd name="T7" fmla="*/ 0 h 1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67" h="1466">
                    <a:moveTo>
                      <a:pt x="0" y="1466"/>
                    </a:moveTo>
                    <a:lnTo>
                      <a:pt x="52" y="1414"/>
                    </a:lnTo>
                    <a:lnTo>
                      <a:pt x="1465" y="0"/>
                    </a:lnTo>
                    <a:lnTo>
                      <a:pt x="14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85" name="Freeform 885"/>
              <p:cNvSpPr>
                <a:spLocks/>
              </p:cNvSpPr>
              <p:nvPr/>
            </p:nvSpPr>
            <p:spPr bwMode="auto">
              <a:xfrm>
                <a:off x="3947" y="2756"/>
                <a:ext cx="78" cy="76"/>
              </a:xfrm>
              <a:custGeom>
                <a:avLst/>
                <a:gdLst>
                  <a:gd name="T0" fmla="*/ 0 w 457"/>
                  <a:gd name="T1" fmla="*/ 456 h 456"/>
                  <a:gd name="T2" fmla="*/ 456 w 457"/>
                  <a:gd name="T3" fmla="*/ 0 h 456"/>
                  <a:gd name="T4" fmla="*/ 457 w 457"/>
                  <a:gd name="T5" fmla="*/ 0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7" h="456">
                    <a:moveTo>
                      <a:pt x="0" y="456"/>
                    </a:moveTo>
                    <a:lnTo>
                      <a:pt x="456" y="0"/>
                    </a:lnTo>
                    <a:lnTo>
                      <a:pt x="45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86" name="Freeform 886"/>
              <p:cNvSpPr>
                <a:spLocks/>
              </p:cNvSpPr>
              <p:nvPr/>
            </p:nvSpPr>
            <p:spPr bwMode="auto">
              <a:xfrm>
                <a:off x="4271" y="2484"/>
                <a:ext cx="24" cy="24"/>
              </a:xfrm>
              <a:custGeom>
                <a:avLst/>
                <a:gdLst>
                  <a:gd name="T0" fmla="*/ 0 w 146"/>
                  <a:gd name="T1" fmla="*/ 146 h 146"/>
                  <a:gd name="T2" fmla="*/ 145 w 146"/>
                  <a:gd name="T3" fmla="*/ 0 h 146"/>
                  <a:gd name="T4" fmla="*/ 146 w 146"/>
                  <a:gd name="T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6" h="146">
                    <a:moveTo>
                      <a:pt x="0" y="146"/>
                    </a:moveTo>
                    <a:lnTo>
                      <a:pt x="145" y="0"/>
                    </a:lnTo>
                    <a:lnTo>
                      <a:pt x="14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87" name="Freeform 887"/>
              <p:cNvSpPr>
                <a:spLocks/>
              </p:cNvSpPr>
              <p:nvPr/>
            </p:nvSpPr>
            <p:spPr bwMode="auto">
              <a:xfrm>
                <a:off x="4025" y="2508"/>
                <a:ext cx="246" cy="247"/>
              </a:xfrm>
              <a:custGeom>
                <a:avLst/>
                <a:gdLst>
                  <a:gd name="T0" fmla="*/ 0 w 1487"/>
                  <a:gd name="T1" fmla="*/ 1486 h 1486"/>
                  <a:gd name="T2" fmla="*/ 135 w 1487"/>
                  <a:gd name="T3" fmla="*/ 1351 h 1486"/>
                  <a:gd name="T4" fmla="*/ 1486 w 1487"/>
                  <a:gd name="T5" fmla="*/ 0 h 1486"/>
                  <a:gd name="T6" fmla="*/ 1487 w 1487"/>
                  <a:gd name="T7" fmla="*/ 0 h 1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7" h="1486">
                    <a:moveTo>
                      <a:pt x="0" y="1486"/>
                    </a:moveTo>
                    <a:lnTo>
                      <a:pt x="135" y="1351"/>
                    </a:lnTo>
                    <a:lnTo>
                      <a:pt x="1486" y="0"/>
                    </a:lnTo>
                    <a:lnTo>
                      <a:pt x="148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88" name="Freeform 888"/>
              <p:cNvSpPr>
                <a:spLocks/>
              </p:cNvSpPr>
              <p:nvPr/>
            </p:nvSpPr>
            <p:spPr bwMode="auto">
              <a:xfrm>
                <a:off x="3974" y="2790"/>
                <a:ext cx="51" cy="52"/>
              </a:xfrm>
              <a:custGeom>
                <a:avLst/>
                <a:gdLst>
                  <a:gd name="T0" fmla="*/ 0 w 299"/>
                  <a:gd name="T1" fmla="*/ 299 h 299"/>
                  <a:gd name="T2" fmla="*/ 298 w 299"/>
                  <a:gd name="T3" fmla="*/ 0 h 299"/>
                  <a:gd name="T4" fmla="*/ 299 w 299"/>
                  <a:gd name="T5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9" h="299">
                    <a:moveTo>
                      <a:pt x="0" y="299"/>
                    </a:moveTo>
                    <a:lnTo>
                      <a:pt x="298" y="0"/>
                    </a:lnTo>
                    <a:lnTo>
                      <a:pt x="29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89" name="Freeform 889"/>
              <p:cNvSpPr>
                <a:spLocks/>
              </p:cNvSpPr>
              <p:nvPr/>
            </p:nvSpPr>
            <p:spPr bwMode="auto">
              <a:xfrm>
                <a:off x="4283" y="2508"/>
                <a:ext cx="22" cy="21"/>
              </a:xfrm>
              <a:custGeom>
                <a:avLst/>
                <a:gdLst>
                  <a:gd name="T0" fmla="*/ 0 w 133"/>
                  <a:gd name="T1" fmla="*/ 132 h 132"/>
                  <a:gd name="T2" fmla="*/ 131 w 133"/>
                  <a:gd name="T3" fmla="*/ 0 h 132"/>
                  <a:gd name="T4" fmla="*/ 133 w 133"/>
                  <a:gd name="T5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3" h="132">
                    <a:moveTo>
                      <a:pt x="0" y="132"/>
                    </a:moveTo>
                    <a:lnTo>
                      <a:pt x="131" y="0"/>
                    </a:lnTo>
                    <a:lnTo>
                      <a:pt x="13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90" name="Freeform 890"/>
              <p:cNvSpPr>
                <a:spLocks/>
              </p:cNvSpPr>
              <p:nvPr/>
            </p:nvSpPr>
            <p:spPr bwMode="auto">
              <a:xfrm>
                <a:off x="4025" y="2530"/>
                <a:ext cx="260" cy="260"/>
              </a:xfrm>
              <a:custGeom>
                <a:avLst/>
                <a:gdLst>
                  <a:gd name="T0" fmla="*/ 0 w 1561"/>
                  <a:gd name="T1" fmla="*/ 1561 h 1561"/>
                  <a:gd name="T2" fmla="*/ 321 w 1561"/>
                  <a:gd name="T3" fmla="*/ 1240 h 1561"/>
                  <a:gd name="T4" fmla="*/ 1560 w 1561"/>
                  <a:gd name="T5" fmla="*/ 0 h 1561"/>
                  <a:gd name="T6" fmla="*/ 1561 w 1561"/>
                  <a:gd name="T7" fmla="*/ 0 h 1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61" h="1561">
                    <a:moveTo>
                      <a:pt x="0" y="1561"/>
                    </a:moveTo>
                    <a:lnTo>
                      <a:pt x="321" y="1240"/>
                    </a:lnTo>
                    <a:lnTo>
                      <a:pt x="1560" y="0"/>
                    </a:lnTo>
                    <a:lnTo>
                      <a:pt x="156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91" name="Freeform 891"/>
              <p:cNvSpPr>
                <a:spLocks/>
              </p:cNvSpPr>
              <p:nvPr/>
            </p:nvSpPr>
            <p:spPr bwMode="auto">
              <a:xfrm>
                <a:off x="4001" y="2825"/>
                <a:ext cx="24" cy="24"/>
              </a:xfrm>
              <a:custGeom>
                <a:avLst/>
                <a:gdLst>
                  <a:gd name="T0" fmla="*/ 0 w 143"/>
                  <a:gd name="T1" fmla="*/ 141 h 141"/>
                  <a:gd name="T2" fmla="*/ 142 w 143"/>
                  <a:gd name="T3" fmla="*/ 0 h 141"/>
                  <a:gd name="T4" fmla="*/ 143 w 143"/>
                  <a:gd name="T5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141">
                    <a:moveTo>
                      <a:pt x="0" y="141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92" name="Freeform 892"/>
              <p:cNvSpPr>
                <a:spLocks/>
              </p:cNvSpPr>
              <p:nvPr/>
            </p:nvSpPr>
            <p:spPr bwMode="auto">
              <a:xfrm>
                <a:off x="4296" y="2532"/>
                <a:ext cx="20" cy="18"/>
              </a:xfrm>
              <a:custGeom>
                <a:avLst/>
                <a:gdLst>
                  <a:gd name="T0" fmla="*/ 0 w 120"/>
                  <a:gd name="T1" fmla="*/ 118 h 118"/>
                  <a:gd name="T2" fmla="*/ 119 w 120"/>
                  <a:gd name="T3" fmla="*/ 0 h 118"/>
                  <a:gd name="T4" fmla="*/ 120 w 120"/>
                  <a:gd name="T5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0" h="118">
                    <a:moveTo>
                      <a:pt x="0" y="118"/>
                    </a:moveTo>
                    <a:lnTo>
                      <a:pt x="119" y="0"/>
                    </a:lnTo>
                    <a:lnTo>
                      <a:pt x="1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93" name="Freeform 893"/>
              <p:cNvSpPr>
                <a:spLocks/>
              </p:cNvSpPr>
              <p:nvPr/>
            </p:nvSpPr>
            <p:spPr bwMode="auto">
              <a:xfrm>
                <a:off x="4025" y="2551"/>
                <a:ext cx="271" cy="274"/>
              </a:xfrm>
              <a:custGeom>
                <a:avLst/>
                <a:gdLst>
                  <a:gd name="T0" fmla="*/ 0 w 1633"/>
                  <a:gd name="T1" fmla="*/ 1635 h 1635"/>
                  <a:gd name="T2" fmla="*/ 503 w 1633"/>
                  <a:gd name="T3" fmla="*/ 1131 h 1635"/>
                  <a:gd name="T4" fmla="*/ 1632 w 1633"/>
                  <a:gd name="T5" fmla="*/ 0 h 1635"/>
                  <a:gd name="T6" fmla="*/ 1633 w 1633"/>
                  <a:gd name="T7" fmla="*/ 0 h 1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33" h="1635">
                    <a:moveTo>
                      <a:pt x="0" y="1635"/>
                    </a:moveTo>
                    <a:lnTo>
                      <a:pt x="503" y="1131"/>
                    </a:lnTo>
                    <a:lnTo>
                      <a:pt x="1632" y="0"/>
                    </a:lnTo>
                    <a:lnTo>
                      <a:pt x="163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94" name="Freeform 894"/>
              <p:cNvSpPr>
                <a:spLocks/>
              </p:cNvSpPr>
              <p:nvPr/>
            </p:nvSpPr>
            <p:spPr bwMode="auto">
              <a:xfrm>
                <a:off x="4026" y="2744"/>
                <a:ext cx="110" cy="110"/>
              </a:xfrm>
              <a:custGeom>
                <a:avLst/>
                <a:gdLst>
                  <a:gd name="T0" fmla="*/ 0 w 669"/>
                  <a:gd name="T1" fmla="*/ 668 h 668"/>
                  <a:gd name="T2" fmla="*/ 667 w 669"/>
                  <a:gd name="T3" fmla="*/ 0 h 668"/>
                  <a:gd name="T4" fmla="*/ 669 w 669"/>
                  <a:gd name="T5" fmla="*/ 0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69" h="668">
                    <a:moveTo>
                      <a:pt x="0" y="668"/>
                    </a:moveTo>
                    <a:lnTo>
                      <a:pt x="667" y="0"/>
                    </a:lnTo>
                    <a:lnTo>
                      <a:pt x="66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95" name="Freeform 895"/>
              <p:cNvSpPr>
                <a:spLocks/>
              </p:cNvSpPr>
              <p:nvPr/>
            </p:nvSpPr>
            <p:spPr bwMode="auto">
              <a:xfrm>
                <a:off x="4308" y="2555"/>
                <a:ext cx="19" cy="18"/>
              </a:xfrm>
              <a:custGeom>
                <a:avLst/>
                <a:gdLst>
                  <a:gd name="T0" fmla="*/ 0 w 107"/>
                  <a:gd name="T1" fmla="*/ 106 h 106"/>
                  <a:gd name="T2" fmla="*/ 106 w 107"/>
                  <a:gd name="T3" fmla="*/ 0 h 106"/>
                  <a:gd name="T4" fmla="*/ 107 w 107"/>
                  <a:gd name="T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7" h="106">
                    <a:moveTo>
                      <a:pt x="0" y="106"/>
                    </a:moveTo>
                    <a:lnTo>
                      <a:pt x="106" y="0"/>
                    </a:lnTo>
                    <a:lnTo>
                      <a:pt x="10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96" name="Freeform 896"/>
              <p:cNvSpPr>
                <a:spLocks/>
              </p:cNvSpPr>
              <p:nvPr/>
            </p:nvSpPr>
            <p:spPr bwMode="auto">
              <a:xfrm>
                <a:off x="4137" y="2573"/>
                <a:ext cx="171" cy="171"/>
              </a:xfrm>
              <a:custGeom>
                <a:avLst/>
                <a:gdLst>
                  <a:gd name="T0" fmla="*/ 0 w 1024"/>
                  <a:gd name="T1" fmla="*/ 1024 h 1024"/>
                  <a:gd name="T2" fmla="*/ 1023 w 1024"/>
                  <a:gd name="T3" fmla="*/ 0 h 1024"/>
                  <a:gd name="T4" fmla="*/ 1024 w 1024"/>
                  <a:gd name="T5" fmla="*/ 0 h 10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24" h="1024">
                    <a:moveTo>
                      <a:pt x="0" y="1024"/>
                    </a:moveTo>
                    <a:lnTo>
                      <a:pt x="1023" y="0"/>
                    </a:lnTo>
                    <a:lnTo>
                      <a:pt x="102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97" name="Freeform 897"/>
              <p:cNvSpPr>
                <a:spLocks/>
              </p:cNvSpPr>
              <p:nvPr/>
            </p:nvSpPr>
            <p:spPr bwMode="auto">
              <a:xfrm>
                <a:off x="4052" y="2749"/>
                <a:ext cx="116" cy="116"/>
              </a:xfrm>
              <a:custGeom>
                <a:avLst/>
                <a:gdLst>
                  <a:gd name="T0" fmla="*/ 0 w 688"/>
                  <a:gd name="T1" fmla="*/ 688 h 688"/>
                  <a:gd name="T2" fmla="*/ 687 w 688"/>
                  <a:gd name="T3" fmla="*/ 0 h 688"/>
                  <a:gd name="T4" fmla="*/ 688 w 688"/>
                  <a:gd name="T5" fmla="*/ 0 h 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8" h="688">
                    <a:moveTo>
                      <a:pt x="0" y="688"/>
                    </a:moveTo>
                    <a:lnTo>
                      <a:pt x="687" y="0"/>
                    </a:lnTo>
                    <a:lnTo>
                      <a:pt x="68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98" name="Freeform 898"/>
              <p:cNvSpPr>
                <a:spLocks/>
              </p:cNvSpPr>
              <p:nvPr/>
            </p:nvSpPr>
            <p:spPr bwMode="auto">
              <a:xfrm>
                <a:off x="4320" y="2579"/>
                <a:ext cx="15" cy="16"/>
              </a:xfrm>
              <a:custGeom>
                <a:avLst/>
                <a:gdLst>
                  <a:gd name="T0" fmla="*/ 0 w 96"/>
                  <a:gd name="T1" fmla="*/ 95 h 95"/>
                  <a:gd name="T2" fmla="*/ 95 w 96"/>
                  <a:gd name="T3" fmla="*/ 0 h 95"/>
                  <a:gd name="T4" fmla="*/ 96 w 96"/>
                  <a:gd name="T5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95">
                    <a:moveTo>
                      <a:pt x="0" y="95"/>
                    </a:moveTo>
                    <a:lnTo>
                      <a:pt x="95" y="0"/>
                    </a:lnTo>
                    <a:lnTo>
                      <a:pt x="9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99" name="Freeform 899"/>
              <p:cNvSpPr>
                <a:spLocks/>
              </p:cNvSpPr>
              <p:nvPr/>
            </p:nvSpPr>
            <p:spPr bwMode="auto">
              <a:xfrm>
                <a:off x="4166" y="2595"/>
                <a:ext cx="154" cy="154"/>
              </a:xfrm>
              <a:custGeom>
                <a:avLst/>
                <a:gdLst>
                  <a:gd name="T0" fmla="*/ 0 w 920"/>
                  <a:gd name="T1" fmla="*/ 919 h 919"/>
                  <a:gd name="T2" fmla="*/ 919 w 920"/>
                  <a:gd name="T3" fmla="*/ 0 h 919"/>
                  <a:gd name="T4" fmla="*/ 920 w 920"/>
                  <a:gd name="T5" fmla="*/ 0 h 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0" h="919">
                    <a:moveTo>
                      <a:pt x="0" y="919"/>
                    </a:moveTo>
                    <a:lnTo>
                      <a:pt x="919" y="0"/>
                    </a:lnTo>
                    <a:lnTo>
                      <a:pt x="9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00" name="Freeform 900"/>
              <p:cNvSpPr>
                <a:spLocks/>
              </p:cNvSpPr>
              <p:nvPr/>
            </p:nvSpPr>
            <p:spPr bwMode="auto">
              <a:xfrm>
                <a:off x="4079" y="2753"/>
                <a:ext cx="117" cy="120"/>
              </a:xfrm>
              <a:custGeom>
                <a:avLst/>
                <a:gdLst>
                  <a:gd name="T0" fmla="*/ 0 w 706"/>
                  <a:gd name="T1" fmla="*/ 705 h 705"/>
                  <a:gd name="T2" fmla="*/ 705 w 706"/>
                  <a:gd name="T3" fmla="*/ 0 h 705"/>
                  <a:gd name="T4" fmla="*/ 706 w 706"/>
                  <a:gd name="T5" fmla="*/ 0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06" h="705">
                    <a:moveTo>
                      <a:pt x="0" y="705"/>
                    </a:moveTo>
                    <a:lnTo>
                      <a:pt x="705" y="0"/>
                    </a:lnTo>
                    <a:lnTo>
                      <a:pt x="70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01" name="Freeform 901"/>
              <p:cNvSpPr>
                <a:spLocks/>
              </p:cNvSpPr>
              <p:nvPr/>
            </p:nvSpPr>
            <p:spPr bwMode="auto">
              <a:xfrm>
                <a:off x="4332" y="2603"/>
                <a:ext cx="13" cy="14"/>
              </a:xfrm>
              <a:custGeom>
                <a:avLst/>
                <a:gdLst>
                  <a:gd name="T0" fmla="*/ 0 w 82"/>
                  <a:gd name="T1" fmla="*/ 82 h 82"/>
                  <a:gd name="T2" fmla="*/ 81 w 82"/>
                  <a:gd name="T3" fmla="*/ 0 h 82"/>
                  <a:gd name="T4" fmla="*/ 82 w 82"/>
                  <a:gd name="T5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" h="82">
                    <a:moveTo>
                      <a:pt x="0" y="82"/>
                    </a:moveTo>
                    <a:lnTo>
                      <a:pt x="81" y="0"/>
                    </a:lnTo>
                    <a:lnTo>
                      <a:pt x="8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02" name="Freeform 902"/>
              <p:cNvSpPr>
                <a:spLocks/>
              </p:cNvSpPr>
              <p:nvPr/>
            </p:nvSpPr>
            <p:spPr bwMode="auto">
              <a:xfrm>
                <a:off x="4195" y="2617"/>
                <a:ext cx="137" cy="136"/>
              </a:xfrm>
              <a:custGeom>
                <a:avLst/>
                <a:gdLst>
                  <a:gd name="T0" fmla="*/ 0 w 819"/>
                  <a:gd name="T1" fmla="*/ 818 h 818"/>
                  <a:gd name="T2" fmla="*/ 818 w 819"/>
                  <a:gd name="T3" fmla="*/ 0 h 818"/>
                  <a:gd name="T4" fmla="*/ 819 w 819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8">
                    <a:moveTo>
                      <a:pt x="0" y="818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03" name="Freeform 903"/>
              <p:cNvSpPr>
                <a:spLocks/>
              </p:cNvSpPr>
              <p:nvPr/>
            </p:nvSpPr>
            <p:spPr bwMode="auto">
              <a:xfrm>
                <a:off x="4104" y="2760"/>
                <a:ext cx="120" cy="119"/>
              </a:xfrm>
              <a:custGeom>
                <a:avLst/>
                <a:gdLst>
                  <a:gd name="T0" fmla="*/ 0 w 718"/>
                  <a:gd name="T1" fmla="*/ 718 h 718"/>
                  <a:gd name="T2" fmla="*/ 717 w 718"/>
                  <a:gd name="T3" fmla="*/ 0 h 718"/>
                  <a:gd name="T4" fmla="*/ 718 w 718"/>
                  <a:gd name="T5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8" h="718">
                    <a:moveTo>
                      <a:pt x="0" y="718"/>
                    </a:moveTo>
                    <a:lnTo>
                      <a:pt x="717" y="0"/>
                    </a:lnTo>
                    <a:lnTo>
                      <a:pt x="7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04" name="Freeform 904"/>
              <p:cNvSpPr>
                <a:spLocks/>
              </p:cNvSpPr>
              <p:nvPr/>
            </p:nvSpPr>
            <p:spPr bwMode="auto">
              <a:xfrm>
                <a:off x="4344" y="2629"/>
                <a:ext cx="11" cy="11"/>
              </a:xfrm>
              <a:custGeom>
                <a:avLst/>
                <a:gdLst>
                  <a:gd name="T0" fmla="*/ 0 w 67"/>
                  <a:gd name="T1" fmla="*/ 66 h 66"/>
                  <a:gd name="T2" fmla="*/ 66 w 67"/>
                  <a:gd name="T3" fmla="*/ 0 h 66"/>
                  <a:gd name="T4" fmla="*/ 67 w 67"/>
                  <a:gd name="T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" h="66">
                    <a:moveTo>
                      <a:pt x="0" y="66"/>
                    </a:moveTo>
                    <a:lnTo>
                      <a:pt x="66" y="0"/>
                    </a:lnTo>
                    <a:lnTo>
                      <a:pt x="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05" name="Freeform 905"/>
              <p:cNvSpPr>
                <a:spLocks/>
              </p:cNvSpPr>
              <p:nvPr/>
            </p:nvSpPr>
            <p:spPr bwMode="auto">
              <a:xfrm>
                <a:off x="4224" y="2640"/>
                <a:ext cx="120" cy="120"/>
              </a:xfrm>
              <a:custGeom>
                <a:avLst/>
                <a:gdLst>
                  <a:gd name="T0" fmla="*/ 0 w 721"/>
                  <a:gd name="T1" fmla="*/ 721 h 721"/>
                  <a:gd name="T2" fmla="*/ 720 w 721"/>
                  <a:gd name="T3" fmla="*/ 0 h 721"/>
                  <a:gd name="T4" fmla="*/ 721 w 721"/>
                  <a:gd name="T5" fmla="*/ 0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1" h="721">
                    <a:moveTo>
                      <a:pt x="0" y="721"/>
                    </a:moveTo>
                    <a:lnTo>
                      <a:pt x="720" y="0"/>
                    </a:lnTo>
                    <a:lnTo>
                      <a:pt x="72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06" name="Freeform 906"/>
              <p:cNvSpPr>
                <a:spLocks/>
              </p:cNvSpPr>
              <p:nvPr/>
            </p:nvSpPr>
            <p:spPr bwMode="auto">
              <a:xfrm>
                <a:off x="4130" y="2766"/>
                <a:ext cx="124" cy="120"/>
              </a:xfrm>
              <a:custGeom>
                <a:avLst/>
                <a:gdLst>
                  <a:gd name="T0" fmla="*/ 0 w 731"/>
                  <a:gd name="T1" fmla="*/ 731 h 731"/>
                  <a:gd name="T2" fmla="*/ 729 w 731"/>
                  <a:gd name="T3" fmla="*/ 0 h 731"/>
                  <a:gd name="T4" fmla="*/ 731 w 731"/>
                  <a:gd name="T5" fmla="*/ 0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1" h="731">
                    <a:moveTo>
                      <a:pt x="0" y="731"/>
                    </a:moveTo>
                    <a:lnTo>
                      <a:pt x="729" y="0"/>
                    </a:lnTo>
                    <a:lnTo>
                      <a:pt x="73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07" name="Freeform 907"/>
              <p:cNvSpPr>
                <a:spLocks/>
              </p:cNvSpPr>
              <p:nvPr/>
            </p:nvSpPr>
            <p:spPr bwMode="auto">
              <a:xfrm>
                <a:off x="4356" y="2653"/>
                <a:ext cx="8" cy="7"/>
              </a:xfrm>
              <a:custGeom>
                <a:avLst/>
                <a:gdLst>
                  <a:gd name="T0" fmla="*/ 0 w 49"/>
                  <a:gd name="T1" fmla="*/ 48 h 48"/>
                  <a:gd name="T2" fmla="*/ 48 w 49"/>
                  <a:gd name="T3" fmla="*/ 0 h 48"/>
                  <a:gd name="T4" fmla="*/ 49 w 49"/>
                  <a:gd name="T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" h="48">
                    <a:moveTo>
                      <a:pt x="0" y="48"/>
                    </a:moveTo>
                    <a:lnTo>
                      <a:pt x="48" y="0"/>
                    </a:lnTo>
                    <a:lnTo>
                      <a:pt x="4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08" name="Freeform 908"/>
              <p:cNvSpPr>
                <a:spLocks/>
              </p:cNvSpPr>
              <p:nvPr/>
            </p:nvSpPr>
            <p:spPr bwMode="auto">
              <a:xfrm>
                <a:off x="4252" y="2660"/>
                <a:ext cx="104" cy="106"/>
              </a:xfrm>
              <a:custGeom>
                <a:avLst/>
                <a:gdLst>
                  <a:gd name="T0" fmla="*/ 0 w 626"/>
                  <a:gd name="T1" fmla="*/ 625 h 625"/>
                  <a:gd name="T2" fmla="*/ 625 w 626"/>
                  <a:gd name="T3" fmla="*/ 0 h 625"/>
                  <a:gd name="T4" fmla="*/ 626 w 626"/>
                  <a:gd name="T5" fmla="*/ 0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26" h="625">
                    <a:moveTo>
                      <a:pt x="0" y="625"/>
                    </a:moveTo>
                    <a:lnTo>
                      <a:pt x="625" y="0"/>
                    </a:lnTo>
                    <a:lnTo>
                      <a:pt x="62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09" name="Freeform 909"/>
              <p:cNvSpPr>
                <a:spLocks/>
              </p:cNvSpPr>
              <p:nvPr/>
            </p:nvSpPr>
            <p:spPr bwMode="auto">
              <a:xfrm>
                <a:off x="4155" y="2771"/>
                <a:ext cx="124" cy="123"/>
              </a:xfrm>
              <a:custGeom>
                <a:avLst/>
                <a:gdLst>
                  <a:gd name="T0" fmla="*/ 0 w 737"/>
                  <a:gd name="T1" fmla="*/ 737 h 737"/>
                  <a:gd name="T2" fmla="*/ 736 w 737"/>
                  <a:gd name="T3" fmla="*/ 0 h 737"/>
                  <a:gd name="T4" fmla="*/ 737 w 737"/>
                  <a:gd name="T5" fmla="*/ 0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7" h="737">
                    <a:moveTo>
                      <a:pt x="0" y="737"/>
                    </a:moveTo>
                    <a:lnTo>
                      <a:pt x="736" y="0"/>
                    </a:lnTo>
                    <a:lnTo>
                      <a:pt x="73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10" name="Freeform 910"/>
              <p:cNvSpPr>
                <a:spLocks/>
              </p:cNvSpPr>
              <p:nvPr/>
            </p:nvSpPr>
            <p:spPr bwMode="auto">
              <a:xfrm>
                <a:off x="4368" y="2678"/>
                <a:ext cx="5" cy="4"/>
              </a:xfrm>
              <a:custGeom>
                <a:avLst/>
                <a:gdLst>
                  <a:gd name="T0" fmla="*/ 0 w 28"/>
                  <a:gd name="T1" fmla="*/ 27 h 27"/>
                  <a:gd name="T2" fmla="*/ 27 w 28"/>
                  <a:gd name="T3" fmla="*/ 0 h 27"/>
                  <a:gd name="T4" fmla="*/ 28 w 28"/>
                  <a:gd name="T5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7">
                    <a:moveTo>
                      <a:pt x="0" y="27"/>
                    </a:moveTo>
                    <a:lnTo>
                      <a:pt x="27" y="0"/>
                    </a:lnTo>
                    <a:lnTo>
                      <a:pt x="2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11" name="Freeform 911"/>
              <p:cNvSpPr>
                <a:spLocks/>
              </p:cNvSpPr>
              <p:nvPr/>
            </p:nvSpPr>
            <p:spPr bwMode="auto">
              <a:xfrm>
                <a:off x="4279" y="2682"/>
                <a:ext cx="89" cy="89"/>
              </a:xfrm>
              <a:custGeom>
                <a:avLst/>
                <a:gdLst>
                  <a:gd name="T0" fmla="*/ 0 w 535"/>
                  <a:gd name="T1" fmla="*/ 534 h 534"/>
                  <a:gd name="T2" fmla="*/ 534 w 535"/>
                  <a:gd name="T3" fmla="*/ 0 h 534"/>
                  <a:gd name="T4" fmla="*/ 535 w 535"/>
                  <a:gd name="T5" fmla="*/ 0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5" h="534">
                    <a:moveTo>
                      <a:pt x="0" y="534"/>
                    </a:moveTo>
                    <a:lnTo>
                      <a:pt x="534" y="0"/>
                    </a:lnTo>
                    <a:lnTo>
                      <a:pt x="53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12" name="Freeform 912"/>
              <p:cNvSpPr>
                <a:spLocks/>
              </p:cNvSpPr>
              <p:nvPr/>
            </p:nvSpPr>
            <p:spPr bwMode="auto">
              <a:xfrm>
                <a:off x="4182" y="2705"/>
                <a:ext cx="198" cy="198"/>
              </a:xfrm>
              <a:custGeom>
                <a:avLst/>
                <a:gdLst>
                  <a:gd name="T0" fmla="*/ 0 w 1187"/>
                  <a:gd name="T1" fmla="*/ 1187 h 1187"/>
                  <a:gd name="T2" fmla="*/ 741 w 1187"/>
                  <a:gd name="T3" fmla="*/ 446 h 1187"/>
                  <a:gd name="T4" fmla="*/ 1186 w 1187"/>
                  <a:gd name="T5" fmla="*/ 0 h 1187"/>
                  <a:gd name="T6" fmla="*/ 1187 w 1187"/>
                  <a:gd name="T7" fmla="*/ 0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87" h="1187">
                    <a:moveTo>
                      <a:pt x="0" y="1187"/>
                    </a:moveTo>
                    <a:lnTo>
                      <a:pt x="741" y="446"/>
                    </a:lnTo>
                    <a:lnTo>
                      <a:pt x="1186" y="0"/>
                    </a:lnTo>
                    <a:lnTo>
                      <a:pt x="118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13" name="Freeform 913"/>
              <p:cNvSpPr>
                <a:spLocks/>
              </p:cNvSpPr>
              <p:nvPr/>
            </p:nvSpPr>
            <p:spPr bwMode="auto">
              <a:xfrm>
                <a:off x="4208" y="2732"/>
                <a:ext cx="179" cy="178"/>
              </a:xfrm>
              <a:custGeom>
                <a:avLst/>
                <a:gdLst>
                  <a:gd name="T0" fmla="*/ 0 w 1069"/>
                  <a:gd name="T1" fmla="*/ 1069 h 1069"/>
                  <a:gd name="T2" fmla="*/ 742 w 1069"/>
                  <a:gd name="T3" fmla="*/ 328 h 1069"/>
                  <a:gd name="T4" fmla="*/ 1068 w 1069"/>
                  <a:gd name="T5" fmla="*/ 0 h 1069"/>
                  <a:gd name="T6" fmla="*/ 1069 w 1069"/>
                  <a:gd name="T7" fmla="*/ 0 h 10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69" h="1069">
                    <a:moveTo>
                      <a:pt x="0" y="1069"/>
                    </a:moveTo>
                    <a:lnTo>
                      <a:pt x="742" y="328"/>
                    </a:lnTo>
                    <a:lnTo>
                      <a:pt x="1068" y="0"/>
                    </a:lnTo>
                    <a:lnTo>
                      <a:pt x="106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14" name="Freeform 914"/>
              <p:cNvSpPr>
                <a:spLocks/>
              </p:cNvSpPr>
              <p:nvPr/>
            </p:nvSpPr>
            <p:spPr bwMode="auto">
              <a:xfrm>
                <a:off x="4235" y="2760"/>
                <a:ext cx="158" cy="157"/>
              </a:xfrm>
              <a:custGeom>
                <a:avLst/>
                <a:gdLst>
                  <a:gd name="T0" fmla="*/ 0 w 944"/>
                  <a:gd name="T1" fmla="*/ 944 h 944"/>
                  <a:gd name="T2" fmla="*/ 737 w 944"/>
                  <a:gd name="T3" fmla="*/ 207 h 944"/>
                  <a:gd name="T4" fmla="*/ 943 w 944"/>
                  <a:gd name="T5" fmla="*/ 0 h 944"/>
                  <a:gd name="T6" fmla="*/ 944 w 944"/>
                  <a:gd name="T7" fmla="*/ 0 h 9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4" h="944">
                    <a:moveTo>
                      <a:pt x="0" y="944"/>
                    </a:moveTo>
                    <a:lnTo>
                      <a:pt x="737" y="207"/>
                    </a:lnTo>
                    <a:lnTo>
                      <a:pt x="943" y="0"/>
                    </a:lnTo>
                    <a:lnTo>
                      <a:pt x="94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15" name="Freeform 915"/>
              <p:cNvSpPr>
                <a:spLocks/>
              </p:cNvSpPr>
              <p:nvPr/>
            </p:nvSpPr>
            <p:spPr bwMode="auto">
              <a:xfrm>
                <a:off x="4261" y="2790"/>
                <a:ext cx="136" cy="137"/>
              </a:xfrm>
              <a:custGeom>
                <a:avLst/>
                <a:gdLst>
                  <a:gd name="T0" fmla="*/ 0 w 815"/>
                  <a:gd name="T1" fmla="*/ 813 h 813"/>
                  <a:gd name="T2" fmla="*/ 728 w 815"/>
                  <a:gd name="T3" fmla="*/ 85 h 813"/>
                  <a:gd name="T4" fmla="*/ 814 w 815"/>
                  <a:gd name="T5" fmla="*/ 0 h 813"/>
                  <a:gd name="T6" fmla="*/ 815 w 815"/>
                  <a:gd name="T7" fmla="*/ 0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5" h="813">
                    <a:moveTo>
                      <a:pt x="0" y="813"/>
                    </a:moveTo>
                    <a:lnTo>
                      <a:pt x="728" y="85"/>
                    </a:ln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16" name="Freeform 916"/>
              <p:cNvSpPr>
                <a:spLocks/>
              </p:cNvSpPr>
              <p:nvPr/>
            </p:nvSpPr>
            <p:spPr bwMode="auto">
              <a:xfrm>
                <a:off x="4287" y="2821"/>
                <a:ext cx="113" cy="113"/>
              </a:xfrm>
              <a:custGeom>
                <a:avLst/>
                <a:gdLst>
                  <a:gd name="T0" fmla="*/ 0 w 679"/>
                  <a:gd name="T1" fmla="*/ 679 h 679"/>
                  <a:gd name="T2" fmla="*/ 677 w 679"/>
                  <a:gd name="T3" fmla="*/ 0 h 679"/>
                  <a:gd name="T4" fmla="*/ 679 w 679"/>
                  <a:gd name="T5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9" h="679">
                    <a:moveTo>
                      <a:pt x="0" y="679"/>
                    </a:moveTo>
                    <a:lnTo>
                      <a:pt x="677" y="0"/>
                    </a:lnTo>
                    <a:lnTo>
                      <a:pt x="67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17" name="Freeform 917"/>
              <p:cNvSpPr>
                <a:spLocks/>
              </p:cNvSpPr>
              <p:nvPr/>
            </p:nvSpPr>
            <p:spPr bwMode="auto">
              <a:xfrm>
                <a:off x="4313" y="2852"/>
                <a:ext cx="90" cy="89"/>
              </a:xfrm>
              <a:custGeom>
                <a:avLst/>
                <a:gdLst>
                  <a:gd name="T0" fmla="*/ 0 w 542"/>
                  <a:gd name="T1" fmla="*/ 540 h 540"/>
                  <a:gd name="T2" fmla="*/ 541 w 542"/>
                  <a:gd name="T3" fmla="*/ 0 h 540"/>
                  <a:gd name="T4" fmla="*/ 542 w 542"/>
                  <a:gd name="T5" fmla="*/ 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42" h="540">
                    <a:moveTo>
                      <a:pt x="0" y="540"/>
                    </a:moveTo>
                    <a:lnTo>
                      <a:pt x="541" y="0"/>
                    </a:lnTo>
                    <a:lnTo>
                      <a:pt x="54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18" name="Freeform 918"/>
              <p:cNvSpPr>
                <a:spLocks/>
              </p:cNvSpPr>
              <p:nvPr/>
            </p:nvSpPr>
            <p:spPr bwMode="auto">
              <a:xfrm>
                <a:off x="4339" y="2883"/>
                <a:ext cx="67" cy="68"/>
              </a:xfrm>
              <a:custGeom>
                <a:avLst/>
                <a:gdLst>
                  <a:gd name="T0" fmla="*/ 0 w 404"/>
                  <a:gd name="T1" fmla="*/ 403 h 403"/>
                  <a:gd name="T2" fmla="*/ 403 w 404"/>
                  <a:gd name="T3" fmla="*/ 0 h 403"/>
                  <a:gd name="T4" fmla="*/ 404 w 404"/>
                  <a:gd name="T5" fmla="*/ 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4" h="403">
                    <a:moveTo>
                      <a:pt x="0" y="403"/>
                    </a:moveTo>
                    <a:lnTo>
                      <a:pt x="403" y="0"/>
                    </a:lnTo>
                    <a:lnTo>
                      <a:pt x="40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19" name="Freeform 919"/>
              <p:cNvSpPr>
                <a:spLocks/>
              </p:cNvSpPr>
              <p:nvPr/>
            </p:nvSpPr>
            <p:spPr bwMode="auto">
              <a:xfrm>
                <a:off x="4366" y="2914"/>
                <a:ext cx="43" cy="44"/>
              </a:xfrm>
              <a:custGeom>
                <a:avLst/>
                <a:gdLst>
                  <a:gd name="T0" fmla="*/ 0 w 267"/>
                  <a:gd name="T1" fmla="*/ 268 h 268"/>
                  <a:gd name="T2" fmla="*/ 266 w 267"/>
                  <a:gd name="T3" fmla="*/ 0 h 268"/>
                  <a:gd name="T4" fmla="*/ 267 w 267"/>
                  <a:gd name="T5" fmla="*/ 0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7" h="268">
                    <a:moveTo>
                      <a:pt x="0" y="268"/>
                    </a:moveTo>
                    <a:lnTo>
                      <a:pt x="266" y="0"/>
                    </a:lnTo>
                    <a:lnTo>
                      <a:pt x="2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20" name="Freeform 920"/>
              <p:cNvSpPr>
                <a:spLocks/>
              </p:cNvSpPr>
              <p:nvPr/>
            </p:nvSpPr>
            <p:spPr bwMode="auto">
              <a:xfrm>
                <a:off x="4391" y="2942"/>
                <a:ext cx="22" cy="23"/>
              </a:xfrm>
              <a:custGeom>
                <a:avLst/>
                <a:gdLst>
                  <a:gd name="T0" fmla="*/ 0 w 134"/>
                  <a:gd name="T1" fmla="*/ 133 h 133"/>
                  <a:gd name="T2" fmla="*/ 133 w 134"/>
                  <a:gd name="T3" fmla="*/ 0 h 133"/>
                  <a:gd name="T4" fmla="*/ 134 w 134"/>
                  <a:gd name="T5" fmla="*/ 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4" h="133">
                    <a:moveTo>
                      <a:pt x="0" y="133"/>
                    </a:moveTo>
                    <a:lnTo>
                      <a:pt x="133" y="0"/>
                    </a:lnTo>
                    <a:lnTo>
                      <a:pt x="13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21" name="Freeform 921"/>
              <p:cNvSpPr>
                <a:spLocks/>
              </p:cNvSpPr>
              <p:nvPr/>
            </p:nvSpPr>
            <p:spPr bwMode="auto">
              <a:xfrm>
                <a:off x="4417" y="2972"/>
                <a:ext cx="1" cy="1"/>
              </a:xfrm>
              <a:custGeom>
                <a:avLst/>
                <a:gdLst>
                  <a:gd name="T0" fmla="*/ 0 w 3"/>
                  <a:gd name="T1" fmla="*/ 2 h 2"/>
                  <a:gd name="T2" fmla="*/ 2 w 3"/>
                  <a:gd name="T3" fmla="*/ 0 h 2"/>
                  <a:gd name="T4" fmla="*/ 3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2"/>
                    </a:moveTo>
                    <a:lnTo>
                      <a:pt x="2" y="0"/>
                    </a:lnTo>
                    <a:lnTo>
                      <a:pt x="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22" name="Freeform 922"/>
              <p:cNvSpPr>
                <a:spLocks/>
              </p:cNvSpPr>
              <p:nvPr/>
            </p:nvSpPr>
            <p:spPr bwMode="auto">
              <a:xfrm>
                <a:off x="3741" y="2213"/>
                <a:ext cx="148" cy="147"/>
              </a:xfrm>
              <a:custGeom>
                <a:avLst/>
                <a:gdLst>
                  <a:gd name="T0" fmla="*/ 0 w 883"/>
                  <a:gd name="T1" fmla="*/ 882 h 882"/>
                  <a:gd name="T2" fmla="*/ 882 w 883"/>
                  <a:gd name="T3" fmla="*/ 0 h 882"/>
                  <a:gd name="T4" fmla="*/ 883 w 883"/>
                  <a:gd name="T5" fmla="*/ 0 h 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83" h="882">
                    <a:moveTo>
                      <a:pt x="0" y="882"/>
                    </a:moveTo>
                    <a:lnTo>
                      <a:pt x="882" y="0"/>
                    </a:lnTo>
                    <a:lnTo>
                      <a:pt x="88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23" name="Freeform 923"/>
              <p:cNvSpPr>
                <a:spLocks/>
              </p:cNvSpPr>
              <p:nvPr/>
            </p:nvSpPr>
            <p:spPr bwMode="auto">
              <a:xfrm>
                <a:off x="3889" y="2118"/>
                <a:ext cx="94" cy="95"/>
              </a:xfrm>
              <a:custGeom>
                <a:avLst/>
                <a:gdLst>
                  <a:gd name="T0" fmla="*/ 0 w 568"/>
                  <a:gd name="T1" fmla="*/ 568 h 568"/>
                  <a:gd name="T2" fmla="*/ 567 w 568"/>
                  <a:gd name="T3" fmla="*/ 0 h 568"/>
                  <a:gd name="T4" fmla="*/ 568 w 568"/>
                  <a:gd name="T5" fmla="*/ 0 h 5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8" h="568">
                    <a:moveTo>
                      <a:pt x="0" y="568"/>
                    </a:moveTo>
                    <a:lnTo>
                      <a:pt x="567" y="0"/>
                    </a:lnTo>
                    <a:lnTo>
                      <a:pt x="56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24" name="Freeform 924"/>
              <p:cNvSpPr>
                <a:spLocks/>
              </p:cNvSpPr>
              <p:nvPr/>
            </p:nvSpPr>
            <p:spPr bwMode="auto">
              <a:xfrm>
                <a:off x="3711" y="2247"/>
                <a:ext cx="178" cy="178"/>
              </a:xfrm>
              <a:custGeom>
                <a:avLst/>
                <a:gdLst>
                  <a:gd name="T0" fmla="*/ 0 w 1063"/>
                  <a:gd name="T1" fmla="*/ 1063 h 1063"/>
                  <a:gd name="T2" fmla="*/ 1062 w 1063"/>
                  <a:gd name="T3" fmla="*/ 0 h 1063"/>
                  <a:gd name="T4" fmla="*/ 1063 w 1063"/>
                  <a:gd name="T5" fmla="*/ 0 h 1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63" h="1063">
                    <a:moveTo>
                      <a:pt x="0" y="1063"/>
                    </a:moveTo>
                    <a:lnTo>
                      <a:pt x="1062" y="0"/>
                    </a:lnTo>
                    <a:lnTo>
                      <a:pt x="106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25" name="Freeform 925"/>
              <p:cNvSpPr>
                <a:spLocks/>
              </p:cNvSpPr>
              <p:nvPr/>
            </p:nvSpPr>
            <p:spPr bwMode="auto">
              <a:xfrm>
                <a:off x="4025" y="2100"/>
                <a:ext cx="11" cy="11"/>
              </a:xfrm>
              <a:custGeom>
                <a:avLst/>
                <a:gdLst>
                  <a:gd name="T0" fmla="*/ 0 w 60"/>
                  <a:gd name="T1" fmla="*/ 60 h 60"/>
                  <a:gd name="T2" fmla="*/ 59 w 60"/>
                  <a:gd name="T3" fmla="*/ 0 h 60"/>
                  <a:gd name="T4" fmla="*/ 60 w 60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0" h="60">
                    <a:moveTo>
                      <a:pt x="0" y="60"/>
                    </a:moveTo>
                    <a:lnTo>
                      <a:pt x="59" y="0"/>
                    </a:lnTo>
                    <a:lnTo>
                      <a:pt x="6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26" name="Freeform 926"/>
              <p:cNvSpPr>
                <a:spLocks/>
              </p:cNvSpPr>
              <p:nvPr/>
            </p:nvSpPr>
            <p:spPr bwMode="auto">
              <a:xfrm>
                <a:off x="3889" y="2111"/>
                <a:ext cx="136" cy="136"/>
              </a:xfrm>
              <a:custGeom>
                <a:avLst/>
                <a:gdLst>
                  <a:gd name="T0" fmla="*/ 0 w 822"/>
                  <a:gd name="T1" fmla="*/ 821 h 821"/>
                  <a:gd name="T2" fmla="*/ 821 w 822"/>
                  <a:gd name="T3" fmla="*/ 0 h 821"/>
                  <a:gd name="T4" fmla="*/ 822 w 822"/>
                  <a:gd name="T5" fmla="*/ 0 h 8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2" h="821">
                    <a:moveTo>
                      <a:pt x="0" y="821"/>
                    </a:moveTo>
                    <a:lnTo>
                      <a:pt x="821" y="0"/>
                    </a:lnTo>
                    <a:lnTo>
                      <a:pt x="82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27" name="Freeform 927"/>
              <p:cNvSpPr>
                <a:spLocks/>
              </p:cNvSpPr>
              <p:nvPr/>
            </p:nvSpPr>
            <p:spPr bwMode="auto">
              <a:xfrm>
                <a:off x="3679" y="2281"/>
                <a:ext cx="210" cy="211"/>
              </a:xfrm>
              <a:custGeom>
                <a:avLst/>
                <a:gdLst>
                  <a:gd name="T0" fmla="*/ 0 w 1263"/>
                  <a:gd name="T1" fmla="*/ 1263 h 1263"/>
                  <a:gd name="T2" fmla="*/ 1262 w 1263"/>
                  <a:gd name="T3" fmla="*/ 0 h 1263"/>
                  <a:gd name="T4" fmla="*/ 1263 w 1263"/>
                  <a:gd name="T5" fmla="*/ 0 h 1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3" h="1263">
                    <a:moveTo>
                      <a:pt x="0" y="1263"/>
                    </a:moveTo>
                    <a:lnTo>
                      <a:pt x="1262" y="0"/>
                    </a:lnTo>
                    <a:lnTo>
                      <a:pt x="126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28" name="Freeform 928"/>
              <p:cNvSpPr>
                <a:spLocks/>
              </p:cNvSpPr>
              <p:nvPr/>
            </p:nvSpPr>
            <p:spPr bwMode="auto">
              <a:xfrm>
                <a:off x="4025" y="2117"/>
                <a:ext cx="27" cy="27"/>
              </a:xfrm>
              <a:custGeom>
                <a:avLst/>
                <a:gdLst>
                  <a:gd name="T0" fmla="*/ 0 w 162"/>
                  <a:gd name="T1" fmla="*/ 161 h 161"/>
                  <a:gd name="T2" fmla="*/ 161 w 162"/>
                  <a:gd name="T3" fmla="*/ 0 h 161"/>
                  <a:gd name="T4" fmla="*/ 162 w 162"/>
                  <a:gd name="T5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2" h="161">
                    <a:moveTo>
                      <a:pt x="0" y="161"/>
                    </a:moveTo>
                    <a:lnTo>
                      <a:pt x="161" y="0"/>
                    </a:lnTo>
                    <a:lnTo>
                      <a:pt x="16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29" name="Freeform 929"/>
              <p:cNvSpPr>
                <a:spLocks/>
              </p:cNvSpPr>
              <p:nvPr/>
            </p:nvSpPr>
            <p:spPr bwMode="auto">
              <a:xfrm>
                <a:off x="3889" y="2144"/>
                <a:ext cx="136" cy="137"/>
              </a:xfrm>
              <a:custGeom>
                <a:avLst/>
                <a:gdLst>
                  <a:gd name="T0" fmla="*/ 0 w 821"/>
                  <a:gd name="T1" fmla="*/ 821 h 821"/>
                  <a:gd name="T2" fmla="*/ 820 w 821"/>
                  <a:gd name="T3" fmla="*/ 0 h 821"/>
                  <a:gd name="T4" fmla="*/ 821 w 821"/>
                  <a:gd name="T5" fmla="*/ 0 h 8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1" h="821">
                    <a:moveTo>
                      <a:pt x="0" y="821"/>
                    </a:moveTo>
                    <a:lnTo>
                      <a:pt x="820" y="0"/>
                    </a:lnTo>
                    <a:lnTo>
                      <a:pt x="82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30" name="Freeform 930"/>
              <p:cNvSpPr>
                <a:spLocks/>
              </p:cNvSpPr>
              <p:nvPr/>
            </p:nvSpPr>
            <p:spPr bwMode="auto">
              <a:xfrm>
                <a:off x="3657" y="2315"/>
                <a:ext cx="232" cy="232"/>
              </a:xfrm>
              <a:custGeom>
                <a:avLst/>
                <a:gdLst>
                  <a:gd name="T0" fmla="*/ 0 w 1386"/>
                  <a:gd name="T1" fmla="*/ 1387 h 1387"/>
                  <a:gd name="T2" fmla="*/ 1385 w 1386"/>
                  <a:gd name="T3" fmla="*/ 0 h 1387"/>
                  <a:gd name="T4" fmla="*/ 1386 w 1386"/>
                  <a:gd name="T5" fmla="*/ 0 h 1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86" h="1387">
                    <a:moveTo>
                      <a:pt x="0" y="1387"/>
                    </a:moveTo>
                    <a:lnTo>
                      <a:pt x="1385" y="0"/>
                    </a:lnTo>
                    <a:lnTo>
                      <a:pt x="138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31" name="Freeform 931"/>
              <p:cNvSpPr>
                <a:spLocks/>
              </p:cNvSpPr>
              <p:nvPr/>
            </p:nvSpPr>
            <p:spPr bwMode="auto">
              <a:xfrm>
                <a:off x="4065" y="2134"/>
                <a:ext cx="4" cy="4"/>
              </a:xfrm>
              <a:custGeom>
                <a:avLst/>
                <a:gdLst>
                  <a:gd name="T0" fmla="*/ 0 w 22"/>
                  <a:gd name="T1" fmla="*/ 21 h 21"/>
                  <a:gd name="T2" fmla="*/ 21 w 22"/>
                  <a:gd name="T3" fmla="*/ 0 h 21"/>
                  <a:gd name="T4" fmla="*/ 22 w 22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" h="21">
                    <a:moveTo>
                      <a:pt x="0" y="21"/>
                    </a:moveTo>
                    <a:lnTo>
                      <a:pt x="21" y="0"/>
                    </a:lnTo>
                    <a:lnTo>
                      <a:pt x="2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32" name="Freeform 932"/>
              <p:cNvSpPr>
                <a:spLocks/>
              </p:cNvSpPr>
              <p:nvPr/>
            </p:nvSpPr>
            <p:spPr bwMode="auto">
              <a:xfrm>
                <a:off x="3889" y="2178"/>
                <a:ext cx="136" cy="137"/>
              </a:xfrm>
              <a:custGeom>
                <a:avLst/>
                <a:gdLst>
                  <a:gd name="T0" fmla="*/ 0 w 821"/>
                  <a:gd name="T1" fmla="*/ 819 h 819"/>
                  <a:gd name="T2" fmla="*/ 820 w 821"/>
                  <a:gd name="T3" fmla="*/ 0 h 819"/>
                  <a:gd name="T4" fmla="*/ 821 w 821"/>
                  <a:gd name="T5" fmla="*/ 0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1" h="819">
                    <a:moveTo>
                      <a:pt x="0" y="819"/>
                    </a:moveTo>
                    <a:lnTo>
                      <a:pt x="820" y="0"/>
                    </a:lnTo>
                    <a:lnTo>
                      <a:pt x="82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33" name="Freeform 933"/>
              <p:cNvSpPr>
                <a:spLocks/>
              </p:cNvSpPr>
              <p:nvPr/>
            </p:nvSpPr>
            <p:spPr bwMode="auto">
              <a:xfrm>
                <a:off x="4025" y="2138"/>
                <a:ext cx="40" cy="40"/>
              </a:xfrm>
              <a:custGeom>
                <a:avLst/>
                <a:gdLst>
                  <a:gd name="T0" fmla="*/ 0 w 244"/>
                  <a:gd name="T1" fmla="*/ 244 h 244"/>
                  <a:gd name="T2" fmla="*/ 243 w 244"/>
                  <a:gd name="T3" fmla="*/ 0 h 244"/>
                  <a:gd name="T4" fmla="*/ 244 w 244"/>
                  <a:gd name="T5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4" h="244">
                    <a:moveTo>
                      <a:pt x="0" y="244"/>
                    </a:moveTo>
                    <a:lnTo>
                      <a:pt x="243" y="0"/>
                    </a:lnTo>
                    <a:lnTo>
                      <a:pt x="24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34" name="Freeform 934"/>
              <p:cNvSpPr>
                <a:spLocks/>
              </p:cNvSpPr>
              <p:nvPr/>
            </p:nvSpPr>
            <p:spPr bwMode="auto">
              <a:xfrm>
                <a:off x="3645" y="2349"/>
                <a:ext cx="244" cy="243"/>
              </a:xfrm>
              <a:custGeom>
                <a:avLst/>
                <a:gdLst>
                  <a:gd name="T0" fmla="*/ 0 w 1458"/>
                  <a:gd name="T1" fmla="*/ 1458 h 1458"/>
                  <a:gd name="T2" fmla="*/ 1457 w 1458"/>
                  <a:gd name="T3" fmla="*/ 0 h 1458"/>
                  <a:gd name="T4" fmla="*/ 1458 w 1458"/>
                  <a:gd name="T5" fmla="*/ 0 h 1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58" h="1458">
                    <a:moveTo>
                      <a:pt x="0" y="1458"/>
                    </a:moveTo>
                    <a:lnTo>
                      <a:pt x="1457" y="0"/>
                    </a:lnTo>
                    <a:lnTo>
                      <a:pt x="145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35" name="Freeform 935"/>
              <p:cNvSpPr>
                <a:spLocks/>
              </p:cNvSpPr>
              <p:nvPr/>
            </p:nvSpPr>
            <p:spPr bwMode="auto">
              <a:xfrm>
                <a:off x="4077" y="2151"/>
                <a:ext cx="9" cy="8"/>
              </a:xfrm>
              <a:custGeom>
                <a:avLst/>
                <a:gdLst>
                  <a:gd name="T0" fmla="*/ 0 w 53"/>
                  <a:gd name="T1" fmla="*/ 52 h 52"/>
                  <a:gd name="T2" fmla="*/ 52 w 53"/>
                  <a:gd name="T3" fmla="*/ 0 h 52"/>
                  <a:gd name="T4" fmla="*/ 53 w 53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" h="52">
                    <a:moveTo>
                      <a:pt x="0" y="52"/>
                    </a:moveTo>
                    <a:lnTo>
                      <a:pt x="52" y="0"/>
                    </a:lnTo>
                    <a:lnTo>
                      <a:pt x="5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36" name="Freeform 936"/>
              <p:cNvSpPr>
                <a:spLocks/>
              </p:cNvSpPr>
              <p:nvPr/>
            </p:nvSpPr>
            <p:spPr bwMode="auto">
              <a:xfrm>
                <a:off x="3889" y="2212"/>
                <a:ext cx="136" cy="137"/>
              </a:xfrm>
              <a:custGeom>
                <a:avLst/>
                <a:gdLst>
                  <a:gd name="T0" fmla="*/ 0 w 820"/>
                  <a:gd name="T1" fmla="*/ 820 h 820"/>
                  <a:gd name="T2" fmla="*/ 819 w 820"/>
                  <a:gd name="T3" fmla="*/ 0 h 820"/>
                  <a:gd name="T4" fmla="*/ 820 w 820"/>
                  <a:gd name="T5" fmla="*/ 0 h 8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0" h="820">
                    <a:moveTo>
                      <a:pt x="0" y="820"/>
                    </a:moveTo>
                    <a:lnTo>
                      <a:pt x="819" y="0"/>
                    </a:lnTo>
                    <a:lnTo>
                      <a:pt x="8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37" name="Freeform 937"/>
              <p:cNvSpPr>
                <a:spLocks/>
              </p:cNvSpPr>
              <p:nvPr/>
            </p:nvSpPr>
            <p:spPr bwMode="auto">
              <a:xfrm>
                <a:off x="4025" y="2159"/>
                <a:ext cx="54" cy="52"/>
              </a:xfrm>
              <a:custGeom>
                <a:avLst/>
                <a:gdLst>
                  <a:gd name="T0" fmla="*/ 0 w 317"/>
                  <a:gd name="T1" fmla="*/ 316 h 316"/>
                  <a:gd name="T2" fmla="*/ 316 w 317"/>
                  <a:gd name="T3" fmla="*/ 0 h 316"/>
                  <a:gd name="T4" fmla="*/ 317 w 317"/>
                  <a:gd name="T5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7" h="316">
                    <a:moveTo>
                      <a:pt x="0" y="316"/>
                    </a:moveTo>
                    <a:lnTo>
                      <a:pt x="316" y="0"/>
                    </a:lnTo>
                    <a:lnTo>
                      <a:pt x="31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38" name="Freeform 938"/>
              <p:cNvSpPr>
                <a:spLocks/>
              </p:cNvSpPr>
              <p:nvPr/>
            </p:nvSpPr>
            <p:spPr bwMode="auto">
              <a:xfrm>
                <a:off x="3638" y="2383"/>
                <a:ext cx="251" cy="250"/>
              </a:xfrm>
              <a:custGeom>
                <a:avLst/>
                <a:gdLst>
                  <a:gd name="T0" fmla="*/ 0 w 1501"/>
                  <a:gd name="T1" fmla="*/ 1503 h 1503"/>
                  <a:gd name="T2" fmla="*/ 1500 w 1501"/>
                  <a:gd name="T3" fmla="*/ 0 h 1503"/>
                  <a:gd name="T4" fmla="*/ 1501 w 1501"/>
                  <a:gd name="T5" fmla="*/ 0 h 1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01" h="1503">
                    <a:moveTo>
                      <a:pt x="0" y="1503"/>
                    </a:moveTo>
                    <a:lnTo>
                      <a:pt x="1500" y="0"/>
                    </a:lnTo>
                    <a:lnTo>
                      <a:pt x="150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39" name="Freeform 939"/>
              <p:cNvSpPr>
                <a:spLocks/>
              </p:cNvSpPr>
              <p:nvPr/>
            </p:nvSpPr>
            <p:spPr bwMode="auto">
              <a:xfrm>
                <a:off x="4090" y="2168"/>
                <a:ext cx="13" cy="13"/>
              </a:xfrm>
              <a:custGeom>
                <a:avLst/>
                <a:gdLst>
                  <a:gd name="T0" fmla="*/ 0 w 82"/>
                  <a:gd name="T1" fmla="*/ 81 h 81"/>
                  <a:gd name="T2" fmla="*/ 81 w 82"/>
                  <a:gd name="T3" fmla="*/ 0 h 81"/>
                  <a:gd name="T4" fmla="*/ 82 w 82"/>
                  <a:gd name="T5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" h="81">
                    <a:moveTo>
                      <a:pt x="0" y="81"/>
                    </a:moveTo>
                    <a:lnTo>
                      <a:pt x="81" y="0"/>
                    </a:lnTo>
                    <a:lnTo>
                      <a:pt x="8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40" name="Freeform 940"/>
              <p:cNvSpPr>
                <a:spLocks/>
              </p:cNvSpPr>
              <p:nvPr/>
            </p:nvSpPr>
            <p:spPr bwMode="auto">
              <a:xfrm>
                <a:off x="3889" y="2245"/>
                <a:ext cx="136" cy="137"/>
              </a:xfrm>
              <a:custGeom>
                <a:avLst/>
                <a:gdLst>
                  <a:gd name="T0" fmla="*/ 0 w 820"/>
                  <a:gd name="T1" fmla="*/ 819 h 819"/>
                  <a:gd name="T2" fmla="*/ 819 w 820"/>
                  <a:gd name="T3" fmla="*/ 0 h 819"/>
                  <a:gd name="T4" fmla="*/ 820 w 820"/>
                  <a:gd name="T5" fmla="*/ 0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0" h="819">
                    <a:moveTo>
                      <a:pt x="0" y="819"/>
                    </a:moveTo>
                    <a:lnTo>
                      <a:pt x="819" y="0"/>
                    </a:lnTo>
                    <a:lnTo>
                      <a:pt x="8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41" name="Freeform 941"/>
              <p:cNvSpPr>
                <a:spLocks/>
              </p:cNvSpPr>
              <p:nvPr/>
            </p:nvSpPr>
            <p:spPr bwMode="auto">
              <a:xfrm>
                <a:off x="4025" y="2180"/>
                <a:ext cx="65" cy="65"/>
              </a:xfrm>
              <a:custGeom>
                <a:avLst/>
                <a:gdLst>
                  <a:gd name="T0" fmla="*/ 0 w 390"/>
                  <a:gd name="T1" fmla="*/ 390 h 390"/>
                  <a:gd name="T2" fmla="*/ 389 w 390"/>
                  <a:gd name="T3" fmla="*/ 0 h 390"/>
                  <a:gd name="T4" fmla="*/ 390 w 390"/>
                  <a:gd name="T5" fmla="*/ 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0" h="390">
                    <a:moveTo>
                      <a:pt x="0" y="390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42" name="Freeform 942"/>
              <p:cNvSpPr>
                <a:spLocks/>
              </p:cNvSpPr>
              <p:nvPr/>
            </p:nvSpPr>
            <p:spPr bwMode="auto">
              <a:xfrm>
                <a:off x="3633" y="2417"/>
                <a:ext cx="256" cy="257"/>
              </a:xfrm>
              <a:custGeom>
                <a:avLst/>
                <a:gdLst>
                  <a:gd name="T0" fmla="*/ 0 w 1530"/>
                  <a:gd name="T1" fmla="*/ 1531 h 1531"/>
                  <a:gd name="T2" fmla="*/ 1529 w 1530"/>
                  <a:gd name="T3" fmla="*/ 0 h 1531"/>
                  <a:gd name="T4" fmla="*/ 1530 w 1530"/>
                  <a:gd name="T5" fmla="*/ 0 h 15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0" h="1531">
                    <a:moveTo>
                      <a:pt x="0" y="1531"/>
                    </a:moveTo>
                    <a:lnTo>
                      <a:pt x="1529" y="0"/>
                    </a:lnTo>
                    <a:lnTo>
                      <a:pt x="153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43" name="Freeform 943"/>
              <p:cNvSpPr>
                <a:spLocks/>
              </p:cNvSpPr>
              <p:nvPr/>
            </p:nvSpPr>
            <p:spPr bwMode="auto">
              <a:xfrm>
                <a:off x="4102" y="2185"/>
                <a:ext cx="20" cy="18"/>
              </a:xfrm>
              <a:custGeom>
                <a:avLst/>
                <a:gdLst>
                  <a:gd name="T0" fmla="*/ 0 w 112"/>
                  <a:gd name="T1" fmla="*/ 111 h 111"/>
                  <a:gd name="T2" fmla="*/ 111 w 112"/>
                  <a:gd name="T3" fmla="*/ 0 h 111"/>
                  <a:gd name="T4" fmla="*/ 112 w 112"/>
                  <a:gd name="T5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" h="111">
                    <a:moveTo>
                      <a:pt x="0" y="111"/>
                    </a:moveTo>
                    <a:lnTo>
                      <a:pt x="111" y="0"/>
                    </a:lnTo>
                    <a:lnTo>
                      <a:pt x="11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44" name="Freeform 944"/>
              <p:cNvSpPr>
                <a:spLocks/>
              </p:cNvSpPr>
              <p:nvPr/>
            </p:nvSpPr>
            <p:spPr bwMode="auto">
              <a:xfrm>
                <a:off x="3889" y="2279"/>
                <a:ext cx="136" cy="137"/>
              </a:xfrm>
              <a:custGeom>
                <a:avLst/>
                <a:gdLst>
                  <a:gd name="T0" fmla="*/ 0 w 820"/>
                  <a:gd name="T1" fmla="*/ 818 h 818"/>
                  <a:gd name="T2" fmla="*/ 819 w 820"/>
                  <a:gd name="T3" fmla="*/ 0 h 818"/>
                  <a:gd name="T4" fmla="*/ 820 w 820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0" h="818">
                    <a:moveTo>
                      <a:pt x="0" y="818"/>
                    </a:moveTo>
                    <a:lnTo>
                      <a:pt x="819" y="0"/>
                    </a:lnTo>
                    <a:lnTo>
                      <a:pt x="8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45" name="Freeform 945"/>
              <p:cNvSpPr>
                <a:spLocks/>
              </p:cNvSpPr>
              <p:nvPr/>
            </p:nvSpPr>
            <p:spPr bwMode="auto">
              <a:xfrm>
                <a:off x="4025" y="2203"/>
                <a:ext cx="77" cy="76"/>
              </a:xfrm>
              <a:custGeom>
                <a:avLst/>
                <a:gdLst>
                  <a:gd name="T0" fmla="*/ 0 w 462"/>
                  <a:gd name="T1" fmla="*/ 463 h 463"/>
                  <a:gd name="T2" fmla="*/ 461 w 462"/>
                  <a:gd name="T3" fmla="*/ 0 h 463"/>
                  <a:gd name="T4" fmla="*/ 462 w 462"/>
                  <a:gd name="T5" fmla="*/ 0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2" h="463">
                    <a:moveTo>
                      <a:pt x="0" y="463"/>
                    </a:moveTo>
                    <a:lnTo>
                      <a:pt x="461" y="0"/>
                    </a:lnTo>
                    <a:lnTo>
                      <a:pt x="46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46" name="Freeform 946"/>
              <p:cNvSpPr>
                <a:spLocks/>
              </p:cNvSpPr>
              <p:nvPr/>
            </p:nvSpPr>
            <p:spPr bwMode="auto">
              <a:xfrm>
                <a:off x="3630" y="2450"/>
                <a:ext cx="259" cy="259"/>
              </a:xfrm>
              <a:custGeom>
                <a:avLst/>
                <a:gdLst>
                  <a:gd name="T0" fmla="*/ 0 w 1551"/>
                  <a:gd name="T1" fmla="*/ 1552 h 1552"/>
                  <a:gd name="T2" fmla="*/ 1550 w 1551"/>
                  <a:gd name="T3" fmla="*/ 0 h 1552"/>
                  <a:gd name="T4" fmla="*/ 1551 w 1551"/>
                  <a:gd name="T5" fmla="*/ 0 h 1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51" h="1552">
                    <a:moveTo>
                      <a:pt x="0" y="1552"/>
                    </a:moveTo>
                    <a:lnTo>
                      <a:pt x="1550" y="0"/>
                    </a:lnTo>
                    <a:lnTo>
                      <a:pt x="155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47" name="Freeform 947"/>
              <p:cNvSpPr>
                <a:spLocks/>
              </p:cNvSpPr>
              <p:nvPr/>
            </p:nvSpPr>
            <p:spPr bwMode="auto">
              <a:xfrm>
                <a:off x="4114" y="2202"/>
                <a:ext cx="23" cy="23"/>
              </a:xfrm>
              <a:custGeom>
                <a:avLst/>
                <a:gdLst>
                  <a:gd name="T0" fmla="*/ 0 w 139"/>
                  <a:gd name="T1" fmla="*/ 139 h 139"/>
                  <a:gd name="T2" fmla="*/ 138 w 139"/>
                  <a:gd name="T3" fmla="*/ 0 h 139"/>
                  <a:gd name="T4" fmla="*/ 139 w 139"/>
                  <a:gd name="T5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9" h="139">
                    <a:moveTo>
                      <a:pt x="0" y="139"/>
                    </a:moveTo>
                    <a:lnTo>
                      <a:pt x="138" y="0"/>
                    </a:lnTo>
                    <a:lnTo>
                      <a:pt x="13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48" name="Freeform 948"/>
              <p:cNvSpPr>
                <a:spLocks/>
              </p:cNvSpPr>
              <p:nvPr/>
            </p:nvSpPr>
            <p:spPr bwMode="auto">
              <a:xfrm>
                <a:off x="3889" y="2313"/>
                <a:ext cx="136" cy="137"/>
              </a:xfrm>
              <a:custGeom>
                <a:avLst/>
                <a:gdLst>
                  <a:gd name="T0" fmla="*/ 0 w 819"/>
                  <a:gd name="T1" fmla="*/ 817 h 817"/>
                  <a:gd name="T2" fmla="*/ 818 w 819"/>
                  <a:gd name="T3" fmla="*/ 0 h 817"/>
                  <a:gd name="T4" fmla="*/ 819 w 819"/>
                  <a:gd name="T5" fmla="*/ 0 h 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7">
                    <a:moveTo>
                      <a:pt x="0" y="817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49" name="Freeform 949"/>
              <p:cNvSpPr>
                <a:spLocks/>
              </p:cNvSpPr>
              <p:nvPr/>
            </p:nvSpPr>
            <p:spPr bwMode="auto">
              <a:xfrm>
                <a:off x="4025" y="2224"/>
                <a:ext cx="89" cy="89"/>
              </a:xfrm>
              <a:custGeom>
                <a:avLst/>
                <a:gdLst>
                  <a:gd name="T0" fmla="*/ 0 w 536"/>
                  <a:gd name="T1" fmla="*/ 536 h 536"/>
                  <a:gd name="T2" fmla="*/ 535 w 536"/>
                  <a:gd name="T3" fmla="*/ 0 h 536"/>
                  <a:gd name="T4" fmla="*/ 536 w 536"/>
                  <a:gd name="T5" fmla="*/ 0 h 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6" h="536">
                    <a:moveTo>
                      <a:pt x="0" y="536"/>
                    </a:moveTo>
                    <a:lnTo>
                      <a:pt x="535" y="0"/>
                    </a:lnTo>
                    <a:lnTo>
                      <a:pt x="53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50" name="Freeform 950"/>
              <p:cNvSpPr>
                <a:spLocks/>
              </p:cNvSpPr>
              <p:nvPr/>
            </p:nvSpPr>
            <p:spPr bwMode="auto">
              <a:xfrm>
                <a:off x="3636" y="2736"/>
                <a:ext cx="4" cy="3"/>
              </a:xfrm>
              <a:custGeom>
                <a:avLst/>
                <a:gdLst>
                  <a:gd name="T0" fmla="*/ 0 w 20"/>
                  <a:gd name="T1" fmla="*/ 19 h 19"/>
                  <a:gd name="T2" fmla="*/ 18 w 20"/>
                  <a:gd name="T3" fmla="*/ 0 h 19"/>
                  <a:gd name="T4" fmla="*/ 20 w 20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" h="19">
                    <a:moveTo>
                      <a:pt x="0" y="19"/>
                    </a:moveTo>
                    <a:lnTo>
                      <a:pt x="18" y="0"/>
                    </a:lnTo>
                    <a:lnTo>
                      <a:pt x="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51" name="Freeform 951"/>
              <p:cNvSpPr>
                <a:spLocks/>
              </p:cNvSpPr>
              <p:nvPr/>
            </p:nvSpPr>
            <p:spPr bwMode="auto">
              <a:xfrm>
                <a:off x="4126" y="2220"/>
                <a:ext cx="27" cy="27"/>
              </a:xfrm>
              <a:custGeom>
                <a:avLst/>
                <a:gdLst>
                  <a:gd name="T0" fmla="*/ 0 w 161"/>
                  <a:gd name="T1" fmla="*/ 160 h 160"/>
                  <a:gd name="T2" fmla="*/ 160 w 161"/>
                  <a:gd name="T3" fmla="*/ 0 h 160"/>
                  <a:gd name="T4" fmla="*/ 161 w 16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1" h="160">
                    <a:moveTo>
                      <a:pt x="0" y="160"/>
                    </a:moveTo>
                    <a:lnTo>
                      <a:pt x="160" y="0"/>
                    </a:lnTo>
                    <a:lnTo>
                      <a:pt x="16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52" name="Freeform 952"/>
              <p:cNvSpPr>
                <a:spLocks/>
              </p:cNvSpPr>
              <p:nvPr/>
            </p:nvSpPr>
            <p:spPr bwMode="auto">
              <a:xfrm>
                <a:off x="3638" y="2486"/>
                <a:ext cx="251" cy="250"/>
              </a:xfrm>
              <a:custGeom>
                <a:avLst/>
                <a:gdLst>
                  <a:gd name="T0" fmla="*/ 0 w 1504"/>
                  <a:gd name="T1" fmla="*/ 1503 h 1503"/>
                  <a:gd name="T2" fmla="*/ 1503 w 1504"/>
                  <a:gd name="T3" fmla="*/ 0 h 1503"/>
                  <a:gd name="T4" fmla="*/ 1504 w 1504"/>
                  <a:gd name="T5" fmla="*/ 0 h 1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04" h="1503">
                    <a:moveTo>
                      <a:pt x="0" y="1503"/>
                    </a:moveTo>
                    <a:lnTo>
                      <a:pt x="1503" y="0"/>
                    </a:lnTo>
                    <a:lnTo>
                      <a:pt x="150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53" name="Freeform 953"/>
              <p:cNvSpPr>
                <a:spLocks/>
              </p:cNvSpPr>
              <p:nvPr/>
            </p:nvSpPr>
            <p:spPr bwMode="auto">
              <a:xfrm>
                <a:off x="4025" y="2247"/>
                <a:ext cx="101" cy="102"/>
              </a:xfrm>
              <a:custGeom>
                <a:avLst/>
                <a:gdLst>
                  <a:gd name="T0" fmla="*/ 0 w 608"/>
                  <a:gd name="T1" fmla="*/ 608 h 608"/>
                  <a:gd name="T2" fmla="*/ 607 w 608"/>
                  <a:gd name="T3" fmla="*/ 0 h 608"/>
                  <a:gd name="T4" fmla="*/ 608 w 608"/>
                  <a:gd name="T5" fmla="*/ 0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08" h="608">
                    <a:moveTo>
                      <a:pt x="0" y="608"/>
                    </a:moveTo>
                    <a:lnTo>
                      <a:pt x="607" y="0"/>
                    </a:lnTo>
                    <a:lnTo>
                      <a:pt x="60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54" name="Freeform 954"/>
              <p:cNvSpPr>
                <a:spLocks/>
              </p:cNvSpPr>
              <p:nvPr/>
            </p:nvSpPr>
            <p:spPr bwMode="auto">
              <a:xfrm>
                <a:off x="3889" y="2349"/>
                <a:ext cx="136" cy="137"/>
              </a:xfrm>
              <a:custGeom>
                <a:avLst/>
                <a:gdLst>
                  <a:gd name="T0" fmla="*/ 0 w 819"/>
                  <a:gd name="T1" fmla="*/ 819 h 819"/>
                  <a:gd name="T2" fmla="*/ 818 w 819"/>
                  <a:gd name="T3" fmla="*/ 0 h 819"/>
                  <a:gd name="T4" fmla="*/ 819 w 819"/>
                  <a:gd name="T5" fmla="*/ 0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9">
                    <a:moveTo>
                      <a:pt x="0" y="819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55" name="Freeform 955"/>
              <p:cNvSpPr>
                <a:spLocks/>
              </p:cNvSpPr>
              <p:nvPr/>
            </p:nvSpPr>
            <p:spPr bwMode="auto">
              <a:xfrm>
                <a:off x="3661" y="2732"/>
                <a:ext cx="13" cy="14"/>
              </a:xfrm>
              <a:custGeom>
                <a:avLst/>
                <a:gdLst>
                  <a:gd name="T0" fmla="*/ 0 w 89"/>
                  <a:gd name="T1" fmla="*/ 88 h 88"/>
                  <a:gd name="T2" fmla="*/ 88 w 89"/>
                  <a:gd name="T3" fmla="*/ 0 h 88"/>
                  <a:gd name="T4" fmla="*/ 89 w 89"/>
                  <a:gd name="T5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9" h="88">
                    <a:moveTo>
                      <a:pt x="0" y="88"/>
                    </a:moveTo>
                    <a:lnTo>
                      <a:pt x="88" y="0"/>
                    </a:lnTo>
                    <a:lnTo>
                      <a:pt x="8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56" name="Freeform 956"/>
              <p:cNvSpPr>
                <a:spLocks/>
              </p:cNvSpPr>
              <p:nvPr/>
            </p:nvSpPr>
            <p:spPr bwMode="auto">
              <a:xfrm>
                <a:off x="4138" y="2240"/>
                <a:ext cx="30" cy="30"/>
              </a:xfrm>
              <a:custGeom>
                <a:avLst/>
                <a:gdLst>
                  <a:gd name="T0" fmla="*/ 0 w 174"/>
                  <a:gd name="T1" fmla="*/ 172 h 172"/>
                  <a:gd name="T2" fmla="*/ 172 w 174"/>
                  <a:gd name="T3" fmla="*/ 0 h 172"/>
                  <a:gd name="T4" fmla="*/ 174 w 174"/>
                  <a:gd name="T5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4" h="172">
                    <a:moveTo>
                      <a:pt x="0" y="172"/>
                    </a:moveTo>
                    <a:lnTo>
                      <a:pt x="172" y="0"/>
                    </a:lnTo>
                    <a:lnTo>
                      <a:pt x="17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57" name="Freeform 957"/>
              <p:cNvSpPr>
                <a:spLocks/>
              </p:cNvSpPr>
              <p:nvPr/>
            </p:nvSpPr>
            <p:spPr bwMode="auto">
              <a:xfrm>
                <a:off x="3675" y="2518"/>
                <a:ext cx="214" cy="213"/>
              </a:xfrm>
              <a:custGeom>
                <a:avLst/>
                <a:gdLst>
                  <a:gd name="T0" fmla="*/ 0 w 1278"/>
                  <a:gd name="T1" fmla="*/ 1278 h 1278"/>
                  <a:gd name="T2" fmla="*/ 1277 w 1278"/>
                  <a:gd name="T3" fmla="*/ 0 h 1278"/>
                  <a:gd name="T4" fmla="*/ 1278 w 1278"/>
                  <a:gd name="T5" fmla="*/ 0 h 1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78" h="1278">
                    <a:moveTo>
                      <a:pt x="0" y="1278"/>
                    </a:moveTo>
                    <a:lnTo>
                      <a:pt x="1277" y="0"/>
                    </a:lnTo>
                    <a:lnTo>
                      <a:pt x="127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58" name="Freeform 958"/>
              <p:cNvSpPr>
                <a:spLocks/>
              </p:cNvSpPr>
              <p:nvPr/>
            </p:nvSpPr>
            <p:spPr bwMode="auto">
              <a:xfrm>
                <a:off x="4025" y="2269"/>
                <a:ext cx="113" cy="113"/>
              </a:xfrm>
              <a:custGeom>
                <a:avLst/>
                <a:gdLst>
                  <a:gd name="T0" fmla="*/ 0 w 683"/>
                  <a:gd name="T1" fmla="*/ 682 h 682"/>
                  <a:gd name="T2" fmla="*/ 682 w 683"/>
                  <a:gd name="T3" fmla="*/ 0 h 682"/>
                  <a:gd name="T4" fmla="*/ 683 w 683"/>
                  <a:gd name="T5" fmla="*/ 0 h 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3" h="682">
                    <a:moveTo>
                      <a:pt x="0" y="682"/>
                    </a:moveTo>
                    <a:lnTo>
                      <a:pt x="682" y="0"/>
                    </a:lnTo>
                    <a:lnTo>
                      <a:pt x="68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59" name="Freeform 959"/>
              <p:cNvSpPr>
                <a:spLocks/>
              </p:cNvSpPr>
              <p:nvPr/>
            </p:nvSpPr>
            <p:spPr bwMode="auto">
              <a:xfrm>
                <a:off x="3889" y="2383"/>
                <a:ext cx="136" cy="137"/>
              </a:xfrm>
              <a:custGeom>
                <a:avLst/>
                <a:gdLst>
                  <a:gd name="T0" fmla="*/ 0 w 818"/>
                  <a:gd name="T1" fmla="*/ 818 h 818"/>
                  <a:gd name="T2" fmla="*/ 816 w 818"/>
                  <a:gd name="T3" fmla="*/ 0 h 818"/>
                  <a:gd name="T4" fmla="*/ 818 w 818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8">
                    <a:moveTo>
                      <a:pt x="0" y="818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60" name="Freeform 960"/>
              <p:cNvSpPr>
                <a:spLocks/>
              </p:cNvSpPr>
              <p:nvPr/>
            </p:nvSpPr>
            <p:spPr bwMode="auto">
              <a:xfrm>
                <a:off x="3687" y="2729"/>
                <a:ext cx="27" cy="25"/>
              </a:xfrm>
              <a:custGeom>
                <a:avLst/>
                <a:gdLst>
                  <a:gd name="T0" fmla="*/ 0 w 153"/>
                  <a:gd name="T1" fmla="*/ 151 h 151"/>
                  <a:gd name="T2" fmla="*/ 152 w 153"/>
                  <a:gd name="T3" fmla="*/ 0 h 151"/>
                  <a:gd name="T4" fmla="*/ 153 w 153"/>
                  <a:gd name="T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" h="151">
                    <a:moveTo>
                      <a:pt x="0" y="151"/>
                    </a:moveTo>
                    <a:lnTo>
                      <a:pt x="152" y="0"/>
                    </a:lnTo>
                    <a:lnTo>
                      <a:pt x="15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61" name="Freeform 961"/>
              <p:cNvSpPr>
                <a:spLocks/>
              </p:cNvSpPr>
              <p:nvPr/>
            </p:nvSpPr>
            <p:spPr bwMode="auto">
              <a:xfrm>
                <a:off x="4150" y="2260"/>
                <a:ext cx="30" cy="31"/>
              </a:xfrm>
              <a:custGeom>
                <a:avLst/>
                <a:gdLst>
                  <a:gd name="T0" fmla="*/ 0 w 180"/>
                  <a:gd name="T1" fmla="*/ 180 h 180"/>
                  <a:gd name="T2" fmla="*/ 179 w 180"/>
                  <a:gd name="T3" fmla="*/ 0 h 180"/>
                  <a:gd name="T4" fmla="*/ 180 w 180"/>
                  <a:gd name="T5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0" h="180">
                    <a:moveTo>
                      <a:pt x="0" y="180"/>
                    </a:moveTo>
                    <a:lnTo>
                      <a:pt x="179" y="0"/>
                    </a:lnTo>
                    <a:lnTo>
                      <a:pt x="18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62" name="Freeform 962"/>
              <p:cNvSpPr>
                <a:spLocks/>
              </p:cNvSpPr>
              <p:nvPr/>
            </p:nvSpPr>
            <p:spPr bwMode="auto">
              <a:xfrm>
                <a:off x="3712" y="2552"/>
                <a:ext cx="176" cy="177"/>
              </a:xfrm>
              <a:custGeom>
                <a:avLst/>
                <a:gdLst>
                  <a:gd name="T0" fmla="*/ 0 w 1058"/>
                  <a:gd name="T1" fmla="*/ 1058 h 1058"/>
                  <a:gd name="T2" fmla="*/ 1057 w 1058"/>
                  <a:gd name="T3" fmla="*/ 0 h 1058"/>
                  <a:gd name="T4" fmla="*/ 1058 w 1058"/>
                  <a:gd name="T5" fmla="*/ 0 h 10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58" h="1058">
                    <a:moveTo>
                      <a:pt x="0" y="1058"/>
                    </a:moveTo>
                    <a:lnTo>
                      <a:pt x="1057" y="0"/>
                    </a:lnTo>
                    <a:lnTo>
                      <a:pt x="105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63" name="Freeform 963"/>
              <p:cNvSpPr>
                <a:spLocks/>
              </p:cNvSpPr>
              <p:nvPr/>
            </p:nvSpPr>
            <p:spPr bwMode="auto">
              <a:xfrm>
                <a:off x="4025" y="2291"/>
                <a:ext cx="125" cy="126"/>
              </a:xfrm>
              <a:custGeom>
                <a:avLst/>
                <a:gdLst>
                  <a:gd name="T0" fmla="*/ 0 w 757"/>
                  <a:gd name="T1" fmla="*/ 755 h 755"/>
                  <a:gd name="T2" fmla="*/ 756 w 757"/>
                  <a:gd name="T3" fmla="*/ 0 h 755"/>
                  <a:gd name="T4" fmla="*/ 757 w 757"/>
                  <a:gd name="T5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7" h="755">
                    <a:moveTo>
                      <a:pt x="0" y="755"/>
                    </a:moveTo>
                    <a:lnTo>
                      <a:pt x="756" y="0"/>
                    </a:lnTo>
                    <a:lnTo>
                      <a:pt x="75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64" name="Freeform 964"/>
              <p:cNvSpPr>
                <a:spLocks/>
              </p:cNvSpPr>
              <p:nvPr/>
            </p:nvSpPr>
            <p:spPr bwMode="auto">
              <a:xfrm>
                <a:off x="3889" y="2417"/>
                <a:ext cx="136" cy="137"/>
              </a:xfrm>
              <a:custGeom>
                <a:avLst/>
                <a:gdLst>
                  <a:gd name="T0" fmla="*/ 0 w 818"/>
                  <a:gd name="T1" fmla="*/ 817 h 817"/>
                  <a:gd name="T2" fmla="*/ 816 w 818"/>
                  <a:gd name="T3" fmla="*/ 0 h 817"/>
                  <a:gd name="T4" fmla="*/ 818 w 818"/>
                  <a:gd name="T5" fmla="*/ 0 h 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7">
                    <a:moveTo>
                      <a:pt x="0" y="817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65" name="Freeform 965"/>
              <p:cNvSpPr>
                <a:spLocks/>
              </p:cNvSpPr>
              <p:nvPr/>
            </p:nvSpPr>
            <p:spPr bwMode="auto">
              <a:xfrm>
                <a:off x="3714" y="2727"/>
                <a:ext cx="35" cy="35"/>
              </a:xfrm>
              <a:custGeom>
                <a:avLst/>
                <a:gdLst>
                  <a:gd name="T0" fmla="*/ 0 w 211"/>
                  <a:gd name="T1" fmla="*/ 211 h 211"/>
                  <a:gd name="T2" fmla="*/ 210 w 211"/>
                  <a:gd name="T3" fmla="*/ 0 h 211"/>
                  <a:gd name="T4" fmla="*/ 211 w 211"/>
                  <a:gd name="T5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1" h="211">
                    <a:moveTo>
                      <a:pt x="0" y="211"/>
                    </a:moveTo>
                    <a:lnTo>
                      <a:pt x="210" y="0"/>
                    </a:lnTo>
                    <a:lnTo>
                      <a:pt x="21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66" name="Freeform 966"/>
              <p:cNvSpPr>
                <a:spLocks/>
              </p:cNvSpPr>
              <p:nvPr/>
            </p:nvSpPr>
            <p:spPr bwMode="auto">
              <a:xfrm>
                <a:off x="4162" y="2282"/>
                <a:ext cx="31" cy="30"/>
              </a:xfrm>
              <a:custGeom>
                <a:avLst/>
                <a:gdLst>
                  <a:gd name="T0" fmla="*/ 0 w 182"/>
                  <a:gd name="T1" fmla="*/ 182 h 182"/>
                  <a:gd name="T2" fmla="*/ 181 w 182"/>
                  <a:gd name="T3" fmla="*/ 0 h 182"/>
                  <a:gd name="T4" fmla="*/ 182 w 182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2">
                    <a:moveTo>
                      <a:pt x="0" y="182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67" name="Freeform 967"/>
              <p:cNvSpPr>
                <a:spLocks/>
              </p:cNvSpPr>
              <p:nvPr/>
            </p:nvSpPr>
            <p:spPr bwMode="auto">
              <a:xfrm>
                <a:off x="3749" y="2586"/>
                <a:ext cx="140" cy="141"/>
              </a:xfrm>
              <a:custGeom>
                <a:avLst/>
                <a:gdLst>
                  <a:gd name="T0" fmla="*/ 0 w 843"/>
                  <a:gd name="T1" fmla="*/ 843 h 843"/>
                  <a:gd name="T2" fmla="*/ 842 w 843"/>
                  <a:gd name="T3" fmla="*/ 0 h 843"/>
                  <a:gd name="T4" fmla="*/ 843 w 843"/>
                  <a:gd name="T5" fmla="*/ 0 h 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3" h="843">
                    <a:moveTo>
                      <a:pt x="0" y="843"/>
                    </a:moveTo>
                    <a:lnTo>
                      <a:pt x="842" y="0"/>
                    </a:lnTo>
                    <a:lnTo>
                      <a:pt x="84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68" name="Freeform 968"/>
              <p:cNvSpPr>
                <a:spLocks/>
              </p:cNvSpPr>
              <p:nvPr/>
            </p:nvSpPr>
            <p:spPr bwMode="auto">
              <a:xfrm>
                <a:off x="4025" y="2312"/>
                <a:ext cx="137" cy="139"/>
              </a:xfrm>
              <a:custGeom>
                <a:avLst/>
                <a:gdLst>
                  <a:gd name="T0" fmla="*/ 0 w 830"/>
                  <a:gd name="T1" fmla="*/ 829 h 829"/>
                  <a:gd name="T2" fmla="*/ 829 w 830"/>
                  <a:gd name="T3" fmla="*/ 0 h 829"/>
                  <a:gd name="T4" fmla="*/ 830 w 830"/>
                  <a:gd name="T5" fmla="*/ 0 h 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0" h="829">
                    <a:moveTo>
                      <a:pt x="0" y="829"/>
                    </a:moveTo>
                    <a:lnTo>
                      <a:pt x="829" y="0"/>
                    </a:lnTo>
                    <a:lnTo>
                      <a:pt x="83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69" name="Freeform 969"/>
              <p:cNvSpPr>
                <a:spLocks/>
              </p:cNvSpPr>
              <p:nvPr/>
            </p:nvSpPr>
            <p:spPr bwMode="auto">
              <a:xfrm>
                <a:off x="3889" y="2450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70" name="Freeform 970"/>
              <p:cNvSpPr>
                <a:spLocks/>
              </p:cNvSpPr>
              <p:nvPr/>
            </p:nvSpPr>
            <p:spPr bwMode="auto">
              <a:xfrm>
                <a:off x="3739" y="2725"/>
                <a:ext cx="44" cy="45"/>
              </a:xfrm>
              <a:custGeom>
                <a:avLst/>
                <a:gdLst>
                  <a:gd name="T0" fmla="*/ 0 w 267"/>
                  <a:gd name="T1" fmla="*/ 266 h 266"/>
                  <a:gd name="T2" fmla="*/ 266 w 267"/>
                  <a:gd name="T3" fmla="*/ 0 h 266"/>
                  <a:gd name="T4" fmla="*/ 267 w 267"/>
                  <a:gd name="T5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7" h="266">
                    <a:moveTo>
                      <a:pt x="0" y="266"/>
                    </a:moveTo>
                    <a:lnTo>
                      <a:pt x="266" y="0"/>
                    </a:lnTo>
                    <a:lnTo>
                      <a:pt x="2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71" name="Freeform 971"/>
              <p:cNvSpPr>
                <a:spLocks/>
              </p:cNvSpPr>
              <p:nvPr/>
            </p:nvSpPr>
            <p:spPr bwMode="auto">
              <a:xfrm>
                <a:off x="4174" y="2303"/>
                <a:ext cx="31" cy="31"/>
              </a:xfrm>
              <a:custGeom>
                <a:avLst/>
                <a:gdLst>
                  <a:gd name="T0" fmla="*/ 0 w 182"/>
                  <a:gd name="T1" fmla="*/ 181 h 181"/>
                  <a:gd name="T2" fmla="*/ 181 w 182"/>
                  <a:gd name="T3" fmla="*/ 0 h 181"/>
                  <a:gd name="T4" fmla="*/ 182 w 182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1">
                    <a:moveTo>
                      <a:pt x="0" y="181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72" name="Freeform 972"/>
              <p:cNvSpPr>
                <a:spLocks/>
              </p:cNvSpPr>
              <p:nvPr/>
            </p:nvSpPr>
            <p:spPr bwMode="auto">
              <a:xfrm>
                <a:off x="3784" y="2620"/>
                <a:ext cx="105" cy="105"/>
              </a:xfrm>
              <a:custGeom>
                <a:avLst/>
                <a:gdLst>
                  <a:gd name="T0" fmla="*/ 0 w 631"/>
                  <a:gd name="T1" fmla="*/ 631 h 631"/>
                  <a:gd name="T2" fmla="*/ 630 w 631"/>
                  <a:gd name="T3" fmla="*/ 0 h 631"/>
                  <a:gd name="T4" fmla="*/ 631 w 631"/>
                  <a:gd name="T5" fmla="*/ 0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1" h="631">
                    <a:moveTo>
                      <a:pt x="0" y="631"/>
                    </a:moveTo>
                    <a:lnTo>
                      <a:pt x="630" y="0"/>
                    </a:lnTo>
                    <a:lnTo>
                      <a:pt x="63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73" name="Freeform 973"/>
              <p:cNvSpPr>
                <a:spLocks/>
              </p:cNvSpPr>
              <p:nvPr/>
            </p:nvSpPr>
            <p:spPr bwMode="auto">
              <a:xfrm>
                <a:off x="4025" y="2335"/>
                <a:ext cx="149" cy="151"/>
              </a:xfrm>
              <a:custGeom>
                <a:avLst/>
                <a:gdLst>
                  <a:gd name="T0" fmla="*/ 0 w 903"/>
                  <a:gd name="T1" fmla="*/ 902 h 902"/>
                  <a:gd name="T2" fmla="*/ 902 w 903"/>
                  <a:gd name="T3" fmla="*/ 0 h 902"/>
                  <a:gd name="T4" fmla="*/ 903 w 903"/>
                  <a:gd name="T5" fmla="*/ 0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3" h="902">
                    <a:moveTo>
                      <a:pt x="0" y="902"/>
                    </a:moveTo>
                    <a:lnTo>
                      <a:pt x="902" y="0"/>
                    </a:lnTo>
                    <a:lnTo>
                      <a:pt x="90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74" name="Freeform 974"/>
              <p:cNvSpPr>
                <a:spLocks/>
              </p:cNvSpPr>
              <p:nvPr/>
            </p:nvSpPr>
            <p:spPr bwMode="auto">
              <a:xfrm>
                <a:off x="3889" y="2484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75" name="Freeform 975"/>
              <p:cNvSpPr>
                <a:spLocks/>
              </p:cNvSpPr>
              <p:nvPr/>
            </p:nvSpPr>
            <p:spPr bwMode="auto">
              <a:xfrm>
                <a:off x="3765" y="2725"/>
                <a:ext cx="54" cy="52"/>
              </a:xfrm>
              <a:custGeom>
                <a:avLst/>
                <a:gdLst>
                  <a:gd name="T0" fmla="*/ 0 w 318"/>
                  <a:gd name="T1" fmla="*/ 317 h 317"/>
                  <a:gd name="T2" fmla="*/ 317 w 318"/>
                  <a:gd name="T3" fmla="*/ 0 h 317"/>
                  <a:gd name="T4" fmla="*/ 318 w 318"/>
                  <a:gd name="T5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8" h="317">
                    <a:moveTo>
                      <a:pt x="0" y="317"/>
                    </a:moveTo>
                    <a:lnTo>
                      <a:pt x="317" y="0"/>
                    </a:lnTo>
                    <a:lnTo>
                      <a:pt x="3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76" name="Freeform 976"/>
              <p:cNvSpPr>
                <a:spLocks/>
              </p:cNvSpPr>
              <p:nvPr/>
            </p:nvSpPr>
            <p:spPr bwMode="auto">
              <a:xfrm>
                <a:off x="4186" y="2325"/>
                <a:ext cx="31" cy="31"/>
              </a:xfrm>
              <a:custGeom>
                <a:avLst/>
                <a:gdLst>
                  <a:gd name="T0" fmla="*/ 0 w 184"/>
                  <a:gd name="T1" fmla="*/ 182 h 182"/>
                  <a:gd name="T2" fmla="*/ 183 w 184"/>
                  <a:gd name="T3" fmla="*/ 0 h 182"/>
                  <a:gd name="T4" fmla="*/ 184 w 184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2">
                    <a:moveTo>
                      <a:pt x="0" y="182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77" name="Freeform 977"/>
              <p:cNvSpPr>
                <a:spLocks/>
              </p:cNvSpPr>
              <p:nvPr/>
            </p:nvSpPr>
            <p:spPr bwMode="auto">
              <a:xfrm>
                <a:off x="3819" y="2654"/>
                <a:ext cx="70" cy="71"/>
              </a:xfrm>
              <a:custGeom>
                <a:avLst/>
                <a:gdLst>
                  <a:gd name="T0" fmla="*/ 0 w 423"/>
                  <a:gd name="T1" fmla="*/ 423 h 423"/>
                  <a:gd name="T2" fmla="*/ 422 w 423"/>
                  <a:gd name="T3" fmla="*/ 0 h 423"/>
                  <a:gd name="T4" fmla="*/ 423 w 423"/>
                  <a:gd name="T5" fmla="*/ 0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3" h="423">
                    <a:moveTo>
                      <a:pt x="0" y="423"/>
                    </a:moveTo>
                    <a:lnTo>
                      <a:pt x="422" y="0"/>
                    </a:lnTo>
                    <a:lnTo>
                      <a:pt x="42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78" name="Freeform 978"/>
              <p:cNvSpPr>
                <a:spLocks/>
              </p:cNvSpPr>
              <p:nvPr/>
            </p:nvSpPr>
            <p:spPr bwMode="auto">
              <a:xfrm>
                <a:off x="4025" y="2356"/>
                <a:ext cx="163" cy="164"/>
              </a:xfrm>
              <a:custGeom>
                <a:avLst/>
                <a:gdLst>
                  <a:gd name="T0" fmla="*/ 0 w 975"/>
                  <a:gd name="T1" fmla="*/ 976 h 976"/>
                  <a:gd name="T2" fmla="*/ 974 w 975"/>
                  <a:gd name="T3" fmla="*/ 0 h 976"/>
                  <a:gd name="T4" fmla="*/ 975 w 975"/>
                  <a:gd name="T5" fmla="*/ 0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5" h="976">
                    <a:moveTo>
                      <a:pt x="0" y="976"/>
                    </a:moveTo>
                    <a:lnTo>
                      <a:pt x="974" y="0"/>
                    </a:lnTo>
                    <a:lnTo>
                      <a:pt x="97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79" name="Freeform 979"/>
              <p:cNvSpPr>
                <a:spLocks/>
              </p:cNvSpPr>
              <p:nvPr/>
            </p:nvSpPr>
            <p:spPr bwMode="auto">
              <a:xfrm>
                <a:off x="3889" y="2518"/>
                <a:ext cx="136" cy="136"/>
              </a:xfrm>
              <a:custGeom>
                <a:avLst/>
                <a:gdLst>
                  <a:gd name="T0" fmla="*/ 0 w 816"/>
                  <a:gd name="T1" fmla="*/ 815 h 815"/>
                  <a:gd name="T2" fmla="*/ 815 w 816"/>
                  <a:gd name="T3" fmla="*/ 0 h 815"/>
                  <a:gd name="T4" fmla="*/ 816 w 816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5">
                    <a:moveTo>
                      <a:pt x="0" y="815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80" name="Freeform 980"/>
              <p:cNvSpPr>
                <a:spLocks/>
              </p:cNvSpPr>
              <p:nvPr/>
            </p:nvSpPr>
            <p:spPr bwMode="auto">
              <a:xfrm>
                <a:off x="3792" y="2725"/>
                <a:ext cx="62" cy="62"/>
              </a:xfrm>
              <a:custGeom>
                <a:avLst/>
                <a:gdLst>
                  <a:gd name="T0" fmla="*/ 0 w 366"/>
                  <a:gd name="T1" fmla="*/ 364 h 364"/>
                  <a:gd name="T2" fmla="*/ 365 w 366"/>
                  <a:gd name="T3" fmla="*/ 0 h 364"/>
                  <a:gd name="T4" fmla="*/ 366 w 366"/>
                  <a:gd name="T5" fmla="*/ 0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6" h="364">
                    <a:moveTo>
                      <a:pt x="0" y="364"/>
                    </a:moveTo>
                    <a:lnTo>
                      <a:pt x="365" y="0"/>
                    </a:lnTo>
                    <a:lnTo>
                      <a:pt x="36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81" name="Freeform 981"/>
              <p:cNvSpPr>
                <a:spLocks/>
              </p:cNvSpPr>
              <p:nvPr/>
            </p:nvSpPr>
            <p:spPr bwMode="auto">
              <a:xfrm>
                <a:off x="4199" y="2347"/>
                <a:ext cx="31" cy="30"/>
              </a:xfrm>
              <a:custGeom>
                <a:avLst/>
                <a:gdLst>
                  <a:gd name="T0" fmla="*/ 0 w 184"/>
                  <a:gd name="T1" fmla="*/ 184 h 184"/>
                  <a:gd name="T2" fmla="*/ 183 w 184"/>
                  <a:gd name="T3" fmla="*/ 0 h 184"/>
                  <a:gd name="T4" fmla="*/ 184 w 184"/>
                  <a:gd name="T5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4">
                    <a:moveTo>
                      <a:pt x="0" y="184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82" name="Freeform 982"/>
              <p:cNvSpPr>
                <a:spLocks/>
              </p:cNvSpPr>
              <p:nvPr/>
            </p:nvSpPr>
            <p:spPr bwMode="auto">
              <a:xfrm>
                <a:off x="3852" y="2688"/>
                <a:ext cx="36" cy="37"/>
              </a:xfrm>
              <a:custGeom>
                <a:avLst/>
                <a:gdLst>
                  <a:gd name="T0" fmla="*/ 0 w 219"/>
                  <a:gd name="T1" fmla="*/ 219 h 219"/>
                  <a:gd name="T2" fmla="*/ 218 w 219"/>
                  <a:gd name="T3" fmla="*/ 0 h 219"/>
                  <a:gd name="T4" fmla="*/ 219 w 219"/>
                  <a:gd name="T5" fmla="*/ 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9" h="219">
                    <a:moveTo>
                      <a:pt x="0" y="219"/>
                    </a:moveTo>
                    <a:lnTo>
                      <a:pt x="218" y="0"/>
                    </a:lnTo>
                    <a:lnTo>
                      <a:pt x="21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83" name="Freeform 983"/>
              <p:cNvSpPr>
                <a:spLocks/>
              </p:cNvSpPr>
              <p:nvPr/>
            </p:nvSpPr>
            <p:spPr bwMode="auto">
              <a:xfrm>
                <a:off x="4025" y="2377"/>
                <a:ext cx="174" cy="175"/>
              </a:xfrm>
              <a:custGeom>
                <a:avLst/>
                <a:gdLst>
                  <a:gd name="T0" fmla="*/ 0 w 1049"/>
                  <a:gd name="T1" fmla="*/ 1048 h 1048"/>
                  <a:gd name="T2" fmla="*/ 1048 w 1049"/>
                  <a:gd name="T3" fmla="*/ 0 h 1048"/>
                  <a:gd name="T4" fmla="*/ 1049 w 1049"/>
                  <a:gd name="T5" fmla="*/ 0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9" h="1048">
                    <a:moveTo>
                      <a:pt x="0" y="1048"/>
                    </a:moveTo>
                    <a:lnTo>
                      <a:pt x="1048" y="0"/>
                    </a:lnTo>
                    <a:lnTo>
                      <a:pt x="104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84" name="Freeform 984"/>
              <p:cNvSpPr>
                <a:spLocks/>
              </p:cNvSpPr>
              <p:nvPr/>
            </p:nvSpPr>
            <p:spPr bwMode="auto">
              <a:xfrm>
                <a:off x="3889" y="2552"/>
                <a:ext cx="136" cy="136"/>
              </a:xfrm>
              <a:custGeom>
                <a:avLst/>
                <a:gdLst>
                  <a:gd name="T0" fmla="*/ 0 w 815"/>
                  <a:gd name="T1" fmla="*/ 815 h 815"/>
                  <a:gd name="T2" fmla="*/ 814 w 815"/>
                  <a:gd name="T3" fmla="*/ 0 h 815"/>
                  <a:gd name="T4" fmla="*/ 815 w 815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5">
                    <a:moveTo>
                      <a:pt x="0" y="815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85" name="Freeform 985"/>
              <p:cNvSpPr>
                <a:spLocks/>
              </p:cNvSpPr>
              <p:nvPr/>
            </p:nvSpPr>
            <p:spPr bwMode="auto">
              <a:xfrm>
                <a:off x="3817" y="2725"/>
                <a:ext cx="69" cy="69"/>
              </a:xfrm>
              <a:custGeom>
                <a:avLst/>
                <a:gdLst>
                  <a:gd name="T0" fmla="*/ 0 w 411"/>
                  <a:gd name="T1" fmla="*/ 410 h 410"/>
                  <a:gd name="T2" fmla="*/ 410 w 411"/>
                  <a:gd name="T3" fmla="*/ 0 h 410"/>
                  <a:gd name="T4" fmla="*/ 411 w 411"/>
                  <a:gd name="T5" fmla="*/ 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1" h="410">
                    <a:moveTo>
                      <a:pt x="0" y="410"/>
                    </a:moveTo>
                    <a:lnTo>
                      <a:pt x="410" y="0"/>
                    </a:lnTo>
                    <a:lnTo>
                      <a:pt x="41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86" name="Freeform 986"/>
              <p:cNvSpPr>
                <a:spLocks/>
              </p:cNvSpPr>
              <p:nvPr/>
            </p:nvSpPr>
            <p:spPr bwMode="auto">
              <a:xfrm>
                <a:off x="4211" y="2368"/>
                <a:ext cx="31" cy="31"/>
              </a:xfrm>
              <a:custGeom>
                <a:avLst/>
                <a:gdLst>
                  <a:gd name="T0" fmla="*/ 0 w 187"/>
                  <a:gd name="T1" fmla="*/ 186 h 186"/>
                  <a:gd name="T2" fmla="*/ 186 w 187"/>
                  <a:gd name="T3" fmla="*/ 0 h 186"/>
                  <a:gd name="T4" fmla="*/ 187 w 187"/>
                  <a:gd name="T5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6">
                    <a:moveTo>
                      <a:pt x="0" y="186"/>
                    </a:moveTo>
                    <a:lnTo>
                      <a:pt x="186" y="0"/>
                    </a:lnTo>
                    <a:lnTo>
                      <a:pt x="18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87" name="Freeform 987"/>
              <p:cNvSpPr>
                <a:spLocks/>
              </p:cNvSpPr>
              <p:nvPr/>
            </p:nvSpPr>
            <p:spPr bwMode="auto">
              <a:xfrm>
                <a:off x="3885" y="2722"/>
                <a:ext cx="4" cy="3"/>
              </a:xfrm>
              <a:custGeom>
                <a:avLst/>
                <a:gdLst>
                  <a:gd name="T0" fmla="*/ 0 w 18"/>
                  <a:gd name="T1" fmla="*/ 17 h 17"/>
                  <a:gd name="T2" fmla="*/ 17 w 18"/>
                  <a:gd name="T3" fmla="*/ 0 h 17"/>
                  <a:gd name="T4" fmla="*/ 18 w 18"/>
                  <a:gd name="T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" h="17">
                    <a:moveTo>
                      <a:pt x="0" y="17"/>
                    </a:moveTo>
                    <a:lnTo>
                      <a:pt x="17" y="0"/>
                    </a:lnTo>
                    <a:lnTo>
                      <a:pt x="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88" name="Freeform 988"/>
              <p:cNvSpPr>
                <a:spLocks/>
              </p:cNvSpPr>
              <p:nvPr/>
            </p:nvSpPr>
            <p:spPr bwMode="auto">
              <a:xfrm>
                <a:off x="4025" y="2400"/>
                <a:ext cx="186" cy="188"/>
              </a:xfrm>
              <a:custGeom>
                <a:avLst/>
                <a:gdLst>
                  <a:gd name="T0" fmla="*/ 0 w 1121"/>
                  <a:gd name="T1" fmla="*/ 1121 h 1121"/>
                  <a:gd name="T2" fmla="*/ 1120 w 1121"/>
                  <a:gd name="T3" fmla="*/ 0 h 1121"/>
                  <a:gd name="T4" fmla="*/ 1121 w 1121"/>
                  <a:gd name="T5" fmla="*/ 0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1" h="1121">
                    <a:moveTo>
                      <a:pt x="0" y="1121"/>
                    </a:moveTo>
                    <a:lnTo>
                      <a:pt x="1120" y="0"/>
                    </a:lnTo>
                    <a:lnTo>
                      <a:pt x="112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89" name="Freeform 989"/>
              <p:cNvSpPr>
                <a:spLocks/>
              </p:cNvSpPr>
              <p:nvPr/>
            </p:nvSpPr>
            <p:spPr bwMode="auto">
              <a:xfrm>
                <a:off x="3889" y="2586"/>
                <a:ext cx="136" cy="136"/>
              </a:xfrm>
              <a:custGeom>
                <a:avLst/>
                <a:gdLst>
                  <a:gd name="T0" fmla="*/ 0 w 815"/>
                  <a:gd name="T1" fmla="*/ 814 h 814"/>
                  <a:gd name="T2" fmla="*/ 814 w 815"/>
                  <a:gd name="T3" fmla="*/ 0 h 814"/>
                  <a:gd name="T4" fmla="*/ 815 w 815"/>
                  <a:gd name="T5" fmla="*/ 0 h 8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4">
                    <a:moveTo>
                      <a:pt x="0" y="814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90" name="Freeform 990"/>
              <p:cNvSpPr>
                <a:spLocks/>
              </p:cNvSpPr>
              <p:nvPr/>
            </p:nvSpPr>
            <p:spPr bwMode="auto">
              <a:xfrm>
                <a:off x="3843" y="2756"/>
                <a:ext cx="46" cy="45"/>
              </a:xfrm>
              <a:custGeom>
                <a:avLst/>
                <a:gdLst>
                  <a:gd name="T0" fmla="*/ 0 w 270"/>
                  <a:gd name="T1" fmla="*/ 271 h 271"/>
                  <a:gd name="T2" fmla="*/ 269 w 270"/>
                  <a:gd name="T3" fmla="*/ 0 h 271"/>
                  <a:gd name="T4" fmla="*/ 270 w 270"/>
                  <a:gd name="T5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0" h="271">
                    <a:moveTo>
                      <a:pt x="0" y="271"/>
                    </a:moveTo>
                    <a:lnTo>
                      <a:pt x="269" y="0"/>
                    </a:lnTo>
                    <a:lnTo>
                      <a:pt x="27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91" name="Freeform 991"/>
              <p:cNvSpPr>
                <a:spLocks/>
              </p:cNvSpPr>
              <p:nvPr/>
            </p:nvSpPr>
            <p:spPr bwMode="auto">
              <a:xfrm>
                <a:off x="4223" y="2390"/>
                <a:ext cx="31" cy="31"/>
              </a:xfrm>
              <a:custGeom>
                <a:avLst/>
                <a:gdLst>
                  <a:gd name="T0" fmla="*/ 0 w 187"/>
                  <a:gd name="T1" fmla="*/ 185 h 185"/>
                  <a:gd name="T2" fmla="*/ 185 w 187"/>
                  <a:gd name="T3" fmla="*/ 0 h 185"/>
                  <a:gd name="T4" fmla="*/ 187 w 187"/>
                  <a:gd name="T5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5">
                    <a:moveTo>
                      <a:pt x="0" y="185"/>
                    </a:moveTo>
                    <a:lnTo>
                      <a:pt x="185" y="0"/>
                    </a:lnTo>
                    <a:lnTo>
                      <a:pt x="18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92" name="Freeform 992"/>
              <p:cNvSpPr>
                <a:spLocks/>
              </p:cNvSpPr>
              <p:nvPr/>
            </p:nvSpPr>
            <p:spPr bwMode="auto">
              <a:xfrm>
                <a:off x="3889" y="2725"/>
                <a:ext cx="31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93" name="Freeform 993"/>
              <p:cNvSpPr>
                <a:spLocks/>
              </p:cNvSpPr>
              <p:nvPr/>
            </p:nvSpPr>
            <p:spPr bwMode="auto">
              <a:xfrm>
                <a:off x="4025" y="2421"/>
                <a:ext cx="198" cy="199"/>
              </a:xfrm>
              <a:custGeom>
                <a:avLst/>
                <a:gdLst>
                  <a:gd name="T0" fmla="*/ 0 w 1195"/>
                  <a:gd name="T1" fmla="*/ 1194 h 1194"/>
                  <a:gd name="T2" fmla="*/ 1194 w 1195"/>
                  <a:gd name="T3" fmla="*/ 0 h 1194"/>
                  <a:gd name="T4" fmla="*/ 1195 w 1195"/>
                  <a:gd name="T5" fmla="*/ 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95" h="1194">
                    <a:moveTo>
                      <a:pt x="0" y="1194"/>
                    </a:moveTo>
                    <a:lnTo>
                      <a:pt x="1194" y="0"/>
                    </a:lnTo>
                    <a:lnTo>
                      <a:pt x="119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94" name="Freeform 994"/>
              <p:cNvSpPr>
                <a:spLocks/>
              </p:cNvSpPr>
              <p:nvPr/>
            </p:nvSpPr>
            <p:spPr bwMode="auto">
              <a:xfrm>
                <a:off x="3920" y="2620"/>
                <a:ext cx="105" cy="105"/>
              </a:xfrm>
              <a:custGeom>
                <a:avLst/>
                <a:gdLst>
                  <a:gd name="T0" fmla="*/ 0 w 632"/>
                  <a:gd name="T1" fmla="*/ 633 h 633"/>
                  <a:gd name="T2" fmla="*/ 631 w 632"/>
                  <a:gd name="T3" fmla="*/ 0 h 633"/>
                  <a:gd name="T4" fmla="*/ 632 w 632"/>
                  <a:gd name="T5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2" h="633">
                    <a:moveTo>
                      <a:pt x="0" y="633"/>
                    </a:moveTo>
                    <a:lnTo>
                      <a:pt x="631" y="0"/>
                    </a:lnTo>
                    <a:lnTo>
                      <a:pt x="63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95" name="Freeform 995"/>
              <p:cNvSpPr>
                <a:spLocks/>
              </p:cNvSpPr>
              <p:nvPr/>
            </p:nvSpPr>
            <p:spPr bwMode="auto">
              <a:xfrm>
                <a:off x="3869" y="2790"/>
                <a:ext cx="20" cy="18"/>
              </a:xfrm>
              <a:custGeom>
                <a:avLst/>
                <a:gdLst>
                  <a:gd name="T0" fmla="*/ 0 w 114"/>
                  <a:gd name="T1" fmla="*/ 114 h 114"/>
                  <a:gd name="T2" fmla="*/ 113 w 114"/>
                  <a:gd name="T3" fmla="*/ 0 h 114"/>
                  <a:gd name="T4" fmla="*/ 114 w 114"/>
                  <a:gd name="T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4" h="114">
                    <a:moveTo>
                      <a:pt x="0" y="114"/>
                    </a:moveTo>
                    <a:lnTo>
                      <a:pt x="113" y="0"/>
                    </a:lnTo>
                    <a:lnTo>
                      <a:pt x="11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96" name="Freeform 996"/>
              <p:cNvSpPr>
                <a:spLocks/>
              </p:cNvSpPr>
              <p:nvPr/>
            </p:nvSpPr>
            <p:spPr bwMode="auto">
              <a:xfrm>
                <a:off x="4235" y="2412"/>
                <a:ext cx="30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97" name="Freeform 997"/>
              <p:cNvSpPr>
                <a:spLocks/>
              </p:cNvSpPr>
              <p:nvPr/>
            </p:nvSpPr>
            <p:spPr bwMode="auto">
              <a:xfrm>
                <a:off x="3889" y="2727"/>
                <a:ext cx="62" cy="62"/>
              </a:xfrm>
              <a:custGeom>
                <a:avLst/>
                <a:gdLst>
                  <a:gd name="T0" fmla="*/ 0 w 379"/>
                  <a:gd name="T1" fmla="*/ 377 h 377"/>
                  <a:gd name="T2" fmla="*/ 378 w 379"/>
                  <a:gd name="T3" fmla="*/ 0 h 377"/>
                  <a:gd name="T4" fmla="*/ 379 w 379"/>
                  <a:gd name="T5" fmla="*/ 0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9" h="377">
                    <a:moveTo>
                      <a:pt x="0" y="377"/>
                    </a:moveTo>
                    <a:lnTo>
                      <a:pt x="378" y="0"/>
                    </a:lnTo>
                    <a:lnTo>
                      <a:pt x="37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98" name="Freeform 998"/>
              <p:cNvSpPr>
                <a:spLocks/>
              </p:cNvSpPr>
              <p:nvPr/>
            </p:nvSpPr>
            <p:spPr bwMode="auto">
              <a:xfrm>
                <a:off x="4025" y="2443"/>
                <a:ext cx="210" cy="211"/>
              </a:xfrm>
              <a:custGeom>
                <a:avLst/>
                <a:gdLst>
                  <a:gd name="T0" fmla="*/ 0 w 1267"/>
                  <a:gd name="T1" fmla="*/ 1268 h 1268"/>
                  <a:gd name="T2" fmla="*/ 1266 w 1267"/>
                  <a:gd name="T3" fmla="*/ 0 h 1268"/>
                  <a:gd name="T4" fmla="*/ 1267 w 1267"/>
                  <a:gd name="T5" fmla="*/ 0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7" h="1268">
                    <a:moveTo>
                      <a:pt x="0" y="1268"/>
                    </a:moveTo>
                    <a:lnTo>
                      <a:pt x="1266" y="0"/>
                    </a:lnTo>
                    <a:lnTo>
                      <a:pt x="12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199" name="Freeform 999"/>
              <p:cNvSpPr>
                <a:spLocks/>
              </p:cNvSpPr>
              <p:nvPr/>
            </p:nvSpPr>
            <p:spPr bwMode="auto">
              <a:xfrm>
                <a:off x="3951" y="2654"/>
                <a:ext cx="74" cy="75"/>
              </a:xfrm>
              <a:custGeom>
                <a:avLst/>
                <a:gdLst>
                  <a:gd name="T0" fmla="*/ 0 w 436"/>
                  <a:gd name="T1" fmla="*/ 436 h 436"/>
                  <a:gd name="T2" fmla="*/ 435 w 436"/>
                  <a:gd name="T3" fmla="*/ 0 h 436"/>
                  <a:gd name="T4" fmla="*/ 436 w 436"/>
                  <a:gd name="T5" fmla="*/ 0 h 4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6" h="436">
                    <a:moveTo>
                      <a:pt x="0" y="436"/>
                    </a:moveTo>
                    <a:lnTo>
                      <a:pt x="435" y="0"/>
                    </a:lnTo>
                    <a:lnTo>
                      <a:pt x="43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00" name="Freeform 1000"/>
              <p:cNvSpPr>
                <a:spLocks/>
              </p:cNvSpPr>
              <p:nvPr/>
            </p:nvSpPr>
            <p:spPr bwMode="auto">
              <a:xfrm>
                <a:off x="3896" y="2729"/>
                <a:ext cx="89" cy="89"/>
              </a:xfrm>
              <a:custGeom>
                <a:avLst/>
                <a:gdLst>
                  <a:gd name="T0" fmla="*/ 0 w 527"/>
                  <a:gd name="T1" fmla="*/ 527 h 527"/>
                  <a:gd name="T2" fmla="*/ 526 w 527"/>
                  <a:gd name="T3" fmla="*/ 0 h 527"/>
                  <a:gd name="T4" fmla="*/ 527 w 527"/>
                  <a:gd name="T5" fmla="*/ 0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" h="527">
                    <a:moveTo>
                      <a:pt x="0" y="527"/>
                    </a:moveTo>
                    <a:lnTo>
                      <a:pt x="526" y="0"/>
                    </a:lnTo>
                    <a:lnTo>
                      <a:pt x="52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01" name="Freeform 1001"/>
              <p:cNvSpPr>
                <a:spLocks/>
              </p:cNvSpPr>
              <p:nvPr/>
            </p:nvSpPr>
            <p:spPr bwMode="auto">
              <a:xfrm>
                <a:off x="4247" y="2436"/>
                <a:ext cx="30" cy="28"/>
              </a:xfrm>
              <a:custGeom>
                <a:avLst/>
                <a:gdLst>
                  <a:gd name="T0" fmla="*/ 0 w 173"/>
                  <a:gd name="T1" fmla="*/ 173 h 173"/>
                  <a:gd name="T2" fmla="*/ 172 w 173"/>
                  <a:gd name="T3" fmla="*/ 0 h 173"/>
                  <a:gd name="T4" fmla="*/ 173 w 173"/>
                  <a:gd name="T5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" h="173">
                    <a:moveTo>
                      <a:pt x="0" y="173"/>
                    </a:moveTo>
                    <a:lnTo>
                      <a:pt x="172" y="0"/>
                    </a:lnTo>
                    <a:lnTo>
                      <a:pt x="17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02" name="Freeform 1002"/>
              <p:cNvSpPr>
                <a:spLocks/>
              </p:cNvSpPr>
              <p:nvPr/>
            </p:nvSpPr>
            <p:spPr bwMode="auto">
              <a:xfrm>
                <a:off x="3983" y="2688"/>
                <a:ext cx="42" cy="41"/>
              </a:xfrm>
              <a:custGeom>
                <a:avLst/>
                <a:gdLst>
                  <a:gd name="T0" fmla="*/ 0 w 244"/>
                  <a:gd name="T1" fmla="*/ 243 h 243"/>
                  <a:gd name="T2" fmla="*/ 243 w 244"/>
                  <a:gd name="T3" fmla="*/ 0 h 243"/>
                  <a:gd name="T4" fmla="*/ 244 w 244"/>
                  <a:gd name="T5" fmla="*/ 0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4" h="243">
                    <a:moveTo>
                      <a:pt x="0" y="243"/>
                    </a:moveTo>
                    <a:lnTo>
                      <a:pt x="243" y="0"/>
                    </a:lnTo>
                    <a:lnTo>
                      <a:pt x="24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03" name="Freeform 1003"/>
              <p:cNvSpPr>
                <a:spLocks/>
              </p:cNvSpPr>
              <p:nvPr/>
            </p:nvSpPr>
            <p:spPr bwMode="auto">
              <a:xfrm>
                <a:off x="4025" y="2465"/>
                <a:ext cx="222" cy="223"/>
              </a:xfrm>
              <a:custGeom>
                <a:avLst/>
                <a:gdLst>
                  <a:gd name="T0" fmla="*/ 0 w 1340"/>
                  <a:gd name="T1" fmla="*/ 1340 h 1340"/>
                  <a:gd name="T2" fmla="*/ 1339 w 1340"/>
                  <a:gd name="T3" fmla="*/ 0 h 1340"/>
                  <a:gd name="T4" fmla="*/ 1340 w 1340"/>
                  <a:gd name="T5" fmla="*/ 0 h 1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40" h="1340">
                    <a:moveTo>
                      <a:pt x="0" y="1340"/>
                    </a:moveTo>
                    <a:lnTo>
                      <a:pt x="1339" y="0"/>
                    </a:lnTo>
                    <a:lnTo>
                      <a:pt x="134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04" name="Freeform 1004"/>
              <p:cNvSpPr>
                <a:spLocks/>
              </p:cNvSpPr>
              <p:nvPr/>
            </p:nvSpPr>
            <p:spPr bwMode="auto">
              <a:xfrm>
                <a:off x="3921" y="2730"/>
                <a:ext cx="94" cy="95"/>
              </a:xfrm>
              <a:custGeom>
                <a:avLst/>
                <a:gdLst>
                  <a:gd name="T0" fmla="*/ 0 w 562"/>
                  <a:gd name="T1" fmla="*/ 561 h 561"/>
                  <a:gd name="T2" fmla="*/ 560 w 562"/>
                  <a:gd name="T3" fmla="*/ 0 h 561"/>
                  <a:gd name="T4" fmla="*/ 562 w 562"/>
                  <a:gd name="T5" fmla="*/ 0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2" h="561">
                    <a:moveTo>
                      <a:pt x="0" y="561"/>
                    </a:moveTo>
                    <a:lnTo>
                      <a:pt x="560" y="0"/>
                    </a:lnTo>
                    <a:lnTo>
                      <a:pt x="56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05" name="Freeform 1005"/>
              <p:cNvSpPr>
                <a:spLocks/>
              </p:cNvSpPr>
              <p:nvPr/>
            </p:nvSpPr>
            <p:spPr bwMode="auto">
              <a:xfrm>
                <a:off x="4259" y="2460"/>
                <a:ext cx="27" cy="25"/>
              </a:xfrm>
              <a:custGeom>
                <a:avLst/>
                <a:gdLst>
                  <a:gd name="T0" fmla="*/ 0 w 161"/>
                  <a:gd name="T1" fmla="*/ 160 h 160"/>
                  <a:gd name="T2" fmla="*/ 160 w 161"/>
                  <a:gd name="T3" fmla="*/ 0 h 160"/>
                  <a:gd name="T4" fmla="*/ 161 w 16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1" h="160">
                    <a:moveTo>
                      <a:pt x="0" y="160"/>
                    </a:moveTo>
                    <a:lnTo>
                      <a:pt x="160" y="0"/>
                    </a:lnTo>
                    <a:lnTo>
                      <a:pt x="16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06" name="Freeform 1006"/>
              <p:cNvSpPr>
                <a:spLocks/>
              </p:cNvSpPr>
              <p:nvPr/>
            </p:nvSpPr>
            <p:spPr bwMode="auto">
              <a:xfrm>
                <a:off x="4015" y="2722"/>
                <a:ext cx="9" cy="8"/>
              </a:xfrm>
              <a:custGeom>
                <a:avLst/>
                <a:gdLst>
                  <a:gd name="T0" fmla="*/ 0 w 53"/>
                  <a:gd name="T1" fmla="*/ 52 h 52"/>
                  <a:gd name="T2" fmla="*/ 52 w 53"/>
                  <a:gd name="T3" fmla="*/ 0 h 52"/>
                  <a:gd name="T4" fmla="*/ 53 w 53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" h="52">
                    <a:moveTo>
                      <a:pt x="0" y="52"/>
                    </a:moveTo>
                    <a:lnTo>
                      <a:pt x="52" y="0"/>
                    </a:lnTo>
                    <a:lnTo>
                      <a:pt x="5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07" name="Freeform 1007"/>
              <p:cNvSpPr>
                <a:spLocks/>
              </p:cNvSpPr>
              <p:nvPr/>
            </p:nvSpPr>
            <p:spPr bwMode="auto">
              <a:xfrm>
                <a:off x="4025" y="2486"/>
                <a:ext cx="234" cy="236"/>
              </a:xfrm>
              <a:custGeom>
                <a:avLst/>
                <a:gdLst>
                  <a:gd name="T0" fmla="*/ 0 w 1415"/>
                  <a:gd name="T1" fmla="*/ 1414 h 1414"/>
                  <a:gd name="T2" fmla="*/ 1413 w 1415"/>
                  <a:gd name="T3" fmla="*/ 0 h 1414"/>
                  <a:gd name="T4" fmla="*/ 1415 w 1415"/>
                  <a:gd name="T5" fmla="*/ 0 h 1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15" h="1414">
                    <a:moveTo>
                      <a:pt x="0" y="1414"/>
                    </a:moveTo>
                    <a:lnTo>
                      <a:pt x="1413" y="0"/>
                    </a:lnTo>
                    <a:lnTo>
                      <a:pt x="141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08" name="Freeform 1008"/>
              <p:cNvSpPr>
                <a:spLocks/>
              </p:cNvSpPr>
              <p:nvPr/>
            </p:nvSpPr>
            <p:spPr bwMode="auto">
              <a:xfrm>
                <a:off x="3947" y="2756"/>
                <a:ext cx="78" cy="76"/>
              </a:xfrm>
              <a:custGeom>
                <a:avLst/>
                <a:gdLst>
                  <a:gd name="T0" fmla="*/ 0 w 457"/>
                  <a:gd name="T1" fmla="*/ 456 h 456"/>
                  <a:gd name="T2" fmla="*/ 456 w 457"/>
                  <a:gd name="T3" fmla="*/ 0 h 456"/>
                  <a:gd name="T4" fmla="*/ 457 w 457"/>
                  <a:gd name="T5" fmla="*/ 0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7" h="456">
                    <a:moveTo>
                      <a:pt x="0" y="456"/>
                    </a:moveTo>
                    <a:lnTo>
                      <a:pt x="456" y="0"/>
                    </a:lnTo>
                    <a:lnTo>
                      <a:pt x="45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09" name="Freeform 1009"/>
              <p:cNvSpPr>
                <a:spLocks/>
              </p:cNvSpPr>
              <p:nvPr/>
            </p:nvSpPr>
            <p:spPr bwMode="auto">
              <a:xfrm>
                <a:off x="4271" y="2484"/>
                <a:ext cx="24" cy="24"/>
              </a:xfrm>
              <a:custGeom>
                <a:avLst/>
                <a:gdLst>
                  <a:gd name="T0" fmla="*/ 0 w 146"/>
                  <a:gd name="T1" fmla="*/ 146 h 146"/>
                  <a:gd name="T2" fmla="*/ 145 w 146"/>
                  <a:gd name="T3" fmla="*/ 0 h 146"/>
                  <a:gd name="T4" fmla="*/ 146 w 146"/>
                  <a:gd name="T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6" h="146">
                    <a:moveTo>
                      <a:pt x="0" y="146"/>
                    </a:moveTo>
                    <a:lnTo>
                      <a:pt x="145" y="0"/>
                    </a:lnTo>
                    <a:lnTo>
                      <a:pt x="14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10" name="Freeform 1010"/>
              <p:cNvSpPr>
                <a:spLocks/>
              </p:cNvSpPr>
              <p:nvPr/>
            </p:nvSpPr>
            <p:spPr bwMode="auto">
              <a:xfrm>
                <a:off x="4025" y="2733"/>
                <a:ext cx="23" cy="23"/>
              </a:xfrm>
              <a:custGeom>
                <a:avLst/>
                <a:gdLst>
                  <a:gd name="T0" fmla="*/ 0 w 136"/>
                  <a:gd name="T1" fmla="*/ 135 h 135"/>
                  <a:gd name="T2" fmla="*/ 135 w 136"/>
                  <a:gd name="T3" fmla="*/ 0 h 135"/>
                  <a:gd name="T4" fmla="*/ 136 w 136"/>
                  <a:gd name="T5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6" h="135">
                    <a:moveTo>
                      <a:pt x="0" y="135"/>
                    </a:moveTo>
                    <a:lnTo>
                      <a:pt x="135" y="0"/>
                    </a:lnTo>
                    <a:lnTo>
                      <a:pt x="13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11" name="Freeform 1011"/>
              <p:cNvSpPr>
                <a:spLocks/>
              </p:cNvSpPr>
              <p:nvPr/>
            </p:nvSpPr>
            <p:spPr bwMode="auto">
              <a:xfrm>
                <a:off x="4046" y="2508"/>
                <a:ext cx="225" cy="225"/>
              </a:xfrm>
              <a:custGeom>
                <a:avLst/>
                <a:gdLst>
                  <a:gd name="T0" fmla="*/ 0 w 1352"/>
                  <a:gd name="T1" fmla="*/ 1351 h 1351"/>
                  <a:gd name="T2" fmla="*/ 1351 w 1352"/>
                  <a:gd name="T3" fmla="*/ 0 h 1351"/>
                  <a:gd name="T4" fmla="*/ 1352 w 1352"/>
                  <a:gd name="T5" fmla="*/ 0 h 1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52" h="1351">
                    <a:moveTo>
                      <a:pt x="0" y="1351"/>
                    </a:moveTo>
                    <a:lnTo>
                      <a:pt x="1351" y="0"/>
                    </a:lnTo>
                    <a:lnTo>
                      <a:pt x="135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12" name="Freeform 1012"/>
              <p:cNvSpPr>
                <a:spLocks/>
              </p:cNvSpPr>
              <p:nvPr/>
            </p:nvSpPr>
            <p:spPr bwMode="auto">
              <a:xfrm>
                <a:off x="3974" y="2790"/>
                <a:ext cx="51" cy="52"/>
              </a:xfrm>
              <a:custGeom>
                <a:avLst/>
                <a:gdLst>
                  <a:gd name="T0" fmla="*/ 0 w 299"/>
                  <a:gd name="T1" fmla="*/ 299 h 299"/>
                  <a:gd name="T2" fmla="*/ 298 w 299"/>
                  <a:gd name="T3" fmla="*/ 0 h 299"/>
                  <a:gd name="T4" fmla="*/ 299 w 299"/>
                  <a:gd name="T5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9" h="299">
                    <a:moveTo>
                      <a:pt x="0" y="299"/>
                    </a:moveTo>
                    <a:lnTo>
                      <a:pt x="298" y="0"/>
                    </a:lnTo>
                    <a:lnTo>
                      <a:pt x="29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13" name="Freeform 1013"/>
              <p:cNvSpPr>
                <a:spLocks/>
              </p:cNvSpPr>
              <p:nvPr/>
            </p:nvSpPr>
            <p:spPr bwMode="auto">
              <a:xfrm>
                <a:off x="4283" y="2508"/>
                <a:ext cx="22" cy="21"/>
              </a:xfrm>
              <a:custGeom>
                <a:avLst/>
                <a:gdLst>
                  <a:gd name="T0" fmla="*/ 0 w 133"/>
                  <a:gd name="T1" fmla="*/ 132 h 132"/>
                  <a:gd name="T2" fmla="*/ 131 w 133"/>
                  <a:gd name="T3" fmla="*/ 0 h 132"/>
                  <a:gd name="T4" fmla="*/ 133 w 133"/>
                  <a:gd name="T5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3" h="132">
                    <a:moveTo>
                      <a:pt x="0" y="132"/>
                    </a:moveTo>
                    <a:lnTo>
                      <a:pt x="131" y="0"/>
                    </a:lnTo>
                    <a:lnTo>
                      <a:pt x="13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14" name="Freeform 1014"/>
              <p:cNvSpPr>
                <a:spLocks/>
              </p:cNvSpPr>
              <p:nvPr/>
            </p:nvSpPr>
            <p:spPr bwMode="auto">
              <a:xfrm>
                <a:off x="4025" y="2736"/>
                <a:ext cx="54" cy="54"/>
              </a:xfrm>
              <a:custGeom>
                <a:avLst/>
                <a:gdLst>
                  <a:gd name="T0" fmla="*/ 0 w 322"/>
                  <a:gd name="T1" fmla="*/ 321 h 321"/>
                  <a:gd name="T2" fmla="*/ 321 w 322"/>
                  <a:gd name="T3" fmla="*/ 0 h 321"/>
                  <a:gd name="T4" fmla="*/ 322 w 322"/>
                  <a:gd name="T5" fmla="*/ 0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2" h="321">
                    <a:moveTo>
                      <a:pt x="0" y="321"/>
                    </a:moveTo>
                    <a:lnTo>
                      <a:pt x="321" y="0"/>
                    </a:lnTo>
                    <a:lnTo>
                      <a:pt x="32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15" name="Freeform 1015"/>
              <p:cNvSpPr>
                <a:spLocks/>
              </p:cNvSpPr>
              <p:nvPr/>
            </p:nvSpPr>
            <p:spPr bwMode="auto">
              <a:xfrm>
                <a:off x="4077" y="2530"/>
                <a:ext cx="206" cy="206"/>
              </a:xfrm>
              <a:custGeom>
                <a:avLst/>
                <a:gdLst>
                  <a:gd name="T0" fmla="*/ 0 w 1240"/>
                  <a:gd name="T1" fmla="*/ 1240 h 1240"/>
                  <a:gd name="T2" fmla="*/ 1239 w 1240"/>
                  <a:gd name="T3" fmla="*/ 0 h 1240"/>
                  <a:gd name="T4" fmla="*/ 1240 w 1240"/>
                  <a:gd name="T5" fmla="*/ 0 h 1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40" h="1240">
                    <a:moveTo>
                      <a:pt x="0" y="1240"/>
                    </a:moveTo>
                    <a:lnTo>
                      <a:pt x="1239" y="0"/>
                    </a:lnTo>
                    <a:lnTo>
                      <a:pt x="124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16" name="Freeform 1016"/>
              <p:cNvSpPr>
                <a:spLocks/>
              </p:cNvSpPr>
              <p:nvPr/>
            </p:nvSpPr>
            <p:spPr bwMode="auto">
              <a:xfrm>
                <a:off x="4001" y="2825"/>
                <a:ext cx="24" cy="24"/>
              </a:xfrm>
              <a:custGeom>
                <a:avLst/>
                <a:gdLst>
                  <a:gd name="T0" fmla="*/ 0 w 143"/>
                  <a:gd name="T1" fmla="*/ 141 h 141"/>
                  <a:gd name="T2" fmla="*/ 142 w 143"/>
                  <a:gd name="T3" fmla="*/ 0 h 141"/>
                  <a:gd name="T4" fmla="*/ 143 w 143"/>
                  <a:gd name="T5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141">
                    <a:moveTo>
                      <a:pt x="0" y="141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17" name="Freeform 1017"/>
              <p:cNvSpPr>
                <a:spLocks/>
              </p:cNvSpPr>
              <p:nvPr/>
            </p:nvSpPr>
            <p:spPr bwMode="auto">
              <a:xfrm>
                <a:off x="4296" y="2532"/>
                <a:ext cx="20" cy="18"/>
              </a:xfrm>
              <a:custGeom>
                <a:avLst/>
                <a:gdLst>
                  <a:gd name="T0" fmla="*/ 0 w 120"/>
                  <a:gd name="T1" fmla="*/ 118 h 118"/>
                  <a:gd name="T2" fmla="*/ 119 w 120"/>
                  <a:gd name="T3" fmla="*/ 0 h 118"/>
                  <a:gd name="T4" fmla="*/ 120 w 120"/>
                  <a:gd name="T5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0" h="118">
                    <a:moveTo>
                      <a:pt x="0" y="118"/>
                    </a:moveTo>
                    <a:lnTo>
                      <a:pt x="119" y="0"/>
                    </a:lnTo>
                    <a:lnTo>
                      <a:pt x="1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18" name="Freeform 1018"/>
              <p:cNvSpPr>
                <a:spLocks/>
              </p:cNvSpPr>
              <p:nvPr/>
            </p:nvSpPr>
            <p:spPr bwMode="auto">
              <a:xfrm>
                <a:off x="4025" y="2740"/>
                <a:ext cx="84" cy="85"/>
              </a:xfrm>
              <a:custGeom>
                <a:avLst/>
                <a:gdLst>
                  <a:gd name="T0" fmla="*/ 0 w 504"/>
                  <a:gd name="T1" fmla="*/ 504 h 504"/>
                  <a:gd name="T2" fmla="*/ 503 w 504"/>
                  <a:gd name="T3" fmla="*/ 0 h 504"/>
                  <a:gd name="T4" fmla="*/ 504 w 504"/>
                  <a:gd name="T5" fmla="*/ 0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4" h="504">
                    <a:moveTo>
                      <a:pt x="0" y="504"/>
                    </a:moveTo>
                    <a:lnTo>
                      <a:pt x="503" y="0"/>
                    </a:lnTo>
                    <a:lnTo>
                      <a:pt x="50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19" name="Freeform 1019"/>
              <p:cNvSpPr>
                <a:spLocks/>
              </p:cNvSpPr>
              <p:nvPr/>
            </p:nvSpPr>
            <p:spPr bwMode="auto">
              <a:xfrm>
                <a:off x="4107" y="2551"/>
                <a:ext cx="189" cy="189"/>
              </a:xfrm>
              <a:custGeom>
                <a:avLst/>
                <a:gdLst>
                  <a:gd name="T0" fmla="*/ 0 w 1130"/>
                  <a:gd name="T1" fmla="*/ 1131 h 1131"/>
                  <a:gd name="T2" fmla="*/ 1129 w 1130"/>
                  <a:gd name="T3" fmla="*/ 0 h 1131"/>
                  <a:gd name="T4" fmla="*/ 1130 w 1130"/>
                  <a:gd name="T5" fmla="*/ 0 h 1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30" h="1131">
                    <a:moveTo>
                      <a:pt x="0" y="1131"/>
                    </a:moveTo>
                    <a:lnTo>
                      <a:pt x="1129" y="0"/>
                    </a:lnTo>
                    <a:lnTo>
                      <a:pt x="113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20" name="Freeform 1020"/>
              <p:cNvSpPr>
                <a:spLocks/>
              </p:cNvSpPr>
              <p:nvPr/>
            </p:nvSpPr>
            <p:spPr bwMode="auto">
              <a:xfrm>
                <a:off x="4026" y="2744"/>
                <a:ext cx="110" cy="110"/>
              </a:xfrm>
              <a:custGeom>
                <a:avLst/>
                <a:gdLst>
                  <a:gd name="T0" fmla="*/ 0 w 669"/>
                  <a:gd name="T1" fmla="*/ 668 h 668"/>
                  <a:gd name="T2" fmla="*/ 667 w 669"/>
                  <a:gd name="T3" fmla="*/ 0 h 668"/>
                  <a:gd name="T4" fmla="*/ 669 w 669"/>
                  <a:gd name="T5" fmla="*/ 0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69" h="668">
                    <a:moveTo>
                      <a:pt x="0" y="668"/>
                    </a:moveTo>
                    <a:lnTo>
                      <a:pt x="667" y="0"/>
                    </a:lnTo>
                    <a:lnTo>
                      <a:pt x="66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21" name="Freeform 1021"/>
              <p:cNvSpPr>
                <a:spLocks/>
              </p:cNvSpPr>
              <p:nvPr/>
            </p:nvSpPr>
            <p:spPr bwMode="auto">
              <a:xfrm>
                <a:off x="4308" y="2555"/>
                <a:ext cx="19" cy="18"/>
              </a:xfrm>
              <a:custGeom>
                <a:avLst/>
                <a:gdLst>
                  <a:gd name="T0" fmla="*/ 0 w 107"/>
                  <a:gd name="T1" fmla="*/ 106 h 106"/>
                  <a:gd name="T2" fmla="*/ 106 w 107"/>
                  <a:gd name="T3" fmla="*/ 0 h 106"/>
                  <a:gd name="T4" fmla="*/ 107 w 107"/>
                  <a:gd name="T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7" h="106">
                    <a:moveTo>
                      <a:pt x="0" y="106"/>
                    </a:moveTo>
                    <a:lnTo>
                      <a:pt x="106" y="0"/>
                    </a:lnTo>
                    <a:lnTo>
                      <a:pt x="10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22" name="Freeform 1022"/>
              <p:cNvSpPr>
                <a:spLocks/>
              </p:cNvSpPr>
              <p:nvPr/>
            </p:nvSpPr>
            <p:spPr bwMode="auto">
              <a:xfrm>
                <a:off x="4137" y="2573"/>
                <a:ext cx="171" cy="171"/>
              </a:xfrm>
              <a:custGeom>
                <a:avLst/>
                <a:gdLst>
                  <a:gd name="T0" fmla="*/ 0 w 1024"/>
                  <a:gd name="T1" fmla="*/ 1024 h 1024"/>
                  <a:gd name="T2" fmla="*/ 1023 w 1024"/>
                  <a:gd name="T3" fmla="*/ 0 h 1024"/>
                  <a:gd name="T4" fmla="*/ 1024 w 1024"/>
                  <a:gd name="T5" fmla="*/ 0 h 10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24" h="1024">
                    <a:moveTo>
                      <a:pt x="0" y="1024"/>
                    </a:moveTo>
                    <a:lnTo>
                      <a:pt x="1023" y="0"/>
                    </a:lnTo>
                    <a:lnTo>
                      <a:pt x="1024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23" name="Freeform 1023"/>
              <p:cNvSpPr>
                <a:spLocks/>
              </p:cNvSpPr>
              <p:nvPr/>
            </p:nvSpPr>
            <p:spPr bwMode="auto">
              <a:xfrm>
                <a:off x="4052" y="2749"/>
                <a:ext cx="116" cy="116"/>
              </a:xfrm>
              <a:custGeom>
                <a:avLst/>
                <a:gdLst>
                  <a:gd name="T0" fmla="*/ 0 w 688"/>
                  <a:gd name="T1" fmla="*/ 688 h 688"/>
                  <a:gd name="T2" fmla="*/ 687 w 688"/>
                  <a:gd name="T3" fmla="*/ 0 h 688"/>
                  <a:gd name="T4" fmla="*/ 688 w 688"/>
                  <a:gd name="T5" fmla="*/ 0 h 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8" h="688">
                    <a:moveTo>
                      <a:pt x="0" y="688"/>
                    </a:moveTo>
                    <a:lnTo>
                      <a:pt x="687" y="0"/>
                    </a:lnTo>
                    <a:lnTo>
                      <a:pt x="68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24" name="Freeform 1024"/>
              <p:cNvSpPr>
                <a:spLocks/>
              </p:cNvSpPr>
              <p:nvPr/>
            </p:nvSpPr>
            <p:spPr bwMode="auto">
              <a:xfrm>
                <a:off x="4320" y="2579"/>
                <a:ext cx="15" cy="16"/>
              </a:xfrm>
              <a:custGeom>
                <a:avLst/>
                <a:gdLst>
                  <a:gd name="T0" fmla="*/ 0 w 96"/>
                  <a:gd name="T1" fmla="*/ 95 h 95"/>
                  <a:gd name="T2" fmla="*/ 95 w 96"/>
                  <a:gd name="T3" fmla="*/ 0 h 95"/>
                  <a:gd name="T4" fmla="*/ 96 w 96"/>
                  <a:gd name="T5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95">
                    <a:moveTo>
                      <a:pt x="0" y="95"/>
                    </a:moveTo>
                    <a:lnTo>
                      <a:pt x="95" y="0"/>
                    </a:lnTo>
                    <a:lnTo>
                      <a:pt x="9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25" name="Freeform 1025"/>
              <p:cNvSpPr>
                <a:spLocks/>
              </p:cNvSpPr>
              <p:nvPr/>
            </p:nvSpPr>
            <p:spPr bwMode="auto">
              <a:xfrm>
                <a:off x="4166" y="2595"/>
                <a:ext cx="154" cy="154"/>
              </a:xfrm>
              <a:custGeom>
                <a:avLst/>
                <a:gdLst>
                  <a:gd name="T0" fmla="*/ 0 w 920"/>
                  <a:gd name="T1" fmla="*/ 919 h 919"/>
                  <a:gd name="T2" fmla="*/ 919 w 920"/>
                  <a:gd name="T3" fmla="*/ 0 h 919"/>
                  <a:gd name="T4" fmla="*/ 920 w 920"/>
                  <a:gd name="T5" fmla="*/ 0 h 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0" h="919">
                    <a:moveTo>
                      <a:pt x="0" y="919"/>
                    </a:moveTo>
                    <a:lnTo>
                      <a:pt x="919" y="0"/>
                    </a:lnTo>
                    <a:lnTo>
                      <a:pt x="920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26" name="Freeform 1026"/>
              <p:cNvSpPr>
                <a:spLocks/>
              </p:cNvSpPr>
              <p:nvPr/>
            </p:nvSpPr>
            <p:spPr bwMode="auto">
              <a:xfrm>
                <a:off x="4079" y="2753"/>
                <a:ext cx="117" cy="120"/>
              </a:xfrm>
              <a:custGeom>
                <a:avLst/>
                <a:gdLst>
                  <a:gd name="T0" fmla="*/ 0 w 706"/>
                  <a:gd name="T1" fmla="*/ 705 h 705"/>
                  <a:gd name="T2" fmla="*/ 705 w 706"/>
                  <a:gd name="T3" fmla="*/ 0 h 705"/>
                  <a:gd name="T4" fmla="*/ 706 w 706"/>
                  <a:gd name="T5" fmla="*/ 0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06" h="705">
                    <a:moveTo>
                      <a:pt x="0" y="705"/>
                    </a:moveTo>
                    <a:lnTo>
                      <a:pt x="705" y="0"/>
                    </a:lnTo>
                    <a:lnTo>
                      <a:pt x="70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27" name="Freeform 1027"/>
              <p:cNvSpPr>
                <a:spLocks/>
              </p:cNvSpPr>
              <p:nvPr/>
            </p:nvSpPr>
            <p:spPr bwMode="auto">
              <a:xfrm>
                <a:off x="4332" y="2603"/>
                <a:ext cx="13" cy="14"/>
              </a:xfrm>
              <a:custGeom>
                <a:avLst/>
                <a:gdLst>
                  <a:gd name="T0" fmla="*/ 0 w 82"/>
                  <a:gd name="T1" fmla="*/ 82 h 82"/>
                  <a:gd name="T2" fmla="*/ 81 w 82"/>
                  <a:gd name="T3" fmla="*/ 0 h 82"/>
                  <a:gd name="T4" fmla="*/ 82 w 82"/>
                  <a:gd name="T5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" h="82">
                    <a:moveTo>
                      <a:pt x="0" y="82"/>
                    </a:moveTo>
                    <a:lnTo>
                      <a:pt x="81" y="0"/>
                    </a:lnTo>
                    <a:lnTo>
                      <a:pt x="82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28" name="Freeform 1028"/>
              <p:cNvSpPr>
                <a:spLocks/>
              </p:cNvSpPr>
              <p:nvPr/>
            </p:nvSpPr>
            <p:spPr bwMode="auto">
              <a:xfrm>
                <a:off x="4195" y="2617"/>
                <a:ext cx="137" cy="136"/>
              </a:xfrm>
              <a:custGeom>
                <a:avLst/>
                <a:gdLst>
                  <a:gd name="T0" fmla="*/ 0 w 819"/>
                  <a:gd name="T1" fmla="*/ 818 h 818"/>
                  <a:gd name="T2" fmla="*/ 818 w 819"/>
                  <a:gd name="T3" fmla="*/ 0 h 818"/>
                  <a:gd name="T4" fmla="*/ 819 w 819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8">
                    <a:moveTo>
                      <a:pt x="0" y="818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29" name="Freeform 1029"/>
              <p:cNvSpPr>
                <a:spLocks/>
              </p:cNvSpPr>
              <p:nvPr/>
            </p:nvSpPr>
            <p:spPr bwMode="auto">
              <a:xfrm>
                <a:off x="4104" y="2760"/>
                <a:ext cx="120" cy="119"/>
              </a:xfrm>
              <a:custGeom>
                <a:avLst/>
                <a:gdLst>
                  <a:gd name="T0" fmla="*/ 0 w 718"/>
                  <a:gd name="T1" fmla="*/ 718 h 718"/>
                  <a:gd name="T2" fmla="*/ 717 w 718"/>
                  <a:gd name="T3" fmla="*/ 0 h 718"/>
                  <a:gd name="T4" fmla="*/ 718 w 718"/>
                  <a:gd name="T5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8" h="718">
                    <a:moveTo>
                      <a:pt x="0" y="718"/>
                    </a:moveTo>
                    <a:lnTo>
                      <a:pt x="717" y="0"/>
                    </a:lnTo>
                    <a:lnTo>
                      <a:pt x="71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30" name="Freeform 1030"/>
              <p:cNvSpPr>
                <a:spLocks/>
              </p:cNvSpPr>
              <p:nvPr/>
            </p:nvSpPr>
            <p:spPr bwMode="auto">
              <a:xfrm>
                <a:off x="4344" y="2629"/>
                <a:ext cx="11" cy="11"/>
              </a:xfrm>
              <a:custGeom>
                <a:avLst/>
                <a:gdLst>
                  <a:gd name="T0" fmla="*/ 0 w 67"/>
                  <a:gd name="T1" fmla="*/ 66 h 66"/>
                  <a:gd name="T2" fmla="*/ 66 w 67"/>
                  <a:gd name="T3" fmla="*/ 0 h 66"/>
                  <a:gd name="T4" fmla="*/ 67 w 67"/>
                  <a:gd name="T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" h="66">
                    <a:moveTo>
                      <a:pt x="0" y="66"/>
                    </a:moveTo>
                    <a:lnTo>
                      <a:pt x="66" y="0"/>
                    </a:lnTo>
                    <a:lnTo>
                      <a:pt x="6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31" name="Freeform 1031"/>
              <p:cNvSpPr>
                <a:spLocks/>
              </p:cNvSpPr>
              <p:nvPr/>
            </p:nvSpPr>
            <p:spPr bwMode="auto">
              <a:xfrm>
                <a:off x="4224" y="2640"/>
                <a:ext cx="120" cy="120"/>
              </a:xfrm>
              <a:custGeom>
                <a:avLst/>
                <a:gdLst>
                  <a:gd name="T0" fmla="*/ 0 w 721"/>
                  <a:gd name="T1" fmla="*/ 721 h 721"/>
                  <a:gd name="T2" fmla="*/ 720 w 721"/>
                  <a:gd name="T3" fmla="*/ 0 h 721"/>
                  <a:gd name="T4" fmla="*/ 721 w 721"/>
                  <a:gd name="T5" fmla="*/ 0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1" h="721">
                    <a:moveTo>
                      <a:pt x="0" y="721"/>
                    </a:moveTo>
                    <a:lnTo>
                      <a:pt x="720" y="0"/>
                    </a:lnTo>
                    <a:lnTo>
                      <a:pt x="72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32" name="Freeform 1032"/>
              <p:cNvSpPr>
                <a:spLocks/>
              </p:cNvSpPr>
              <p:nvPr/>
            </p:nvSpPr>
            <p:spPr bwMode="auto">
              <a:xfrm>
                <a:off x="4130" y="2766"/>
                <a:ext cx="124" cy="120"/>
              </a:xfrm>
              <a:custGeom>
                <a:avLst/>
                <a:gdLst>
                  <a:gd name="T0" fmla="*/ 0 w 731"/>
                  <a:gd name="T1" fmla="*/ 731 h 731"/>
                  <a:gd name="T2" fmla="*/ 729 w 731"/>
                  <a:gd name="T3" fmla="*/ 0 h 731"/>
                  <a:gd name="T4" fmla="*/ 731 w 731"/>
                  <a:gd name="T5" fmla="*/ 0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1" h="731">
                    <a:moveTo>
                      <a:pt x="0" y="731"/>
                    </a:moveTo>
                    <a:lnTo>
                      <a:pt x="729" y="0"/>
                    </a:lnTo>
                    <a:lnTo>
                      <a:pt x="731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33" name="Freeform 1033"/>
              <p:cNvSpPr>
                <a:spLocks/>
              </p:cNvSpPr>
              <p:nvPr/>
            </p:nvSpPr>
            <p:spPr bwMode="auto">
              <a:xfrm>
                <a:off x="4356" y="2653"/>
                <a:ext cx="8" cy="7"/>
              </a:xfrm>
              <a:custGeom>
                <a:avLst/>
                <a:gdLst>
                  <a:gd name="T0" fmla="*/ 0 w 49"/>
                  <a:gd name="T1" fmla="*/ 48 h 48"/>
                  <a:gd name="T2" fmla="*/ 48 w 49"/>
                  <a:gd name="T3" fmla="*/ 0 h 48"/>
                  <a:gd name="T4" fmla="*/ 49 w 49"/>
                  <a:gd name="T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" h="48">
                    <a:moveTo>
                      <a:pt x="0" y="48"/>
                    </a:moveTo>
                    <a:lnTo>
                      <a:pt x="48" y="0"/>
                    </a:lnTo>
                    <a:lnTo>
                      <a:pt x="49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34" name="Freeform 1034"/>
              <p:cNvSpPr>
                <a:spLocks/>
              </p:cNvSpPr>
              <p:nvPr/>
            </p:nvSpPr>
            <p:spPr bwMode="auto">
              <a:xfrm>
                <a:off x="4252" y="2660"/>
                <a:ext cx="104" cy="106"/>
              </a:xfrm>
              <a:custGeom>
                <a:avLst/>
                <a:gdLst>
                  <a:gd name="T0" fmla="*/ 0 w 626"/>
                  <a:gd name="T1" fmla="*/ 625 h 625"/>
                  <a:gd name="T2" fmla="*/ 625 w 626"/>
                  <a:gd name="T3" fmla="*/ 0 h 625"/>
                  <a:gd name="T4" fmla="*/ 626 w 626"/>
                  <a:gd name="T5" fmla="*/ 0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26" h="625">
                    <a:moveTo>
                      <a:pt x="0" y="625"/>
                    </a:moveTo>
                    <a:lnTo>
                      <a:pt x="625" y="0"/>
                    </a:lnTo>
                    <a:lnTo>
                      <a:pt x="626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35" name="Freeform 1035"/>
              <p:cNvSpPr>
                <a:spLocks/>
              </p:cNvSpPr>
              <p:nvPr/>
            </p:nvSpPr>
            <p:spPr bwMode="auto">
              <a:xfrm>
                <a:off x="4155" y="2771"/>
                <a:ext cx="124" cy="123"/>
              </a:xfrm>
              <a:custGeom>
                <a:avLst/>
                <a:gdLst>
                  <a:gd name="T0" fmla="*/ 0 w 737"/>
                  <a:gd name="T1" fmla="*/ 737 h 737"/>
                  <a:gd name="T2" fmla="*/ 736 w 737"/>
                  <a:gd name="T3" fmla="*/ 0 h 737"/>
                  <a:gd name="T4" fmla="*/ 737 w 737"/>
                  <a:gd name="T5" fmla="*/ 0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7" h="737">
                    <a:moveTo>
                      <a:pt x="0" y="737"/>
                    </a:moveTo>
                    <a:lnTo>
                      <a:pt x="736" y="0"/>
                    </a:lnTo>
                    <a:lnTo>
                      <a:pt x="737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36" name="Freeform 1036"/>
              <p:cNvSpPr>
                <a:spLocks/>
              </p:cNvSpPr>
              <p:nvPr/>
            </p:nvSpPr>
            <p:spPr bwMode="auto">
              <a:xfrm>
                <a:off x="4368" y="2678"/>
                <a:ext cx="5" cy="4"/>
              </a:xfrm>
              <a:custGeom>
                <a:avLst/>
                <a:gdLst>
                  <a:gd name="T0" fmla="*/ 0 w 28"/>
                  <a:gd name="T1" fmla="*/ 27 h 27"/>
                  <a:gd name="T2" fmla="*/ 27 w 28"/>
                  <a:gd name="T3" fmla="*/ 0 h 27"/>
                  <a:gd name="T4" fmla="*/ 28 w 28"/>
                  <a:gd name="T5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7">
                    <a:moveTo>
                      <a:pt x="0" y="27"/>
                    </a:moveTo>
                    <a:lnTo>
                      <a:pt x="27" y="0"/>
                    </a:lnTo>
                    <a:lnTo>
                      <a:pt x="28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37" name="Freeform 1037"/>
              <p:cNvSpPr>
                <a:spLocks/>
              </p:cNvSpPr>
              <p:nvPr/>
            </p:nvSpPr>
            <p:spPr bwMode="auto">
              <a:xfrm>
                <a:off x="4279" y="2682"/>
                <a:ext cx="89" cy="89"/>
              </a:xfrm>
              <a:custGeom>
                <a:avLst/>
                <a:gdLst>
                  <a:gd name="T0" fmla="*/ 0 w 535"/>
                  <a:gd name="T1" fmla="*/ 534 h 534"/>
                  <a:gd name="T2" fmla="*/ 534 w 535"/>
                  <a:gd name="T3" fmla="*/ 0 h 534"/>
                  <a:gd name="T4" fmla="*/ 535 w 535"/>
                  <a:gd name="T5" fmla="*/ 0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5" h="534">
                    <a:moveTo>
                      <a:pt x="0" y="534"/>
                    </a:moveTo>
                    <a:lnTo>
                      <a:pt x="534" y="0"/>
                    </a:lnTo>
                    <a:lnTo>
                      <a:pt x="535" y="0"/>
                    </a:lnTo>
                  </a:path>
                </a:pathLst>
              </a:custGeom>
              <a:noFill/>
              <a:ln w="95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52238" name="Freeform 1038"/>
            <p:cNvSpPr>
              <a:spLocks/>
            </p:cNvSpPr>
            <p:nvPr/>
          </p:nvSpPr>
          <p:spPr bwMode="auto">
            <a:xfrm>
              <a:off x="5458" y="3154"/>
              <a:ext cx="81" cy="80"/>
            </a:xfrm>
            <a:custGeom>
              <a:avLst/>
              <a:gdLst>
                <a:gd name="T0" fmla="*/ 0 w 742"/>
                <a:gd name="T1" fmla="*/ 741 h 741"/>
                <a:gd name="T2" fmla="*/ 741 w 742"/>
                <a:gd name="T3" fmla="*/ 0 h 741"/>
                <a:gd name="T4" fmla="*/ 742 w 742"/>
                <a:gd name="T5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2" h="741">
                  <a:moveTo>
                    <a:pt x="0" y="741"/>
                  </a:moveTo>
                  <a:lnTo>
                    <a:pt x="741" y="0"/>
                  </a:lnTo>
                  <a:lnTo>
                    <a:pt x="74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239" name="Freeform 1039"/>
            <p:cNvSpPr>
              <a:spLocks/>
            </p:cNvSpPr>
            <p:nvPr/>
          </p:nvSpPr>
          <p:spPr bwMode="auto">
            <a:xfrm>
              <a:off x="5538" y="3106"/>
              <a:ext cx="48" cy="46"/>
            </a:xfrm>
            <a:custGeom>
              <a:avLst/>
              <a:gdLst>
                <a:gd name="T0" fmla="*/ 0 w 446"/>
                <a:gd name="T1" fmla="*/ 446 h 446"/>
                <a:gd name="T2" fmla="*/ 445 w 446"/>
                <a:gd name="T3" fmla="*/ 0 h 446"/>
                <a:gd name="T4" fmla="*/ 446 w 446"/>
                <a:gd name="T5" fmla="*/ 0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6" h="446">
                  <a:moveTo>
                    <a:pt x="0" y="446"/>
                  </a:moveTo>
                  <a:lnTo>
                    <a:pt x="445" y="0"/>
                  </a:lnTo>
                  <a:lnTo>
                    <a:pt x="446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240" name="Freeform 1040"/>
            <p:cNvSpPr>
              <a:spLocks/>
            </p:cNvSpPr>
            <p:nvPr/>
          </p:nvSpPr>
          <p:spPr bwMode="auto">
            <a:xfrm>
              <a:off x="5475" y="3159"/>
              <a:ext cx="80" cy="80"/>
            </a:xfrm>
            <a:custGeom>
              <a:avLst/>
              <a:gdLst>
                <a:gd name="T0" fmla="*/ 0 w 743"/>
                <a:gd name="T1" fmla="*/ 741 h 741"/>
                <a:gd name="T2" fmla="*/ 742 w 743"/>
                <a:gd name="T3" fmla="*/ 0 h 741"/>
                <a:gd name="T4" fmla="*/ 743 w 743"/>
                <a:gd name="T5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3" h="741">
                  <a:moveTo>
                    <a:pt x="0" y="741"/>
                  </a:moveTo>
                  <a:lnTo>
                    <a:pt x="742" y="0"/>
                  </a:lnTo>
                  <a:lnTo>
                    <a:pt x="74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241" name="Freeform 1041"/>
            <p:cNvSpPr>
              <a:spLocks/>
            </p:cNvSpPr>
            <p:nvPr/>
          </p:nvSpPr>
          <p:spPr bwMode="auto">
            <a:xfrm>
              <a:off x="5555" y="3123"/>
              <a:ext cx="36" cy="36"/>
            </a:xfrm>
            <a:custGeom>
              <a:avLst/>
              <a:gdLst>
                <a:gd name="T0" fmla="*/ 0 w 327"/>
                <a:gd name="T1" fmla="*/ 328 h 328"/>
                <a:gd name="T2" fmla="*/ 326 w 327"/>
                <a:gd name="T3" fmla="*/ 0 h 328"/>
                <a:gd name="T4" fmla="*/ 327 w 327"/>
                <a:gd name="T5" fmla="*/ 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7" h="328">
                  <a:moveTo>
                    <a:pt x="0" y="328"/>
                  </a:moveTo>
                  <a:lnTo>
                    <a:pt x="326" y="0"/>
                  </a:lnTo>
                  <a:lnTo>
                    <a:pt x="32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242" name="Freeform 1042"/>
            <p:cNvSpPr>
              <a:spLocks/>
            </p:cNvSpPr>
            <p:nvPr/>
          </p:nvSpPr>
          <p:spPr bwMode="auto">
            <a:xfrm>
              <a:off x="5492" y="3165"/>
              <a:ext cx="79" cy="78"/>
            </a:xfrm>
            <a:custGeom>
              <a:avLst/>
              <a:gdLst>
                <a:gd name="T0" fmla="*/ 0 w 738"/>
                <a:gd name="T1" fmla="*/ 737 h 737"/>
                <a:gd name="T2" fmla="*/ 737 w 738"/>
                <a:gd name="T3" fmla="*/ 0 h 737"/>
                <a:gd name="T4" fmla="*/ 738 w 738"/>
                <a:gd name="T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38" h="737">
                  <a:moveTo>
                    <a:pt x="0" y="737"/>
                  </a:moveTo>
                  <a:lnTo>
                    <a:pt x="737" y="0"/>
                  </a:lnTo>
                  <a:lnTo>
                    <a:pt x="738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243" name="Freeform 1043"/>
            <p:cNvSpPr>
              <a:spLocks/>
            </p:cNvSpPr>
            <p:nvPr/>
          </p:nvSpPr>
          <p:spPr bwMode="auto">
            <a:xfrm>
              <a:off x="5571" y="3142"/>
              <a:ext cx="23" cy="23"/>
            </a:xfrm>
            <a:custGeom>
              <a:avLst/>
              <a:gdLst>
                <a:gd name="T0" fmla="*/ 0 w 207"/>
                <a:gd name="T1" fmla="*/ 207 h 207"/>
                <a:gd name="T2" fmla="*/ 206 w 207"/>
                <a:gd name="T3" fmla="*/ 0 h 207"/>
                <a:gd name="T4" fmla="*/ 207 w 207"/>
                <a:gd name="T5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" h="207">
                  <a:moveTo>
                    <a:pt x="0" y="207"/>
                  </a:moveTo>
                  <a:lnTo>
                    <a:pt x="206" y="0"/>
                  </a:lnTo>
                  <a:lnTo>
                    <a:pt x="20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244" name="Freeform 1044"/>
            <p:cNvSpPr>
              <a:spLocks/>
            </p:cNvSpPr>
            <p:nvPr/>
          </p:nvSpPr>
          <p:spPr bwMode="auto">
            <a:xfrm>
              <a:off x="5509" y="3170"/>
              <a:ext cx="78" cy="78"/>
            </a:xfrm>
            <a:custGeom>
              <a:avLst/>
              <a:gdLst>
                <a:gd name="T0" fmla="*/ 0 w 729"/>
                <a:gd name="T1" fmla="*/ 728 h 728"/>
                <a:gd name="T2" fmla="*/ 728 w 729"/>
                <a:gd name="T3" fmla="*/ 0 h 728"/>
                <a:gd name="T4" fmla="*/ 729 w 729"/>
                <a:gd name="T5" fmla="*/ 0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9" h="728">
                  <a:moveTo>
                    <a:pt x="0" y="728"/>
                  </a:moveTo>
                  <a:lnTo>
                    <a:pt x="728" y="0"/>
                  </a:lnTo>
                  <a:lnTo>
                    <a:pt x="72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245" name="Freeform 1045"/>
            <p:cNvSpPr>
              <a:spLocks/>
            </p:cNvSpPr>
            <p:nvPr/>
          </p:nvSpPr>
          <p:spPr bwMode="auto">
            <a:xfrm>
              <a:off x="5587" y="3161"/>
              <a:ext cx="10" cy="9"/>
            </a:xfrm>
            <a:custGeom>
              <a:avLst/>
              <a:gdLst>
                <a:gd name="T0" fmla="*/ 0 w 87"/>
                <a:gd name="T1" fmla="*/ 85 h 85"/>
                <a:gd name="T2" fmla="*/ 86 w 87"/>
                <a:gd name="T3" fmla="*/ 0 h 85"/>
                <a:gd name="T4" fmla="*/ 87 w 8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7" h="85">
                  <a:moveTo>
                    <a:pt x="0" y="85"/>
                  </a:moveTo>
                  <a:lnTo>
                    <a:pt x="86" y="0"/>
                  </a:lnTo>
                  <a:lnTo>
                    <a:pt x="8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246" name="Freeform 1046"/>
            <p:cNvSpPr>
              <a:spLocks/>
            </p:cNvSpPr>
            <p:nvPr/>
          </p:nvSpPr>
          <p:spPr bwMode="auto">
            <a:xfrm>
              <a:off x="5526" y="3181"/>
              <a:ext cx="73" cy="72"/>
            </a:xfrm>
            <a:custGeom>
              <a:avLst/>
              <a:gdLst>
                <a:gd name="T0" fmla="*/ 0 w 679"/>
                <a:gd name="T1" fmla="*/ 679 h 679"/>
                <a:gd name="T2" fmla="*/ 677 w 679"/>
                <a:gd name="T3" fmla="*/ 0 h 679"/>
                <a:gd name="T4" fmla="*/ 679 w 679"/>
                <a:gd name="T5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9" h="679">
                  <a:moveTo>
                    <a:pt x="0" y="679"/>
                  </a:moveTo>
                  <a:lnTo>
                    <a:pt x="677" y="0"/>
                  </a:lnTo>
                  <a:lnTo>
                    <a:pt x="679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247" name="Freeform 1047"/>
            <p:cNvSpPr>
              <a:spLocks/>
            </p:cNvSpPr>
            <p:nvPr/>
          </p:nvSpPr>
          <p:spPr bwMode="auto">
            <a:xfrm>
              <a:off x="5543" y="3201"/>
              <a:ext cx="58" cy="58"/>
            </a:xfrm>
            <a:custGeom>
              <a:avLst/>
              <a:gdLst>
                <a:gd name="T0" fmla="*/ 0 w 542"/>
                <a:gd name="T1" fmla="*/ 540 h 540"/>
                <a:gd name="T2" fmla="*/ 541 w 542"/>
                <a:gd name="T3" fmla="*/ 0 h 540"/>
                <a:gd name="T4" fmla="*/ 542 w 542"/>
                <a:gd name="T5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2" h="540">
                  <a:moveTo>
                    <a:pt x="0" y="540"/>
                  </a:moveTo>
                  <a:lnTo>
                    <a:pt x="541" y="0"/>
                  </a:lnTo>
                  <a:lnTo>
                    <a:pt x="542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248" name="Freeform 1048"/>
            <p:cNvSpPr>
              <a:spLocks/>
            </p:cNvSpPr>
            <p:nvPr/>
          </p:nvSpPr>
          <p:spPr bwMode="auto">
            <a:xfrm>
              <a:off x="5559" y="3220"/>
              <a:ext cx="44" cy="44"/>
            </a:xfrm>
            <a:custGeom>
              <a:avLst/>
              <a:gdLst>
                <a:gd name="T0" fmla="*/ 0 w 404"/>
                <a:gd name="T1" fmla="*/ 403 h 403"/>
                <a:gd name="T2" fmla="*/ 403 w 404"/>
                <a:gd name="T3" fmla="*/ 0 h 403"/>
                <a:gd name="T4" fmla="*/ 404 w 404"/>
                <a:gd name="T5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4" h="403">
                  <a:moveTo>
                    <a:pt x="0" y="403"/>
                  </a:moveTo>
                  <a:lnTo>
                    <a:pt x="403" y="0"/>
                  </a:lnTo>
                  <a:lnTo>
                    <a:pt x="40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249" name="Freeform 1049"/>
            <p:cNvSpPr>
              <a:spLocks/>
            </p:cNvSpPr>
            <p:nvPr/>
          </p:nvSpPr>
          <p:spPr bwMode="auto">
            <a:xfrm>
              <a:off x="5576" y="3240"/>
              <a:ext cx="29" cy="28"/>
            </a:xfrm>
            <a:custGeom>
              <a:avLst/>
              <a:gdLst>
                <a:gd name="T0" fmla="*/ 0 w 267"/>
                <a:gd name="T1" fmla="*/ 268 h 268"/>
                <a:gd name="T2" fmla="*/ 266 w 267"/>
                <a:gd name="T3" fmla="*/ 0 h 268"/>
                <a:gd name="T4" fmla="*/ 267 w 267"/>
                <a:gd name="T5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7" h="268">
                  <a:moveTo>
                    <a:pt x="0" y="268"/>
                  </a:moveTo>
                  <a:lnTo>
                    <a:pt x="266" y="0"/>
                  </a:lnTo>
                  <a:lnTo>
                    <a:pt x="267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250" name="Freeform 1050"/>
            <p:cNvSpPr>
              <a:spLocks/>
            </p:cNvSpPr>
            <p:nvPr/>
          </p:nvSpPr>
          <p:spPr bwMode="auto">
            <a:xfrm>
              <a:off x="5593" y="3259"/>
              <a:ext cx="14" cy="14"/>
            </a:xfrm>
            <a:custGeom>
              <a:avLst/>
              <a:gdLst>
                <a:gd name="T0" fmla="*/ 0 w 134"/>
                <a:gd name="T1" fmla="*/ 133 h 133"/>
                <a:gd name="T2" fmla="*/ 133 w 134"/>
                <a:gd name="T3" fmla="*/ 0 h 133"/>
                <a:gd name="T4" fmla="*/ 134 w 134"/>
                <a:gd name="T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33">
                  <a:moveTo>
                    <a:pt x="0" y="133"/>
                  </a:moveTo>
                  <a:lnTo>
                    <a:pt x="133" y="0"/>
                  </a:lnTo>
                  <a:lnTo>
                    <a:pt x="134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251" name="Freeform 1051"/>
            <p:cNvSpPr>
              <a:spLocks/>
            </p:cNvSpPr>
            <p:nvPr/>
          </p:nvSpPr>
          <p:spPr bwMode="auto">
            <a:xfrm>
              <a:off x="5610" y="3279"/>
              <a:ext cx="0" cy="0"/>
            </a:xfrm>
            <a:custGeom>
              <a:avLst/>
              <a:gdLst>
                <a:gd name="T0" fmla="*/ 0 w 3"/>
                <a:gd name="T1" fmla="*/ 2 h 2"/>
                <a:gd name="T2" fmla="*/ 2 w 3"/>
                <a:gd name="T3" fmla="*/ 0 h 2"/>
                <a:gd name="T4" fmla="*/ 3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95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252" name="Freeform 1052"/>
            <p:cNvSpPr>
              <a:spLocks/>
            </p:cNvSpPr>
            <p:nvPr/>
          </p:nvSpPr>
          <p:spPr bwMode="auto">
            <a:xfrm>
              <a:off x="4890" y="3209"/>
              <a:ext cx="760" cy="116"/>
            </a:xfrm>
            <a:custGeom>
              <a:avLst/>
              <a:gdLst>
                <a:gd name="T0" fmla="*/ 0 w 7811"/>
                <a:gd name="T1" fmla="*/ 0 h 1154"/>
                <a:gd name="T2" fmla="*/ 63 w 7811"/>
                <a:gd name="T3" fmla="*/ 197 h 1154"/>
                <a:gd name="T4" fmla="*/ 255 w 7811"/>
                <a:gd name="T5" fmla="*/ 389 h 1154"/>
                <a:gd name="T6" fmla="*/ 572 w 7811"/>
                <a:gd name="T7" fmla="*/ 571 h 1154"/>
                <a:gd name="T8" fmla="*/ 1003 w 7811"/>
                <a:gd name="T9" fmla="*/ 738 h 1154"/>
                <a:gd name="T10" fmla="*/ 1532 w 7811"/>
                <a:gd name="T11" fmla="*/ 882 h 1154"/>
                <a:gd name="T12" fmla="*/ 2142 w 7811"/>
                <a:gd name="T13" fmla="*/ 999 h 1154"/>
                <a:gd name="T14" fmla="*/ 2813 w 7811"/>
                <a:gd name="T15" fmla="*/ 1086 h 1154"/>
                <a:gd name="T16" fmla="*/ 3521 w 7811"/>
                <a:gd name="T17" fmla="*/ 1138 h 1154"/>
                <a:gd name="T18" fmla="*/ 4241 w 7811"/>
                <a:gd name="T19" fmla="*/ 1154 h 1154"/>
                <a:gd name="T20" fmla="*/ 4950 w 7811"/>
                <a:gd name="T21" fmla="*/ 1136 h 1154"/>
                <a:gd name="T22" fmla="*/ 5623 w 7811"/>
                <a:gd name="T23" fmla="*/ 1080 h 1154"/>
                <a:gd name="T24" fmla="*/ 6238 w 7811"/>
                <a:gd name="T25" fmla="*/ 992 h 1154"/>
                <a:gd name="T26" fmla="*/ 6774 w 7811"/>
                <a:gd name="T27" fmla="*/ 874 h 1154"/>
                <a:gd name="T28" fmla="*/ 7212 w 7811"/>
                <a:gd name="T29" fmla="*/ 728 h 1154"/>
                <a:gd name="T30" fmla="*/ 7537 w 7811"/>
                <a:gd name="T31" fmla="*/ 560 h 1154"/>
                <a:gd name="T32" fmla="*/ 7739 w 7811"/>
                <a:gd name="T33" fmla="*/ 377 h 1154"/>
                <a:gd name="T34" fmla="*/ 7810 w 7811"/>
                <a:gd name="T35" fmla="*/ 183 h 1154"/>
                <a:gd name="T36" fmla="*/ 7811 w 7811"/>
                <a:gd name="T37" fmla="*/ 183 h 1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811" h="1154">
                  <a:moveTo>
                    <a:pt x="0" y="0"/>
                  </a:moveTo>
                  <a:lnTo>
                    <a:pt x="63" y="197"/>
                  </a:lnTo>
                  <a:lnTo>
                    <a:pt x="255" y="389"/>
                  </a:lnTo>
                  <a:lnTo>
                    <a:pt x="572" y="571"/>
                  </a:lnTo>
                  <a:lnTo>
                    <a:pt x="1003" y="738"/>
                  </a:lnTo>
                  <a:lnTo>
                    <a:pt x="1532" y="882"/>
                  </a:lnTo>
                  <a:lnTo>
                    <a:pt x="2142" y="999"/>
                  </a:lnTo>
                  <a:lnTo>
                    <a:pt x="2813" y="1086"/>
                  </a:lnTo>
                  <a:lnTo>
                    <a:pt x="3521" y="1138"/>
                  </a:lnTo>
                  <a:lnTo>
                    <a:pt x="4241" y="1154"/>
                  </a:lnTo>
                  <a:lnTo>
                    <a:pt x="4950" y="1136"/>
                  </a:lnTo>
                  <a:lnTo>
                    <a:pt x="5623" y="1080"/>
                  </a:lnTo>
                  <a:lnTo>
                    <a:pt x="6238" y="992"/>
                  </a:lnTo>
                  <a:lnTo>
                    <a:pt x="6774" y="874"/>
                  </a:lnTo>
                  <a:lnTo>
                    <a:pt x="7212" y="728"/>
                  </a:lnTo>
                  <a:lnTo>
                    <a:pt x="7537" y="560"/>
                  </a:lnTo>
                  <a:lnTo>
                    <a:pt x="7739" y="377"/>
                  </a:lnTo>
                  <a:lnTo>
                    <a:pt x="7810" y="183"/>
                  </a:lnTo>
                  <a:lnTo>
                    <a:pt x="7811" y="183"/>
                  </a:lnTo>
                </a:path>
              </a:pathLst>
            </a:custGeom>
            <a:noFill/>
            <a:ln w="95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52263" name="Group 1063"/>
          <p:cNvGrpSpPr>
            <a:grpSpLocks/>
          </p:cNvGrpSpPr>
          <p:nvPr/>
        </p:nvGrpSpPr>
        <p:grpSpPr bwMode="auto">
          <a:xfrm>
            <a:off x="287338" y="3108325"/>
            <a:ext cx="2127250" cy="2776538"/>
            <a:chOff x="181" y="1958"/>
            <a:chExt cx="1340" cy="1749"/>
          </a:xfrm>
        </p:grpSpPr>
        <p:grpSp>
          <p:nvGrpSpPr>
            <p:cNvPr id="10289" name="Group 1056"/>
            <p:cNvGrpSpPr>
              <a:grpSpLocks/>
            </p:cNvGrpSpPr>
            <p:nvPr/>
          </p:nvGrpSpPr>
          <p:grpSpPr bwMode="auto">
            <a:xfrm>
              <a:off x="840" y="2556"/>
              <a:ext cx="1" cy="1151"/>
              <a:chOff x="840" y="2556"/>
              <a:chExt cx="1" cy="1151"/>
            </a:xfrm>
          </p:grpSpPr>
          <p:sp>
            <p:nvSpPr>
              <p:cNvPr id="51217" name="Freeform 17"/>
              <p:cNvSpPr>
                <a:spLocks/>
              </p:cNvSpPr>
              <p:nvPr/>
            </p:nvSpPr>
            <p:spPr bwMode="auto">
              <a:xfrm>
                <a:off x="840" y="2556"/>
                <a:ext cx="1" cy="13"/>
              </a:xfrm>
              <a:custGeom>
                <a:avLst/>
                <a:gdLst>
                  <a:gd name="T0" fmla="*/ 0 w 1"/>
                  <a:gd name="T1" fmla="*/ 0 h 91"/>
                  <a:gd name="T2" fmla="*/ 0 w 1"/>
                  <a:gd name="T3" fmla="*/ 91 h 91"/>
                  <a:gd name="T4" fmla="*/ 1 w 1"/>
                  <a:gd name="T5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1">
                    <a:moveTo>
                      <a:pt x="0" y="0"/>
                    </a:moveTo>
                    <a:lnTo>
                      <a:pt x="0" y="91"/>
                    </a:lnTo>
                    <a:lnTo>
                      <a:pt x="1" y="9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18" name="Freeform 18"/>
              <p:cNvSpPr>
                <a:spLocks/>
              </p:cNvSpPr>
              <p:nvPr/>
            </p:nvSpPr>
            <p:spPr bwMode="auto">
              <a:xfrm>
                <a:off x="840" y="2582"/>
                <a:ext cx="1" cy="78"/>
              </a:xfrm>
              <a:custGeom>
                <a:avLst/>
                <a:gdLst>
                  <a:gd name="T0" fmla="*/ 0 w 1"/>
                  <a:gd name="T1" fmla="*/ 0 h 545"/>
                  <a:gd name="T2" fmla="*/ 0 w 1"/>
                  <a:gd name="T3" fmla="*/ 545 h 545"/>
                  <a:gd name="T4" fmla="*/ 1 w 1"/>
                  <a:gd name="T5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45">
                    <a:moveTo>
                      <a:pt x="0" y="0"/>
                    </a:moveTo>
                    <a:lnTo>
                      <a:pt x="0" y="545"/>
                    </a:lnTo>
                    <a:lnTo>
                      <a:pt x="1" y="54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19" name="Freeform 19"/>
              <p:cNvSpPr>
                <a:spLocks/>
              </p:cNvSpPr>
              <p:nvPr/>
            </p:nvSpPr>
            <p:spPr bwMode="auto">
              <a:xfrm>
                <a:off x="840" y="2673"/>
                <a:ext cx="1" cy="13"/>
              </a:xfrm>
              <a:custGeom>
                <a:avLst/>
                <a:gdLst>
                  <a:gd name="T0" fmla="*/ 0 w 1"/>
                  <a:gd name="T1" fmla="*/ 0 h 91"/>
                  <a:gd name="T2" fmla="*/ 0 w 1"/>
                  <a:gd name="T3" fmla="*/ 91 h 91"/>
                  <a:gd name="T4" fmla="*/ 1 w 1"/>
                  <a:gd name="T5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1">
                    <a:moveTo>
                      <a:pt x="0" y="0"/>
                    </a:moveTo>
                    <a:lnTo>
                      <a:pt x="0" y="91"/>
                    </a:lnTo>
                    <a:lnTo>
                      <a:pt x="1" y="9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20" name="Freeform 20"/>
              <p:cNvSpPr>
                <a:spLocks/>
              </p:cNvSpPr>
              <p:nvPr/>
            </p:nvSpPr>
            <p:spPr bwMode="auto">
              <a:xfrm>
                <a:off x="840" y="2699"/>
                <a:ext cx="1" cy="79"/>
              </a:xfrm>
              <a:custGeom>
                <a:avLst/>
                <a:gdLst>
                  <a:gd name="T0" fmla="*/ 0 w 1"/>
                  <a:gd name="T1" fmla="*/ 0 h 545"/>
                  <a:gd name="T2" fmla="*/ 0 w 1"/>
                  <a:gd name="T3" fmla="*/ 545 h 545"/>
                  <a:gd name="T4" fmla="*/ 1 w 1"/>
                  <a:gd name="T5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45">
                    <a:moveTo>
                      <a:pt x="0" y="0"/>
                    </a:moveTo>
                    <a:lnTo>
                      <a:pt x="0" y="545"/>
                    </a:lnTo>
                    <a:lnTo>
                      <a:pt x="1" y="54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21" name="Freeform 21"/>
              <p:cNvSpPr>
                <a:spLocks/>
              </p:cNvSpPr>
              <p:nvPr/>
            </p:nvSpPr>
            <p:spPr bwMode="auto">
              <a:xfrm>
                <a:off x="840" y="2790"/>
                <a:ext cx="1" cy="13"/>
              </a:xfrm>
              <a:custGeom>
                <a:avLst/>
                <a:gdLst>
                  <a:gd name="T0" fmla="*/ 0 w 1"/>
                  <a:gd name="T1" fmla="*/ 0 h 91"/>
                  <a:gd name="T2" fmla="*/ 0 w 1"/>
                  <a:gd name="T3" fmla="*/ 91 h 91"/>
                  <a:gd name="T4" fmla="*/ 1 w 1"/>
                  <a:gd name="T5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1">
                    <a:moveTo>
                      <a:pt x="0" y="0"/>
                    </a:moveTo>
                    <a:lnTo>
                      <a:pt x="0" y="91"/>
                    </a:lnTo>
                    <a:lnTo>
                      <a:pt x="1" y="9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22" name="Freeform 22"/>
              <p:cNvSpPr>
                <a:spLocks/>
              </p:cNvSpPr>
              <p:nvPr/>
            </p:nvSpPr>
            <p:spPr bwMode="auto">
              <a:xfrm>
                <a:off x="840" y="2816"/>
                <a:ext cx="1" cy="78"/>
              </a:xfrm>
              <a:custGeom>
                <a:avLst/>
                <a:gdLst>
                  <a:gd name="T0" fmla="*/ 0 w 1"/>
                  <a:gd name="T1" fmla="*/ 0 h 545"/>
                  <a:gd name="T2" fmla="*/ 0 w 1"/>
                  <a:gd name="T3" fmla="*/ 545 h 545"/>
                  <a:gd name="T4" fmla="*/ 1 w 1"/>
                  <a:gd name="T5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45">
                    <a:moveTo>
                      <a:pt x="0" y="0"/>
                    </a:moveTo>
                    <a:lnTo>
                      <a:pt x="0" y="545"/>
                    </a:lnTo>
                    <a:lnTo>
                      <a:pt x="1" y="54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23" name="Freeform 23"/>
              <p:cNvSpPr>
                <a:spLocks/>
              </p:cNvSpPr>
              <p:nvPr/>
            </p:nvSpPr>
            <p:spPr bwMode="auto">
              <a:xfrm>
                <a:off x="840" y="2907"/>
                <a:ext cx="1" cy="13"/>
              </a:xfrm>
              <a:custGeom>
                <a:avLst/>
                <a:gdLst>
                  <a:gd name="T0" fmla="*/ 0 w 1"/>
                  <a:gd name="T1" fmla="*/ 0 h 91"/>
                  <a:gd name="T2" fmla="*/ 0 w 1"/>
                  <a:gd name="T3" fmla="*/ 91 h 91"/>
                  <a:gd name="T4" fmla="*/ 1 w 1"/>
                  <a:gd name="T5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1">
                    <a:moveTo>
                      <a:pt x="0" y="0"/>
                    </a:moveTo>
                    <a:lnTo>
                      <a:pt x="0" y="91"/>
                    </a:lnTo>
                    <a:lnTo>
                      <a:pt x="1" y="9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24" name="Freeform 24"/>
              <p:cNvSpPr>
                <a:spLocks/>
              </p:cNvSpPr>
              <p:nvPr/>
            </p:nvSpPr>
            <p:spPr bwMode="auto">
              <a:xfrm>
                <a:off x="840" y="2933"/>
                <a:ext cx="1" cy="78"/>
              </a:xfrm>
              <a:custGeom>
                <a:avLst/>
                <a:gdLst>
                  <a:gd name="T0" fmla="*/ 0 w 1"/>
                  <a:gd name="T1" fmla="*/ 0 h 545"/>
                  <a:gd name="T2" fmla="*/ 0 w 1"/>
                  <a:gd name="T3" fmla="*/ 545 h 545"/>
                  <a:gd name="T4" fmla="*/ 1 w 1"/>
                  <a:gd name="T5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45">
                    <a:moveTo>
                      <a:pt x="0" y="0"/>
                    </a:moveTo>
                    <a:lnTo>
                      <a:pt x="0" y="545"/>
                    </a:lnTo>
                    <a:lnTo>
                      <a:pt x="1" y="54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25" name="Freeform 25"/>
              <p:cNvSpPr>
                <a:spLocks/>
              </p:cNvSpPr>
              <p:nvPr/>
            </p:nvSpPr>
            <p:spPr bwMode="auto">
              <a:xfrm>
                <a:off x="840" y="3024"/>
                <a:ext cx="1" cy="13"/>
              </a:xfrm>
              <a:custGeom>
                <a:avLst/>
                <a:gdLst>
                  <a:gd name="T0" fmla="*/ 0 w 1"/>
                  <a:gd name="T1" fmla="*/ 0 h 91"/>
                  <a:gd name="T2" fmla="*/ 0 w 1"/>
                  <a:gd name="T3" fmla="*/ 91 h 91"/>
                  <a:gd name="T4" fmla="*/ 1 w 1"/>
                  <a:gd name="T5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1">
                    <a:moveTo>
                      <a:pt x="0" y="0"/>
                    </a:moveTo>
                    <a:lnTo>
                      <a:pt x="0" y="91"/>
                    </a:lnTo>
                    <a:lnTo>
                      <a:pt x="1" y="9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26" name="Freeform 26"/>
              <p:cNvSpPr>
                <a:spLocks/>
              </p:cNvSpPr>
              <p:nvPr/>
            </p:nvSpPr>
            <p:spPr bwMode="auto">
              <a:xfrm>
                <a:off x="840" y="3050"/>
                <a:ext cx="1" cy="49"/>
              </a:xfrm>
              <a:custGeom>
                <a:avLst/>
                <a:gdLst>
                  <a:gd name="T0" fmla="*/ 0 w 1"/>
                  <a:gd name="T1" fmla="*/ 0 h 339"/>
                  <a:gd name="T2" fmla="*/ 0 w 1"/>
                  <a:gd name="T3" fmla="*/ 339 h 339"/>
                  <a:gd name="T4" fmla="*/ 1 w 1"/>
                  <a:gd name="T5" fmla="*/ 33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39">
                    <a:moveTo>
                      <a:pt x="0" y="0"/>
                    </a:moveTo>
                    <a:lnTo>
                      <a:pt x="0" y="339"/>
                    </a:lnTo>
                    <a:lnTo>
                      <a:pt x="1" y="339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52" name="Freeform 52"/>
              <p:cNvSpPr>
                <a:spLocks/>
              </p:cNvSpPr>
              <p:nvPr/>
            </p:nvSpPr>
            <p:spPr bwMode="auto">
              <a:xfrm>
                <a:off x="840" y="3273"/>
                <a:ext cx="1" cy="83"/>
              </a:xfrm>
              <a:custGeom>
                <a:avLst/>
                <a:gdLst>
                  <a:gd name="T0" fmla="*/ 0 w 1"/>
                  <a:gd name="T1" fmla="*/ 0 h 576"/>
                  <a:gd name="T2" fmla="*/ 0 w 1"/>
                  <a:gd name="T3" fmla="*/ 576 h 576"/>
                  <a:gd name="T4" fmla="*/ 1 w 1"/>
                  <a:gd name="T5" fmla="*/ 576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76">
                    <a:moveTo>
                      <a:pt x="0" y="0"/>
                    </a:moveTo>
                    <a:lnTo>
                      <a:pt x="0" y="576"/>
                    </a:lnTo>
                    <a:lnTo>
                      <a:pt x="1" y="576"/>
                    </a:lnTo>
                  </a:path>
                </a:pathLst>
              </a:custGeom>
              <a:noFill/>
              <a:ln w="222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53" name="Freeform 53"/>
              <p:cNvSpPr>
                <a:spLocks/>
              </p:cNvSpPr>
              <p:nvPr/>
            </p:nvSpPr>
            <p:spPr bwMode="auto">
              <a:xfrm>
                <a:off x="840" y="3369"/>
                <a:ext cx="1" cy="13"/>
              </a:xfrm>
              <a:custGeom>
                <a:avLst/>
                <a:gdLst>
                  <a:gd name="T0" fmla="*/ 0 w 1"/>
                  <a:gd name="T1" fmla="*/ 0 h 91"/>
                  <a:gd name="T2" fmla="*/ 0 w 1"/>
                  <a:gd name="T3" fmla="*/ 91 h 91"/>
                  <a:gd name="T4" fmla="*/ 1 w 1"/>
                  <a:gd name="T5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1">
                    <a:moveTo>
                      <a:pt x="0" y="0"/>
                    </a:moveTo>
                    <a:lnTo>
                      <a:pt x="0" y="91"/>
                    </a:lnTo>
                    <a:lnTo>
                      <a:pt x="1" y="91"/>
                    </a:lnTo>
                  </a:path>
                </a:pathLst>
              </a:custGeom>
              <a:noFill/>
              <a:ln w="222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54" name="Freeform 54"/>
              <p:cNvSpPr>
                <a:spLocks/>
              </p:cNvSpPr>
              <p:nvPr/>
            </p:nvSpPr>
            <p:spPr bwMode="auto">
              <a:xfrm>
                <a:off x="840" y="3395"/>
                <a:ext cx="1" cy="77"/>
              </a:xfrm>
              <a:custGeom>
                <a:avLst/>
                <a:gdLst>
                  <a:gd name="T0" fmla="*/ 0 w 1"/>
                  <a:gd name="T1" fmla="*/ 0 h 545"/>
                  <a:gd name="T2" fmla="*/ 0 w 1"/>
                  <a:gd name="T3" fmla="*/ 545 h 545"/>
                  <a:gd name="T4" fmla="*/ 1 w 1"/>
                  <a:gd name="T5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45">
                    <a:moveTo>
                      <a:pt x="0" y="0"/>
                    </a:moveTo>
                    <a:lnTo>
                      <a:pt x="0" y="545"/>
                    </a:lnTo>
                    <a:lnTo>
                      <a:pt x="1" y="545"/>
                    </a:lnTo>
                  </a:path>
                </a:pathLst>
              </a:custGeom>
              <a:noFill/>
              <a:ln w="222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55" name="Freeform 55"/>
              <p:cNvSpPr>
                <a:spLocks/>
              </p:cNvSpPr>
              <p:nvPr/>
            </p:nvSpPr>
            <p:spPr bwMode="auto">
              <a:xfrm>
                <a:off x="840" y="3486"/>
                <a:ext cx="1" cy="13"/>
              </a:xfrm>
              <a:custGeom>
                <a:avLst/>
                <a:gdLst>
                  <a:gd name="T0" fmla="*/ 0 w 1"/>
                  <a:gd name="T1" fmla="*/ 0 h 90"/>
                  <a:gd name="T2" fmla="*/ 0 w 1"/>
                  <a:gd name="T3" fmla="*/ 90 h 90"/>
                  <a:gd name="T4" fmla="*/ 1 w 1"/>
                  <a:gd name="T5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0">
                    <a:moveTo>
                      <a:pt x="0" y="0"/>
                    </a:moveTo>
                    <a:lnTo>
                      <a:pt x="0" y="90"/>
                    </a:lnTo>
                    <a:lnTo>
                      <a:pt x="1" y="90"/>
                    </a:lnTo>
                  </a:path>
                </a:pathLst>
              </a:custGeom>
              <a:noFill/>
              <a:ln w="222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56" name="Freeform 56"/>
              <p:cNvSpPr>
                <a:spLocks/>
              </p:cNvSpPr>
              <p:nvPr/>
            </p:nvSpPr>
            <p:spPr bwMode="auto">
              <a:xfrm>
                <a:off x="840" y="3512"/>
                <a:ext cx="1" cy="78"/>
              </a:xfrm>
              <a:custGeom>
                <a:avLst/>
                <a:gdLst>
                  <a:gd name="T0" fmla="*/ 0 w 1"/>
                  <a:gd name="T1" fmla="*/ 0 h 546"/>
                  <a:gd name="T2" fmla="*/ 0 w 1"/>
                  <a:gd name="T3" fmla="*/ 546 h 546"/>
                  <a:gd name="T4" fmla="*/ 1 w 1"/>
                  <a:gd name="T5" fmla="*/ 546 h 5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46">
                    <a:moveTo>
                      <a:pt x="0" y="0"/>
                    </a:moveTo>
                    <a:lnTo>
                      <a:pt x="0" y="546"/>
                    </a:lnTo>
                    <a:lnTo>
                      <a:pt x="1" y="546"/>
                    </a:lnTo>
                  </a:path>
                </a:pathLst>
              </a:custGeom>
              <a:noFill/>
              <a:ln w="222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57" name="Freeform 57"/>
              <p:cNvSpPr>
                <a:spLocks/>
              </p:cNvSpPr>
              <p:nvPr/>
            </p:nvSpPr>
            <p:spPr bwMode="auto">
              <a:xfrm>
                <a:off x="840" y="3603"/>
                <a:ext cx="1" cy="13"/>
              </a:xfrm>
              <a:custGeom>
                <a:avLst/>
                <a:gdLst>
                  <a:gd name="T0" fmla="*/ 0 w 1"/>
                  <a:gd name="T1" fmla="*/ 0 h 90"/>
                  <a:gd name="T2" fmla="*/ 0 w 1"/>
                  <a:gd name="T3" fmla="*/ 90 h 90"/>
                  <a:gd name="T4" fmla="*/ 1 w 1"/>
                  <a:gd name="T5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0">
                    <a:moveTo>
                      <a:pt x="0" y="0"/>
                    </a:moveTo>
                    <a:lnTo>
                      <a:pt x="0" y="90"/>
                    </a:lnTo>
                    <a:lnTo>
                      <a:pt x="1" y="90"/>
                    </a:lnTo>
                  </a:path>
                </a:pathLst>
              </a:custGeom>
              <a:noFill/>
              <a:ln w="222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1258" name="Freeform 58"/>
              <p:cNvSpPr>
                <a:spLocks/>
              </p:cNvSpPr>
              <p:nvPr/>
            </p:nvSpPr>
            <p:spPr bwMode="auto">
              <a:xfrm>
                <a:off x="840" y="3629"/>
                <a:ext cx="1" cy="78"/>
              </a:xfrm>
              <a:custGeom>
                <a:avLst/>
                <a:gdLst>
                  <a:gd name="T0" fmla="*/ 0 w 1"/>
                  <a:gd name="T1" fmla="*/ 0 h 545"/>
                  <a:gd name="T2" fmla="*/ 0 w 1"/>
                  <a:gd name="T3" fmla="*/ 545 h 545"/>
                  <a:gd name="T4" fmla="*/ 1 w 1"/>
                  <a:gd name="T5" fmla="*/ 545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45">
                    <a:moveTo>
                      <a:pt x="0" y="0"/>
                    </a:moveTo>
                    <a:lnTo>
                      <a:pt x="0" y="545"/>
                    </a:lnTo>
                    <a:lnTo>
                      <a:pt x="1" y="545"/>
                    </a:lnTo>
                  </a:path>
                </a:pathLst>
              </a:custGeom>
              <a:noFill/>
              <a:ln w="222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0290" name="Group 1062"/>
            <p:cNvGrpSpPr>
              <a:grpSpLocks/>
            </p:cNvGrpSpPr>
            <p:nvPr/>
          </p:nvGrpSpPr>
          <p:grpSpPr bwMode="auto">
            <a:xfrm>
              <a:off x="181" y="1958"/>
              <a:ext cx="1340" cy="1316"/>
              <a:chOff x="181" y="1958"/>
              <a:chExt cx="1340" cy="1316"/>
            </a:xfrm>
          </p:grpSpPr>
          <p:grpSp>
            <p:nvGrpSpPr>
              <p:cNvPr id="10291" name="Group 1053"/>
              <p:cNvGrpSpPr>
                <a:grpSpLocks/>
              </p:cNvGrpSpPr>
              <p:nvPr/>
            </p:nvGrpSpPr>
            <p:grpSpPr bwMode="auto">
              <a:xfrm>
                <a:off x="181" y="1958"/>
                <a:ext cx="1340" cy="1316"/>
                <a:chOff x="181" y="1958"/>
                <a:chExt cx="1340" cy="1316"/>
              </a:xfrm>
            </p:grpSpPr>
            <p:sp>
              <p:nvSpPr>
                <p:cNvPr id="51208" name="Freeform 8"/>
                <p:cNvSpPr>
                  <a:spLocks/>
                </p:cNvSpPr>
                <p:nvPr/>
              </p:nvSpPr>
              <p:spPr bwMode="auto">
                <a:xfrm>
                  <a:off x="183" y="2924"/>
                  <a:ext cx="1335" cy="350"/>
                </a:xfrm>
                <a:custGeom>
                  <a:avLst/>
                  <a:gdLst>
                    <a:gd name="T0" fmla="*/ 8981 w 8982"/>
                    <a:gd name="T1" fmla="*/ 1328 h 2444"/>
                    <a:gd name="T2" fmla="*/ 8914 w 8982"/>
                    <a:gd name="T3" fmla="*/ 1108 h 2444"/>
                    <a:gd name="T4" fmla="*/ 8704 w 8982"/>
                    <a:gd name="T5" fmla="*/ 893 h 2444"/>
                    <a:gd name="T6" fmla="*/ 8359 w 8982"/>
                    <a:gd name="T7" fmla="*/ 688 h 2444"/>
                    <a:gd name="T8" fmla="*/ 7889 w 8982"/>
                    <a:gd name="T9" fmla="*/ 499 h 2444"/>
                    <a:gd name="T10" fmla="*/ 7309 w 8982"/>
                    <a:gd name="T11" fmla="*/ 336 h 2444"/>
                    <a:gd name="T12" fmla="*/ 6639 w 8982"/>
                    <a:gd name="T13" fmla="*/ 199 h 2444"/>
                    <a:gd name="T14" fmla="*/ 5900 w 8982"/>
                    <a:gd name="T15" fmla="*/ 96 h 2444"/>
                    <a:gd name="T16" fmla="*/ 5115 w 8982"/>
                    <a:gd name="T17" fmla="*/ 29 h 2444"/>
                    <a:gd name="T18" fmla="*/ 4309 w 8982"/>
                    <a:gd name="T19" fmla="*/ 0 h 2444"/>
                    <a:gd name="T20" fmla="*/ 3509 w 8982"/>
                    <a:gd name="T21" fmla="*/ 10 h 2444"/>
                    <a:gd name="T22" fmla="*/ 2740 w 8982"/>
                    <a:gd name="T23" fmla="*/ 60 h 2444"/>
                    <a:gd name="T24" fmla="*/ 2028 w 8982"/>
                    <a:gd name="T25" fmla="*/ 146 h 2444"/>
                    <a:gd name="T26" fmla="*/ 1394 w 8982"/>
                    <a:gd name="T27" fmla="*/ 268 h 2444"/>
                    <a:gd name="T28" fmla="*/ 860 w 8982"/>
                    <a:gd name="T29" fmla="*/ 420 h 2444"/>
                    <a:gd name="T30" fmla="*/ 442 w 8982"/>
                    <a:gd name="T31" fmla="*/ 598 h 2444"/>
                    <a:gd name="T32" fmla="*/ 153 w 8982"/>
                    <a:gd name="T33" fmla="*/ 796 h 2444"/>
                    <a:gd name="T34" fmla="*/ 4 w 8982"/>
                    <a:gd name="T35" fmla="*/ 1008 h 2444"/>
                    <a:gd name="T36" fmla="*/ 0 w 8982"/>
                    <a:gd name="T37" fmla="*/ 1227 h 2444"/>
                    <a:gd name="T38" fmla="*/ 138 w 8982"/>
                    <a:gd name="T39" fmla="*/ 1444 h 2444"/>
                    <a:gd name="T40" fmla="*/ 417 w 8982"/>
                    <a:gd name="T41" fmla="*/ 1656 h 2444"/>
                    <a:gd name="T42" fmla="*/ 826 w 8982"/>
                    <a:gd name="T43" fmla="*/ 1853 h 2444"/>
                    <a:gd name="T44" fmla="*/ 1353 w 8982"/>
                    <a:gd name="T45" fmla="*/ 2030 h 2444"/>
                    <a:gd name="T46" fmla="*/ 1980 w 8982"/>
                    <a:gd name="T47" fmla="*/ 2181 h 2444"/>
                    <a:gd name="T48" fmla="*/ 2688 w 8982"/>
                    <a:gd name="T49" fmla="*/ 2301 h 2444"/>
                    <a:gd name="T50" fmla="*/ 3453 w 8982"/>
                    <a:gd name="T51" fmla="*/ 2387 h 2444"/>
                    <a:gd name="T52" fmla="*/ 4252 w 8982"/>
                    <a:gd name="T53" fmla="*/ 2434 h 2444"/>
                    <a:gd name="T54" fmla="*/ 5058 w 8982"/>
                    <a:gd name="T55" fmla="*/ 2444 h 2444"/>
                    <a:gd name="T56" fmla="*/ 5846 w 8982"/>
                    <a:gd name="T57" fmla="*/ 2413 h 2444"/>
                    <a:gd name="T58" fmla="*/ 6589 w 8982"/>
                    <a:gd name="T59" fmla="*/ 2345 h 2444"/>
                    <a:gd name="T60" fmla="*/ 7265 w 8982"/>
                    <a:gd name="T61" fmla="*/ 2241 h 2444"/>
                    <a:gd name="T62" fmla="*/ 7851 w 8982"/>
                    <a:gd name="T63" fmla="*/ 2104 h 2444"/>
                    <a:gd name="T64" fmla="*/ 8329 w 8982"/>
                    <a:gd name="T65" fmla="*/ 1938 h 2444"/>
                    <a:gd name="T66" fmla="*/ 8683 w 8982"/>
                    <a:gd name="T67" fmla="*/ 1749 h 2444"/>
                    <a:gd name="T68" fmla="*/ 8903 w 8982"/>
                    <a:gd name="T69" fmla="*/ 1544 h 2444"/>
                    <a:gd name="T70" fmla="*/ 8981 w 8982"/>
                    <a:gd name="T71" fmla="*/ 1328 h 2444"/>
                    <a:gd name="T72" fmla="*/ 8982 w 8982"/>
                    <a:gd name="T73" fmla="*/ 1328 h 24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8982" h="2444">
                      <a:moveTo>
                        <a:pt x="8981" y="1328"/>
                      </a:moveTo>
                      <a:lnTo>
                        <a:pt x="8914" y="1108"/>
                      </a:lnTo>
                      <a:lnTo>
                        <a:pt x="8704" y="893"/>
                      </a:lnTo>
                      <a:lnTo>
                        <a:pt x="8359" y="688"/>
                      </a:lnTo>
                      <a:lnTo>
                        <a:pt x="7889" y="499"/>
                      </a:lnTo>
                      <a:lnTo>
                        <a:pt x="7309" y="336"/>
                      </a:lnTo>
                      <a:lnTo>
                        <a:pt x="6639" y="199"/>
                      </a:lnTo>
                      <a:lnTo>
                        <a:pt x="5900" y="96"/>
                      </a:lnTo>
                      <a:lnTo>
                        <a:pt x="5115" y="29"/>
                      </a:lnTo>
                      <a:lnTo>
                        <a:pt x="4309" y="0"/>
                      </a:lnTo>
                      <a:lnTo>
                        <a:pt x="3509" y="10"/>
                      </a:lnTo>
                      <a:lnTo>
                        <a:pt x="2740" y="60"/>
                      </a:lnTo>
                      <a:lnTo>
                        <a:pt x="2028" y="146"/>
                      </a:lnTo>
                      <a:lnTo>
                        <a:pt x="1394" y="268"/>
                      </a:lnTo>
                      <a:lnTo>
                        <a:pt x="860" y="420"/>
                      </a:lnTo>
                      <a:lnTo>
                        <a:pt x="442" y="598"/>
                      </a:lnTo>
                      <a:lnTo>
                        <a:pt x="153" y="796"/>
                      </a:lnTo>
                      <a:lnTo>
                        <a:pt x="4" y="1008"/>
                      </a:lnTo>
                      <a:lnTo>
                        <a:pt x="0" y="1227"/>
                      </a:lnTo>
                      <a:lnTo>
                        <a:pt x="138" y="1444"/>
                      </a:lnTo>
                      <a:lnTo>
                        <a:pt x="417" y="1656"/>
                      </a:lnTo>
                      <a:lnTo>
                        <a:pt x="826" y="1853"/>
                      </a:lnTo>
                      <a:lnTo>
                        <a:pt x="1353" y="2030"/>
                      </a:lnTo>
                      <a:lnTo>
                        <a:pt x="1980" y="2181"/>
                      </a:lnTo>
                      <a:lnTo>
                        <a:pt x="2688" y="2301"/>
                      </a:lnTo>
                      <a:lnTo>
                        <a:pt x="3453" y="2387"/>
                      </a:lnTo>
                      <a:lnTo>
                        <a:pt x="4252" y="2434"/>
                      </a:lnTo>
                      <a:lnTo>
                        <a:pt x="5058" y="2444"/>
                      </a:lnTo>
                      <a:lnTo>
                        <a:pt x="5846" y="2413"/>
                      </a:lnTo>
                      <a:lnTo>
                        <a:pt x="6589" y="2345"/>
                      </a:lnTo>
                      <a:lnTo>
                        <a:pt x="7265" y="2241"/>
                      </a:lnTo>
                      <a:lnTo>
                        <a:pt x="7851" y="2104"/>
                      </a:lnTo>
                      <a:lnTo>
                        <a:pt x="8329" y="1938"/>
                      </a:lnTo>
                      <a:lnTo>
                        <a:pt x="8683" y="1749"/>
                      </a:lnTo>
                      <a:lnTo>
                        <a:pt x="8903" y="1544"/>
                      </a:lnTo>
                      <a:lnTo>
                        <a:pt x="8981" y="1328"/>
                      </a:lnTo>
                      <a:lnTo>
                        <a:pt x="8982" y="1328"/>
                      </a:lnTo>
                    </a:path>
                  </a:pathLst>
                </a:custGeom>
                <a:noFill/>
                <a:ln w="22225" cap="flat" cmpd="sng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209" name="Freeform 9"/>
                <p:cNvSpPr>
                  <a:spLocks/>
                </p:cNvSpPr>
                <p:nvPr/>
              </p:nvSpPr>
              <p:spPr bwMode="auto">
                <a:xfrm>
                  <a:off x="592" y="1958"/>
                  <a:ext cx="250" cy="425"/>
                </a:xfrm>
                <a:custGeom>
                  <a:avLst/>
                  <a:gdLst>
                    <a:gd name="T0" fmla="*/ 1678 w 1678"/>
                    <a:gd name="T1" fmla="*/ 0 h 2968"/>
                    <a:gd name="T2" fmla="*/ 0 w 1678"/>
                    <a:gd name="T3" fmla="*/ 2968 h 2968"/>
                    <a:gd name="T4" fmla="*/ 1 w 1678"/>
                    <a:gd name="T5" fmla="*/ 2968 h 29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678" h="2968">
                      <a:moveTo>
                        <a:pt x="1678" y="0"/>
                      </a:moveTo>
                      <a:lnTo>
                        <a:pt x="0" y="2968"/>
                      </a:lnTo>
                      <a:lnTo>
                        <a:pt x="1" y="2968"/>
                      </a:lnTo>
                    </a:path>
                  </a:pathLst>
                </a:custGeom>
                <a:noFill/>
                <a:ln w="254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210" name="Freeform 10"/>
                <p:cNvSpPr>
                  <a:spLocks/>
                </p:cNvSpPr>
                <p:nvPr/>
              </p:nvSpPr>
              <p:spPr bwMode="auto">
                <a:xfrm>
                  <a:off x="849" y="1958"/>
                  <a:ext cx="246" cy="425"/>
                </a:xfrm>
                <a:custGeom>
                  <a:avLst/>
                  <a:gdLst>
                    <a:gd name="T0" fmla="*/ 0 w 1655"/>
                    <a:gd name="T1" fmla="*/ 0 h 2968"/>
                    <a:gd name="T2" fmla="*/ 1653 w 1655"/>
                    <a:gd name="T3" fmla="*/ 2968 h 2968"/>
                    <a:gd name="T4" fmla="*/ 1655 w 1655"/>
                    <a:gd name="T5" fmla="*/ 2968 h 29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655" h="2968">
                      <a:moveTo>
                        <a:pt x="0" y="0"/>
                      </a:moveTo>
                      <a:lnTo>
                        <a:pt x="1653" y="2968"/>
                      </a:lnTo>
                      <a:lnTo>
                        <a:pt x="1655" y="2968"/>
                      </a:lnTo>
                    </a:path>
                  </a:pathLst>
                </a:custGeom>
                <a:noFill/>
                <a:ln w="254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230" name="Freeform 30"/>
                <p:cNvSpPr>
                  <a:spLocks/>
                </p:cNvSpPr>
                <p:nvPr/>
              </p:nvSpPr>
              <p:spPr bwMode="auto">
                <a:xfrm>
                  <a:off x="1250" y="2651"/>
                  <a:ext cx="268" cy="463"/>
                </a:xfrm>
                <a:custGeom>
                  <a:avLst/>
                  <a:gdLst>
                    <a:gd name="T0" fmla="*/ 0 w 1802"/>
                    <a:gd name="T1" fmla="*/ 0 h 3232"/>
                    <a:gd name="T2" fmla="*/ 1801 w 1802"/>
                    <a:gd name="T3" fmla="*/ 3232 h 3232"/>
                    <a:gd name="T4" fmla="*/ 1802 w 1802"/>
                    <a:gd name="T5" fmla="*/ 3232 h 3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02" h="3232">
                      <a:moveTo>
                        <a:pt x="0" y="0"/>
                      </a:moveTo>
                      <a:lnTo>
                        <a:pt x="1801" y="3232"/>
                      </a:lnTo>
                      <a:lnTo>
                        <a:pt x="1802" y="3232"/>
                      </a:lnTo>
                    </a:path>
                  </a:pathLst>
                </a:custGeom>
                <a:noFill/>
                <a:ln w="254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231" name="Freeform 31"/>
                <p:cNvSpPr>
                  <a:spLocks/>
                </p:cNvSpPr>
                <p:nvPr/>
              </p:nvSpPr>
              <p:spPr bwMode="auto">
                <a:xfrm>
                  <a:off x="181" y="2651"/>
                  <a:ext cx="253" cy="433"/>
                </a:xfrm>
                <a:custGeom>
                  <a:avLst/>
                  <a:gdLst>
                    <a:gd name="T0" fmla="*/ 1707 w 1707"/>
                    <a:gd name="T1" fmla="*/ 0 h 3021"/>
                    <a:gd name="T2" fmla="*/ 0 w 1707"/>
                    <a:gd name="T3" fmla="*/ 3021 h 3021"/>
                    <a:gd name="T4" fmla="*/ 1 w 1707"/>
                    <a:gd name="T5" fmla="*/ 3021 h 30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07" h="3021">
                      <a:moveTo>
                        <a:pt x="1707" y="0"/>
                      </a:moveTo>
                      <a:lnTo>
                        <a:pt x="0" y="3021"/>
                      </a:lnTo>
                      <a:lnTo>
                        <a:pt x="1" y="3021"/>
                      </a:lnTo>
                    </a:path>
                  </a:pathLst>
                </a:custGeom>
                <a:noFill/>
                <a:ln w="254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297" name="Freeform 97"/>
                <p:cNvSpPr>
                  <a:spLocks/>
                </p:cNvSpPr>
                <p:nvPr/>
              </p:nvSpPr>
              <p:spPr bwMode="auto">
                <a:xfrm>
                  <a:off x="183" y="3104"/>
                  <a:ext cx="1338" cy="170"/>
                </a:xfrm>
                <a:custGeom>
                  <a:avLst/>
                  <a:gdLst>
                    <a:gd name="T0" fmla="*/ 0 w 8032"/>
                    <a:gd name="T1" fmla="*/ 0 h 1187"/>
                    <a:gd name="T2" fmla="*/ 63 w 8032"/>
                    <a:gd name="T3" fmla="*/ 201 h 1187"/>
                    <a:gd name="T4" fmla="*/ 261 w 8032"/>
                    <a:gd name="T5" fmla="*/ 399 h 1187"/>
                    <a:gd name="T6" fmla="*/ 587 w 8032"/>
                    <a:gd name="T7" fmla="*/ 587 h 1187"/>
                    <a:gd name="T8" fmla="*/ 1031 w 8032"/>
                    <a:gd name="T9" fmla="*/ 758 h 1187"/>
                    <a:gd name="T10" fmla="*/ 1575 w 8032"/>
                    <a:gd name="T11" fmla="*/ 906 h 1187"/>
                    <a:gd name="T12" fmla="*/ 2202 w 8032"/>
                    <a:gd name="T13" fmla="*/ 1026 h 1187"/>
                    <a:gd name="T14" fmla="*/ 2891 w 8032"/>
                    <a:gd name="T15" fmla="*/ 1115 h 1187"/>
                    <a:gd name="T16" fmla="*/ 3619 w 8032"/>
                    <a:gd name="T17" fmla="*/ 1169 h 1187"/>
                    <a:gd name="T18" fmla="*/ 4360 w 8032"/>
                    <a:gd name="T19" fmla="*/ 1187 h 1187"/>
                    <a:gd name="T20" fmla="*/ 5089 w 8032"/>
                    <a:gd name="T21" fmla="*/ 1167 h 1187"/>
                    <a:gd name="T22" fmla="*/ 5783 w 8032"/>
                    <a:gd name="T23" fmla="*/ 1111 h 1187"/>
                    <a:gd name="T24" fmla="*/ 6415 w 8032"/>
                    <a:gd name="T25" fmla="*/ 1019 h 1187"/>
                    <a:gd name="T26" fmla="*/ 6965 w 8032"/>
                    <a:gd name="T27" fmla="*/ 897 h 1187"/>
                    <a:gd name="T28" fmla="*/ 7416 w 8032"/>
                    <a:gd name="T29" fmla="*/ 748 h 1187"/>
                    <a:gd name="T30" fmla="*/ 7750 w 8032"/>
                    <a:gd name="T31" fmla="*/ 575 h 1187"/>
                    <a:gd name="T32" fmla="*/ 7958 w 8032"/>
                    <a:gd name="T33" fmla="*/ 387 h 1187"/>
                    <a:gd name="T34" fmla="*/ 8031 w 8032"/>
                    <a:gd name="T35" fmla="*/ 188 h 1187"/>
                    <a:gd name="T36" fmla="*/ 8032 w 8032"/>
                    <a:gd name="T37" fmla="*/ 188 h 1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032" h="1187">
                      <a:moveTo>
                        <a:pt x="0" y="0"/>
                      </a:moveTo>
                      <a:lnTo>
                        <a:pt x="63" y="201"/>
                      </a:lnTo>
                      <a:lnTo>
                        <a:pt x="261" y="399"/>
                      </a:lnTo>
                      <a:lnTo>
                        <a:pt x="587" y="587"/>
                      </a:lnTo>
                      <a:lnTo>
                        <a:pt x="1031" y="758"/>
                      </a:lnTo>
                      <a:lnTo>
                        <a:pt x="1575" y="906"/>
                      </a:lnTo>
                      <a:lnTo>
                        <a:pt x="2202" y="1026"/>
                      </a:lnTo>
                      <a:lnTo>
                        <a:pt x="2891" y="1115"/>
                      </a:lnTo>
                      <a:lnTo>
                        <a:pt x="3619" y="1169"/>
                      </a:lnTo>
                      <a:lnTo>
                        <a:pt x="4360" y="1187"/>
                      </a:lnTo>
                      <a:lnTo>
                        <a:pt x="5089" y="1167"/>
                      </a:lnTo>
                      <a:lnTo>
                        <a:pt x="5783" y="1111"/>
                      </a:lnTo>
                      <a:lnTo>
                        <a:pt x="6415" y="1019"/>
                      </a:lnTo>
                      <a:lnTo>
                        <a:pt x="6965" y="897"/>
                      </a:lnTo>
                      <a:lnTo>
                        <a:pt x="7416" y="748"/>
                      </a:lnTo>
                      <a:lnTo>
                        <a:pt x="7750" y="575"/>
                      </a:lnTo>
                      <a:lnTo>
                        <a:pt x="7958" y="387"/>
                      </a:lnTo>
                      <a:lnTo>
                        <a:pt x="8031" y="188"/>
                      </a:lnTo>
                      <a:lnTo>
                        <a:pt x="8032" y="188"/>
                      </a:lnTo>
                    </a:path>
                  </a:pathLst>
                </a:custGeom>
                <a:noFill/>
                <a:ln w="22225" cmpd="sng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52260" name="Line 1060"/>
              <p:cNvSpPr>
                <a:spLocks noChangeShapeType="1"/>
              </p:cNvSpPr>
              <p:nvPr/>
            </p:nvSpPr>
            <p:spPr bwMode="auto">
              <a:xfrm flipV="1">
                <a:off x="372" y="2389"/>
                <a:ext cx="218" cy="3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261" name="Line 1061"/>
              <p:cNvSpPr>
                <a:spLocks noChangeShapeType="1"/>
              </p:cNvSpPr>
              <p:nvPr/>
            </p:nvSpPr>
            <p:spPr bwMode="auto">
              <a:xfrm>
                <a:off x="1069" y="2343"/>
                <a:ext cx="191" cy="3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52255" name="Group 1055"/>
          <p:cNvGrpSpPr>
            <a:grpSpLocks/>
          </p:cNvGrpSpPr>
          <p:nvPr/>
        </p:nvGrpSpPr>
        <p:grpSpPr bwMode="auto">
          <a:xfrm>
            <a:off x="939800" y="4208463"/>
            <a:ext cx="790575" cy="2201862"/>
            <a:chOff x="592" y="2651"/>
            <a:chExt cx="498" cy="1387"/>
          </a:xfrm>
        </p:grpSpPr>
        <p:sp>
          <p:nvSpPr>
            <p:cNvPr id="51212" name="Freeform 12"/>
            <p:cNvSpPr>
              <a:spLocks/>
            </p:cNvSpPr>
            <p:nvPr/>
          </p:nvSpPr>
          <p:spPr bwMode="auto">
            <a:xfrm>
              <a:off x="592" y="2651"/>
              <a:ext cx="1" cy="1387"/>
            </a:xfrm>
            <a:custGeom>
              <a:avLst/>
              <a:gdLst>
                <a:gd name="T0" fmla="*/ 0 w 1"/>
                <a:gd name="T1" fmla="*/ 0 h 9680"/>
                <a:gd name="T2" fmla="*/ 0 w 1"/>
                <a:gd name="T3" fmla="*/ 9680 h 9680"/>
                <a:gd name="T4" fmla="*/ 1 w 1"/>
                <a:gd name="T5" fmla="*/ 9680 h 9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680">
                  <a:moveTo>
                    <a:pt x="0" y="0"/>
                  </a:moveTo>
                  <a:lnTo>
                    <a:pt x="0" y="9680"/>
                  </a:lnTo>
                  <a:lnTo>
                    <a:pt x="1" y="9680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229" name="Freeform 29"/>
            <p:cNvSpPr>
              <a:spLocks/>
            </p:cNvSpPr>
            <p:nvPr/>
          </p:nvSpPr>
          <p:spPr bwMode="auto">
            <a:xfrm>
              <a:off x="1089" y="2651"/>
              <a:ext cx="1" cy="1387"/>
            </a:xfrm>
            <a:custGeom>
              <a:avLst/>
              <a:gdLst>
                <a:gd name="T0" fmla="*/ 0 w 1"/>
                <a:gd name="T1" fmla="*/ 0 h 9680"/>
                <a:gd name="T2" fmla="*/ 0 w 1"/>
                <a:gd name="T3" fmla="*/ 9680 h 9680"/>
                <a:gd name="T4" fmla="*/ 1 w 1"/>
                <a:gd name="T5" fmla="*/ 9680 h 9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680">
                  <a:moveTo>
                    <a:pt x="0" y="0"/>
                  </a:moveTo>
                  <a:lnTo>
                    <a:pt x="0" y="9680"/>
                  </a:lnTo>
                  <a:lnTo>
                    <a:pt x="1" y="9680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1351" name="Freeform 151"/>
          <p:cNvSpPr>
            <a:spLocks/>
          </p:cNvSpPr>
          <p:nvPr/>
        </p:nvSpPr>
        <p:spPr bwMode="auto">
          <a:xfrm>
            <a:off x="3095625" y="4348163"/>
            <a:ext cx="1127125" cy="2238375"/>
          </a:xfrm>
          <a:custGeom>
            <a:avLst/>
            <a:gdLst>
              <a:gd name="T0" fmla="*/ 0 w 3280"/>
              <a:gd name="T1" fmla="*/ 0 h 5903"/>
              <a:gd name="T2" fmla="*/ 3279 w 3280"/>
              <a:gd name="T3" fmla="*/ 5903 h 5903"/>
              <a:gd name="T4" fmla="*/ 3280 w 3280"/>
              <a:gd name="T5" fmla="*/ 5903 h 5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280" h="5903">
                <a:moveTo>
                  <a:pt x="0" y="0"/>
                </a:moveTo>
                <a:lnTo>
                  <a:pt x="3279" y="5903"/>
                </a:lnTo>
                <a:lnTo>
                  <a:pt x="3280" y="5903"/>
                </a:lnTo>
              </a:path>
            </a:pathLst>
          </a:custGeom>
          <a:noFill/>
          <a:ln w="22225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000"/>
                                        <p:tgtEl>
                                          <p:spTgt spid="5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30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2000"/>
                                        <p:tgtEl>
                                          <p:spTgt spid="5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2000"/>
                                        <p:tgtEl>
                                          <p:spTgt spid="5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2000"/>
                                        <p:tgtEl>
                                          <p:spTgt spid="5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2000"/>
                                        <p:tgtEl>
                                          <p:spTgt spid="5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51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51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3000"/>
                                        <p:tgtEl>
                                          <p:spTgt spid="52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3000"/>
                                        <p:tgtEl>
                                          <p:spTgt spid="5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6" dur="3000"/>
                                        <p:tgtEl>
                                          <p:spTgt spid="5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3000"/>
                                        <p:tgtEl>
                                          <p:spTgt spid="5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utoUpdateAnimBg="0"/>
      <p:bldP spid="51203" grpId="0" animBg="1" autoUpdateAnimBg="0"/>
      <p:bldP spid="5120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76200" y="838200"/>
            <a:ext cx="8915400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en-US" sz="3000">
                <a:latin typeface="Comic Sans MS" panose="030F0702030302020204" pitchFamily="66" charset="0"/>
              </a:rPr>
              <a:t>When the cutting plane is perpendicular to the axis or parallel to the base in a right cone we get circle the section.</a:t>
            </a: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3276600" y="101600"/>
            <a:ext cx="2590800" cy="64135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600">
                <a:solidFill>
                  <a:srgbClr val="FFFF00"/>
                </a:solidFill>
                <a:latin typeface="Comic Sans MS" panose="030F0702030302020204" pitchFamily="66" charset="0"/>
              </a:rPr>
              <a:t>CIRCLE</a:t>
            </a:r>
          </a:p>
        </p:txBody>
      </p:sp>
      <p:sp>
        <p:nvSpPr>
          <p:cNvPr id="50180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277100" y="6534150"/>
            <a:ext cx="685800" cy="304800"/>
          </a:xfrm>
          <a:prstGeom prst="actionButtonBackPreviou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0181" name="Group 5"/>
          <p:cNvGrpSpPr>
            <a:grpSpLocks/>
          </p:cNvGrpSpPr>
          <p:nvPr/>
        </p:nvGrpSpPr>
        <p:grpSpPr bwMode="auto">
          <a:xfrm>
            <a:off x="3054350" y="2290763"/>
            <a:ext cx="5327650" cy="4313237"/>
            <a:chOff x="1924" y="1443"/>
            <a:chExt cx="3356" cy="2717"/>
          </a:xfrm>
        </p:grpSpPr>
        <p:sp>
          <p:nvSpPr>
            <p:cNvPr id="14342" name="Text Box 6"/>
            <p:cNvSpPr txBox="1">
              <a:spLocks noChangeArrowheads="1"/>
            </p:cNvSpPr>
            <p:nvPr/>
          </p:nvSpPr>
          <p:spPr bwMode="auto">
            <a:xfrm>
              <a:off x="3822" y="1782"/>
              <a:ext cx="145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000">
                  <a:latin typeface="Arial" panose="020B0604020202020204" pitchFamily="34" charset="0"/>
                </a:rPr>
                <a:t>Sec Plane</a:t>
              </a:r>
            </a:p>
          </p:txBody>
        </p:sp>
        <p:sp>
          <p:nvSpPr>
            <p:cNvPr id="50183" name="Freeform 7"/>
            <p:cNvSpPr>
              <a:spLocks/>
            </p:cNvSpPr>
            <p:nvPr/>
          </p:nvSpPr>
          <p:spPr bwMode="auto">
            <a:xfrm>
              <a:off x="1924" y="1707"/>
              <a:ext cx="1779" cy="552"/>
            </a:xfrm>
            <a:custGeom>
              <a:avLst/>
              <a:gdLst>
                <a:gd name="T0" fmla="*/ 0 w 10671"/>
                <a:gd name="T1" fmla="*/ 3313 h 3313"/>
                <a:gd name="T2" fmla="*/ 10671 w 10671"/>
                <a:gd name="T3" fmla="*/ 3313 h 3313"/>
                <a:gd name="T4" fmla="*/ 8312 w 10671"/>
                <a:gd name="T5" fmla="*/ 30 h 3313"/>
                <a:gd name="T6" fmla="*/ 2475 w 10671"/>
                <a:gd name="T7" fmla="*/ 0 h 3313"/>
                <a:gd name="T8" fmla="*/ 0 w 10671"/>
                <a:gd name="T9" fmla="*/ 3313 h 3313"/>
                <a:gd name="T10" fmla="*/ 1 w 10671"/>
                <a:gd name="T11" fmla="*/ 3313 h 3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71" h="3313">
                  <a:moveTo>
                    <a:pt x="0" y="3313"/>
                  </a:moveTo>
                  <a:lnTo>
                    <a:pt x="10671" y="3313"/>
                  </a:lnTo>
                  <a:lnTo>
                    <a:pt x="8312" y="30"/>
                  </a:lnTo>
                  <a:lnTo>
                    <a:pt x="2475" y="0"/>
                  </a:lnTo>
                  <a:lnTo>
                    <a:pt x="0" y="3313"/>
                  </a:lnTo>
                  <a:lnTo>
                    <a:pt x="1" y="3313"/>
                  </a:lnTo>
                </a:path>
              </a:pathLst>
            </a:custGeom>
            <a:solidFill>
              <a:srgbClr val="CCFFFF"/>
            </a:solidFill>
            <a:ln w="222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84" name="Freeform 8"/>
            <p:cNvSpPr>
              <a:spLocks/>
            </p:cNvSpPr>
            <p:nvPr/>
          </p:nvSpPr>
          <p:spPr bwMode="auto">
            <a:xfrm>
              <a:off x="2104" y="2568"/>
              <a:ext cx="1497" cy="407"/>
            </a:xfrm>
            <a:custGeom>
              <a:avLst/>
              <a:gdLst>
                <a:gd name="T0" fmla="*/ 8981 w 8982"/>
                <a:gd name="T1" fmla="*/ 1328 h 2444"/>
                <a:gd name="T2" fmla="*/ 8914 w 8982"/>
                <a:gd name="T3" fmla="*/ 1108 h 2444"/>
                <a:gd name="T4" fmla="*/ 8704 w 8982"/>
                <a:gd name="T5" fmla="*/ 893 h 2444"/>
                <a:gd name="T6" fmla="*/ 8359 w 8982"/>
                <a:gd name="T7" fmla="*/ 688 h 2444"/>
                <a:gd name="T8" fmla="*/ 7889 w 8982"/>
                <a:gd name="T9" fmla="*/ 499 h 2444"/>
                <a:gd name="T10" fmla="*/ 7309 w 8982"/>
                <a:gd name="T11" fmla="*/ 336 h 2444"/>
                <a:gd name="T12" fmla="*/ 6639 w 8982"/>
                <a:gd name="T13" fmla="*/ 199 h 2444"/>
                <a:gd name="T14" fmla="*/ 5900 w 8982"/>
                <a:gd name="T15" fmla="*/ 96 h 2444"/>
                <a:gd name="T16" fmla="*/ 5115 w 8982"/>
                <a:gd name="T17" fmla="*/ 29 h 2444"/>
                <a:gd name="T18" fmla="*/ 4309 w 8982"/>
                <a:gd name="T19" fmla="*/ 0 h 2444"/>
                <a:gd name="T20" fmla="*/ 3509 w 8982"/>
                <a:gd name="T21" fmla="*/ 10 h 2444"/>
                <a:gd name="T22" fmla="*/ 2740 w 8982"/>
                <a:gd name="T23" fmla="*/ 60 h 2444"/>
                <a:gd name="T24" fmla="*/ 2028 w 8982"/>
                <a:gd name="T25" fmla="*/ 146 h 2444"/>
                <a:gd name="T26" fmla="*/ 1394 w 8982"/>
                <a:gd name="T27" fmla="*/ 268 h 2444"/>
                <a:gd name="T28" fmla="*/ 860 w 8982"/>
                <a:gd name="T29" fmla="*/ 420 h 2444"/>
                <a:gd name="T30" fmla="*/ 442 w 8982"/>
                <a:gd name="T31" fmla="*/ 598 h 2444"/>
                <a:gd name="T32" fmla="*/ 153 w 8982"/>
                <a:gd name="T33" fmla="*/ 796 h 2444"/>
                <a:gd name="T34" fmla="*/ 4 w 8982"/>
                <a:gd name="T35" fmla="*/ 1008 h 2444"/>
                <a:gd name="T36" fmla="*/ 0 w 8982"/>
                <a:gd name="T37" fmla="*/ 1227 h 2444"/>
                <a:gd name="T38" fmla="*/ 138 w 8982"/>
                <a:gd name="T39" fmla="*/ 1444 h 2444"/>
                <a:gd name="T40" fmla="*/ 417 w 8982"/>
                <a:gd name="T41" fmla="*/ 1656 h 2444"/>
                <a:gd name="T42" fmla="*/ 826 w 8982"/>
                <a:gd name="T43" fmla="*/ 1853 h 2444"/>
                <a:gd name="T44" fmla="*/ 1353 w 8982"/>
                <a:gd name="T45" fmla="*/ 2030 h 2444"/>
                <a:gd name="T46" fmla="*/ 1980 w 8982"/>
                <a:gd name="T47" fmla="*/ 2181 h 2444"/>
                <a:gd name="T48" fmla="*/ 2688 w 8982"/>
                <a:gd name="T49" fmla="*/ 2301 h 2444"/>
                <a:gd name="T50" fmla="*/ 3453 w 8982"/>
                <a:gd name="T51" fmla="*/ 2387 h 2444"/>
                <a:gd name="T52" fmla="*/ 4252 w 8982"/>
                <a:gd name="T53" fmla="*/ 2434 h 2444"/>
                <a:gd name="T54" fmla="*/ 5058 w 8982"/>
                <a:gd name="T55" fmla="*/ 2444 h 2444"/>
                <a:gd name="T56" fmla="*/ 5846 w 8982"/>
                <a:gd name="T57" fmla="*/ 2413 h 2444"/>
                <a:gd name="T58" fmla="*/ 6589 w 8982"/>
                <a:gd name="T59" fmla="*/ 2345 h 2444"/>
                <a:gd name="T60" fmla="*/ 7265 w 8982"/>
                <a:gd name="T61" fmla="*/ 2241 h 2444"/>
                <a:gd name="T62" fmla="*/ 7851 w 8982"/>
                <a:gd name="T63" fmla="*/ 2104 h 2444"/>
                <a:gd name="T64" fmla="*/ 8329 w 8982"/>
                <a:gd name="T65" fmla="*/ 1938 h 2444"/>
                <a:gd name="T66" fmla="*/ 8683 w 8982"/>
                <a:gd name="T67" fmla="*/ 1749 h 2444"/>
                <a:gd name="T68" fmla="*/ 8903 w 8982"/>
                <a:gd name="T69" fmla="*/ 1544 h 2444"/>
                <a:gd name="T70" fmla="*/ 8981 w 8982"/>
                <a:gd name="T71" fmla="*/ 1328 h 2444"/>
                <a:gd name="T72" fmla="*/ 8982 w 8982"/>
                <a:gd name="T73" fmla="*/ 1328 h 2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982" h="2444">
                  <a:moveTo>
                    <a:pt x="8981" y="1328"/>
                  </a:moveTo>
                  <a:lnTo>
                    <a:pt x="8914" y="1108"/>
                  </a:lnTo>
                  <a:lnTo>
                    <a:pt x="8704" y="893"/>
                  </a:lnTo>
                  <a:lnTo>
                    <a:pt x="8359" y="688"/>
                  </a:lnTo>
                  <a:lnTo>
                    <a:pt x="7889" y="499"/>
                  </a:lnTo>
                  <a:lnTo>
                    <a:pt x="7309" y="336"/>
                  </a:lnTo>
                  <a:lnTo>
                    <a:pt x="6639" y="199"/>
                  </a:lnTo>
                  <a:lnTo>
                    <a:pt x="5900" y="96"/>
                  </a:lnTo>
                  <a:lnTo>
                    <a:pt x="5115" y="29"/>
                  </a:lnTo>
                  <a:lnTo>
                    <a:pt x="4309" y="0"/>
                  </a:lnTo>
                  <a:lnTo>
                    <a:pt x="3509" y="10"/>
                  </a:lnTo>
                  <a:lnTo>
                    <a:pt x="2740" y="60"/>
                  </a:lnTo>
                  <a:lnTo>
                    <a:pt x="2028" y="146"/>
                  </a:lnTo>
                  <a:lnTo>
                    <a:pt x="1394" y="268"/>
                  </a:lnTo>
                  <a:lnTo>
                    <a:pt x="860" y="420"/>
                  </a:lnTo>
                  <a:lnTo>
                    <a:pt x="442" y="598"/>
                  </a:lnTo>
                  <a:lnTo>
                    <a:pt x="153" y="796"/>
                  </a:lnTo>
                  <a:lnTo>
                    <a:pt x="4" y="1008"/>
                  </a:lnTo>
                  <a:lnTo>
                    <a:pt x="0" y="1227"/>
                  </a:lnTo>
                  <a:lnTo>
                    <a:pt x="138" y="1444"/>
                  </a:lnTo>
                  <a:lnTo>
                    <a:pt x="417" y="1656"/>
                  </a:lnTo>
                  <a:lnTo>
                    <a:pt x="826" y="1853"/>
                  </a:lnTo>
                  <a:lnTo>
                    <a:pt x="1353" y="2030"/>
                  </a:lnTo>
                  <a:lnTo>
                    <a:pt x="1980" y="2181"/>
                  </a:lnTo>
                  <a:lnTo>
                    <a:pt x="2688" y="2301"/>
                  </a:lnTo>
                  <a:lnTo>
                    <a:pt x="3453" y="2387"/>
                  </a:lnTo>
                  <a:lnTo>
                    <a:pt x="4252" y="2434"/>
                  </a:lnTo>
                  <a:lnTo>
                    <a:pt x="5058" y="2444"/>
                  </a:lnTo>
                  <a:lnTo>
                    <a:pt x="5846" y="2413"/>
                  </a:lnTo>
                  <a:lnTo>
                    <a:pt x="6589" y="2345"/>
                  </a:lnTo>
                  <a:lnTo>
                    <a:pt x="7265" y="2241"/>
                  </a:lnTo>
                  <a:lnTo>
                    <a:pt x="7851" y="2104"/>
                  </a:lnTo>
                  <a:lnTo>
                    <a:pt x="8329" y="1938"/>
                  </a:lnTo>
                  <a:lnTo>
                    <a:pt x="8683" y="1749"/>
                  </a:lnTo>
                  <a:lnTo>
                    <a:pt x="8903" y="1544"/>
                  </a:lnTo>
                  <a:lnTo>
                    <a:pt x="8981" y="1328"/>
                  </a:lnTo>
                  <a:lnTo>
                    <a:pt x="8982" y="1328"/>
                  </a:ln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85" name="Freeform 9"/>
            <p:cNvSpPr>
              <a:spLocks/>
            </p:cNvSpPr>
            <p:nvPr/>
          </p:nvSpPr>
          <p:spPr bwMode="auto">
            <a:xfrm>
              <a:off x="2563" y="1443"/>
              <a:ext cx="280" cy="495"/>
            </a:xfrm>
            <a:custGeom>
              <a:avLst/>
              <a:gdLst>
                <a:gd name="T0" fmla="*/ 1678 w 1678"/>
                <a:gd name="T1" fmla="*/ 0 h 2968"/>
                <a:gd name="T2" fmla="*/ 0 w 1678"/>
                <a:gd name="T3" fmla="*/ 2968 h 2968"/>
                <a:gd name="T4" fmla="*/ 1 w 1678"/>
                <a:gd name="T5" fmla="*/ 2968 h 2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78" h="2968">
                  <a:moveTo>
                    <a:pt x="1678" y="0"/>
                  </a:moveTo>
                  <a:lnTo>
                    <a:pt x="0" y="2968"/>
                  </a:lnTo>
                  <a:lnTo>
                    <a:pt x="1" y="2968"/>
                  </a:lnTo>
                </a:path>
              </a:pathLst>
            </a:custGeom>
            <a:noFill/>
            <a:ln w="254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86" name="Freeform 10"/>
            <p:cNvSpPr>
              <a:spLocks/>
            </p:cNvSpPr>
            <p:nvPr/>
          </p:nvSpPr>
          <p:spPr bwMode="auto">
            <a:xfrm>
              <a:off x="2851" y="1443"/>
              <a:ext cx="276" cy="495"/>
            </a:xfrm>
            <a:custGeom>
              <a:avLst/>
              <a:gdLst>
                <a:gd name="T0" fmla="*/ 0 w 1655"/>
                <a:gd name="T1" fmla="*/ 0 h 2968"/>
                <a:gd name="T2" fmla="*/ 1653 w 1655"/>
                <a:gd name="T3" fmla="*/ 2968 h 2968"/>
                <a:gd name="T4" fmla="*/ 1655 w 1655"/>
                <a:gd name="T5" fmla="*/ 2968 h 2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55" h="2968">
                  <a:moveTo>
                    <a:pt x="0" y="0"/>
                  </a:moveTo>
                  <a:lnTo>
                    <a:pt x="1653" y="2968"/>
                  </a:lnTo>
                  <a:lnTo>
                    <a:pt x="1655" y="2968"/>
                  </a:lnTo>
                </a:path>
              </a:pathLst>
            </a:custGeom>
            <a:noFill/>
            <a:ln w="254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87" name="Freeform 11"/>
            <p:cNvSpPr>
              <a:spLocks/>
            </p:cNvSpPr>
            <p:nvPr/>
          </p:nvSpPr>
          <p:spPr bwMode="auto">
            <a:xfrm>
              <a:off x="2563" y="1823"/>
              <a:ext cx="556" cy="217"/>
            </a:xfrm>
            <a:custGeom>
              <a:avLst/>
              <a:gdLst>
                <a:gd name="T0" fmla="*/ 0 w 3335"/>
                <a:gd name="T1" fmla="*/ 688 h 1300"/>
                <a:gd name="T2" fmla="*/ 34 w 3335"/>
                <a:gd name="T3" fmla="*/ 811 h 1300"/>
                <a:gd name="T4" fmla="*/ 126 w 3335"/>
                <a:gd name="T5" fmla="*/ 927 h 1300"/>
                <a:gd name="T6" fmla="*/ 274 w 3335"/>
                <a:gd name="T7" fmla="*/ 1034 h 1300"/>
                <a:gd name="T8" fmla="*/ 473 w 3335"/>
                <a:gd name="T9" fmla="*/ 1126 h 1300"/>
                <a:gd name="T10" fmla="*/ 714 w 3335"/>
                <a:gd name="T11" fmla="*/ 1201 h 1300"/>
                <a:gd name="T12" fmla="*/ 991 w 3335"/>
                <a:gd name="T13" fmla="*/ 1256 h 1300"/>
                <a:gd name="T14" fmla="*/ 1291 w 3335"/>
                <a:gd name="T15" fmla="*/ 1290 h 1300"/>
                <a:gd name="T16" fmla="*/ 1607 w 3335"/>
                <a:gd name="T17" fmla="*/ 1300 h 1300"/>
                <a:gd name="T18" fmla="*/ 1924 w 3335"/>
                <a:gd name="T19" fmla="*/ 1287 h 1300"/>
                <a:gd name="T20" fmla="*/ 2232 w 3335"/>
                <a:gd name="T21" fmla="*/ 1251 h 1300"/>
                <a:gd name="T22" fmla="*/ 2519 w 3335"/>
                <a:gd name="T23" fmla="*/ 1192 h 1300"/>
                <a:gd name="T24" fmla="*/ 2776 w 3335"/>
                <a:gd name="T25" fmla="*/ 1114 h 1300"/>
                <a:gd name="T26" fmla="*/ 2993 w 3335"/>
                <a:gd name="T27" fmla="*/ 1020 h 1300"/>
                <a:gd name="T28" fmla="*/ 3162 w 3335"/>
                <a:gd name="T29" fmla="*/ 911 h 1300"/>
                <a:gd name="T30" fmla="*/ 3278 w 3335"/>
                <a:gd name="T31" fmla="*/ 794 h 1300"/>
                <a:gd name="T32" fmla="*/ 3335 w 3335"/>
                <a:gd name="T33" fmla="*/ 671 h 1300"/>
                <a:gd name="T34" fmla="*/ 3332 w 3335"/>
                <a:gd name="T35" fmla="*/ 548 h 1300"/>
                <a:gd name="T36" fmla="*/ 3269 w 3335"/>
                <a:gd name="T37" fmla="*/ 428 h 1300"/>
                <a:gd name="T38" fmla="*/ 3149 w 3335"/>
                <a:gd name="T39" fmla="*/ 316 h 1300"/>
                <a:gd name="T40" fmla="*/ 2974 w 3335"/>
                <a:gd name="T41" fmla="*/ 217 h 1300"/>
                <a:gd name="T42" fmla="*/ 2753 w 3335"/>
                <a:gd name="T43" fmla="*/ 133 h 1300"/>
                <a:gd name="T44" fmla="*/ 2493 w 3335"/>
                <a:gd name="T45" fmla="*/ 67 h 1300"/>
                <a:gd name="T46" fmla="*/ 2203 w 3335"/>
                <a:gd name="T47" fmla="*/ 23 h 1300"/>
                <a:gd name="T48" fmla="*/ 1893 w 3335"/>
                <a:gd name="T49" fmla="*/ 0 h 1300"/>
                <a:gd name="T50" fmla="*/ 1576 w 3335"/>
                <a:gd name="T51" fmla="*/ 3 h 1300"/>
                <a:gd name="T52" fmla="*/ 1262 w 3335"/>
                <a:gd name="T53" fmla="*/ 27 h 1300"/>
                <a:gd name="T54" fmla="*/ 963 w 3335"/>
                <a:gd name="T55" fmla="*/ 74 h 1300"/>
                <a:gd name="T56" fmla="*/ 689 w 3335"/>
                <a:gd name="T57" fmla="*/ 143 h 1300"/>
                <a:gd name="T58" fmla="*/ 452 w 3335"/>
                <a:gd name="T59" fmla="*/ 230 h 1300"/>
                <a:gd name="T60" fmla="*/ 257 w 3335"/>
                <a:gd name="T61" fmla="*/ 331 h 1300"/>
                <a:gd name="T62" fmla="*/ 114 w 3335"/>
                <a:gd name="T63" fmla="*/ 444 h 1300"/>
                <a:gd name="T64" fmla="*/ 27 w 3335"/>
                <a:gd name="T65" fmla="*/ 565 h 1300"/>
                <a:gd name="T66" fmla="*/ 0 w 3335"/>
                <a:gd name="T67" fmla="*/ 688 h 1300"/>
                <a:gd name="T68" fmla="*/ 1 w 3335"/>
                <a:gd name="T69" fmla="*/ 688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35" h="1300">
                  <a:moveTo>
                    <a:pt x="0" y="688"/>
                  </a:moveTo>
                  <a:lnTo>
                    <a:pt x="34" y="811"/>
                  </a:lnTo>
                  <a:lnTo>
                    <a:pt x="126" y="927"/>
                  </a:lnTo>
                  <a:lnTo>
                    <a:pt x="274" y="1034"/>
                  </a:lnTo>
                  <a:lnTo>
                    <a:pt x="473" y="1126"/>
                  </a:lnTo>
                  <a:lnTo>
                    <a:pt x="714" y="1201"/>
                  </a:lnTo>
                  <a:lnTo>
                    <a:pt x="991" y="1256"/>
                  </a:lnTo>
                  <a:lnTo>
                    <a:pt x="1291" y="1290"/>
                  </a:lnTo>
                  <a:lnTo>
                    <a:pt x="1607" y="1300"/>
                  </a:lnTo>
                  <a:lnTo>
                    <a:pt x="1924" y="1287"/>
                  </a:lnTo>
                  <a:lnTo>
                    <a:pt x="2232" y="1251"/>
                  </a:lnTo>
                  <a:lnTo>
                    <a:pt x="2519" y="1192"/>
                  </a:lnTo>
                  <a:lnTo>
                    <a:pt x="2776" y="1114"/>
                  </a:lnTo>
                  <a:lnTo>
                    <a:pt x="2993" y="1020"/>
                  </a:lnTo>
                  <a:lnTo>
                    <a:pt x="3162" y="911"/>
                  </a:lnTo>
                  <a:lnTo>
                    <a:pt x="3278" y="794"/>
                  </a:lnTo>
                  <a:lnTo>
                    <a:pt x="3335" y="671"/>
                  </a:lnTo>
                  <a:lnTo>
                    <a:pt x="3332" y="548"/>
                  </a:lnTo>
                  <a:lnTo>
                    <a:pt x="3269" y="428"/>
                  </a:lnTo>
                  <a:lnTo>
                    <a:pt x="3149" y="316"/>
                  </a:lnTo>
                  <a:lnTo>
                    <a:pt x="2974" y="217"/>
                  </a:lnTo>
                  <a:lnTo>
                    <a:pt x="2753" y="133"/>
                  </a:lnTo>
                  <a:lnTo>
                    <a:pt x="2493" y="67"/>
                  </a:lnTo>
                  <a:lnTo>
                    <a:pt x="2203" y="23"/>
                  </a:lnTo>
                  <a:lnTo>
                    <a:pt x="1893" y="0"/>
                  </a:lnTo>
                  <a:lnTo>
                    <a:pt x="1576" y="3"/>
                  </a:lnTo>
                  <a:lnTo>
                    <a:pt x="1262" y="27"/>
                  </a:lnTo>
                  <a:lnTo>
                    <a:pt x="963" y="74"/>
                  </a:lnTo>
                  <a:lnTo>
                    <a:pt x="689" y="143"/>
                  </a:lnTo>
                  <a:lnTo>
                    <a:pt x="452" y="230"/>
                  </a:lnTo>
                  <a:lnTo>
                    <a:pt x="257" y="331"/>
                  </a:lnTo>
                  <a:lnTo>
                    <a:pt x="114" y="444"/>
                  </a:lnTo>
                  <a:lnTo>
                    <a:pt x="27" y="565"/>
                  </a:lnTo>
                  <a:lnTo>
                    <a:pt x="0" y="688"/>
                  </a:lnTo>
                  <a:lnTo>
                    <a:pt x="1" y="688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88" name="Freeform 12"/>
            <p:cNvSpPr>
              <a:spLocks/>
            </p:cNvSpPr>
            <p:nvPr/>
          </p:nvSpPr>
          <p:spPr bwMode="auto">
            <a:xfrm>
              <a:off x="2563" y="3864"/>
              <a:ext cx="557" cy="1"/>
            </a:xfrm>
            <a:custGeom>
              <a:avLst/>
              <a:gdLst>
                <a:gd name="T0" fmla="*/ 0 w 3342"/>
                <a:gd name="T1" fmla="*/ 3341 w 3342"/>
                <a:gd name="T2" fmla="*/ 3342 w 334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342">
                  <a:moveTo>
                    <a:pt x="0" y="0"/>
                  </a:moveTo>
                  <a:lnTo>
                    <a:pt x="3341" y="0"/>
                  </a:lnTo>
                  <a:lnTo>
                    <a:pt x="3342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89" name="Freeform 13"/>
            <p:cNvSpPr>
              <a:spLocks/>
            </p:cNvSpPr>
            <p:nvPr/>
          </p:nvSpPr>
          <p:spPr bwMode="auto">
            <a:xfrm>
              <a:off x="2563" y="2250"/>
              <a:ext cx="1" cy="1614"/>
            </a:xfrm>
            <a:custGeom>
              <a:avLst/>
              <a:gdLst>
                <a:gd name="T0" fmla="*/ 0 w 1"/>
                <a:gd name="T1" fmla="*/ 0 h 9680"/>
                <a:gd name="T2" fmla="*/ 0 w 1"/>
                <a:gd name="T3" fmla="*/ 9680 h 9680"/>
                <a:gd name="T4" fmla="*/ 1 w 1"/>
                <a:gd name="T5" fmla="*/ 9680 h 9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680">
                  <a:moveTo>
                    <a:pt x="0" y="0"/>
                  </a:moveTo>
                  <a:lnTo>
                    <a:pt x="0" y="9680"/>
                  </a:lnTo>
                  <a:lnTo>
                    <a:pt x="1" y="9680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90" name="Freeform 14"/>
            <p:cNvSpPr>
              <a:spLocks/>
            </p:cNvSpPr>
            <p:nvPr/>
          </p:nvSpPr>
          <p:spPr bwMode="auto">
            <a:xfrm>
              <a:off x="3120" y="1925"/>
              <a:ext cx="1" cy="13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8 h 78"/>
                <a:gd name="T4" fmla="*/ 1 w 1"/>
                <a:gd name="T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8">
                  <a:moveTo>
                    <a:pt x="0" y="0"/>
                  </a:moveTo>
                  <a:lnTo>
                    <a:pt x="0" y="78"/>
                  </a:lnTo>
                  <a:lnTo>
                    <a:pt x="1" y="78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91" name="Freeform 15"/>
            <p:cNvSpPr>
              <a:spLocks/>
            </p:cNvSpPr>
            <p:nvPr/>
          </p:nvSpPr>
          <p:spPr bwMode="auto">
            <a:xfrm>
              <a:off x="2841" y="1931"/>
              <a:ext cx="1" cy="57"/>
            </a:xfrm>
            <a:custGeom>
              <a:avLst/>
              <a:gdLst>
                <a:gd name="T0" fmla="*/ 0 w 1"/>
                <a:gd name="T1" fmla="*/ 0 h 341"/>
                <a:gd name="T2" fmla="*/ 0 w 1"/>
                <a:gd name="T3" fmla="*/ 341 h 341"/>
                <a:gd name="T4" fmla="*/ 1 w 1"/>
                <a:gd name="T5" fmla="*/ 341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41">
                  <a:moveTo>
                    <a:pt x="0" y="0"/>
                  </a:moveTo>
                  <a:lnTo>
                    <a:pt x="0" y="341"/>
                  </a:lnTo>
                  <a:lnTo>
                    <a:pt x="1" y="341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92" name="Freeform 16"/>
            <p:cNvSpPr>
              <a:spLocks/>
            </p:cNvSpPr>
            <p:nvPr/>
          </p:nvSpPr>
          <p:spPr bwMode="auto">
            <a:xfrm>
              <a:off x="2841" y="2003"/>
              <a:ext cx="1" cy="15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93" name="Freeform 17"/>
            <p:cNvSpPr>
              <a:spLocks/>
            </p:cNvSpPr>
            <p:nvPr/>
          </p:nvSpPr>
          <p:spPr bwMode="auto">
            <a:xfrm>
              <a:off x="2841" y="2033"/>
              <a:ext cx="1" cy="91"/>
            </a:xfrm>
            <a:custGeom>
              <a:avLst/>
              <a:gdLst>
                <a:gd name="T0" fmla="*/ 0 w 1"/>
                <a:gd name="T1" fmla="*/ 0 h 544"/>
                <a:gd name="T2" fmla="*/ 0 w 1"/>
                <a:gd name="T3" fmla="*/ 544 h 544"/>
                <a:gd name="T4" fmla="*/ 1 w 1"/>
                <a:gd name="T5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4">
                  <a:moveTo>
                    <a:pt x="0" y="0"/>
                  </a:moveTo>
                  <a:lnTo>
                    <a:pt x="0" y="544"/>
                  </a:lnTo>
                  <a:lnTo>
                    <a:pt x="1" y="544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94" name="Freeform 18"/>
            <p:cNvSpPr>
              <a:spLocks/>
            </p:cNvSpPr>
            <p:nvPr/>
          </p:nvSpPr>
          <p:spPr bwMode="auto">
            <a:xfrm>
              <a:off x="2841" y="2139"/>
              <a:ext cx="1" cy="15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95" name="Freeform 19"/>
            <p:cNvSpPr>
              <a:spLocks/>
            </p:cNvSpPr>
            <p:nvPr/>
          </p:nvSpPr>
          <p:spPr bwMode="auto">
            <a:xfrm>
              <a:off x="2841" y="2169"/>
              <a:ext cx="1" cy="91"/>
            </a:xfrm>
            <a:custGeom>
              <a:avLst/>
              <a:gdLst>
                <a:gd name="T0" fmla="*/ 0 w 1"/>
                <a:gd name="T1" fmla="*/ 0 h 545"/>
                <a:gd name="T2" fmla="*/ 0 w 1"/>
                <a:gd name="T3" fmla="*/ 545 h 545"/>
                <a:gd name="T4" fmla="*/ 1 w 1"/>
                <a:gd name="T5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5">
                  <a:moveTo>
                    <a:pt x="0" y="0"/>
                  </a:moveTo>
                  <a:lnTo>
                    <a:pt x="0" y="545"/>
                  </a:lnTo>
                  <a:lnTo>
                    <a:pt x="1" y="545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96" name="Freeform 20"/>
            <p:cNvSpPr>
              <a:spLocks/>
            </p:cNvSpPr>
            <p:nvPr/>
          </p:nvSpPr>
          <p:spPr bwMode="auto">
            <a:xfrm>
              <a:off x="2841" y="2275"/>
              <a:ext cx="1" cy="16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97" name="Freeform 21"/>
            <p:cNvSpPr>
              <a:spLocks/>
            </p:cNvSpPr>
            <p:nvPr/>
          </p:nvSpPr>
          <p:spPr bwMode="auto">
            <a:xfrm>
              <a:off x="2841" y="2306"/>
              <a:ext cx="1" cy="91"/>
            </a:xfrm>
            <a:custGeom>
              <a:avLst/>
              <a:gdLst>
                <a:gd name="T0" fmla="*/ 0 w 1"/>
                <a:gd name="T1" fmla="*/ 0 h 545"/>
                <a:gd name="T2" fmla="*/ 0 w 1"/>
                <a:gd name="T3" fmla="*/ 545 h 545"/>
                <a:gd name="T4" fmla="*/ 1 w 1"/>
                <a:gd name="T5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5">
                  <a:moveTo>
                    <a:pt x="0" y="0"/>
                  </a:moveTo>
                  <a:lnTo>
                    <a:pt x="0" y="545"/>
                  </a:lnTo>
                  <a:lnTo>
                    <a:pt x="1" y="545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98" name="Freeform 22"/>
            <p:cNvSpPr>
              <a:spLocks/>
            </p:cNvSpPr>
            <p:nvPr/>
          </p:nvSpPr>
          <p:spPr bwMode="auto">
            <a:xfrm>
              <a:off x="2841" y="2412"/>
              <a:ext cx="1" cy="15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199" name="Freeform 23"/>
            <p:cNvSpPr>
              <a:spLocks/>
            </p:cNvSpPr>
            <p:nvPr/>
          </p:nvSpPr>
          <p:spPr bwMode="auto">
            <a:xfrm>
              <a:off x="2841" y="2442"/>
              <a:ext cx="1" cy="91"/>
            </a:xfrm>
            <a:custGeom>
              <a:avLst/>
              <a:gdLst>
                <a:gd name="T0" fmla="*/ 0 w 1"/>
                <a:gd name="T1" fmla="*/ 0 h 545"/>
                <a:gd name="T2" fmla="*/ 0 w 1"/>
                <a:gd name="T3" fmla="*/ 545 h 545"/>
                <a:gd name="T4" fmla="*/ 1 w 1"/>
                <a:gd name="T5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5">
                  <a:moveTo>
                    <a:pt x="0" y="0"/>
                  </a:moveTo>
                  <a:lnTo>
                    <a:pt x="0" y="545"/>
                  </a:lnTo>
                  <a:lnTo>
                    <a:pt x="1" y="545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00" name="Freeform 24"/>
            <p:cNvSpPr>
              <a:spLocks/>
            </p:cNvSpPr>
            <p:nvPr/>
          </p:nvSpPr>
          <p:spPr bwMode="auto">
            <a:xfrm>
              <a:off x="2841" y="2548"/>
              <a:ext cx="1" cy="15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01" name="Freeform 25"/>
            <p:cNvSpPr>
              <a:spLocks/>
            </p:cNvSpPr>
            <p:nvPr/>
          </p:nvSpPr>
          <p:spPr bwMode="auto">
            <a:xfrm>
              <a:off x="2841" y="2578"/>
              <a:ext cx="1" cy="91"/>
            </a:xfrm>
            <a:custGeom>
              <a:avLst/>
              <a:gdLst>
                <a:gd name="T0" fmla="*/ 0 w 1"/>
                <a:gd name="T1" fmla="*/ 0 h 545"/>
                <a:gd name="T2" fmla="*/ 0 w 1"/>
                <a:gd name="T3" fmla="*/ 545 h 545"/>
                <a:gd name="T4" fmla="*/ 1 w 1"/>
                <a:gd name="T5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5">
                  <a:moveTo>
                    <a:pt x="0" y="0"/>
                  </a:moveTo>
                  <a:lnTo>
                    <a:pt x="0" y="545"/>
                  </a:lnTo>
                  <a:lnTo>
                    <a:pt x="1" y="545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02" name="Freeform 26"/>
            <p:cNvSpPr>
              <a:spLocks/>
            </p:cNvSpPr>
            <p:nvPr/>
          </p:nvSpPr>
          <p:spPr bwMode="auto">
            <a:xfrm>
              <a:off x="2841" y="2684"/>
              <a:ext cx="1" cy="15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03" name="Freeform 27"/>
            <p:cNvSpPr>
              <a:spLocks/>
            </p:cNvSpPr>
            <p:nvPr/>
          </p:nvSpPr>
          <p:spPr bwMode="auto">
            <a:xfrm>
              <a:off x="2841" y="2714"/>
              <a:ext cx="1" cy="57"/>
            </a:xfrm>
            <a:custGeom>
              <a:avLst/>
              <a:gdLst>
                <a:gd name="T0" fmla="*/ 0 w 1"/>
                <a:gd name="T1" fmla="*/ 0 h 339"/>
                <a:gd name="T2" fmla="*/ 0 w 1"/>
                <a:gd name="T3" fmla="*/ 339 h 339"/>
                <a:gd name="T4" fmla="*/ 1 w 1"/>
                <a:gd name="T5" fmla="*/ 339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39">
                  <a:moveTo>
                    <a:pt x="0" y="0"/>
                  </a:moveTo>
                  <a:lnTo>
                    <a:pt x="0" y="339"/>
                  </a:lnTo>
                  <a:lnTo>
                    <a:pt x="1" y="339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04" name="Freeform 28"/>
            <p:cNvSpPr>
              <a:spLocks/>
            </p:cNvSpPr>
            <p:nvPr/>
          </p:nvSpPr>
          <p:spPr bwMode="auto">
            <a:xfrm>
              <a:off x="2561" y="3583"/>
              <a:ext cx="561" cy="561"/>
            </a:xfrm>
            <a:custGeom>
              <a:avLst/>
              <a:gdLst>
                <a:gd name="T0" fmla="*/ 3367 w 3368"/>
                <a:gd name="T1" fmla="*/ 1683 h 3366"/>
                <a:gd name="T2" fmla="*/ 3284 w 3368"/>
                <a:gd name="T3" fmla="*/ 1163 h 3366"/>
                <a:gd name="T4" fmla="*/ 3045 w 3368"/>
                <a:gd name="T5" fmla="*/ 693 h 3366"/>
                <a:gd name="T6" fmla="*/ 2673 w 3368"/>
                <a:gd name="T7" fmla="*/ 321 h 3366"/>
                <a:gd name="T8" fmla="*/ 2204 w 3368"/>
                <a:gd name="T9" fmla="*/ 83 h 3366"/>
                <a:gd name="T10" fmla="*/ 1684 w 3368"/>
                <a:gd name="T11" fmla="*/ 0 h 3366"/>
                <a:gd name="T12" fmla="*/ 1164 w 3368"/>
                <a:gd name="T13" fmla="*/ 83 h 3366"/>
                <a:gd name="T14" fmla="*/ 694 w 3368"/>
                <a:gd name="T15" fmla="*/ 321 h 3366"/>
                <a:gd name="T16" fmla="*/ 322 w 3368"/>
                <a:gd name="T17" fmla="*/ 693 h 3366"/>
                <a:gd name="T18" fmla="*/ 83 w 3368"/>
                <a:gd name="T19" fmla="*/ 1163 h 3366"/>
                <a:gd name="T20" fmla="*/ 0 w 3368"/>
                <a:gd name="T21" fmla="*/ 1683 h 3366"/>
                <a:gd name="T22" fmla="*/ 83 w 3368"/>
                <a:gd name="T23" fmla="*/ 2204 h 3366"/>
                <a:gd name="T24" fmla="*/ 322 w 3368"/>
                <a:gd name="T25" fmla="*/ 2673 h 3366"/>
                <a:gd name="T26" fmla="*/ 694 w 3368"/>
                <a:gd name="T27" fmla="*/ 3045 h 3366"/>
                <a:gd name="T28" fmla="*/ 1164 w 3368"/>
                <a:gd name="T29" fmla="*/ 3284 h 3366"/>
                <a:gd name="T30" fmla="*/ 1684 w 3368"/>
                <a:gd name="T31" fmla="*/ 3366 h 3366"/>
                <a:gd name="T32" fmla="*/ 2204 w 3368"/>
                <a:gd name="T33" fmla="*/ 3284 h 3366"/>
                <a:gd name="T34" fmla="*/ 2673 w 3368"/>
                <a:gd name="T35" fmla="*/ 3045 h 3366"/>
                <a:gd name="T36" fmla="*/ 3045 w 3368"/>
                <a:gd name="T37" fmla="*/ 2673 h 3366"/>
                <a:gd name="T38" fmla="*/ 3284 w 3368"/>
                <a:gd name="T39" fmla="*/ 2204 h 3366"/>
                <a:gd name="T40" fmla="*/ 3367 w 3368"/>
                <a:gd name="T41" fmla="*/ 1683 h 3366"/>
                <a:gd name="T42" fmla="*/ 3368 w 3368"/>
                <a:gd name="T43" fmla="*/ 1683 h 3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368" h="3366">
                  <a:moveTo>
                    <a:pt x="3367" y="1683"/>
                  </a:moveTo>
                  <a:lnTo>
                    <a:pt x="3284" y="1163"/>
                  </a:lnTo>
                  <a:lnTo>
                    <a:pt x="3045" y="693"/>
                  </a:lnTo>
                  <a:lnTo>
                    <a:pt x="2673" y="321"/>
                  </a:lnTo>
                  <a:lnTo>
                    <a:pt x="2204" y="83"/>
                  </a:lnTo>
                  <a:lnTo>
                    <a:pt x="1684" y="0"/>
                  </a:lnTo>
                  <a:lnTo>
                    <a:pt x="1164" y="83"/>
                  </a:lnTo>
                  <a:lnTo>
                    <a:pt x="694" y="321"/>
                  </a:lnTo>
                  <a:lnTo>
                    <a:pt x="322" y="693"/>
                  </a:lnTo>
                  <a:lnTo>
                    <a:pt x="83" y="1163"/>
                  </a:lnTo>
                  <a:lnTo>
                    <a:pt x="0" y="1683"/>
                  </a:lnTo>
                  <a:lnTo>
                    <a:pt x="83" y="2204"/>
                  </a:lnTo>
                  <a:lnTo>
                    <a:pt x="322" y="2673"/>
                  </a:lnTo>
                  <a:lnTo>
                    <a:pt x="694" y="3045"/>
                  </a:lnTo>
                  <a:lnTo>
                    <a:pt x="1164" y="3284"/>
                  </a:lnTo>
                  <a:lnTo>
                    <a:pt x="1684" y="3366"/>
                  </a:lnTo>
                  <a:lnTo>
                    <a:pt x="2204" y="3284"/>
                  </a:lnTo>
                  <a:lnTo>
                    <a:pt x="2673" y="3045"/>
                  </a:lnTo>
                  <a:lnTo>
                    <a:pt x="3045" y="2673"/>
                  </a:lnTo>
                  <a:lnTo>
                    <a:pt x="3284" y="2204"/>
                  </a:lnTo>
                  <a:lnTo>
                    <a:pt x="3367" y="1683"/>
                  </a:lnTo>
                  <a:lnTo>
                    <a:pt x="3368" y="1683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05" name="Freeform 29"/>
            <p:cNvSpPr>
              <a:spLocks/>
            </p:cNvSpPr>
            <p:nvPr/>
          </p:nvSpPr>
          <p:spPr bwMode="auto">
            <a:xfrm>
              <a:off x="2595" y="3617"/>
              <a:ext cx="112" cy="113"/>
            </a:xfrm>
            <a:custGeom>
              <a:avLst/>
              <a:gdLst>
                <a:gd name="T0" fmla="*/ 0 w 675"/>
                <a:gd name="T1" fmla="*/ 673 h 673"/>
                <a:gd name="T2" fmla="*/ 674 w 675"/>
                <a:gd name="T3" fmla="*/ 0 h 673"/>
                <a:gd name="T4" fmla="*/ 675 w 675"/>
                <a:gd name="T5" fmla="*/ 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5" h="673">
                  <a:moveTo>
                    <a:pt x="0" y="673"/>
                  </a:moveTo>
                  <a:lnTo>
                    <a:pt x="674" y="0"/>
                  </a:lnTo>
                  <a:lnTo>
                    <a:pt x="675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06" name="Freeform 30"/>
            <p:cNvSpPr>
              <a:spLocks/>
            </p:cNvSpPr>
            <p:nvPr/>
          </p:nvSpPr>
          <p:spPr bwMode="auto">
            <a:xfrm>
              <a:off x="2572" y="3595"/>
              <a:ext cx="190" cy="189"/>
            </a:xfrm>
            <a:custGeom>
              <a:avLst/>
              <a:gdLst>
                <a:gd name="T0" fmla="*/ 0 w 1140"/>
                <a:gd name="T1" fmla="*/ 1138 h 1138"/>
                <a:gd name="T2" fmla="*/ 1139 w 1140"/>
                <a:gd name="T3" fmla="*/ 0 h 1138"/>
                <a:gd name="T4" fmla="*/ 1140 w 1140"/>
                <a:gd name="T5" fmla="*/ 0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40" h="1138">
                  <a:moveTo>
                    <a:pt x="0" y="1138"/>
                  </a:moveTo>
                  <a:lnTo>
                    <a:pt x="1139" y="0"/>
                  </a:lnTo>
                  <a:lnTo>
                    <a:pt x="1140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07" name="Freeform 31"/>
            <p:cNvSpPr>
              <a:spLocks/>
            </p:cNvSpPr>
            <p:nvPr/>
          </p:nvSpPr>
          <p:spPr bwMode="auto">
            <a:xfrm>
              <a:off x="2563" y="3586"/>
              <a:ext cx="240" cy="239"/>
            </a:xfrm>
            <a:custGeom>
              <a:avLst/>
              <a:gdLst>
                <a:gd name="T0" fmla="*/ 0 w 1439"/>
                <a:gd name="T1" fmla="*/ 1437 h 1437"/>
                <a:gd name="T2" fmla="*/ 1437 w 1439"/>
                <a:gd name="T3" fmla="*/ 0 h 1437"/>
                <a:gd name="T4" fmla="*/ 1439 w 1439"/>
                <a:gd name="T5" fmla="*/ 0 h 1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39" h="1437">
                  <a:moveTo>
                    <a:pt x="0" y="1437"/>
                  </a:moveTo>
                  <a:lnTo>
                    <a:pt x="1437" y="0"/>
                  </a:lnTo>
                  <a:lnTo>
                    <a:pt x="1439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08" name="Freeform 32"/>
            <p:cNvSpPr>
              <a:spLocks/>
            </p:cNvSpPr>
            <p:nvPr/>
          </p:nvSpPr>
          <p:spPr bwMode="auto">
            <a:xfrm>
              <a:off x="2561" y="3583"/>
              <a:ext cx="277" cy="277"/>
            </a:xfrm>
            <a:custGeom>
              <a:avLst/>
              <a:gdLst>
                <a:gd name="T0" fmla="*/ 0 w 1663"/>
                <a:gd name="T1" fmla="*/ 1661 h 1661"/>
                <a:gd name="T2" fmla="*/ 1662 w 1663"/>
                <a:gd name="T3" fmla="*/ 0 h 1661"/>
                <a:gd name="T4" fmla="*/ 1663 w 1663"/>
                <a:gd name="T5" fmla="*/ 0 h 1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3" h="1661">
                  <a:moveTo>
                    <a:pt x="0" y="1661"/>
                  </a:moveTo>
                  <a:lnTo>
                    <a:pt x="1662" y="0"/>
                  </a:lnTo>
                  <a:lnTo>
                    <a:pt x="1663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09" name="Freeform 33"/>
            <p:cNvSpPr>
              <a:spLocks/>
            </p:cNvSpPr>
            <p:nvPr/>
          </p:nvSpPr>
          <p:spPr bwMode="auto">
            <a:xfrm>
              <a:off x="2562" y="3584"/>
              <a:ext cx="307" cy="307"/>
            </a:xfrm>
            <a:custGeom>
              <a:avLst/>
              <a:gdLst>
                <a:gd name="T0" fmla="*/ 0 w 1839"/>
                <a:gd name="T1" fmla="*/ 1838 h 1838"/>
                <a:gd name="T2" fmla="*/ 1838 w 1839"/>
                <a:gd name="T3" fmla="*/ 0 h 1838"/>
                <a:gd name="T4" fmla="*/ 1839 w 1839"/>
                <a:gd name="T5" fmla="*/ 0 h 1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39" h="1838">
                  <a:moveTo>
                    <a:pt x="0" y="1838"/>
                  </a:moveTo>
                  <a:lnTo>
                    <a:pt x="1838" y="0"/>
                  </a:lnTo>
                  <a:lnTo>
                    <a:pt x="1839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10" name="Freeform 34"/>
            <p:cNvSpPr>
              <a:spLocks/>
            </p:cNvSpPr>
            <p:nvPr/>
          </p:nvSpPr>
          <p:spPr bwMode="auto">
            <a:xfrm>
              <a:off x="2566" y="3589"/>
              <a:ext cx="331" cy="330"/>
            </a:xfrm>
            <a:custGeom>
              <a:avLst/>
              <a:gdLst>
                <a:gd name="T0" fmla="*/ 0 w 1983"/>
                <a:gd name="T1" fmla="*/ 1980 h 1980"/>
                <a:gd name="T2" fmla="*/ 1982 w 1983"/>
                <a:gd name="T3" fmla="*/ 0 h 1980"/>
                <a:gd name="T4" fmla="*/ 1983 w 1983"/>
                <a:gd name="T5" fmla="*/ 0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3" h="1980">
                  <a:moveTo>
                    <a:pt x="0" y="1980"/>
                  </a:moveTo>
                  <a:lnTo>
                    <a:pt x="1982" y="0"/>
                  </a:lnTo>
                  <a:lnTo>
                    <a:pt x="1983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11" name="Freeform 35"/>
            <p:cNvSpPr>
              <a:spLocks/>
            </p:cNvSpPr>
            <p:nvPr/>
          </p:nvSpPr>
          <p:spPr bwMode="auto">
            <a:xfrm>
              <a:off x="2573" y="3595"/>
              <a:ext cx="349" cy="349"/>
            </a:xfrm>
            <a:custGeom>
              <a:avLst/>
              <a:gdLst>
                <a:gd name="T0" fmla="*/ 0 w 2097"/>
                <a:gd name="T1" fmla="*/ 2097 h 2097"/>
                <a:gd name="T2" fmla="*/ 2096 w 2097"/>
                <a:gd name="T3" fmla="*/ 0 h 2097"/>
                <a:gd name="T4" fmla="*/ 2097 w 2097"/>
                <a:gd name="T5" fmla="*/ 0 h 2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97" h="2097">
                  <a:moveTo>
                    <a:pt x="0" y="2097"/>
                  </a:moveTo>
                  <a:lnTo>
                    <a:pt x="2096" y="0"/>
                  </a:lnTo>
                  <a:lnTo>
                    <a:pt x="2097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12" name="Freeform 36"/>
            <p:cNvSpPr>
              <a:spLocks/>
            </p:cNvSpPr>
            <p:nvPr/>
          </p:nvSpPr>
          <p:spPr bwMode="auto">
            <a:xfrm>
              <a:off x="2581" y="3603"/>
              <a:ext cx="365" cy="365"/>
            </a:xfrm>
            <a:custGeom>
              <a:avLst/>
              <a:gdLst>
                <a:gd name="T0" fmla="*/ 0 w 2190"/>
                <a:gd name="T1" fmla="*/ 2188 h 2188"/>
                <a:gd name="T2" fmla="*/ 2189 w 2190"/>
                <a:gd name="T3" fmla="*/ 0 h 2188"/>
                <a:gd name="T4" fmla="*/ 2190 w 2190"/>
                <a:gd name="T5" fmla="*/ 0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0" h="2188">
                  <a:moveTo>
                    <a:pt x="0" y="2188"/>
                  </a:moveTo>
                  <a:lnTo>
                    <a:pt x="2189" y="0"/>
                  </a:lnTo>
                  <a:lnTo>
                    <a:pt x="2190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13" name="Freeform 37"/>
            <p:cNvSpPr>
              <a:spLocks/>
            </p:cNvSpPr>
            <p:nvPr/>
          </p:nvSpPr>
          <p:spPr bwMode="auto">
            <a:xfrm>
              <a:off x="2591" y="3613"/>
              <a:ext cx="377" cy="377"/>
            </a:xfrm>
            <a:custGeom>
              <a:avLst/>
              <a:gdLst>
                <a:gd name="T0" fmla="*/ 0 w 2264"/>
                <a:gd name="T1" fmla="*/ 2262 h 2262"/>
                <a:gd name="T2" fmla="*/ 2262 w 2264"/>
                <a:gd name="T3" fmla="*/ 0 h 2262"/>
                <a:gd name="T4" fmla="*/ 2264 w 2264"/>
                <a:gd name="T5" fmla="*/ 0 h 2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64" h="2262">
                  <a:moveTo>
                    <a:pt x="0" y="2262"/>
                  </a:moveTo>
                  <a:lnTo>
                    <a:pt x="2262" y="0"/>
                  </a:lnTo>
                  <a:lnTo>
                    <a:pt x="2264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14" name="Freeform 38"/>
            <p:cNvSpPr>
              <a:spLocks/>
            </p:cNvSpPr>
            <p:nvPr/>
          </p:nvSpPr>
          <p:spPr bwMode="auto">
            <a:xfrm>
              <a:off x="2602" y="3625"/>
              <a:ext cx="387" cy="386"/>
            </a:xfrm>
            <a:custGeom>
              <a:avLst/>
              <a:gdLst>
                <a:gd name="T0" fmla="*/ 0 w 2317"/>
                <a:gd name="T1" fmla="*/ 2316 h 2316"/>
                <a:gd name="T2" fmla="*/ 2316 w 2317"/>
                <a:gd name="T3" fmla="*/ 0 h 2316"/>
                <a:gd name="T4" fmla="*/ 2317 w 2317"/>
                <a:gd name="T5" fmla="*/ 0 h 2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17" h="2316">
                  <a:moveTo>
                    <a:pt x="0" y="2316"/>
                  </a:moveTo>
                  <a:lnTo>
                    <a:pt x="2316" y="0"/>
                  </a:lnTo>
                  <a:lnTo>
                    <a:pt x="2317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15" name="Freeform 39"/>
            <p:cNvSpPr>
              <a:spLocks/>
            </p:cNvSpPr>
            <p:nvPr/>
          </p:nvSpPr>
          <p:spPr bwMode="auto">
            <a:xfrm>
              <a:off x="2616" y="3638"/>
              <a:ext cx="392" cy="392"/>
            </a:xfrm>
            <a:custGeom>
              <a:avLst/>
              <a:gdLst>
                <a:gd name="T0" fmla="*/ 0 w 2355"/>
                <a:gd name="T1" fmla="*/ 2352 h 2352"/>
                <a:gd name="T2" fmla="*/ 2353 w 2355"/>
                <a:gd name="T3" fmla="*/ 0 h 2352"/>
                <a:gd name="T4" fmla="*/ 2355 w 2355"/>
                <a:gd name="T5" fmla="*/ 0 h 2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55" h="2352">
                  <a:moveTo>
                    <a:pt x="0" y="2352"/>
                  </a:moveTo>
                  <a:lnTo>
                    <a:pt x="2353" y="0"/>
                  </a:lnTo>
                  <a:lnTo>
                    <a:pt x="2355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16" name="Freeform 40"/>
            <p:cNvSpPr>
              <a:spLocks/>
            </p:cNvSpPr>
            <p:nvPr/>
          </p:nvSpPr>
          <p:spPr bwMode="auto">
            <a:xfrm>
              <a:off x="2630" y="3652"/>
              <a:ext cx="396" cy="396"/>
            </a:xfrm>
            <a:custGeom>
              <a:avLst/>
              <a:gdLst>
                <a:gd name="T0" fmla="*/ 0 w 2375"/>
                <a:gd name="T1" fmla="*/ 2375 h 2375"/>
                <a:gd name="T2" fmla="*/ 2374 w 2375"/>
                <a:gd name="T3" fmla="*/ 0 h 2375"/>
                <a:gd name="T4" fmla="*/ 2375 w 2375"/>
                <a:gd name="T5" fmla="*/ 0 h 2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75" h="2375">
                  <a:moveTo>
                    <a:pt x="0" y="2375"/>
                  </a:moveTo>
                  <a:lnTo>
                    <a:pt x="2374" y="0"/>
                  </a:lnTo>
                  <a:lnTo>
                    <a:pt x="2375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17" name="Freeform 41"/>
            <p:cNvSpPr>
              <a:spLocks/>
            </p:cNvSpPr>
            <p:nvPr/>
          </p:nvSpPr>
          <p:spPr bwMode="auto">
            <a:xfrm>
              <a:off x="2645" y="3668"/>
              <a:ext cx="397" cy="396"/>
            </a:xfrm>
            <a:custGeom>
              <a:avLst/>
              <a:gdLst>
                <a:gd name="T0" fmla="*/ 0 w 2382"/>
                <a:gd name="T1" fmla="*/ 2380 h 2380"/>
                <a:gd name="T2" fmla="*/ 2381 w 2382"/>
                <a:gd name="T3" fmla="*/ 0 h 2380"/>
                <a:gd name="T4" fmla="*/ 2382 w 2382"/>
                <a:gd name="T5" fmla="*/ 0 h 2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82" h="2380">
                  <a:moveTo>
                    <a:pt x="0" y="2380"/>
                  </a:moveTo>
                  <a:lnTo>
                    <a:pt x="2381" y="0"/>
                  </a:lnTo>
                  <a:lnTo>
                    <a:pt x="2382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18" name="Freeform 42"/>
            <p:cNvSpPr>
              <a:spLocks/>
            </p:cNvSpPr>
            <p:nvPr/>
          </p:nvSpPr>
          <p:spPr bwMode="auto">
            <a:xfrm>
              <a:off x="2662" y="3685"/>
              <a:ext cx="395" cy="395"/>
            </a:xfrm>
            <a:custGeom>
              <a:avLst/>
              <a:gdLst>
                <a:gd name="T0" fmla="*/ 0 w 2372"/>
                <a:gd name="T1" fmla="*/ 2370 h 2370"/>
                <a:gd name="T2" fmla="*/ 2371 w 2372"/>
                <a:gd name="T3" fmla="*/ 0 h 2370"/>
                <a:gd name="T4" fmla="*/ 2372 w 2372"/>
                <a:gd name="T5" fmla="*/ 0 h 2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72" h="2370">
                  <a:moveTo>
                    <a:pt x="0" y="2370"/>
                  </a:moveTo>
                  <a:lnTo>
                    <a:pt x="2371" y="0"/>
                  </a:lnTo>
                  <a:lnTo>
                    <a:pt x="2372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19" name="Freeform 43"/>
            <p:cNvSpPr>
              <a:spLocks/>
            </p:cNvSpPr>
            <p:nvPr/>
          </p:nvSpPr>
          <p:spPr bwMode="auto">
            <a:xfrm>
              <a:off x="2681" y="3703"/>
              <a:ext cx="390" cy="391"/>
            </a:xfrm>
            <a:custGeom>
              <a:avLst/>
              <a:gdLst>
                <a:gd name="T0" fmla="*/ 0 w 2345"/>
                <a:gd name="T1" fmla="*/ 2344 h 2344"/>
                <a:gd name="T2" fmla="*/ 2344 w 2345"/>
                <a:gd name="T3" fmla="*/ 0 h 2344"/>
                <a:gd name="T4" fmla="*/ 2345 w 2345"/>
                <a:gd name="T5" fmla="*/ 0 h 2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5" h="2344">
                  <a:moveTo>
                    <a:pt x="0" y="2344"/>
                  </a:moveTo>
                  <a:lnTo>
                    <a:pt x="2344" y="0"/>
                  </a:lnTo>
                  <a:lnTo>
                    <a:pt x="2345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20" name="Freeform 44"/>
            <p:cNvSpPr>
              <a:spLocks/>
            </p:cNvSpPr>
            <p:nvPr/>
          </p:nvSpPr>
          <p:spPr bwMode="auto">
            <a:xfrm>
              <a:off x="2700" y="3723"/>
              <a:ext cx="384" cy="383"/>
            </a:xfrm>
            <a:custGeom>
              <a:avLst/>
              <a:gdLst>
                <a:gd name="T0" fmla="*/ 0 w 2302"/>
                <a:gd name="T1" fmla="*/ 2302 h 2302"/>
                <a:gd name="T2" fmla="*/ 2301 w 2302"/>
                <a:gd name="T3" fmla="*/ 0 h 2302"/>
                <a:gd name="T4" fmla="*/ 2302 w 2302"/>
                <a:gd name="T5" fmla="*/ 0 h 2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02" h="2302">
                  <a:moveTo>
                    <a:pt x="0" y="2302"/>
                  </a:moveTo>
                  <a:lnTo>
                    <a:pt x="2301" y="0"/>
                  </a:lnTo>
                  <a:lnTo>
                    <a:pt x="2302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21" name="Freeform 45"/>
            <p:cNvSpPr>
              <a:spLocks/>
            </p:cNvSpPr>
            <p:nvPr/>
          </p:nvSpPr>
          <p:spPr bwMode="auto">
            <a:xfrm>
              <a:off x="2721" y="3744"/>
              <a:ext cx="374" cy="373"/>
            </a:xfrm>
            <a:custGeom>
              <a:avLst/>
              <a:gdLst>
                <a:gd name="T0" fmla="*/ 0 w 2243"/>
                <a:gd name="T1" fmla="*/ 2241 h 2241"/>
                <a:gd name="T2" fmla="*/ 2242 w 2243"/>
                <a:gd name="T3" fmla="*/ 0 h 2241"/>
                <a:gd name="T4" fmla="*/ 2243 w 2243"/>
                <a:gd name="T5" fmla="*/ 0 h 2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43" h="2241">
                  <a:moveTo>
                    <a:pt x="0" y="2241"/>
                  </a:moveTo>
                  <a:lnTo>
                    <a:pt x="2242" y="0"/>
                  </a:lnTo>
                  <a:lnTo>
                    <a:pt x="2243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22" name="Freeform 46"/>
            <p:cNvSpPr>
              <a:spLocks/>
            </p:cNvSpPr>
            <p:nvPr/>
          </p:nvSpPr>
          <p:spPr bwMode="auto">
            <a:xfrm>
              <a:off x="2744" y="3766"/>
              <a:ext cx="361" cy="361"/>
            </a:xfrm>
            <a:custGeom>
              <a:avLst/>
              <a:gdLst>
                <a:gd name="T0" fmla="*/ 0 w 2165"/>
                <a:gd name="T1" fmla="*/ 2163 h 2163"/>
                <a:gd name="T2" fmla="*/ 2164 w 2165"/>
                <a:gd name="T3" fmla="*/ 0 h 2163"/>
                <a:gd name="T4" fmla="*/ 2165 w 2165"/>
                <a:gd name="T5" fmla="*/ 0 h 2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5" h="2163">
                  <a:moveTo>
                    <a:pt x="0" y="2163"/>
                  </a:moveTo>
                  <a:lnTo>
                    <a:pt x="2164" y="0"/>
                  </a:lnTo>
                  <a:lnTo>
                    <a:pt x="2165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23" name="Freeform 47"/>
            <p:cNvSpPr>
              <a:spLocks/>
            </p:cNvSpPr>
            <p:nvPr/>
          </p:nvSpPr>
          <p:spPr bwMode="auto">
            <a:xfrm>
              <a:off x="2768" y="3791"/>
              <a:ext cx="344" cy="343"/>
            </a:xfrm>
            <a:custGeom>
              <a:avLst/>
              <a:gdLst>
                <a:gd name="T0" fmla="*/ 0 w 2066"/>
                <a:gd name="T1" fmla="*/ 2064 h 2064"/>
                <a:gd name="T2" fmla="*/ 2065 w 2066"/>
                <a:gd name="T3" fmla="*/ 0 h 2064"/>
                <a:gd name="T4" fmla="*/ 2066 w 2066"/>
                <a:gd name="T5" fmla="*/ 0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66" h="2064">
                  <a:moveTo>
                    <a:pt x="0" y="2064"/>
                  </a:moveTo>
                  <a:lnTo>
                    <a:pt x="2065" y="0"/>
                  </a:lnTo>
                  <a:lnTo>
                    <a:pt x="2066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24" name="Freeform 48"/>
            <p:cNvSpPr>
              <a:spLocks/>
            </p:cNvSpPr>
            <p:nvPr/>
          </p:nvSpPr>
          <p:spPr bwMode="auto">
            <a:xfrm>
              <a:off x="2794" y="3817"/>
              <a:ext cx="324" cy="323"/>
            </a:xfrm>
            <a:custGeom>
              <a:avLst/>
              <a:gdLst>
                <a:gd name="T0" fmla="*/ 0 w 1942"/>
                <a:gd name="T1" fmla="*/ 1941 h 1941"/>
                <a:gd name="T2" fmla="*/ 1941 w 1942"/>
                <a:gd name="T3" fmla="*/ 0 h 1941"/>
                <a:gd name="T4" fmla="*/ 1942 w 1942"/>
                <a:gd name="T5" fmla="*/ 0 h 19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2" h="1941">
                  <a:moveTo>
                    <a:pt x="0" y="1941"/>
                  </a:moveTo>
                  <a:lnTo>
                    <a:pt x="1941" y="0"/>
                  </a:lnTo>
                  <a:lnTo>
                    <a:pt x="1942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25" name="Freeform 49"/>
            <p:cNvSpPr>
              <a:spLocks/>
            </p:cNvSpPr>
            <p:nvPr/>
          </p:nvSpPr>
          <p:spPr bwMode="auto">
            <a:xfrm>
              <a:off x="2823" y="3846"/>
              <a:ext cx="298" cy="298"/>
            </a:xfrm>
            <a:custGeom>
              <a:avLst/>
              <a:gdLst>
                <a:gd name="T0" fmla="*/ 0 w 1790"/>
                <a:gd name="T1" fmla="*/ 1788 h 1788"/>
                <a:gd name="T2" fmla="*/ 1789 w 1790"/>
                <a:gd name="T3" fmla="*/ 0 h 1788"/>
                <a:gd name="T4" fmla="*/ 1790 w 1790"/>
                <a:gd name="T5" fmla="*/ 0 h 1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90" h="1788">
                  <a:moveTo>
                    <a:pt x="0" y="1788"/>
                  </a:moveTo>
                  <a:lnTo>
                    <a:pt x="1789" y="0"/>
                  </a:lnTo>
                  <a:lnTo>
                    <a:pt x="1790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26" name="Freeform 50"/>
            <p:cNvSpPr>
              <a:spLocks/>
            </p:cNvSpPr>
            <p:nvPr/>
          </p:nvSpPr>
          <p:spPr bwMode="auto">
            <a:xfrm>
              <a:off x="2855" y="3878"/>
              <a:ext cx="267" cy="266"/>
            </a:xfrm>
            <a:custGeom>
              <a:avLst/>
              <a:gdLst>
                <a:gd name="T0" fmla="*/ 0 w 1599"/>
                <a:gd name="T1" fmla="*/ 1598 h 1598"/>
                <a:gd name="T2" fmla="*/ 1598 w 1599"/>
                <a:gd name="T3" fmla="*/ 0 h 1598"/>
                <a:gd name="T4" fmla="*/ 1599 w 1599"/>
                <a:gd name="T5" fmla="*/ 0 h 1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9" h="1598">
                  <a:moveTo>
                    <a:pt x="0" y="1598"/>
                  </a:moveTo>
                  <a:lnTo>
                    <a:pt x="1598" y="0"/>
                  </a:lnTo>
                  <a:lnTo>
                    <a:pt x="1599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27" name="Freeform 51"/>
            <p:cNvSpPr>
              <a:spLocks/>
            </p:cNvSpPr>
            <p:nvPr/>
          </p:nvSpPr>
          <p:spPr bwMode="auto">
            <a:xfrm>
              <a:off x="2891" y="3914"/>
              <a:ext cx="227" cy="226"/>
            </a:xfrm>
            <a:custGeom>
              <a:avLst/>
              <a:gdLst>
                <a:gd name="T0" fmla="*/ 0 w 1357"/>
                <a:gd name="T1" fmla="*/ 1355 h 1355"/>
                <a:gd name="T2" fmla="*/ 1356 w 1357"/>
                <a:gd name="T3" fmla="*/ 0 h 1355"/>
                <a:gd name="T4" fmla="*/ 1357 w 1357"/>
                <a:gd name="T5" fmla="*/ 0 h 1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57" h="1355">
                  <a:moveTo>
                    <a:pt x="0" y="1355"/>
                  </a:moveTo>
                  <a:lnTo>
                    <a:pt x="1356" y="0"/>
                  </a:lnTo>
                  <a:lnTo>
                    <a:pt x="1357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28" name="Freeform 52"/>
            <p:cNvSpPr>
              <a:spLocks/>
            </p:cNvSpPr>
            <p:nvPr/>
          </p:nvSpPr>
          <p:spPr bwMode="auto">
            <a:xfrm>
              <a:off x="2935" y="3957"/>
              <a:ext cx="171" cy="171"/>
            </a:xfrm>
            <a:custGeom>
              <a:avLst/>
              <a:gdLst>
                <a:gd name="T0" fmla="*/ 0 w 1025"/>
                <a:gd name="T1" fmla="*/ 1023 h 1023"/>
                <a:gd name="T2" fmla="*/ 1024 w 1025"/>
                <a:gd name="T3" fmla="*/ 0 h 1023"/>
                <a:gd name="T4" fmla="*/ 1025 w 1025"/>
                <a:gd name="T5" fmla="*/ 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5" h="1023">
                  <a:moveTo>
                    <a:pt x="0" y="1023"/>
                  </a:moveTo>
                  <a:lnTo>
                    <a:pt x="1024" y="0"/>
                  </a:lnTo>
                  <a:lnTo>
                    <a:pt x="1025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29" name="Freeform 53"/>
            <p:cNvSpPr>
              <a:spLocks/>
            </p:cNvSpPr>
            <p:nvPr/>
          </p:nvSpPr>
          <p:spPr bwMode="auto">
            <a:xfrm>
              <a:off x="3001" y="4023"/>
              <a:ext cx="71" cy="71"/>
            </a:xfrm>
            <a:custGeom>
              <a:avLst/>
              <a:gdLst>
                <a:gd name="T0" fmla="*/ 0 w 428"/>
                <a:gd name="T1" fmla="*/ 426 h 426"/>
                <a:gd name="T2" fmla="*/ 426 w 428"/>
                <a:gd name="T3" fmla="*/ 0 h 426"/>
                <a:gd name="T4" fmla="*/ 428 w 428"/>
                <a:gd name="T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" h="426">
                  <a:moveTo>
                    <a:pt x="0" y="426"/>
                  </a:moveTo>
                  <a:lnTo>
                    <a:pt x="426" y="0"/>
                  </a:lnTo>
                  <a:lnTo>
                    <a:pt x="428" y="0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30" name="Freeform 54"/>
            <p:cNvSpPr>
              <a:spLocks/>
            </p:cNvSpPr>
            <p:nvPr/>
          </p:nvSpPr>
          <p:spPr bwMode="auto">
            <a:xfrm>
              <a:off x="2563" y="1938"/>
              <a:ext cx="557" cy="1"/>
            </a:xfrm>
            <a:custGeom>
              <a:avLst/>
              <a:gdLst>
                <a:gd name="T0" fmla="*/ 0 w 3342"/>
                <a:gd name="T1" fmla="*/ 3341 w 3342"/>
                <a:gd name="T2" fmla="*/ 3342 w 334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342">
                  <a:moveTo>
                    <a:pt x="0" y="0"/>
                  </a:moveTo>
                  <a:lnTo>
                    <a:pt x="3341" y="0"/>
                  </a:lnTo>
                  <a:lnTo>
                    <a:pt x="3342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31" name="Freeform 55"/>
            <p:cNvSpPr>
              <a:spLocks/>
            </p:cNvSpPr>
            <p:nvPr/>
          </p:nvSpPr>
          <p:spPr bwMode="auto">
            <a:xfrm>
              <a:off x="2563" y="1938"/>
              <a:ext cx="557" cy="1"/>
            </a:xfrm>
            <a:custGeom>
              <a:avLst/>
              <a:gdLst>
                <a:gd name="T0" fmla="*/ 3341 w 3341"/>
                <a:gd name="T1" fmla="*/ 0 w 3341"/>
                <a:gd name="T2" fmla="*/ 1 w 334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341">
                  <a:moveTo>
                    <a:pt x="334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32" name="Freeform 56"/>
            <p:cNvSpPr>
              <a:spLocks/>
            </p:cNvSpPr>
            <p:nvPr/>
          </p:nvSpPr>
          <p:spPr bwMode="auto">
            <a:xfrm>
              <a:off x="3120" y="2250"/>
              <a:ext cx="1" cy="1614"/>
            </a:xfrm>
            <a:custGeom>
              <a:avLst/>
              <a:gdLst>
                <a:gd name="T0" fmla="*/ 0 w 1"/>
                <a:gd name="T1" fmla="*/ 0 h 9680"/>
                <a:gd name="T2" fmla="*/ 0 w 1"/>
                <a:gd name="T3" fmla="*/ 9680 h 9680"/>
                <a:gd name="T4" fmla="*/ 1 w 1"/>
                <a:gd name="T5" fmla="*/ 9680 h 9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680">
                  <a:moveTo>
                    <a:pt x="0" y="0"/>
                  </a:moveTo>
                  <a:lnTo>
                    <a:pt x="0" y="9680"/>
                  </a:lnTo>
                  <a:lnTo>
                    <a:pt x="1" y="9680"/>
                  </a:lnTo>
                </a:path>
              </a:pathLst>
            </a:custGeom>
            <a:noFill/>
            <a:ln w="222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33" name="Freeform 57"/>
            <p:cNvSpPr>
              <a:spLocks/>
            </p:cNvSpPr>
            <p:nvPr/>
          </p:nvSpPr>
          <p:spPr bwMode="auto">
            <a:xfrm>
              <a:off x="3301" y="2250"/>
              <a:ext cx="300" cy="539"/>
            </a:xfrm>
            <a:custGeom>
              <a:avLst/>
              <a:gdLst>
                <a:gd name="T0" fmla="*/ 0 w 1802"/>
                <a:gd name="T1" fmla="*/ 0 h 3232"/>
                <a:gd name="T2" fmla="*/ 1801 w 1802"/>
                <a:gd name="T3" fmla="*/ 3232 h 3232"/>
                <a:gd name="T4" fmla="*/ 1802 w 1802"/>
                <a:gd name="T5" fmla="*/ 3232 h 3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02" h="3232">
                  <a:moveTo>
                    <a:pt x="0" y="0"/>
                  </a:moveTo>
                  <a:lnTo>
                    <a:pt x="1801" y="3232"/>
                  </a:lnTo>
                  <a:lnTo>
                    <a:pt x="1802" y="3232"/>
                  </a:lnTo>
                </a:path>
              </a:pathLst>
            </a:custGeom>
            <a:noFill/>
            <a:ln w="254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34" name="Freeform 58"/>
            <p:cNvSpPr>
              <a:spLocks/>
            </p:cNvSpPr>
            <p:nvPr/>
          </p:nvSpPr>
          <p:spPr bwMode="auto">
            <a:xfrm>
              <a:off x="2102" y="2250"/>
              <a:ext cx="284" cy="504"/>
            </a:xfrm>
            <a:custGeom>
              <a:avLst/>
              <a:gdLst>
                <a:gd name="T0" fmla="*/ 1707 w 1707"/>
                <a:gd name="T1" fmla="*/ 0 h 3021"/>
                <a:gd name="T2" fmla="*/ 0 w 1707"/>
                <a:gd name="T3" fmla="*/ 3021 h 3021"/>
                <a:gd name="T4" fmla="*/ 1 w 1707"/>
                <a:gd name="T5" fmla="*/ 3021 h 3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07" h="3021">
                  <a:moveTo>
                    <a:pt x="1707" y="0"/>
                  </a:moveTo>
                  <a:lnTo>
                    <a:pt x="0" y="3021"/>
                  </a:lnTo>
                  <a:lnTo>
                    <a:pt x="1" y="3021"/>
                  </a:lnTo>
                </a:path>
              </a:pathLst>
            </a:custGeom>
            <a:noFill/>
            <a:ln w="254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35" name="Freeform 59"/>
            <p:cNvSpPr>
              <a:spLocks/>
            </p:cNvSpPr>
            <p:nvPr/>
          </p:nvSpPr>
          <p:spPr bwMode="auto">
            <a:xfrm>
              <a:off x="2583" y="1876"/>
              <a:ext cx="26" cy="25"/>
            </a:xfrm>
            <a:custGeom>
              <a:avLst/>
              <a:gdLst>
                <a:gd name="T0" fmla="*/ 0 w 152"/>
                <a:gd name="T1" fmla="*/ 151 h 151"/>
                <a:gd name="T2" fmla="*/ 151 w 152"/>
                <a:gd name="T3" fmla="*/ 0 h 151"/>
                <a:gd name="T4" fmla="*/ 152 w 152"/>
                <a:gd name="T5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2" h="151">
                  <a:moveTo>
                    <a:pt x="0" y="151"/>
                  </a:moveTo>
                  <a:lnTo>
                    <a:pt x="151" y="0"/>
                  </a:lnTo>
                  <a:lnTo>
                    <a:pt x="152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36" name="Freeform 60"/>
            <p:cNvSpPr>
              <a:spLocks/>
            </p:cNvSpPr>
            <p:nvPr/>
          </p:nvSpPr>
          <p:spPr bwMode="auto">
            <a:xfrm>
              <a:off x="2569" y="1845"/>
              <a:ext cx="114" cy="114"/>
            </a:xfrm>
            <a:custGeom>
              <a:avLst/>
              <a:gdLst>
                <a:gd name="T0" fmla="*/ 0 w 682"/>
                <a:gd name="T1" fmla="*/ 680 h 680"/>
                <a:gd name="T2" fmla="*/ 127 w 682"/>
                <a:gd name="T3" fmla="*/ 553 h 680"/>
                <a:gd name="T4" fmla="*/ 681 w 682"/>
                <a:gd name="T5" fmla="*/ 0 h 680"/>
                <a:gd name="T6" fmla="*/ 682 w 682"/>
                <a:gd name="T7" fmla="*/ 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2" h="680">
                  <a:moveTo>
                    <a:pt x="0" y="680"/>
                  </a:moveTo>
                  <a:lnTo>
                    <a:pt x="127" y="553"/>
                  </a:lnTo>
                  <a:lnTo>
                    <a:pt x="681" y="0"/>
                  </a:lnTo>
                  <a:lnTo>
                    <a:pt x="682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37" name="Freeform 61"/>
            <p:cNvSpPr>
              <a:spLocks/>
            </p:cNvSpPr>
            <p:nvPr/>
          </p:nvSpPr>
          <p:spPr bwMode="auto">
            <a:xfrm>
              <a:off x="2589" y="1833"/>
              <a:ext cx="149" cy="149"/>
            </a:xfrm>
            <a:custGeom>
              <a:avLst/>
              <a:gdLst>
                <a:gd name="T0" fmla="*/ 0 w 896"/>
                <a:gd name="T1" fmla="*/ 894 h 894"/>
                <a:gd name="T2" fmla="*/ 265 w 896"/>
                <a:gd name="T3" fmla="*/ 629 h 894"/>
                <a:gd name="T4" fmla="*/ 895 w 896"/>
                <a:gd name="T5" fmla="*/ 0 h 894"/>
                <a:gd name="T6" fmla="*/ 896 w 896"/>
                <a:gd name="T7" fmla="*/ 0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6" h="894">
                  <a:moveTo>
                    <a:pt x="0" y="894"/>
                  </a:moveTo>
                  <a:lnTo>
                    <a:pt x="265" y="629"/>
                  </a:lnTo>
                  <a:lnTo>
                    <a:pt x="895" y="0"/>
                  </a:lnTo>
                  <a:lnTo>
                    <a:pt x="896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38" name="Freeform 62"/>
            <p:cNvSpPr>
              <a:spLocks/>
            </p:cNvSpPr>
            <p:nvPr/>
          </p:nvSpPr>
          <p:spPr bwMode="auto">
            <a:xfrm>
              <a:off x="2615" y="1826"/>
              <a:ext cx="173" cy="173"/>
            </a:xfrm>
            <a:custGeom>
              <a:avLst/>
              <a:gdLst>
                <a:gd name="T0" fmla="*/ 0 w 1036"/>
                <a:gd name="T1" fmla="*/ 1036 h 1036"/>
                <a:gd name="T2" fmla="*/ 365 w 1036"/>
                <a:gd name="T3" fmla="*/ 670 h 1036"/>
                <a:gd name="T4" fmla="*/ 1035 w 1036"/>
                <a:gd name="T5" fmla="*/ 0 h 1036"/>
                <a:gd name="T6" fmla="*/ 1036 w 1036"/>
                <a:gd name="T7" fmla="*/ 0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6" h="1036">
                  <a:moveTo>
                    <a:pt x="0" y="1036"/>
                  </a:moveTo>
                  <a:lnTo>
                    <a:pt x="365" y="670"/>
                  </a:lnTo>
                  <a:lnTo>
                    <a:pt x="1035" y="0"/>
                  </a:lnTo>
                  <a:lnTo>
                    <a:pt x="1036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39" name="Freeform 63"/>
            <p:cNvSpPr>
              <a:spLocks/>
            </p:cNvSpPr>
            <p:nvPr/>
          </p:nvSpPr>
          <p:spPr bwMode="auto">
            <a:xfrm>
              <a:off x="2644" y="1823"/>
              <a:ext cx="189" cy="189"/>
            </a:xfrm>
            <a:custGeom>
              <a:avLst/>
              <a:gdLst>
                <a:gd name="T0" fmla="*/ 0 w 1133"/>
                <a:gd name="T1" fmla="*/ 1132 h 1132"/>
                <a:gd name="T2" fmla="*/ 444 w 1133"/>
                <a:gd name="T3" fmla="*/ 688 h 1132"/>
                <a:gd name="T4" fmla="*/ 1132 w 1133"/>
                <a:gd name="T5" fmla="*/ 0 h 1132"/>
                <a:gd name="T6" fmla="*/ 1133 w 1133"/>
                <a:gd name="T7" fmla="*/ 0 h 1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33" h="1132">
                  <a:moveTo>
                    <a:pt x="0" y="1132"/>
                  </a:moveTo>
                  <a:lnTo>
                    <a:pt x="444" y="688"/>
                  </a:lnTo>
                  <a:lnTo>
                    <a:pt x="1132" y="0"/>
                  </a:lnTo>
                  <a:lnTo>
                    <a:pt x="1133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40" name="Freeform 64"/>
            <p:cNvSpPr>
              <a:spLocks/>
            </p:cNvSpPr>
            <p:nvPr/>
          </p:nvSpPr>
          <p:spPr bwMode="auto">
            <a:xfrm>
              <a:off x="2677" y="1823"/>
              <a:ext cx="199" cy="199"/>
            </a:xfrm>
            <a:custGeom>
              <a:avLst/>
              <a:gdLst>
                <a:gd name="T0" fmla="*/ 0 w 1195"/>
                <a:gd name="T1" fmla="*/ 1194 h 1194"/>
                <a:gd name="T2" fmla="*/ 506 w 1195"/>
                <a:gd name="T3" fmla="*/ 688 h 1194"/>
                <a:gd name="T4" fmla="*/ 1194 w 1195"/>
                <a:gd name="T5" fmla="*/ 0 h 1194"/>
                <a:gd name="T6" fmla="*/ 1195 w 1195"/>
                <a:gd name="T7" fmla="*/ 0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5" h="1194">
                  <a:moveTo>
                    <a:pt x="0" y="1194"/>
                  </a:moveTo>
                  <a:lnTo>
                    <a:pt x="506" y="688"/>
                  </a:lnTo>
                  <a:lnTo>
                    <a:pt x="1194" y="0"/>
                  </a:lnTo>
                  <a:lnTo>
                    <a:pt x="1195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41" name="Freeform 65"/>
            <p:cNvSpPr>
              <a:spLocks/>
            </p:cNvSpPr>
            <p:nvPr/>
          </p:nvSpPr>
          <p:spPr bwMode="auto">
            <a:xfrm>
              <a:off x="2712" y="1825"/>
              <a:ext cx="205" cy="205"/>
            </a:xfrm>
            <a:custGeom>
              <a:avLst/>
              <a:gdLst>
                <a:gd name="T0" fmla="*/ 0 w 1227"/>
                <a:gd name="T1" fmla="*/ 1226 h 1226"/>
                <a:gd name="T2" fmla="*/ 552 w 1227"/>
                <a:gd name="T3" fmla="*/ 674 h 1226"/>
                <a:gd name="T4" fmla="*/ 1226 w 1227"/>
                <a:gd name="T5" fmla="*/ 0 h 1226"/>
                <a:gd name="T6" fmla="*/ 1227 w 1227"/>
                <a:gd name="T7" fmla="*/ 0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7" h="1226">
                  <a:moveTo>
                    <a:pt x="0" y="1226"/>
                  </a:moveTo>
                  <a:lnTo>
                    <a:pt x="552" y="674"/>
                  </a:lnTo>
                  <a:lnTo>
                    <a:pt x="1226" y="0"/>
                  </a:lnTo>
                  <a:lnTo>
                    <a:pt x="1227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42" name="Freeform 66"/>
            <p:cNvSpPr>
              <a:spLocks/>
            </p:cNvSpPr>
            <p:nvPr/>
          </p:nvSpPr>
          <p:spPr bwMode="auto">
            <a:xfrm>
              <a:off x="2749" y="1943"/>
              <a:ext cx="93" cy="92"/>
            </a:xfrm>
            <a:custGeom>
              <a:avLst/>
              <a:gdLst>
                <a:gd name="T0" fmla="*/ 0 w 552"/>
                <a:gd name="T1" fmla="*/ 552 h 552"/>
                <a:gd name="T2" fmla="*/ 551 w 552"/>
                <a:gd name="T3" fmla="*/ 0 h 552"/>
                <a:gd name="T4" fmla="*/ 552 w 552"/>
                <a:gd name="T5" fmla="*/ 0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2" h="552">
                  <a:moveTo>
                    <a:pt x="0" y="552"/>
                  </a:moveTo>
                  <a:lnTo>
                    <a:pt x="551" y="0"/>
                  </a:lnTo>
                  <a:lnTo>
                    <a:pt x="552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43" name="Freeform 67"/>
            <p:cNvSpPr>
              <a:spLocks/>
            </p:cNvSpPr>
            <p:nvPr/>
          </p:nvSpPr>
          <p:spPr bwMode="auto">
            <a:xfrm>
              <a:off x="2847" y="1830"/>
              <a:ext cx="108" cy="108"/>
            </a:xfrm>
            <a:custGeom>
              <a:avLst/>
              <a:gdLst>
                <a:gd name="T0" fmla="*/ 0 w 647"/>
                <a:gd name="T1" fmla="*/ 645 h 645"/>
                <a:gd name="T2" fmla="*/ 646 w 647"/>
                <a:gd name="T3" fmla="*/ 0 h 645"/>
                <a:gd name="T4" fmla="*/ 647 w 647"/>
                <a:gd name="T5" fmla="*/ 0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47" h="645">
                  <a:moveTo>
                    <a:pt x="0" y="645"/>
                  </a:moveTo>
                  <a:lnTo>
                    <a:pt x="646" y="0"/>
                  </a:lnTo>
                  <a:lnTo>
                    <a:pt x="647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44" name="Freeform 68"/>
            <p:cNvSpPr>
              <a:spLocks/>
            </p:cNvSpPr>
            <p:nvPr/>
          </p:nvSpPr>
          <p:spPr bwMode="auto">
            <a:xfrm>
              <a:off x="2841" y="1938"/>
              <a:ext cx="6" cy="5"/>
            </a:xfrm>
            <a:custGeom>
              <a:avLst/>
              <a:gdLst>
                <a:gd name="T0" fmla="*/ 0 w 35"/>
                <a:gd name="T1" fmla="*/ 34 h 34"/>
                <a:gd name="T2" fmla="*/ 34 w 35"/>
                <a:gd name="T3" fmla="*/ 0 h 34"/>
                <a:gd name="T4" fmla="*/ 35 w 35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34">
                  <a:moveTo>
                    <a:pt x="0" y="34"/>
                  </a:moveTo>
                  <a:lnTo>
                    <a:pt x="34" y="0"/>
                  </a:lnTo>
                  <a:lnTo>
                    <a:pt x="35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45" name="Freeform 69"/>
            <p:cNvSpPr>
              <a:spLocks/>
            </p:cNvSpPr>
            <p:nvPr/>
          </p:nvSpPr>
          <p:spPr bwMode="auto">
            <a:xfrm>
              <a:off x="2789" y="1986"/>
              <a:ext cx="53" cy="52"/>
            </a:xfrm>
            <a:custGeom>
              <a:avLst/>
              <a:gdLst>
                <a:gd name="T0" fmla="*/ 0 w 315"/>
                <a:gd name="T1" fmla="*/ 314 h 314"/>
                <a:gd name="T2" fmla="*/ 314 w 315"/>
                <a:gd name="T3" fmla="*/ 0 h 314"/>
                <a:gd name="T4" fmla="*/ 315 w 315"/>
                <a:gd name="T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5" h="314">
                  <a:moveTo>
                    <a:pt x="0" y="314"/>
                  </a:moveTo>
                  <a:lnTo>
                    <a:pt x="314" y="0"/>
                  </a:lnTo>
                  <a:lnTo>
                    <a:pt x="315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46" name="Freeform 70"/>
            <p:cNvSpPr>
              <a:spLocks/>
            </p:cNvSpPr>
            <p:nvPr/>
          </p:nvSpPr>
          <p:spPr bwMode="auto">
            <a:xfrm>
              <a:off x="2890" y="1837"/>
              <a:ext cx="101" cy="101"/>
            </a:xfrm>
            <a:custGeom>
              <a:avLst/>
              <a:gdLst>
                <a:gd name="T0" fmla="*/ 0 w 607"/>
                <a:gd name="T1" fmla="*/ 605 h 605"/>
                <a:gd name="T2" fmla="*/ 606 w 607"/>
                <a:gd name="T3" fmla="*/ 0 h 605"/>
                <a:gd name="T4" fmla="*/ 607 w 607"/>
                <a:gd name="T5" fmla="*/ 0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7" h="605">
                  <a:moveTo>
                    <a:pt x="0" y="605"/>
                  </a:moveTo>
                  <a:lnTo>
                    <a:pt x="606" y="0"/>
                  </a:lnTo>
                  <a:lnTo>
                    <a:pt x="607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47" name="Freeform 71"/>
            <p:cNvSpPr>
              <a:spLocks/>
            </p:cNvSpPr>
            <p:nvPr/>
          </p:nvSpPr>
          <p:spPr bwMode="auto">
            <a:xfrm>
              <a:off x="2841" y="1938"/>
              <a:ext cx="49" cy="48"/>
            </a:xfrm>
            <a:custGeom>
              <a:avLst/>
              <a:gdLst>
                <a:gd name="T0" fmla="*/ 0 w 292"/>
                <a:gd name="T1" fmla="*/ 292 h 292"/>
                <a:gd name="T2" fmla="*/ 291 w 292"/>
                <a:gd name="T3" fmla="*/ 0 h 292"/>
                <a:gd name="T4" fmla="*/ 292 w 292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2" h="292">
                  <a:moveTo>
                    <a:pt x="0" y="292"/>
                  </a:moveTo>
                  <a:lnTo>
                    <a:pt x="291" y="0"/>
                  </a:lnTo>
                  <a:lnTo>
                    <a:pt x="292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48" name="Freeform 72"/>
            <p:cNvSpPr>
              <a:spLocks/>
            </p:cNvSpPr>
            <p:nvPr/>
          </p:nvSpPr>
          <p:spPr bwMode="auto">
            <a:xfrm>
              <a:off x="2831" y="2029"/>
              <a:ext cx="11" cy="11"/>
            </a:xfrm>
            <a:custGeom>
              <a:avLst/>
              <a:gdLst>
                <a:gd name="T0" fmla="*/ 0 w 64"/>
                <a:gd name="T1" fmla="*/ 63 h 63"/>
                <a:gd name="T2" fmla="*/ 63 w 64"/>
                <a:gd name="T3" fmla="*/ 0 h 63"/>
                <a:gd name="T4" fmla="*/ 64 w 64"/>
                <a:gd name="T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4" h="63">
                  <a:moveTo>
                    <a:pt x="0" y="63"/>
                  </a:moveTo>
                  <a:lnTo>
                    <a:pt x="63" y="0"/>
                  </a:lnTo>
                  <a:lnTo>
                    <a:pt x="64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49" name="Freeform 73"/>
            <p:cNvSpPr>
              <a:spLocks/>
            </p:cNvSpPr>
            <p:nvPr/>
          </p:nvSpPr>
          <p:spPr bwMode="auto">
            <a:xfrm>
              <a:off x="2933" y="1846"/>
              <a:ext cx="92" cy="92"/>
            </a:xfrm>
            <a:custGeom>
              <a:avLst/>
              <a:gdLst>
                <a:gd name="T0" fmla="*/ 0 w 552"/>
                <a:gd name="T1" fmla="*/ 550 h 550"/>
                <a:gd name="T2" fmla="*/ 551 w 552"/>
                <a:gd name="T3" fmla="*/ 0 h 550"/>
                <a:gd name="T4" fmla="*/ 552 w 552"/>
                <a:gd name="T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2" h="550">
                  <a:moveTo>
                    <a:pt x="0" y="550"/>
                  </a:moveTo>
                  <a:lnTo>
                    <a:pt x="551" y="0"/>
                  </a:lnTo>
                  <a:lnTo>
                    <a:pt x="552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50" name="Freeform 74"/>
            <p:cNvSpPr>
              <a:spLocks/>
            </p:cNvSpPr>
            <p:nvPr/>
          </p:nvSpPr>
          <p:spPr bwMode="auto">
            <a:xfrm>
              <a:off x="2841" y="1938"/>
              <a:ext cx="92" cy="91"/>
            </a:xfrm>
            <a:custGeom>
              <a:avLst/>
              <a:gdLst>
                <a:gd name="T0" fmla="*/ 0 w 549"/>
                <a:gd name="T1" fmla="*/ 549 h 549"/>
                <a:gd name="T2" fmla="*/ 548 w 549"/>
                <a:gd name="T3" fmla="*/ 0 h 549"/>
                <a:gd name="T4" fmla="*/ 549 w 549"/>
                <a:gd name="T5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9" h="549">
                  <a:moveTo>
                    <a:pt x="0" y="549"/>
                  </a:moveTo>
                  <a:lnTo>
                    <a:pt x="548" y="0"/>
                  </a:lnTo>
                  <a:lnTo>
                    <a:pt x="549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51" name="Freeform 75"/>
            <p:cNvSpPr>
              <a:spLocks/>
            </p:cNvSpPr>
            <p:nvPr/>
          </p:nvSpPr>
          <p:spPr bwMode="auto">
            <a:xfrm>
              <a:off x="2875" y="1858"/>
              <a:ext cx="181" cy="180"/>
            </a:xfrm>
            <a:custGeom>
              <a:avLst/>
              <a:gdLst>
                <a:gd name="T0" fmla="*/ 0 w 1083"/>
                <a:gd name="T1" fmla="*/ 1081 h 1081"/>
                <a:gd name="T2" fmla="*/ 602 w 1083"/>
                <a:gd name="T3" fmla="*/ 479 h 1081"/>
                <a:gd name="T4" fmla="*/ 1082 w 1083"/>
                <a:gd name="T5" fmla="*/ 0 h 1081"/>
                <a:gd name="T6" fmla="*/ 1083 w 1083"/>
                <a:gd name="T7" fmla="*/ 0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3" h="1081">
                  <a:moveTo>
                    <a:pt x="0" y="1081"/>
                  </a:moveTo>
                  <a:lnTo>
                    <a:pt x="602" y="479"/>
                  </a:lnTo>
                  <a:lnTo>
                    <a:pt x="1082" y="0"/>
                  </a:lnTo>
                  <a:lnTo>
                    <a:pt x="1083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52" name="Freeform 76"/>
            <p:cNvSpPr>
              <a:spLocks/>
            </p:cNvSpPr>
            <p:nvPr/>
          </p:nvSpPr>
          <p:spPr bwMode="auto">
            <a:xfrm>
              <a:off x="2923" y="1873"/>
              <a:ext cx="160" cy="160"/>
            </a:xfrm>
            <a:custGeom>
              <a:avLst/>
              <a:gdLst>
                <a:gd name="T0" fmla="*/ 0 w 962"/>
                <a:gd name="T1" fmla="*/ 963 h 963"/>
                <a:gd name="T2" fmla="*/ 572 w 962"/>
                <a:gd name="T3" fmla="*/ 390 h 963"/>
                <a:gd name="T4" fmla="*/ 961 w 962"/>
                <a:gd name="T5" fmla="*/ 0 h 963"/>
                <a:gd name="T6" fmla="*/ 962 w 962"/>
                <a:gd name="T7" fmla="*/ 0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2" h="963">
                  <a:moveTo>
                    <a:pt x="0" y="963"/>
                  </a:moveTo>
                  <a:lnTo>
                    <a:pt x="572" y="390"/>
                  </a:lnTo>
                  <a:lnTo>
                    <a:pt x="961" y="0"/>
                  </a:lnTo>
                  <a:lnTo>
                    <a:pt x="962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53" name="Freeform 77"/>
            <p:cNvSpPr>
              <a:spLocks/>
            </p:cNvSpPr>
            <p:nvPr/>
          </p:nvSpPr>
          <p:spPr bwMode="auto">
            <a:xfrm>
              <a:off x="2975" y="1895"/>
              <a:ext cx="129" cy="128"/>
            </a:xfrm>
            <a:custGeom>
              <a:avLst/>
              <a:gdLst>
                <a:gd name="T0" fmla="*/ 0 w 769"/>
                <a:gd name="T1" fmla="*/ 768 h 768"/>
                <a:gd name="T2" fmla="*/ 514 w 769"/>
                <a:gd name="T3" fmla="*/ 253 h 768"/>
                <a:gd name="T4" fmla="*/ 768 w 769"/>
                <a:gd name="T5" fmla="*/ 0 h 768"/>
                <a:gd name="T6" fmla="*/ 769 w 769"/>
                <a:gd name="T7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9" h="768">
                  <a:moveTo>
                    <a:pt x="0" y="768"/>
                  </a:moveTo>
                  <a:lnTo>
                    <a:pt x="514" y="253"/>
                  </a:lnTo>
                  <a:lnTo>
                    <a:pt x="768" y="0"/>
                  </a:lnTo>
                  <a:lnTo>
                    <a:pt x="769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54" name="Freeform 78"/>
            <p:cNvSpPr>
              <a:spLocks/>
            </p:cNvSpPr>
            <p:nvPr/>
          </p:nvSpPr>
          <p:spPr bwMode="auto">
            <a:xfrm>
              <a:off x="3038" y="1923"/>
              <a:ext cx="81" cy="81"/>
            </a:xfrm>
            <a:custGeom>
              <a:avLst/>
              <a:gdLst>
                <a:gd name="T0" fmla="*/ 0 w 488"/>
                <a:gd name="T1" fmla="*/ 487 h 487"/>
                <a:gd name="T2" fmla="*/ 398 w 488"/>
                <a:gd name="T3" fmla="*/ 88 h 487"/>
                <a:gd name="T4" fmla="*/ 487 w 488"/>
                <a:gd name="T5" fmla="*/ 0 h 487"/>
                <a:gd name="T6" fmla="*/ 488 w 488"/>
                <a:gd name="T7" fmla="*/ 0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8" h="487">
                  <a:moveTo>
                    <a:pt x="0" y="487"/>
                  </a:moveTo>
                  <a:lnTo>
                    <a:pt x="398" y="88"/>
                  </a:lnTo>
                  <a:lnTo>
                    <a:pt x="487" y="0"/>
                  </a:lnTo>
                  <a:lnTo>
                    <a:pt x="488" y="0"/>
                  </a:lnTo>
                </a:path>
              </a:pathLst>
            </a:custGeom>
            <a:noFill/>
            <a:ln w="2222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55" name="Freeform 79"/>
            <p:cNvSpPr>
              <a:spLocks/>
            </p:cNvSpPr>
            <p:nvPr/>
          </p:nvSpPr>
          <p:spPr bwMode="auto">
            <a:xfrm>
              <a:off x="2841" y="2974"/>
              <a:ext cx="1" cy="96"/>
            </a:xfrm>
            <a:custGeom>
              <a:avLst/>
              <a:gdLst>
                <a:gd name="T0" fmla="*/ 0 w 1"/>
                <a:gd name="T1" fmla="*/ 0 h 576"/>
                <a:gd name="T2" fmla="*/ 0 w 1"/>
                <a:gd name="T3" fmla="*/ 576 h 576"/>
                <a:gd name="T4" fmla="*/ 1 w 1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76">
                  <a:moveTo>
                    <a:pt x="0" y="0"/>
                  </a:moveTo>
                  <a:lnTo>
                    <a:pt x="0" y="576"/>
                  </a:lnTo>
                  <a:lnTo>
                    <a:pt x="1" y="576"/>
                  </a:lnTo>
                </a:path>
              </a:pathLst>
            </a:custGeom>
            <a:noFill/>
            <a:ln w="222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56" name="Freeform 80"/>
            <p:cNvSpPr>
              <a:spLocks/>
            </p:cNvSpPr>
            <p:nvPr/>
          </p:nvSpPr>
          <p:spPr bwMode="auto">
            <a:xfrm>
              <a:off x="2841" y="3085"/>
              <a:ext cx="1" cy="16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222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57" name="Freeform 81"/>
            <p:cNvSpPr>
              <a:spLocks/>
            </p:cNvSpPr>
            <p:nvPr/>
          </p:nvSpPr>
          <p:spPr bwMode="auto">
            <a:xfrm>
              <a:off x="2841" y="3116"/>
              <a:ext cx="1" cy="90"/>
            </a:xfrm>
            <a:custGeom>
              <a:avLst/>
              <a:gdLst>
                <a:gd name="T0" fmla="*/ 0 w 1"/>
                <a:gd name="T1" fmla="*/ 0 h 545"/>
                <a:gd name="T2" fmla="*/ 0 w 1"/>
                <a:gd name="T3" fmla="*/ 545 h 545"/>
                <a:gd name="T4" fmla="*/ 1 w 1"/>
                <a:gd name="T5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5">
                  <a:moveTo>
                    <a:pt x="0" y="0"/>
                  </a:moveTo>
                  <a:lnTo>
                    <a:pt x="0" y="545"/>
                  </a:lnTo>
                  <a:lnTo>
                    <a:pt x="1" y="545"/>
                  </a:lnTo>
                </a:path>
              </a:pathLst>
            </a:custGeom>
            <a:noFill/>
            <a:ln w="222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58" name="Freeform 82"/>
            <p:cNvSpPr>
              <a:spLocks/>
            </p:cNvSpPr>
            <p:nvPr/>
          </p:nvSpPr>
          <p:spPr bwMode="auto">
            <a:xfrm>
              <a:off x="2841" y="3222"/>
              <a:ext cx="1" cy="15"/>
            </a:xfrm>
            <a:custGeom>
              <a:avLst/>
              <a:gdLst>
                <a:gd name="T0" fmla="*/ 0 w 1"/>
                <a:gd name="T1" fmla="*/ 0 h 90"/>
                <a:gd name="T2" fmla="*/ 0 w 1"/>
                <a:gd name="T3" fmla="*/ 90 h 90"/>
                <a:gd name="T4" fmla="*/ 1 w 1"/>
                <a:gd name="T5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0">
                  <a:moveTo>
                    <a:pt x="0" y="0"/>
                  </a:moveTo>
                  <a:lnTo>
                    <a:pt x="0" y="90"/>
                  </a:lnTo>
                  <a:lnTo>
                    <a:pt x="1" y="90"/>
                  </a:lnTo>
                </a:path>
              </a:pathLst>
            </a:custGeom>
            <a:noFill/>
            <a:ln w="222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59" name="Freeform 83"/>
            <p:cNvSpPr>
              <a:spLocks/>
            </p:cNvSpPr>
            <p:nvPr/>
          </p:nvSpPr>
          <p:spPr bwMode="auto">
            <a:xfrm>
              <a:off x="2841" y="3252"/>
              <a:ext cx="1" cy="91"/>
            </a:xfrm>
            <a:custGeom>
              <a:avLst/>
              <a:gdLst>
                <a:gd name="T0" fmla="*/ 0 w 1"/>
                <a:gd name="T1" fmla="*/ 0 h 546"/>
                <a:gd name="T2" fmla="*/ 0 w 1"/>
                <a:gd name="T3" fmla="*/ 546 h 546"/>
                <a:gd name="T4" fmla="*/ 1 w 1"/>
                <a:gd name="T5" fmla="*/ 546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6">
                  <a:moveTo>
                    <a:pt x="0" y="0"/>
                  </a:moveTo>
                  <a:lnTo>
                    <a:pt x="0" y="546"/>
                  </a:lnTo>
                  <a:lnTo>
                    <a:pt x="1" y="546"/>
                  </a:lnTo>
                </a:path>
              </a:pathLst>
            </a:custGeom>
            <a:noFill/>
            <a:ln w="222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60" name="Freeform 84"/>
            <p:cNvSpPr>
              <a:spLocks/>
            </p:cNvSpPr>
            <p:nvPr/>
          </p:nvSpPr>
          <p:spPr bwMode="auto">
            <a:xfrm>
              <a:off x="2841" y="3358"/>
              <a:ext cx="1" cy="15"/>
            </a:xfrm>
            <a:custGeom>
              <a:avLst/>
              <a:gdLst>
                <a:gd name="T0" fmla="*/ 0 w 1"/>
                <a:gd name="T1" fmla="*/ 0 h 90"/>
                <a:gd name="T2" fmla="*/ 0 w 1"/>
                <a:gd name="T3" fmla="*/ 90 h 90"/>
                <a:gd name="T4" fmla="*/ 1 w 1"/>
                <a:gd name="T5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0">
                  <a:moveTo>
                    <a:pt x="0" y="0"/>
                  </a:moveTo>
                  <a:lnTo>
                    <a:pt x="0" y="90"/>
                  </a:lnTo>
                  <a:lnTo>
                    <a:pt x="1" y="90"/>
                  </a:lnTo>
                </a:path>
              </a:pathLst>
            </a:custGeom>
            <a:noFill/>
            <a:ln w="222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61" name="Freeform 85"/>
            <p:cNvSpPr>
              <a:spLocks/>
            </p:cNvSpPr>
            <p:nvPr/>
          </p:nvSpPr>
          <p:spPr bwMode="auto">
            <a:xfrm>
              <a:off x="2841" y="3388"/>
              <a:ext cx="1" cy="91"/>
            </a:xfrm>
            <a:custGeom>
              <a:avLst/>
              <a:gdLst>
                <a:gd name="T0" fmla="*/ 0 w 1"/>
                <a:gd name="T1" fmla="*/ 0 h 545"/>
                <a:gd name="T2" fmla="*/ 0 w 1"/>
                <a:gd name="T3" fmla="*/ 545 h 545"/>
                <a:gd name="T4" fmla="*/ 1 w 1"/>
                <a:gd name="T5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5">
                  <a:moveTo>
                    <a:pt x="0" y="0"/>
                  </a:moveTo>
                  <a:lnTo>
                    <a:pt x="0" y="545"/>
                  </a:lnTo>
                  <a:lnTo>
                    <a:pt x="1" y="545"/>
                  </a:lnTo>
                </a:path>
              </a:pathLst>
            </a:custGeom>
            <a:noFill/>
            <a:ln w="222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62" name="Freeform 86"/>
            <p:cNvSpPr>
              <a:spLocks/>
            </p:cNvSpPr>
            <p:nvPr/>
          </p:nvSpPr>
          <p:spPr bwMode="auto">
            <a:xfrm>
              <a:off x="2841" y="3494"/>
              <a:ext cx="1" cy="15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222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63" name="Freeform 87"/>
            <p:cNvSpPr>
              <a:spLocks/>
            </p:cNvSpPr>
            <p:nvPr/>
          </p:nvSpPr>
          <p:spPr bwMode="auto">
            <a:xfrm>
              <a:off x="2841" y="3524"/>
              <a:ext cx="1" cy="91"/>
            </a:xfrm>
            <a:custGeom>
              <a:avLst/>
              <a:gdLst>
                <a:gd name="T0" fmla="*/ 0 w 1"/>
                <a:gd name="T1" fmla="*/ 0 h 546"/>
                <a:gd name="T2" fmla="*/ 0 w 1"/>
                <a:gd name="T3" fmla="*/ 546 h 546"/>
                <a:gd name="T4" fmla="*/ 1 w 1"/>
                <a:gd name="T5" fmla="*/ 546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6">
                  <a:moveTo>
                    <a:pt x="0" y="0"/>
                  </a:moveTo>
                  <a:lnTo>
                    <a:pt x="0" y="546"/>
                  </a:lnTo>
                  <a:lnTo>
                    <a:pt x="1" y="546"/>
                  </a:lnTo>
                </a:path>
              </a:pathLst>
            </a:custGeom>
            <a:noFill/>
            <a:ln w="222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64" name="Freeform 88"/>
            <p:cNvSpPr>
              <a:spLocks/>
            </p:cNvSpPr>
            <p:nvPr/>
          </p:nvSpPr>
          <p:spPr bwMode="auto">
            <a:xfrm>
              <a:off x="2841" y="3630"/>
              <a:ext cx="1" cy="16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65" name="Freeform 89"/>
            <p:cNvSpPr>
              <a:spLocks/>
            </p:cNvSpPr>
            <p:nvPr/>
          </p:nvSpPr>
          <p:spPr bwMode="auto">
            <a:xfrm>
              <a:off x="2841" y="3661"/>
              <a:ext cx="1" cy="90"/>
            </a:xfrm>
            <a:custGeom>
              <a:avLst/>
              <a:gdLst>
                <a:gd name="T0" fmla="*/ 0 w 1"/>
                <a:gd name="T1" fmla="*/ 0 h 544"/>
                <a:gd name="T2" fmla="*/ 0 w 1"/>
                <a:gd name="T3" fmla="*/ 544 h 544"/>
                <a:gd name="T4" fmla="*/ 1 w 1"/>
                <a:gd name="T5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4">
                  <a:moveTo>
                    <a:pt x="0" y="0"/>
                  </a:moveTo>
                  <a:lnTo>
                    <a:pt x="0" y="544"/>
                  </a:lnTo>
                  <a:lnTo>
                    <a:pt x="1" y="544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66" name="Freeform 90"/>
            <p:cNvSpPr>
              <a:spLocks/>
            </p:cNvSpPr>
            <p:nvPr/>
          </p:nvSpPr>
          <p:spPr bwMode="auto">
            <a:xfrm>
              <a:off x="2841" y="3767"/>
              <a:ext cx="1" cy="15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67" name="Freeform 91"/>
            <p:cNvSpPr>
              <a:spLocks/>
            </p:cNvSpPr>
            <p:nvPr/>
          </p:nvSpPr>
          <p:spPr bwMode="auto">
            <a:xfrm>
              <a:off x="2841" y="3797"/>
              <a:ext cx="1" cy="91"/>
            </a:xfrm>
            <a:custGeom>
              <a:avLst/>
              <a:gdLst>
                <a:gd name="T0" fmla="*/ 0 w 1"/>
                <a:gd name="T1" fmla="*/ 0 h 545"/>
                <a:gd name="T2" fmla="*/ 0 w 1"/>
                <a:gd name="T3" fmla="*/ 545 h 545"/>
                <a:gd name="T4" fmla="*/ 1 w 1"/>
                <a:gd name="T5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5">
                  <a:moveTo>
                    <a:pt x="0" y="0"/>
                  </a:moveTo>
                  <a:lnTo>
                    <a:pt x="0" y="545"/>
                  </a:lnTo>
                  <a:lnTo>
                    <a:pt x="1" y="545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68" name="Freeform 92"/>
            <p:cNvSpPr>
              <a:spLocks/>
            </p:cNvSpPr>
            <p:nvPr/>
          </p:nvSpPr>
          <p:spPr bwMode="auto">
            <a:xfrm>
              <a:off x="2841" y="3903"/>
              <a:ext cx="1" cy="15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69" name="Freeform 93"/>
            <p:cNvSpPr>
              <a:spLocks/>
            </p:cNvSpPr>
            <p:nvPr/>
          </p:nvSpPr>
          <p:spPr bwMode="auto">
            <a:xfrm>
              <a:off x="2841" y="3933"/>
              <a:ext cx="1" cy="91"/>
            </a:xfrm>
            <a:custGeom>
              <a:avLst/>
              <a:gdLst>
                <a:gd name="T0" fmla="*/ 0 w 1"/>
                <a:gd name="T1" fmla="*/ 0 h 545"/>
                <a:gd name="T2" fmla="*/ 0 w 1"/>
                <a:gd name="T3" fmla="*/ 545 h 545"/>
                <a:gd name="T4" fmla="*/ 1 w 1"/>
                <a:gd name="T5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5">
                  <a:moveTo>
                    <a:pt x="0" y="0"/>
                  </a:moveTo>
                  <a:lnTo>
                    <a:pt x="0" y="545"/>
                  </a:lnTo>
                  <a:lnTo>
                    <a:pt x="1" y="545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70" name="Freeform 94"/>
            <p:cNvSpPr>
              <a:spLocks/>
            </p:cNvSpPr>
            <p:nvPr/>
          </p:nvSpPr>
          <p:spPr bwMode="auto">
            <a:xfrm>
              <a:off x="2841" y="4039"/>
              <a:ext cx="1" cy="15"/>
            </a:xfrm>
            <a:custGeom>
              <a:avLst/>
              <a:gdLst>
                <a:gd name="T0" fmla="*/ 0 w 1"/>
                <a:gd name="T1" fmla="*/ 0 h 91"/>
                <a:gd name="T2" fmla="*/ 0 w 1"/>
                <a:gd name="T3" fmla="*/ 91 h 91"/>
                <a:gd name="T4" fmla="*/ 1 w 1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91">
                  <a:moveTo>
                    <a:pt x="0" y="0"/>
                  </a:moveTo>
                  <a:lnTo>
                    <a:pt x="0" y="91"/>
                  </a:lnTo>
                  <a:lnTo>
                    <a:pt x="1" y="91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71" name="Freeform 95"/>
            <p:cNvSpPr>
              <a:spLocks/>
            </p:cNvSpPr>
            <p:nvPr/>
          </p:nvSpPr>
          <p:spPr bwMode="auto">
            <a:xfrm>
              <a:off x="2841" y="4069"/>
              <a:ext cx="1" cy="91"/>
            </a:xfrm>
            <a:custGeom>
              <a:avLst/>
              <a:gdLst>
                <a:gd name="T0" fmla="*/ 0 w 1"/>
                <a:gd name="T1" fmla="*/ 0 h 545"/>
                <a:gd name="T2" fmla="*/ 0 w 1"/>
                <a:gd name="T3" fmla="*/ 545 h 545"/>
                <a:gd name="T4" fmla="*/ 1 w 1"/>
                <a:gd name="T5" fmla="*/ 545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45">
                  <a:moveTo>
                    <a:pt x="0" y="0"/>
                  </a:moveTo>
                  <a:lnTo>
                    <a:pt x="0" y="545"/>
                  </a:lnTo>
                  <a:lnTo>
                    <a:pt x="1" y="545"/>
                  </a:lnTo>
                </a:path>
              </a:pathLst>
            </a:custGeom>
            <a:noFill/>
            <a:ln w="2032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272" name="Freeform 96"/>
            <p:cNvSpPr>
              <a:spLocks/>
            </p:cNvSpPr>
            <p:nvPr/>
          </p:nvSpPr>
          <p:spPr bwMode="auto">
            <a:xfrm>
              <a:off x="2104" y="2777"/>
              <a:ext cx="1500" cy="198"/>
            </a:xfrm>
            <a:custGeom>
              <a:avLst/>
              <a:gdLst>
                <a:gd name="T0" fmla="*/ 0 w 8032"/>
                <a:gd name="T1" fmla="*/ 0 h 1187"/>
                <a:gd name="T2" fmla="*/ 63 w 8032"/>
                <a:gd name="T3" fmla="*/ 201 h 1187"/>
                <a:gd name="T4" fmla="*/ 261 w 8032"/>
                <a:gd name="T5" fmla="*/ 399 h 1187"/>
                <a:gd name="T6" fmla="*/ 587 w 8032"/>
                <a:gd name="T7" fmla="*/ 587 h 1187"/>
                <a:gd name="T8" fmla="*/ 1031 w 8032"/>
                <a:gd name="T9" fmla="*/ 758 h 1187"/>
                <a:gd name="T10" fmla="*/ 1575 w 8032"/>
                <a:gd name="T11" fmla="*/ 906 h 1187"/>
                <a:gd name="T12" fmla="*/ 2202 w 8032"/>
                <a:gd name="T13" fmla="*/ 1026 h 1187"/>
                <a:gd name="T14" fmla="*/ 2891 w 8032"/>
                <a:gd name="T15" fmla="*/ 1115 h 1187"/>
                <a:gd name="T16" fmla="*/ 3619 w 8032"/>
                <a:gd name="T17" fmla="*/ 1169 h 1187"/>
                <a:gd name="T18" fmla="*/ 4360 w 8032"/>
                <a:gd name="T19" fmla="*/ 1187 h 1187"/>
                <a:gd name="T20" fmla="*/ 5089 w 8032"/>
                <a:gd name="T21" fmla="*/ 1167 h 1187"/>
                <a:gd name="T22" fmla="*/ 5783 w 8032"/>
                <a:gd name="T23" fmla="*/ 1111 h 1187"/>
                <a:gd name="T24" fmla="*/ 6415 w 8032"/>
                <a:gd name="T25" fmla="*/ 1019 h 1187"/>
                <a:gd name="T26" fmla="*/ 6965 w 8032"/>
                <a:gd name="T27" fmla="*/ 897 h 1187"/>
                <a:gd name="T28" fmla="*/ 7416 w 8032"/>
                <a:gd name="T29" fmla="*/ 748 h 1187"/>
                <a:gd name="T30" fmla="*/ 7750 w 8032"/>
                <a:gd name="T31" fmla="*/ 575 h 1187"/>
                <a:gd name="T32" fmla="*/ 7958 w 8032"/>
                <a:gd name="T33" fmla="*/ 387 h 1187"/>
                <a:gd name="T34" fmla="*/ 8031 w 8032"/>
                <a:gd name="T35" fmla="*/ 188 h 1187"/>
                <a:gd name="T36" fmla="*/ 8032 w 8032"/>
                <a:gd name="T37" fmla="*/ 188 h 1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032" h="1187">
                  <a:moveTo>
                    <a:pt x="0" y="0"/>
                  </a:moveTo>
                  <a:lnTo>
                    <a:pt x="63" y="201"/>
                  </a:lnTo>
                  <a:lnTo>
                    <a:pt x="261" y="399"/>
                  </a:lnTo>
                  <a:lnTo>
                    <a:pt x="587" y="587"/>
                  </a:lnTo>
                  <a:lnTo>
                    <a:pt x="1031" y="758"/>
                  </a:lnTo>
                  <a:lnTo>
                    <a:pt x="1575" y="906"/>
                  </a:lnTo>
                  <a:lnTo>
                    <a:pt x="2202" y="1026"/>
                  </a:lnTo>
                  <a:lnTo>
                    <a:pt x="2891" y="1115"/>
                  </a:lnTo>
                  <a:lnTo>
                    <a:pt x="3619" y="1169"/>
                  </a:lnTo>
                  <a:lnTo>
                    <a:pt x="4360" y="1187"/>
                  </a:lnTo>
                  <a:lnTo>
                    <a:pt x="5089" y="1167"/>
                  </a:lnTo>
                  <a:lnTo>
                    <a:pt x="5783" y="1111"/>
                  </a:lnTo>
                  <a:lnTo>
                    <a:pt x="6415" y="1019"/>
                  </a:lnTo>
                  <a:lnTo>
                    <a:pt x="6965" y="897"/>
                  </a:lnTo>
                  <a:lnTo>
                    <a:pt x="7416" y="748"/>
                  </a:lnTo>
                  <a:lnTo>
                    <a:pt x="7750" y="575"/>
                  </a:lnTo>
                  <a:lnTo>
                    <a:pt x="7958" y="387"/>
                  </a:lnTo>
                  <a:lnTo>
                    <a:pt x="8031" y="188"/>
                  </a:lnTo>
                  <a:lnTo>
                    <a:pt x="8032" y="188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433" name="Text Box 97"/>
            <p:cNvSpPr txBox="1">
              <a:spLocks noChangeArrowheads="1"/>
            </p:cNvSpPr>
            <p:nvPr/>
          </p:nvSpPr>
          <p:spPr bwMode="auto">
            <a:xfrm>
              <a:off x="3246" y="3702"/>
              <a:ext cx="1200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000">
                  <a:latin typeface="Arial" panose="020B0604020202020204" pitchFamily="34" charset="0"/>
                </a:rPr>
                <a:t>Circle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build="p" autoUpdateAnimBg="0"/>
      <p:bldP spid="50179" grpId="0" animBg="1" autoUpdateAnimBg="0"/>
      <p:bldP spid="5018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90488" y="152400"/>
            <a:ext cx="8915400" cy="265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rgbClr val="6E4B8B"/>
                </a:solidFill>
                <a:latin typeface="Comic Sans MS" panose="030F0702030302020204" pitchFamily="66" charset="0"/>
              </a:rPr>
              <a:t>Definition :-</a:t>
            </a:r>
            <a:endParaRPr lang="en-US" altLang="en-US" sz="3000">
              <a:latin typeface="Comic Sans MS" panose="030F0702030302020204" pitchFamily="66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en-US" sz="3000">
                <a:latin typeface="Comic Sans MS" panose="030F0702030302020204" pitchFamily="66" charset="0"/>
              </a:rPr>
              <a:t>When the cutting plane is inclined to the axis but not parallel to generator or the inclination of the cutting plane(</a:t>
            </a:r>
            <a:r>
              <a:rPr lang="el-GR" altLang="en-US" sz="3000">
                <a:latin typeface="Comic Sans MS" panose="030F0702030302020204" pitchFamily="66" charset="0"/>
              </a:rPr>
              <a:t>α</a:t>
            </a:r>
            <a:r>
              <a:rPr lang="en-US" altLang="en-US" sz="3000">
                <a:latin typeface="Comic Sans MS" panose="030F0702030302020204" pitchFamily="66" charset="0"/>
              </a:rPr>
              <a:t>) is greater than the semi cone angle(</a:t>
            </a:r>
            <a:r>
              <a:rPr lang="el-GR" altLang="en-US" sz="3000">
                <a:latin typeface="Comic Sans MS" panose="030F0702030302020204" pitchFamily="66" charset="0"/>
              </a:rPr>
              <a:t>θ</a:t>
            </a:r>
            <a:r>
              <a:rPr lang="en-US" altLang="en-US" sz="3000">
                <a:latin typeface="Comic Sans MS" panose="030F0702030302020204" pitchFamily="66" charset="0"/>
              </a:rPr>
              <a:t>), we get an ellipse as the section.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3290888" y="30163"/>
            <a:ext cx="2590800" cy="64135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600">
                <a:solidFill>
                  <a:srgbClr val="FFFF00"/>
                </a:solidFill>
                <a:latin typeface="Comic Sans MS" panose="030F0702030302020204" pitchFamily="66" charset="0"/>
              </a:rPr>
              <a:t>ELLIPSE</a:t>
            </a:r>
          </a:p>
        </p:txBody>
      </p:sp>
      <p:sp>
        <p:nvSpPr>
          <p:cNvPr id="59397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272338" y="6534150"/>
            <a:ext cx="685800" cy="304800"/>
          </a:xfrm>
          <a:prstGeom prst="actionButtonBackPreviou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9398" name="Group 6"/>
          <p:cNvGrpSpPr>
            <a:grpSpLocks/>
          </p:cNvGrpSpPr>
          <p:nvPr/>
        </p:nvGrpSpPr>
        <p:grpSpPr bwMode="auto">
          <a:xfrm>
            <a:off x="2917825" y="2819400"/>
            <a:ext cx="3032125" cy="3959225"/>
            <a:chOff x="1838" y="1639"/>
            <a:chExt cx="1910" cy="2494"/>
          </a:xfrm>
        </p:grpSpPr>
        <p:sp>
          <p:nvSpPr>
            <p:cNvPr id="59399" name="Freeform 7"/>
            <p:cNvSpPr>
              <a:spLocks/>
            </p:cNvSpPr>
            <p:nvPr/>
          </p:nvSpPr>
          <p:spPr bwMode="auto">
            <a:xfrm>
              <a:off x="1838" y="1798"/>
              <a:ext cx="1433" cy="960"/>
            </a:xfrm>
            <a:custGeom>
              <a:avLst/>
              <a:gdLst>
                <a:gd name="T0" fmla="*/ 0 w 6978"/>
                <a:gd name="T1" fmla="*/ 2869 h 4576"/>
                <a:gd name="T2" fmla="*/ 4892 w 6978"/>
                <a:gd name="T3" fmla="*/ 0 h 4576"/>
                <a:gd name="T4" fmla="*/ 6978 w 6978"/>
                <a:gd name="T5" fmla="*/ 1845 h 4576"/>
                <a:gd name="T6" fmla="*/ 1711 w 6978"/>
                <a:gd name="T7" fmla="*/ 4576 h 4576"/>
                <a:gd name="T8" fmla="*/ 0 w 6978"/>
                <a:gd name="T9" fmla="*/ 2869 h 4576"/>
                <a:gd name="T10" fmla="*/ 1 w 6978"/>
                <a:gd name="T11" fmla="*/ 2869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978" h="4576">
                  <a:moveTo>
                    <a:pt x="0" y="2869"/>
                  </a:moveTo>
                  <a:lnTo>
                    <a:pt x="4892" y="0"/>
                  </a:lnTo>
                  <a:lnTo>
                    <a:pt x="6978" y="1845"/>
                  </a:lnTo>
                  <a:lnTo>
                    <a:pt x="1711" y="4576"/>
                  </a:lnTo>
                  <a:lnTo>
                    <a:pt x="0" y="2869"/>
                  </a:lnTo>
                  <a:lnTo>
                    <a:pt x="1" y="2869"/>
                  </a:lnTo>
                </a:path>
              </a:pathLst>
            </a:custGeom>
            <a:solidFill>
              <a:srgbClr val="00FFFF">
                <a:alpha val="47000"/>
              </a:srgbClr>
            </a:solidFill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00" name="Freeform 8"/>
            <p:cNvSpPr>
              <a:spLocks/>
            </p:cNvSpPr>
            <p:nvPr/>
          </p:nvSpPr>
          <p:spPr bwMode="auto">
            <a:xfrm>
              <a:off x="1934" y="2918"/>
              <a:ext cx="1419" cy="219"/>
            </a:xfrm>
            <a:custGeom>
              <a:avLst/>
              <a:gdLst>
                <a:gd name="T0" fmla="*/ 0 w 6852"/>
                <a:gd name="T1" fmla="*/ 0 h 1012"/>
                <a:gd name="T2" fmla="*/ 55 w 6852"/>
                <a:gd name="T3" fmla="*/ 172 h 1012"/>
                <a:gd name="T4" fmla="*/ 224 w 6852"/>
                <a:gd name="T5" fmla="*/ 340 h 1012"/>
                <a:gd name="T6" fmla="*/ 502 w 6852"/>
                <a:gd name="T7" fmla="*/ 501 h 1012"/>
                <a:gd name="T8" fmla="*/ 880 w 6852"/>
                <a:gd name="T9" fmla="*/ 646 h 1012"/>
                <a:gd name="T10" fmla="*/ 1345 w 6852"/>
                <a:gd name="T11" fmla="*/ 772 h 1012"/>
                <a:gd name="T12" fmla="*/ 1880 w 6852"/>
                <a:gd name="T13" fmla="*/ 875 h 1012"/>
                <a:gd name="T14" fmla="*/ 2468 w 6852"/>
                <a:gd name="T15" fmla="*/ 951 h 1012"/>
                <a:gd name="T16" fmla="*/ 3088 w 6852"/>
                <a:gd name="T17" fmla="*/ 998 h 1012"/>
                <a:gd name="T18" fmla="*/ 3720 w 6852"/>
                <a:gd name="T19" fmla="*/ 1012 h 1012"/>
                <a:gd name="T20" fmla="*/ 4342 w 6852"/>
                <a:gd name="T21" fmla="*/ 996 h 1012"/>
                <a:gd name="T22" fmla="*/ 4933 w 6852"/>
                <a:gd name="T23" fmla="*/ 947 h 1012"/>
                <a:gd name="T24" fmla="*/ 5472 w 6852"/>
                <a:gd name="T25" fmla="*/ 870 h 1012"/>
                <a:gd name="T26" fmla="*/ 5942 w 6852"/>
                <a:gd name="T27" fmla="*/ 765 h 1012"/>
                <a:gd name="T28" fmla="*/ 6326 w 6852"/>
                <a:gd name="T29" fmla="*/ 638 h 1012"/>
                <a:gd name="T30" fmla="*/ 6612 w 6852"/>
                <a:gd name="T31" fmla="*/ 491 h 1012"/>
                <a:gd name="T32" fmla="*/ 6789 w 6852"/>
                <a:gd name="T33" fmla="*/ 330 h 1012"/>
                <a:gd name="T34" fmla="*/ 6851 w 6852"/>
                <a:gd name="T35" fmla="*/ 160 h 1012"/>
                <a:gd name="T36" fmla="*/ 6852 w 6852"/>
                <a:gd name="T37" fmla="*/ 160 h 10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852" h="1012">
                  <a:moveTo>
                    <a:pt x="0" y="0"/>
                  </a:moveTo>
                  <a:lnTo>
                    <a:pt x="55" y="172"/>
                  </a:lnTo>
                  <a:lnTo>
                    <a:pt x="224" y="340"/>
                  </a:lnTo>
                  <a:lnTo>
                    <a:pt x="502" y="501"/>
                  </a:lnTo>
                  <a:lnTo>
                    <a:pt x="880" y="646"/>
                  </a:lnTo>
                  <a:lnTo>
                    <a:pt x="1345" y="772"/>
                  </a:lnTo>
                  <a:lnTo>
                    <a:pt x="1880" y="875"/>
                  </a:lnTo>
                  <a:lnTo>
                    <a:pt x="2468" y="951"/>
                  </a:lnTo>
                  <a:lnTo>
                    <a:pt x="3088" y="998"/>
                  </a:lnTo>
                  <a:lnTo>
                    <a:pt x="3720" y="1012"/>
                  </a:lnTo>
                  <a:lnTo>
                    <a:pt x="4342" y="996"/>
                  </a:lnTo>
                  <a:lnTo>
                    <a:pt x="4933" y="947"/>
                  </a:lnTo>
                  <a:lnTo>
                    <a:pt x="5472" y="870"/>
                  </a:lnTo>
                  <a:lnTo>
                    <a:pt x="5942" y="765"/>
                  </a:lnTo>
                  <a:lnTo>
                    <a:pt x="6326" y="638"/>
                  </a:lnTo>
                  <a:lnTo>
                    <a:pt x="6612" y="491"/>
                  </a:lnTo>
                  <a:lnTo>
                    <a:pt x="6789" y="330"/>
                  </a:lnTo>
                  <a:lnTo>
                    <a:pt x="6851" y="160"/>
                  </a:lnTo>
                  <a:lnTo>
                    <a:pt x="6852" y="160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66FFCC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01" name="Freeform 9"/>
            <p:cNvSpPr>
              <a:spLocks/>
            </p:cNvSpPr>
            <p:nvPr/>
          </p:nvSpPr>
          <p:spPr bwMode="auto">
            <a:xfrm>
              <a:off x="2370" y="1682"/>
              <a:ext cx="267" cy="469"/>
            </a:xfrm>
            <a:custGeom>
              <a:avLst/>
              <a:gdLst>
                <a:gd name="T0" fmla="*/ 1035 w 1035"/>
                <a:gd name="T1" fmla="*/ 0 h 1832"/>
                <a:gd name="T2" fmla="*/ 0 w 1035"/>
                <a:gd name="T3" fmla="*/ 1832 h 1832"/>
                <a:gd name="T4" fmla="*/ 1 w 1035"/>
                <a:gd name="T5" fmla="*/ 1832 h 1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35" h="1832">
                  <a:moveTo>
                    <a:pt x="1035" y="0"/>
                  </a:moveTo>
                  <a:lnTo>
                    <a:pt x="0" y="1832"/>
                  </a:lnTo>
                  <a:lnTo>
                    <a:pt x="1" y="1832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02" name="Freeform 10"/>
            <p:cNvSpPr>
              <a:spLocks/>
            </p:cNvSpPr>
            <p:nvPr/>
          </p:nvSpPr>
          <p:spPr bwMode="auto">
            <a:xfrm>
              <a:off x="2644" y="1682"/>
              <a:ext cx="262" cy="469"/>
            </a:xfrm>
            <a:custGeom>
              <a:avLst/>
              <a:gdLst>
                <a:gd name="T0" fmla="*/ 0 w 1021"/>
                <a:gd name="T1" fmla="*/ 0 h 1832"/>
                <a:gd name="T2" fmla="*/ 1020 w 1021"/>
                <a:gd name="T3" fmla="*/ 1832 h 1832"/>
                <a:gd name="T4" fmla="*/ 1021 w 1021"/>
                <a:gd name="T5" fmla="*/ 1832 h 1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21" h="1832">
                  <a:moveTo>
                    <a:pt x="0" y="0"/>
                  </a:moveTo>
                  <a:lnTo>
                    <a:pt x="1020" y="1832"/>
                  </a:lnTo>
                  <a:lnTo>
                    <a:pt x="1021" y="1832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03" name="Freeform 11"/>
            <p:cNvSpPr>
              <a:spLocks/>
            </p:cNvSpPr>
            <p:nvPr/>
          </p:nvSpPr>
          <p:spPr bwMode="auto">
            <a:xfrm>
              <a:off x="3071" y="2449"/>
              <a:ext cx="284" cy="513"/>
            </a:xfrm>
            <a:custGeom>
              <a:avLst/>
              <a:gdLst>
                <a:gd name="T0" fmla="*/ 0 w 1111"/>
                <a:gd name="T1" fmla="*/ 0 h 1994"/>
                <a:gd name="T2" fmla="*/ 1110 w 1111"/>
                <a:gd name="T3" fmla="*/ 1994 h 1994"/>
                <a:gd name="T4" fmla="*/ 1111 w 1111"/>
                <a:gd name="T5" fmla="*/ 1994 h 1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1" h="1994">
                  <a:moveTo>
                    <a:pt x="0" y="0"/>
                  </a:moveTo>
                  <a:lnTo>
                    <a:pt x="1110" y="1994"/>
                  </a:lnTo>
                  <a:lnTo>
                    <a:pt x="1111" y="1994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04" name="Freeform 12"/>
            <p:cNvSpPr>
              <a:spLocks/>
            </p:cNvSpPr>
            <p:nvPr/>
          </p:nvSpPr>
          <p:spPr bwMode="auto">
            <a:xfrm>
              <a:off x="1932" y="2449"/>
              <a:ext cx="271" cy="479"/>
            </a:xfrm>
            <a:custGeom>
              <a:avLst/>
              <a:gdLst>
                <a:gd name="T0" fmla="*/ 1053 w 1053"/>
                <a:gd name="T1" fmla="*/ 0 h 1863"/>
                <a:gd name="T2" fmla="*/ 0 w 1053"/>
                <a:gd name="T3" fmla="*/ 1863 h 1863"/>
                <a:gd name="T4" fmla="*/ 1 w 1053"/>
                <a:gd name="T5" fmla="*/ 1863 h 1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3" h="1863">
                  <a:moveTo>
                    <a:pt x="1053" y="0"/>
                  </a:moveTo>
                  <a:lnTo>
                    <a:pt x="0" y="1863"/>
                  </a:lnTo>
                  <a:lnTo>
                    <a:pt x="1" y="1863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05" name="Freeform 13"/>
            <p:cNvSpPr>
              <a:spLocks/>
            </p:cNvSpPr>
            <p:nvPr/>
          </p:nvSpPr>
          <p:spPr bwMode="auto">
            <a:xfrm>
              <a:off x="2636" y="1639"/>
              <a:ext cx="1" cy="10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1 w 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1" y="38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06" name="Freeform 14"/>
            <p:cNvSpPr>
              <a:spLocks/>
            </p:cNvSpPr>
            <p:nvPr/>
          </p:nvSpPr>
          <p:spPr bwMode="auto">
            <a:xfrm>
              <a:off x="2636" y="1660"/>
              <a:ext cx="1" cy="56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  <a:gd name="T4" fmla="*/ 1 w 1"/>
                <a:gd name="T5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  <a:lnTo>
                    <a:pt x="1" y="225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07" name="Freeform 15"/>
            <p:cNvSpPr>
              <a:spLocks/>
            </p:cNvSpPr>
            <p:nvPr/>
          </p:nvSpPr>
          <p:spPr bwMode="auto">
            <a:xfrm>
              <a:off x="2636" y="1726"/>
              <a:ext cx="1" cy="10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1 w 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1" y="38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08" name="Freeform 16"/>
            <p:cNvSpPr>
              <a:spLocks/>
            </p:cNvSpPr>
            <p:nvPr/>
          </p:nvSpPr>
          <p:spPr bwMode="auto">
            <a:xfrm>
              <a:off x="2636" y="1745"/>
              <a:ext cx="1" cy="58"/>
            </a:xfrm>
            <a:custGeom>
              <a:avLst/>
              <a:gdLst>
                <a:gd name="T0" fmla="*/ 0 w 1"/>
                <a:gd name="T1" fmla="*/ 0 h 224"/>
                <a:gd name="T2" fmla="*/ 0 w 1"/>
                <a:gd name="T3" fmla="*/ 224 h 224"/>
                <a:gd name="T4" fmla="*/ 1 w 1"/>
                <a:gd name="T5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4">
                  <a:moveTo>
                    <a:pt x="0" y="0"/>
                  </a:moveTo>
                  <a:lnTo>
                    <a:pt x="0" y="224"/>
                  </a:lnTo>
                  <a:lnTo>
                    <a:pt x="1" y="224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09" name="Freeform 17"/>
            <p:cNvSpPr>
              <a:spLocks/>
            </p:cNvSpPr>
            <p:nvPr/>
          </p:nvSpPr>
          <p:spPr bwMode="auto">
            <a:xfrm>
              <a:off x="2636" y="1811"/>
              <a:ext cx="1" cy="11"/>
            </a:xfrm>
            <a:custGeom>
              <a:avLst/>
              <a:gdLst>
                <a:gd name="T0" fmla="*/ 0 w 1"/>
                <a:gd name="T1" fmla="*/ 0 h 37"/>
                <a:gd name="T2" fmla="*/ 0 w 1"/>
                <a:gd name="T3" fmla="*/ 37 h 37"/>
                <a:gd name="T4" fmla="*/ 1 w 1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7">
                  <a:moveTo>
                    <a:pt x="0" y="0"/>
                  </a:moveTo>
                  <a:lnTo>
                    <a:pt x="0" y="37"/>
                  </a:lnTo>
                  <a:lnTo>
                    <a:pt x="1" y="37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10" name="Freeform 18"/>
            <p:cNvSpPr>
              <a:spLocks/>
            </p:cNvSpPr>
            <p:nvPr/>
          </p:nvSpPr>
          <p:spPr bwMode="auto">
            <a:xfrm>
              <a:off x="2636" y="1832"/>
              <a:ext cx="1" cy="57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  <a:gd name="T4" fmla="*/ 1 w 1"/>
                <a:gd name="T5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  <a:lnTo>
                    <a:pt x="1" y="225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11" name="Freeform 19"/>
            <p:cNvSpPr>
              <a:spLocks/>
            </p:cNvSpPr>
            <p:nvPr/>
          </p:nvSpPr>
          <p:spPr bwMode="auto">
            <a:xfrm>
              <a:off x="2636" y="1897"/>
              <a:ext cx="1" cy="10"/>
            </a:xfrm>
            <a:custGeom>
              <a:avLst/>
              <a:gdLst>
                <a:gd name="T0" fmla="*/ 0 w 1"/>
                <a:gd name="T1" fmla="*/ 0 h 37"/>
                <a:gd name="T2" fmla="*/ 0 w 1"/>
                <a:gd name="T3" fmla="*/ 37 h 37"/>
                <a:gd name="T4" fmla="*/ 1 w 1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7">
                  <a:moveTo>
                    <a:pt x="0" y="0"/>
                  </a:moveTo>
                  <a:lnTo>
                    <a:pt x="0" y="37"/>
                  </a:lnTo>
                  <a:lnTo>
                    <a:pt x="1" y="37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12" name="Freeform 20"/>
            <p:cNvSpPr>
              <a:spLocks/>
            </p:cNvSpPr>
            <p:nvPr/>
          </p:nvSpPr>
          <p:spPr bwMode="auto">
            <a:xfrm>
              <a:off x="2636" y="1918"/>
              <a:ext cx="1" cy="56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  <a:gd name="T4" fmla="*/ 1 w 1"/>
                <a:gd name="T5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  <a:lnTo>
                    <a:pt x="1" y="225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13" name="Freeform 21"/>
            <p:cNvSpPr>
              <a:spLocks/>
            </p:cNvSpPr>
            <p:nvPr/>
          </p:nvSpPr>
          <p:spPr bwMode="auto">
            <a:xfrm>
              <a:off x="2636" y="1984"/>
              <a:ext cx="1" cy="11"/>
            </a:xfrm>
            <a:custGeom>
              <a:avLst/>
              <a:gdLst>
                <a:gd name="T0" fmla="*/ 0 w 1"/>
                <a:gd name="T1" fmla="*/ 0 h 36"/>
                <a:gd name="T2" fmla="*/ 0 w 1"/>
                <a:gd name="T3" fmla="*/ 36 h 36"/>
                <a:gd name="T4" fmla="*/ 1 w 1"/>
                <a:gd name="T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">
                  <a:moveTo>
                    <a:pt x="0" y="0"/>
                  </a:moveTo>
                  <a:lnTo>
                    <a:pt x="0" y="36"/>
                  </a:lnTo>
                  <a:lnTo>
                    <a:pt x="1" y="36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14" name="Freeform 22"/>
            <p:cNvSpPr>
              <a:spLocks/>
            </p:cNvSpPr>
            <p:nvPr/>
          </p:nvSpPr>
          <p:spPr bwMode="auto">
            <a:xfrm>
              <a:off x="2636" y="2003"/>
              <a:ext cx="1" cy="58"/>
            </a:xfrm>
            <a:custGeom>
              <a:avLst/>
              <a:gdLst>
                <a:gd name="T0" fmla="*/ 0 w 1"/>
                <a:gd name="T1" fmla="*/ 0 h 224"/>
                <a:gd name="T2" fmla="*/ 0 w 1"/>
                <a:gd name="T3" fmla="*/ 224 h 224"/>
                <a:gd name="T4" fmla="*/ 1 w 1"/>
                <a:gd name="T5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4">
                  <a:moveTo>
                    <a:pt x="0" y="0"/>
                  </a:moveTo>
                  <a:lnTo>
                    <a:pt x="0" y="224"/>
                  </a:lnTo>
                  <a:lnTo>
                    <a:pt x="1" y="224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15" name="Freeform 23"/>
            <p:cNvSpPr>
              <a:spLocks/>
            </p:cNvSpPr>
            <p:nvPr/>
          </p:nvSpPr>
          <p:spPr bwMode="auto">
            <a:xfrm>
              <a:off x="2636" y="2072"/>
              <a:ext cx="1" cy="9"/>
            </a:xfrm>
            <a:custGeom>
              <a:avLst/>
              <a:gdLst>
                <a:gd name="T0" fmla="*/ 0 w 1"/>
                <a:gd name="T1" fmla="*/ 0 h 37"/>
                <a:gd name="T2" fmla="*/ 0 w 1"/>
                <a:gd name="T3" fmla="*/ 37 h 37"/>
                <a:gd name="T4" fmla="*/ 1 w 1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7">
                  <a:moveTo>
                    <a:pt x="0" y="0"/>
                  </a:moveTo>
                  <a:lnTo>
                    <a:pt x="0" y="37"/>
                  </a:lnTo>
                  <a:lnTo>
                    <a:pt x="1" y="37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16" name="Freeform 24"/>
            <p:cNvSpPr>
              <a:spLocks/>
            </p:cNvSpPr>
            <p:nvPr/>
          </p:nvSpPr>
          <p:spPr bwMode="auto">
            <a:xfrm>
              <a:off x="2636" y="2521"/>
              <a:ext cx="1" cy="59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  <a:gd name="T4" fmla="*/ 1 w 1"/>
                <a:gd name="T5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  <a:lnTo>
                    <a:pt x="1" y="225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17" name="Freeform 25"/>
            <p:cNvSpPr>
              <a:spLocks/>
            </p:cNvSpPr>
            <p:nvPr/>
          </p:nvSpPr>
          <p:spPr bwMode="auto">
            <a:xfrm>
              <a:off x="2636" y="2589"/>
              <a:ext cx="1" cy="9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1 w 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1" y="38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18" name="Freeform 26"/>
            <p:cNvSpPr>
              <a:spLocks/>
            </p:cNvSpPr>
            <p:nvPr/>
          </p:nvSpPr>
          <p:spPr bwMode="auto">
            <a:xfrm>
              <a:off x="2636" y="2608"/>
              <a:ext cx="1" cy="58"/>
            </a:xfrm>
            <a:custGeom>
              <a:avLst/>
              <a:gdLst>
                <a:gd name="T0" fmla="*/ 0 w 1"/>
                <a:gd name="T1" fmla="*/ 0 h 224"/>
                <a:gd name="T2" fmla="*/ 0 w 1"/>
                <a:gd name="T3" fmla="*/ 224 h 224"/>
                <a:gd name="T4" fmla="*/ 1 w 1"/>
                <a:gd name="T5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4">
                  <a:moveTo>
                    <a:pt x="0" y="0"/>
                  </a:moveTo>
                  <a:lnTo>
                    <a:pt x="0" y="224"/>
                  </a:lnTo>
                  <a:lnTo>
                    <a:pt x="1" y="224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19" name="Freeform 27"/>
            <p:cNvSpPr>
              <a:spLocks/>
            </p:cNvSpPr>
            <p:nvPr/>
          </p:nvSpPr>
          <p:spPr bwMode="auto">
            <a:xfrm>
              <a:off x="2636" y="2675"/>
              <a:ext cx="1" cy="10"/>
            </a:xfrm>
            <a:custGeom>
              <a:avLst/>
              <a:gdLst>
                <a:gd name="T0" fmla="*/ 0 w 1"/>
                <a:gd name="T1" fmla="*/ 0 h 37"/>
                <a:gd name="T2" fmla="*/ 0 w 1"/>
                <a:gd name="T3" fmla="*/ 37 h 37"/>
                <a:gd name="T4" fmla="*/ 1 w 1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7">
                  <a:moveTo>
                    <a:pt x="0" y="0"/>
                  </a:moveTo>
                  <a:lnTo>
                    <a:pt x="0" y="37"/>
                  </a:lnTo>
                  <a:lnTo>
                    <a:pt x="1" y="37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20" name="Freeform 28"/>
            <p:cNvSpPr>
              <a:spLocks/>
            </p:cNvSpPr>
            <p:nvPr/>
          </p:nvSpPr>
          <p:spPr bwMode="auto">
            <a:xfrm>
              <a:off x="2636" y="2694"/>
              <a:ext cx="1" cy="58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  <a:gd name="T4" fmla="*/ 1 w 1"/>
                <a:gd name="T5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  <a:lnTo>
                    <a:pt x="1" y="225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21" name="Freeform 29"/>
            <p:cNvSpPr>
              <a:spLocks/>
            </p:cNvSpPr>
            <p:nvPr/>
          </p:nvSpPr>
          <p:spPr bwMode="auto">
            <a:xfrm>
              <a:off x="2636" y="2762"/>
              <a:ext cx="1" cy="8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1 w 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1" y="38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22" name="Freeform 30"/>
            <p:cNvSpPr>
              <a:spLocks/>
            </p:cNvSpPr>
            <p:nvPr/>
          </p:nvSpPr>
          <p:spPr bwMode="auto">
            <a:xfrm>
              <a:off x="2636" y="2780"/>
              <a:ext cx="1" cy="59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  <a:gd name="T4" fmla="*/ 1 w 1"/>
                <a:gd name="T5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  <a:lnTo>
                    <a:pt x="1" y="225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23" name="Freeform 31"/>
            <p:cNvSpPr>
              <a:spLocks/>
            </p:cNvSpPr>
            <p:nvPr/>
          </p:nvSpPr>
          <p:spPr bwMode="auto">
            <a:xfrm>
              <a:off x="2636" y="2848"/>
              <a:ext cx="1" cy="9"/>
            </a:xfrm>
            <a:custGeom>
              <a:avLst/>
              <a:gdLst>
                <a:gd name="T0" fmla="*/ 0 w 1"/>
                <a:gd name="T1" fmla="*/ 0 h 37"/>
                <a:gd name="T2" fmla="*/ 0 w 1"/>
                <a:gd name="T3" fmla="*/ 37 h 37"/>
                <a:gd name="T4" fmla="*/ 1 w 1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7">
                  <a:moveTo>
                    <a:pt x="0" y="0"/>
                  </a:moveTo>
                  <a:lnTo>
                    <a:pt x="0" y="37"/>
                  </a:lnTo>
                  <a:lnTo>
                    <a:pt x="1" y="37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24" name="Freeform 32"/>
            <p:cNvSpPr>
              <a:spLocks/>
            </p:cNvSpPr>
            <p:nvPr/>
          </p:nvSpPr>
          <p:spPr bwMode="auto">
            <a:xfrm>
              <a:off x="2636" y="2866"/>
              <a:ext cx="1" cy="58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  <a:gd name="T4" fmla="*/ 1 w 1"/>
                <a:gd name="T5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  <a:lnTo>
                    <a:pt x="1" y="225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25" name="Freeform 33"/>
            <p:cNvSpPr>
              <a:spLocks/>
            </p:cNvSpPr>
            <p:nvPr/>
          </p:nvSpPr>
          <p:spPr bwMode="auto">
            <a:xfrm>
              <a:off x="2636" y="2933"/>
              <a:ext cx="1" cy="10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1 w 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1" y="38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26" name="Freeform 34"/>
            <p:cNvSpPr>
              <a:spLocks/>
            </p:cNvSpPr>
            <p:nvPr/>
          </p:nvSpPr>
          <p:spPr bwMode="auto">
            <a:xfrm>
              <a:off x="2636" y="2953"/>
              <a:ext cx="1" cy="57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  <a:gd name="T4" fmla="*/ 1 w 1"/>
                <a:gd name="T5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  <a:lnTo>
                    <a:pt x="1" y="225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27" name="Freeform 35"/>
            <p:cNvSpPr>
              <a:spLocks/>
            </p:cNvSpPr>
            <p:nvPr/>
          </p:nvSpPr>
          <p:spPr bwMode="auto">
            <a:xfrm>
              <a:off x="2636" y="3020"/>
              <a:ext cx="1" cy="9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1 w 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1" y="38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28" name="Freeform 36"/>
            <p:cNvSpPr>
              <a:spLocks/>
            </p:cNvSpPr>
            <p:nvPr/>
          </p:nvSpPr>
          <p:spPr bwMode="auto">
            <a:xfrm>
              <a:off x="2636" y="3040"/>
              <a:ext cx="1" cy="57"/>
            </a:xfrm>
            <a:custGeom>
              <a:avLst/>
              <a:gdLst>
                <a:gd name="T0" fmla="*/ 0 w 1"/>
                <a:gd name="T1" fmla="*/ 0 h 223"/>
                <a:gd name="T2" fmla="*/ 0 w 1"/>
                <a:gd name="T3" fmla="*/ 223 h 223"/>
                <a:gd name="T4" fmla="*/ 1 w 1"/>
                <a:gd name="T5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3">
                  <a:moveTo>
                    <a:pt x="0" y="0"/>
                  </a:moveTo>
                  <a:lnTo>
                    <a:pt x="0" y="223"/>
                  </a:lnTo>
                  <a:lnTo>
                    <a:pt x="1" y="223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29" name="Freeform 37"/>
            <p:cNvSpPr>
              <a:spLocks/>
            </p:cNvSpPr>
            <p:nvPr/>
          </p:nvSpPr>
          <p:spPr bwMode="auto">
            <a:xfrm>
              <a:off x="2636" y="3106"/>
              <a:ext cx="1" cy="10"/>
            </a:xfrm>
            <a:custGeom>
              <a:avLst/>
              <a:gdLst>
                <a:gd name="T0" fmla="*/ 0 w 1"/>
                <a:gd name="T1" fmla="*/ 0 h 37"/>
                <a:gd name="T2" fmla="*/ 0 w 1"/>
                <a:gd name="T3" fmla="*/ 37 h 37"/>
                <a:gd name="T4" fmla="*/ 1 w 1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7">
                  <a:moveTo>
                    <a:pt x="0" y="0"/>
                  </a:moveTo>
                  <a:lnTo>
                    <a:pt x="0" y="37"/>
                  </a:lnTo>
                  <a:lnTo>
                    <a:pt x="1" y="37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30" name="Freeform 38"/>
            <p:cNvSpPr>
              <a:spLocks/>
            </p:cNvSpPr>
            <p:nvPr/>
          </p:nvSpPr>
          <p:spPr bwMode="auto">
            <a:xfrm>
              <a:off x="2636" y="3126"/>
              <a:ext cx="1" cy="57"/>
            </a:xfrm>
            <a:custGeom>
              <a:avLst/>
              <a:gdLst>
                <a:gd name="T0" fmla="*/ 0 w 1"/>
                <a:gd name="T1" fmla="*/ 0 h 224"/>
                <a:gd name="T2" fmla="*/ 0 w 1"/>
                <a:gd name="T3" fmla="*/ 224 h 224"/>
                <a:gd name="T4" fmla="*/ 1 w 1"/>
                <a:gd name="T5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4">
                  <a:moveTo>
                    <a:pt x="0" y="0"/>
                  </a:moveTo>
                  <a:lnTo>
                    <a:pt x="0" y="224"/>
                  </a:lnTo>
                  <a:lnTo>
                    <a:pt x="1" y="224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31" name="Freeform 39"/>
            <p:cNvSpPr>
              <a:spLocks/>
            </p:cNvSpPr>
            <p:nvPr/>
          </p:nvSpPr>
          <p:spPr bwMode="auto">
            <a:xfrm>
              <a:off x="2636" y="3192"/>
              <a:ext cx="1" cy="9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1 w 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1" y="38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32" name="Freeform 40"/>
            <p:cNvSpPr>
              <a:spLocks/>
            </p:cNvSpPr>
            <p:nvPr/>
          </p:nvSpPr>
          <p:spPr bwMode="auto">
            <a:xfrm>
              <a:off x="2636" y="3212"/>
              <a:ext cx="1" cy="58"/>
            </a:xfrm>
            <a:custGeom>
              <a:avLst/>
              <a:gdLst>
                <a:gd name="T0" fmla="*/ 0 w 1"/>
                <a:gd name="T1" fmla="*/ 0 h 223"/>
                <a:gd name="T2" fmla="*/ 0 w 1"/>
                <a:gd name="T3" fmla="*/ 223 h 223"/>
                <a:gd name="T4" fmla="*/ 1 w 1"/>
                <a:gd name="T5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3">
                  <a:moveTo>
                    <a:pt x="0" y="0"/>
                  </a:moveTo>
                  <a:lnTo>
                    <a:pt x="0" y="223"/>
                  </a:lnTo>
                  <a:lnTo>
                    <a:pt x="1" y="223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33" name="Freeform 41"/>
            <p:cNvSpPr>
              <a:spLocks/>
            </p:cNvSpPr>
            <p:nvPr/>
          </p:nvSpPr>
          <p:spPr bwMode="auto">
            <a:xfrm>
              <a:off x="2636" y="3279"/>
              <a:ext cx="1" cy="10"/>
            </a:xfrm>
            <a:custGeom>
              <a:avLst/>
              <a:gdLst>
                <a:gd name="T0" fmla="*/ 0 w 1"/>
                <a:gd name="T1" fmla="*/ 0 h 37"/>
                <a:gd name="T2" fmla="*/ 0 w 1"/>
                <a:gd name="T3" fmla="*/ 37 h 37"/>
                <a:gd name="T4" fmla="*/ 1 w 1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7">
                  <a:moveTo>
                    <a:pt x="0" y="0"/>
                  </a:moveTo>
                  <a:lnTo>
                    <a:pt x="0" y="37"/>
                  </a:lnTo>
                  <a:lnTo>
                    <a:pt x="1" y="37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34" name="Freeform 42"/>
            <p:cNvSpPr>
              <a:spLocks/>
            </p:cNvSpPr>
            <p:nvPr/>
          </p:nvSpPr>
          <p:spPr bwMode="auto">
            <a:xfrm>
              <a:off x="2636" y="3299"/>
              <a:ext cx="1" cy="56"/>
            </a:xfrm>
            <a:custGeom>
              <a:avLst/>
              <a:gdLst>
                <a:gd name="T0" fmla="*/ 0 w 1"/>
                <a:gd name="T1" fmla="*/ 0 h 223"/>
                <a:gd name="T2" fmla="*/ 0 w 1"/>
                <a:gd name="T3" fmla="*/ 223 h 223"/>
                <a:gd name="T4" fmla="*/ 1 w 1"/>
                <a:gd name="T5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3">
                  <a:moveTo>
                    <a:pt x="0" y="0"/>
                  </a:moveTo>
                  <a:lnTo>
                    <a:pt x="0" y="223"/>
                  </a:lnTo>
                  <a:lnTo>
                    <a:pt x="1" y="223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35" name="Freeform 43"/>
            <p:cNvSpPr>
              <a:spLocks/>
            </p:cNvSpPr>
            <p:nvPr/>
          </p:nvSpPr>
          <p:spPr bwMode="auto">
            <a:xfrm>
              <a:off x="2636" y="3365"/>
              <a:ext cx="1" cy="11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1 w 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1" y="38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36" name="Freeform 44"/>
            <p:cNvSpPr>
              <a:spLocks/>
            </p:cNvSpPr>
            <p:nvPr/>
          </p:nvSpPr>
          <p:spPr bwMode="auto">
            <a:xfrm>
              <a:off x="2636" y="3384"/>
              <a:ext cx="1" cy="58"/>
            </a:xfrm>
            <a:custGeom>
              <a:avLst/>
              <a:gdLst>
                <a:gd name="T0" fmla="*/ 0 w 1"/>
                <a:gd name="T1" fmla="*/ 0 h 224"/>
                <a:gd name="T2" fmla="*/ 0 w 1"/>
                <a:gd name="T3" fmla="*/ 224 h 224"/>
                <a:gd name="T4" fmla="*/ 1 w 1"/>
                <a:gd name="T5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4">
                  <a:moveTo>
                    <a:pt x="0" y="0"/>
                  </a:moveTo>
                  <a:lnTo>
                    <a:pt x="0" y="224"/>
                  </a:lnTo>
                  <a:lnTo>
                    <a:pt x="1" y="224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37" name="Freeform 45"/>
            <p:cNvSpPr>
              <a:spLocks/>
            </p:cNvSpPr>
            <p:nvPr/>
          </p:nvSpPr>
          <p:spPr bwMode="auto">
            <a:xfrm>
              <a:off x="2636" y="3451"/>
              <a:ext cx="1" cy="11"/>
            </a:xfrm>
            <a:custGeom>
              <a:avLst/>
              <a:gdLst>
                <a:gd name="T0" fmla="*/ 0 w 1"/>
                <a:gd name="T1" fmla="*/ 0 h 37"/>
                <a:gd name="T2" fmla="*/ 0 w 1"/>
                <a:gd name="T3" fmla="*/ 37 h 37"/>
                <a:gd name="T4" fmla="*/ 1 w 1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7">
                  <a:moveTo>
                    <a:pt x="0" y="0"/>
                  </a:moveTo>
                  <a:lnTo>
                    <a:pt x="0" y="37"/>
                  </a:lnTo>
                  <a:lnTo>
                    <a:pt x="1" y="37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38" name="Freeform 46"/>
            <p:cNvSpPr>
              <a:spLocks/>
            </p:cNvSpPr>
            <p:nvPr/>
          </p:nvSpPr>
          <p:spPr bwMode="auto">
            <a:xfrm>
              <a:off x="2636" y="3472"/>
              <a:ext cx="1" cy="55"/>
            </a:xfrm>
            <a:custGeom>
              <a:avLst/>
              <a:gdLst>
                <a:gd name="T0" fmla="*/ 0 w 1"/>
                <a:gd name="T1" fmla="*/ 0 h 223"/>
                <a:gd name="T2" fmla="*/ 0 w 1"/>
                <a:gd name="T3" fmla="*/ 223 h 223"/>
                <a:gd name="T4" fmla="*/ 1 w 1"/>
                <a:gd name="T5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3">
                  <a:moveTo>
                    <a:pt x="0" y="0"/>
                  </a:moveTo>
                  <a:lnTo>
                    <a:pt x="0" y="223"/>
                  </a:lnTo>
                  <a:lnTo>
                    <a:pt x="1" y="223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39" name="Freeform 47"/>
            <p:cNvSpPr>
              <a:spLocks/>
            </p:cNvSpPr>
            <p:nvPr/>
          </p:nvSpPr>
          <p:spPr bwMode="auto">
            <a:xfrm>
              <a:off x="2636" y="3537"/>
              <a:ext cx="1" cy="11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1 w 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1" y="38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40" name="Freeform 48"/>
            <p:cNvSpPr>
              <a:spLocks/>
            </p:cNvSpPr>
            <p:nvPr/>
          </p:nvSpPr>
          <p:spPr bwMode="auto">
            <a:xfrm>
              <a:off x="2636" y="3557"/>
              <a:ext cx="1" cy="58"/>
            </a:xfrm>
            <a:custGeom>
              <a:avLst/>
              <a:gdLst>
                <a:gd name="T0" fmla="*/ 0 w 1"/>
                <a:gd name="T1" fmla="*/ 0 h 224"/>
                <a:gd name="T2" fmla="*/ 0 w 1"/>
                <a:gd name="T3" fmla="*/ 224 h 224"/>
                <a:gd name="T4" fmla="*/ 1 w 1"/>
                <a:gd name="T5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4">
                  <a:moveTo>
                    <a:pt x="0" y="0"/>
                  </a:moveTo>
                  <a:lnTo>
                    <a:pt x="0" y="224"/>
                  </a:lnTo>
                  <a:lnTo>
                    <a:pt x="1" y="224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41" name="Freeform 49"/>
            <p:cNvSpPr>
              <a:spLocks/>
            </p:cNvSpPr>
            <p:nvPr/>
          </p:nvSpPr>
          <p:spPr bwMode="auto">
            <a:xfrm>
              <a:off x="2636" y="3626"/>
              <a:ext cx="1" cy="8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1 w 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1" y="38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42" name="Freeform 50"/>
            <p:cNvSpPr>
              <a:spLocks/>
            </p:cNvSpPr>
            <p:nvPr/>
          </p:nvSpPr>
          <p:spPr bwMode="auto">
            <a:xfrm>
              <a:off x="2636" y="3644"/>
              <a:ext cx="1" cy="56"/>
            </a:xfrm>
            <a:custGeom>
              <a:avLst/>
              <a:gdLst>
                <a:gd name="T0" fmla="*/ 0 w 1"/>
                <a:gd name="T1" fmla="*/ 0 h 223"/>
                <a:gd name="T2" fmla="*/ 0 w 1"/>
                <a:gd name="T3" fmla="*/ 223 h 223"/>
                <a:gd name="T4" fmla="*/ 1 w 1"/>
                <a:gd name="T5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3">
                  <a:moveTo>
                    <a:pt x="0" y="0"/>
                  </a:moveTo>
                  <a:lnTo>
                    <a:pt x="0" y="223"/>
                  </a:lnTo>
                  <a:lnTo>
                    <a:pt x="1" y="223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43" name="Freeform 51"/>
            <p:cNvSpPr>
              <a:spLocks/>
            </p:cNvSpPr>
            <p:nvPr/>
          </p:nvSpPr>
          <p:spPr bwMode="auto">
            <a:xfrm>
              <a:off x="2636" y="3711"/>
              <a:ext cx="1" cy="9"/>
            </a:xfrm>
            <a:custGeom>
              <a:avLst/>
              <a:gdLst>
                <a:gd name="T0" fmla="*/ 0 w 1"/>
                <a:gd name="T1" fmla="*/ 0 h 37"/>
                <a:gd name="T2" fmla="*/ 0 w 1"/>
                <a:gd name="T3" fmla="*/ 37 h 37"/>
                <a:gd name="T4" fmla="*/ 1 w 1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7">
                  <a:moveTo>
                    <a:pt x="0" y="0"/>
                  </a:moveTo>
                  <a:lnTo>
                    <a:pt x="0" y="37"/>
                  </a:lnTo>
                  <a:lnTo>
                    <a:pt x="1" y="37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44" name="Freeform 52"/>
            <p:cNvSpPr>
              <a:spLocks/>
            </p:cNvSpPr>
            <p:nvPr/>
          </p:nvSpPr>
          <p:spPr bwMode="auto">
            <a:xfrm>
              <a:off x="2636" y="3730"/>
              <a:ext cx="1" cy="57"/>
            </a:xfrm>
            <a:custGeom>
              <a:avLst/>
              <a:gdLst>
                <a:gd name="T0" fmla="*/ 0 w 1"/>
                <a:gd name="T1" fmla="*/ 0 h 224"/>
                <a:gd name="T2" fmla="*/ 0 w 1"/>
                <a:gd name="T3" fmla="*/ 224 h 224"/>
                <a:gd name="T4" fmla="*/ 1 w 1"/>
                <a:gd name="T5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4">
                  <a:moveTo>
                    <a:pt x="0" y="0"/>
                  </a:moveTo>
                  <a:lnTo>
                    <a:pt x="0" y="224"/>
                  </a:lnTo>
                  <a:lnTo>
                    <a:pt x="1" y="224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45" name="Freeform 53"/>
            <p:cNvSpPr>
              <a:spLocks/>
            </p:cNvSpPr>
            <p:nvPr/>
          </p:nvSpPr>
          <p:spPr bwMode="auto">
            <a:xfrm>
              <a:off x="2636" y="3798"/>
              <a:ext cx="1" cy="9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1 w 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1" y="38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46" name="Freeform 54"/>
            <p:cNvSpPr>
              <a:spLocks/>
            </p:cNvSpPr>
            <p:nvPr/>
          </p:nvSpPr>
          <p:spPr bwMode="auto">
            <a:xfrm>
              <a:off x="2636" y="3816"/>
              <a:ext cx="1" cy="57"/>
            </a:xfrm>
            <a:custGeom>
              <a:avLst/>
              <a:gdLst>
                <a:gd name="T0" fmla="*/ 0 w 1"/>
                <a:gd name="T1" fmla="*/ 0 h 224"/>
                <a:gd name="T2" fmla="*/ 0 w 1"/>
                <a:gd name="T3" fmla="*/ 224 h 224"/>
                <a:gd name="T4" fmla="*/ 1 w 1"/>
                <a:gd name="T5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4">
                  <a:moveTo>
                    <a:pt x="0" y="0"/>
                  </a:moveTo>
                  <a:lnTo>
                    <a:pt x="0" y="224"/>
                  </a:lnTo>
                  <a:lnTo>
                    <a:pt x="1" y="224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47" name="Freeform 55"/>
            <p:cNvSpPr>
              <a:spLocks/>
            </p:cNvSpPr>
            <p:nvPr/>
          </p:nvSpPr>
          <p:spPr bwMode="auto">
            <a:xfrm>
              <a:off x="2636" y="3883"/>
              <a:ext cx="1" cy="10"/>
            </a:xfrm>
            <a:custGeom>
              <a:avLst/>
              <a:gdLst>
                <a:gd name="T0" fmla="*/ 0 w 1"/>
                <a:gd name="T1" fmla="*/ 0 h 37"/>
                <a:gd name="T2" fmla="*/ 0 w 1"/>
                <a:gd name="T3" fmla="*/ 37 h 37"/>
                <a:gd name="T4" fmla="*/ 1 w 1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7">
                  <a:moveTo>
                    <a:pt x="0" y="0"/>
                  </a:moveTo>
                  <a:lnTo>
                    <a:pt x="0" y="37"/>
                  </a:lnTo>
                  <a:lnTo>
                    <a:pt x="1" y="37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48" name="Freeform 56"/>
            <p:cNvSpPr>
              <a:spLocks/>
            </p:cNvSpPr>
            <p:nvPr/>
          </p:nvSpPr>
          <p:spPr bwMode="auto">
            <a:xfrm>
              <a:off x="2636" y="3902"/>
              <a:ext cx="1" cy="59"/>
            </a:xfrm>
            <a:custGeom>
              <a:avLst/>
              <a:gdLst>
                <a:gd name="T0" fmla="*/ 0 w 1"/>
                <a:gd name="T1" fmla="*/ 0 h 223"/>
                <a:gd name="T2" fmla="*/ 0 w 1"/>
                <a:gd name="T3" fmla="*/ 223 h 223"/>
                <a:gd name="T4" fmla="*/ 1 w 1"/>
                <a:gd name="T5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3">
                  <a:moveTo>
                    <a:pt x="0" y="0"/>
                  </a:moveTo>
                  <a:lnTo>
                    <a:pt x="0" y="223"/>
                  </a:lnTo>
                  <a:lnTo>
                    <a:pt x="1" y="223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49" name="Freeform 57"/>
            <p:cNvSpPr>
              <a:spLocks/>
            </p:cNvSpPr>
            <p:nvPr/>
          </p:nvSpPr>
          <p:spPr bwMode="auto">
            <a:xfrm>
              <a:off x="2636" y="3970"/>
              <a:ext cx="1" cy="9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1 w 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1" y="38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50" name="Freeform 58"/>
            <p:cNvSpPr>
              <a:spLocks/>
            </p:cNvSpPr>
            <p:nvPr/>
          </p:nvSpPr>
          <p:spPr bwMode="auto">
            <a:xfrm>
              <a:off x="2636" y="3987"/>
              <a:ext cx="1" cy="60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  <a:gd name="T4" fmla="*/ 1 w 1"/>
                <a:gd name="T5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  <a:lnTo>
                    <a:pt x="1" y="225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51" name="Freeform 59"/>
            <p:cNvSpPr>
              <a:spLocks/>
            </p:cNvSpPr>
            <p:nvPr/>
          </p:nvSpPr>
          <p:spPr bwMode="auto">
            <a:xfrm>
              <a:off x="2636" y="4056"/>
              <a:ext cx="1" cy="9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1 w 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1" y="38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52" name="Freeform 60"/>
            <p:cNvSpPr>
              <a:spLocks/>
            </p:cNvSpPr>
            <p:nvPr/>
          </p:nvSpPr>
          <p:spPr bwMode="auto">
            <a:xfrm>
              <a:off x="2636" y="4075"/>
              <a:ext cx="1" cy="58"/>
            </a:xfrm>
            <a:custGeom>
              <a:avLst/>
              <a:gdLst>
                <a:gd name="T0" fmla="*/ 0 w 1"/>
                <a:gd name="T1" fmla="*/ 0 h 224"/>
                <a:gd name="T2" fmla="*/ 0 w 1"/>
                <a:gd name="T3" fmla="*/ 224 h 224"/>
                <a:gd name="T4" fmla="*/ 1 w 1"/>
                <a:gd name="T5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4">
                  <a:moveTo>
                    <a:pt x="0" y="0"/>
                  </a:moveTo>
                  <a:lnTo>
                    <a:pt x="0" y="224"/>
                  </a:lnTo>
                  <a:lnTo>
                    <a:pt x="1" y="224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53" name="Freeform 61"/>
            <p:cNvSpPr>
              <a:spLocks/>
            </p:cNvSpPr>
            <p:nvPr/>
          </p:nvSpPr>
          <p:spPr bwMode="auto">
            <a:xfrm>
              <a:off x="2899" y="2139"/>
              <a:ext cx="173" cy="310"/>
            </a:xfrm>
            <a:custGeom>
              <a:avLst/>
              <a:gdLst>
                <a:gd name="T0" fmla="*/ 0 w 673"/>
                <a:gd name="T1" fmla="*/ 0 h 1207"/>
                <a:gd name="T2" fmla="*/ 672 w 673"/>
                <a:gd name="T3" fmla="*/ 1207 h 1207"/>
                <a:gd name="T4" fmla="*/ 673 w 673"/>
                <a:gd name="T5" fmla="*/ 1207 h 1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3" h="1207">
                  <a:moveTo>
                    <a:pt x="0" y="0"/>
                  </a:moveTo>
                  <a:lnTo>
                    <a:pt x="672" y="1207"/>
                  </a:lnTo>
                  <a:lnTo>
                    <a:pt x="673" y="1207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54" name="Freeform 62"/>
            <p:cNvSpPr>
              <a:spLocks/>
            </p:cNvSpPr>
            <p:nvPr/>
          </p:nvSpPr>
          <p:spPr bwMode="auto">
            <a:xfrm>
              <a:off x="2187" y="2476"/>
              <a:ext cx="842" cy="1516"/>
            </a:xfrm>
            <a:custGeom>
              <a:avLst/>
              <a:gdLst>
                <a:gd name="T0" fmla="*/ 0 w 3280"/>
                <a:gd name="T1" fmla="*/ 0 h 5903"/>
                <a:gd name="T2" fmla="*/ 3279 w 3280"/>
                <a:gd name="T3" fmla="*/ 5903 h 5903"/>
                <a:gd name="T4" fmla="*/ 3280 w 3280"/>
                <a:gd name="T5" fmla="*/ 5903 h 5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80" h="5903">
                  <a:moveTo>
                    <a:pt x="0" y="0"/>
                  </a:moveTo>
                  <a:lnTo>
                    <a:pt x="3279" y="5903"/>
                  </a:lnTo>
                  <a:lnTo>
                    <a:pt x="3280" y="5903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55" name="Freeform 63"/>
            <p:cNvSpPr>
              <a:spLocks/>
            </p:cNvSpPr>
            <p:nvPr/>
          </p:nvSpPr>
          <p:spPr bwMode="auto">
            <a:xfrm>
              <a:off x="2881" y="2103"/>
              <a:ext cx="851" cy="1538"/>
            </a:xfrm>
            <a:custGeom>
              <a:avLst/>
              <a:gdLst>
                <a:gd name="T0" fmla="*/ 0 w 3316"/>
                <a:gd name="T1" fmla="*/ 0 h 5994"/>
                <a:gd name="T2" fmla="*/ 3315 w 3316"/>
                <a:gd name="T3" fmla="*/ 5994 h 5994"/>
                <a:gd name="T4" fmla="*/ 3316 w 3316"/>
                <a:gd name="T5" fmla="*/ 5994 h 5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16" h="5994">
                  <a:moveTo>
                    <a:pt x="0" y="0"/>
                  </a:moveTo>
                  <a:lnTo>
                    <a:pt x="3315" y="5994"/>
                  </a:lnTo>
                  <a:lnTo>
                    <a:pt x="3316" y="5994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56" name="Freeform 64"/>
            <p:cNvSpPr>
              <a:spLocks/>
            </p:cNvSpPr>
            <p:nvPr/>
          </p:nvSpPr>
          <p:spPr bwMode="auto">
            <a:xfrm>
              <a:off x="3013" y="3538"/>
              <a:ext cx="735" cy="555"/>
            </a:xfrm>
            <a:custGeom>
              <a:avLst/>
              <a:gdLst>
                <a:gd name="T0" fmla="*/ 57 w 2863"/>
                <a:gd name="T1" fmla="*/ 1764 h 2162"/>
                <a:gd name="T2" fmla="*/ 160 w 2863"/>
                <a:gd name="T3" fmla="*/ 1911 h 2162"/>
                <a:gd name="T4" fmla="*/ 309 w 2863"/>
                <a:gd name="T5" fmla="*/ 2028 h 2162"/>
                <a:gd name="T6" fmla="*/ 499 w 2863"/>
                <a:gd name="T7" fmla="*/ 2111 h 2162"/>
                <a:gd name="T8" fmla="*/ 723 w 2863"/>
                <a:gd name="T9" fmla="*/ 2156 h 2162"/>
                <a:gd name="T10" fmla="*/ 972 w 2863"/>
                <a:gd name="T11" fmla="*/ 2162 h 2162"/>
                <a:gd name="T12" fmla="*/ 1238 w 2863"/>
                <a:gd name="T13" fmla="*/ 2130 h 2162"/>
                <a:gd name="T14" fmla="*/ 1511 w 2863"/>
                <a:gd name="T15" fmla="*/ 2060 h 2162"/>
                <a:gd name="T16" fmla="*/ 1781 w 2863"/>
                <a:gd name="T17" fmla="*/ 1954 h 2162"/>
                <a:gd name="T18" fmla="*/ 2038 w 2863"/>
                <a:gd name="T19" fmla="*/ 1817 h 2162"/>
                <a:gd name="T20" fmla="*/ 2272 w 2863"/>
                <a:gd name="T21" fmla="*/ 1654 h 2162"/>
                <a:gd name="T22" fmla="*/ 2476 w 2863"/>
                <a:gd name="T23" fmla="*/ 1469 h 2162"/>
                <a:gd name="T24" fmla="*/ 2643 w 2863"/>
                <a:gd name="T25" fmla="*/ 1271 h 2162"/>
                <a:gd name="T26" fmla="*/ 2765 w 2863"/>
                <a:gd name="T27" fmla="*/ 1066 h 2162"/>
                <a:gd name="T28" fmla="*/ 2840 w 2863"/>
                <a:gd name="T29" fmla="*/ 861 h 2162"/>
                <a:gd name="T30" fmla="*/ 2863 w 2863"/>
                <a:gd name="T31" fmla="*/ 665 h 2162"/>
                <a:gd name="T32" fmla="*/ 2834 w 2863"/>
                <a:gd name="T33" fmla="*/ 484 h 2162"/>
                <a:gd name="T34" fmla="*/ 2756 w 2863"/>
                <a:gd name="T35" fmla="*/ 323 h 2162"/>
                <a:gd name="T36" fmla="*/ 2628 w 2863"/>
                <a:gd name="T37" fmla="*/ 191 h 2162"/>
                <a:gd name="T38" fmla="*/ 2457 w 2863"/>
                <a:gd name="T39" fmla="*/ 91 h 2162"/>
                <a:gd name="T40" fmla="*/ 2249 w 2863"/>
                <a:gd name="T41" fmla="*/ 27 h 2162"/>
                <a:gd name="T42" fmla="*/ 2012 w 2863"/>
                <a:gd name="T43" fmla="*/ 0 h 2162"/>
                <a:gd name="T44" fmla="*/ 1754 w 2863"/>
                <a:gd name="T45" fmla="*/ 13 h 2162"/>
                <a:gd name="T46" fmla="*/ 1483 w 2863"/>
                <a:gd name="T47" fmla="*/ 64 h 2162"/>
                <a:gd name="T48" fmla="*/ 1211 w 2863"/>
                <a:gd name="T49" fmla="*/ 153 h 2162"/>
                <a:gd name="T50" fmla="*/ 947 w 2863"/>
                <a:gd name="T51" fmla="*/ 275 h 2162"/>
                <a:gd name="T52" fmla="*/ 699 w 2863"/>
                <a:gd name="T53" fmla="*/ 426 h 2162"/>
                <a:gd name="T54" fmla="*/ 479 w 2863"/>
                <a:gd name="T55" fmla="*/ 601 h 2162"/>
                <a:gd name="T56" fmla="*/ 293 w 2863"/>
                <a:gd name="T57" fmla="*/ 793 h 2162"/>
                <a:gd name="T58" fmla="*/ 148 w 2863"/>
                <a:gd name="T59" fmla="*/ 995 h 2162"/>
                <a:gd name="T60" fmla="*/ 49 w 2863"/>
                <a:gd name="T61" fmla="*/ 1202 h 2162"/>
                <a:gd name="T62" fmla="*/ 0 w 2863"/>
                <a:gd name="T63" fmla="*/ 1403 h 2162"/>
                <a:gd name="T64" fmla="*/ 2 w 2863"/>
                <a:gd name="T65" fmla="*/ 1593 h 2162"/>
                <a:gd name="T66" fmla="*/ 57 w 2863"/>
                <a:gd name="T67" fmla="*/ 1764 h 2162"/>
                <a:gd name="T68" fmla="*/ 58 w 2863"/>
                <a:gd name="T69" fmla="*/ 1764 h 2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63" h="2162">
                  <a:moveTo>
                    <a:pt x="57" y="1764"/>
                  </a:moveTo>
                  <a:lnTo>
                    <a:pt x="160" y="1911"/>
                  </a:lnTo>
                  <a:lnTo>
                    <a:pt x="309" y="2028"/>
                  </a:lnTo>
                  <a:lnTo>
                    <a:pt x="499" y="2111"/>
                  </a:lnTo>
                  <a:lnTo>
                    <a:pt x="723" y="2156"/>
                  </a:lnTo>
                  <a:lnTo>
                    <a:pt x="972" y="2162"/>
                  </a:lnTo>
                  <a:lnTo>
                    <a:pt x="1238" y="2130"/>
                  </a:lnTo>
                  <a:lnTo>
                    <a:pt x="1511" y="2060"/>
                  </a:lnTo>
                  <a:lnTo>
                    <a:pt x="1781" y="1954"/>
                  </a:lnTo>
                  <a:lnTo>
                    <a:pt x="2038" y="1817"/>
                  </a:lnTo>
                  <a:lnTo>
                    <a:pt x="2272" y="1654"/>
                  </a:lnTo>
                  <a:lnTo>
                    <a:pt x="2476" y="1469"/>
                  </a:lnTo>
                  <a:lnTo>
                    <a:pt x="2643" y="1271"/>
                  </a:lnTo>
                  <a:lnTo>
                    <a:pt x="2765" y="1066"/>
                  </a:lnTo>
                  <a:lnTo>
                    <a:pt x="2840" y="861"/>
                  </a:lnTo>
                  <a:lnTo>
                    <a:pt x="2863" y="665"/>
                  </a:lnTo>
                  <a:lnTo>
                    <a:pt x="2834" y="484"/>
                  </a:lnTo>
                  <a:lnTo>
                    <a:pt x="2756" y="323"/>
                  </a:lnTo>
                  <a:lnTo>
                    <a:pt x="2628" y="191"/>
                  </a:lnTo>
                  <a:lnTo>
                    <a:pt x="2457" y="91"/>
                  </a:lnTo>
                  <a:lnTo>
                    <a:pt x="2249" y="27"/>
                  </a:lnTo>
                  <a:lnTo>
                    <a:pt x="2012" y="0"/>
                  </a:lnTo>
                  <a:lnTo>
                    <a:pt x="1754" y="13"/>
                  </a:lnTo>
                  <a:lnTo>
                    <a:pt x="1483" y="64"/>
                  </a:lnTo>
                  <a:lnTo>
                    <a:pt x="1211" y="153"/>
                  </a:lnTo>
                  <a:lnTo>
                    <a:pt x="947" y="275"/>
                  </a:lnTo>
                  <a:lnTo>
                    <a:pt x="699" y="426"/>
                  </a:lnTo>
                  <a:lnTo>
                    <a:pt x="479" y="601"/>
                  </a:lnTo>
                  <a:lnTo>
                    <a:pt x="293" y="793"/>
                  </a:lnTo>
                  <a:lnTo>
                    <a:pt x="148" y="995"/>
                  </a:lnTo>
                  <a:lnTo>
                    <a:pt x="49" y="1202"/>
                  </a:lnTo>
                  <a:lnTo>
                    <a:pt x="0" y="1403"/>
                  </a:lnTo>
                  <a:lnTo>
                    <a:pt x="2" y="1593"/>
                  </a:lnTo>
                  <a:lnTo>
                    <a:pt x="57" y="1764"/>
                  </a:lnTo>
                  <a:lnTo>
                    <a:pt x="58" y="1764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57" name="Freeform 65"/>
            <p:cNvSpPr>
              <a:spLocks/>
            </p:cNvSpPr>
            <p:nvPr/>
          </p:nvSpPr>
          <p:spPr bwMode="auto">
            <a:xfrm>
              <a:off x="3274" y="3600"/>
              <a:ext cx="26" cy="52"/>
            </a:xfrm>
            <a:custGeom>
              <a:avLst/>
              <a:gdLst>
                <a:gd name="T0" fmla="*/ 0 w 103"/>
                <a:gd name="T1" fmla="*/ 0 h 204"/>
                <a:gd name="T2" fmla="*/ 102 w 103"/>
                <a:gd name="T3" fmla="*/ 204 h 204"/>
                <a:gd name="T4" fmla="*/ 103 w 103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3" h="204">
                  <a:moveTo>
                    <a:pt x="0" y="0"/>
                  </a:moveTo>
                  <a:lnTo>
                    <a:pt x="102" y="204"/>
                  </a:lnTo>
                  <a:lnTo>
                    <a:pt x="103" y="204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58" name="Freeform 66"/>
            <p:cNvSpPr>
              <a:spLocks/>
            </p:cNvSpPr>
            <p:nvPr/>
          </p:nvSpPr>
          <p:spPr bwMode="auto">
            <a:xfrm>
              <a:off x="3308" y="3670"/>
              <a:ext cx="9" cy="16"/>
            </a:xfrm>
            <a:custGeom>
              <a:avLst/>
              <a:gdLst>
                <a:gd name="T0" fmla="*/ 0 w 34"/>
                <a:gd name="T1" fmla="*/ 0 h 66"/>
                <a:gd name="T2" fmla="*/ 33 w 34"/>
                <a:gd name="T3" fmla="*/ 66 h 66"/>
                <a:gd name="T4" fmla="*/ 34 w 34"/>
                <a:gd name="T5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66">
                  <a:moveTo>
                    <a:pt x="0" y="0"/>
                  </a:moveTo>
                  <a:lnTo>
                    <a:pt x="33" y="66"/>
                  </a:lnTo>
                  <a:lnTo>
                    <a:pt x="34" y="66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59" name="Freeform 67"/>
            <p:cNvSpPr>
              <a:spLocks/>
            </p:cNvSpPr>
            <p:nvPr/>
          </p:nvSpPr>
          <p:spPr bwMode="auto">
            <a:xfrm>
              <a:off x="3325" y="3705"/>
              <a:ext cx="43" cy="85"/>
            </a:xfrm>
            <a:custGeom>
              <a:avLst/>
              <a:gdLst>
                <a:gd name="T0" fmla="*/ 0 w 167"/>
                <a:gd name="T1" fmla="*/ 0 h 335"/>
                <a:gd name="T2" fmla="*/ 166 w 167"/>
                <a:gd name="T3" fmla="*/ 335 h 335"/>
                <a:gd name="T4" fmla="*/ 167 w 167"/>
                <a:gd name="T5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7" h="335">
                  <a:moveTo>
                    <a:pt x="0" y="0"/>
                  </a:moveTo>
                  <a:lnTo>
                    <a:pt x="166" y="335"/>
                  </a:lnTo>
                  <a:lnTo>
                    <a:pt x="167" y="335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60" name="Freeform 68"/>
            <p:cNvSpPr>
              <a:spLocks/>
            </p:cNvSpPr>
            <p:nvPr/>
          </p:nvSpPr>
          <p:spPr bwMode="auto">
            <a:xfrm>
              <a:off x="3376" y="3807"/>
              <a:ext cx="8" cy="18"/>
            </a:xfrm>
            <a:custGeom>
              <a:avLst/>
              <a:gdLst>
                <a:gd name="T0" fmla="*/ 0 w 34"/>
                <a:gd name="T1" fmla="*/ 0 h 67"/>
                <a:gd name="T2" fmla="*/ 33 w 34"/>
                <a:gd name="T3" fmla="*/ 67 h 67"/>
                <a:gd name="T4" fmla="*/ 34 w 34"/>
                <a:gd name="T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67">
                  <a:moveTo>
                    <a:pt x="0" y="0"/>
                  </a:moveTo>
                  <a:lnTo>
                    <a:pt x="33" y="67"/>
                  </a:lnTo>
                  <a:lnTo>
                    <a:pt x="34" y="67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61" name="Freeform 69"/>
            <p:cNvSpPr>
              <a:spLocks/>
            </p:cNvSpPr>
            <p:nvPr/>
          </p:nvSpPr>
          <p:spPr bwMode="auto">
            <a:xfrm>
              <a:off x="3393" y="3842"/>
              <a:ext cx="42" cy="86"/>
            </a:xfrm>
            <a:custGeom>
              <a:avLst/>
              <a:gdLst>
                <a:gd name="T0" fmla="*/ 0 w 166"/>
                <a:gd name="T1" fmla="*/ 0 h 336"/>
                <a:gd name="T2" fmla="*/ 165 w 166"/>
                <a:gd name="T3" fmla="*/ 336 h 336"/>
                <a:gd name="T4" fmla="*/ 166 w 166"/>
                <a:gd name="T5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36">
                  <a:moveTo>
                    <a:pt x="0" y="0"/>
                  </a:moveTo>
                  <a:lnTo>
                    <a:pt x="165" y="336"/>
                  </a:lnTo>
                  <a:lnTo>
                    <a:pt x="166" y="336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62" name="Freeform 70"/>
            <p:cNvSpPr>
              <a:spLocks/>
            </p:cNvSpPr>
            <p:nvPr/>
          </p:nvSpPr>
          <p:spPr bwMode="auto">
            <a:xfrm>
              <a:off x="3445" y="3945"/>
              <a:ext cx="8" cy="17"/>
            </a:xfrm>
            <a:custGeom>
              <a:avLst/>
              <a:gdLst>
                <a:gd name="T0" fmla="*/ 0 w 34"/>
                <a:gd name="T1" fmla="*/ 0 h 67"/>
                <a:gd name="T2" fmla="*/ 33 w 34"/>
                <a:gd name="T3" fmla="*/ 67 h 67"/>
                <a:gd name="T4" fmla="*/ 34 w 34"/>
                <a:gd name="T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" h="67">
                  <a:moveTo>
                    <a:pt x="0" y="0"/>
                  </a:moveTo>
                  <a:lnTo>
                    <a:pt x="33" y="67"/>
                  </a:lnTo>
                  <a:lnTo>
                    <a:pt x="34" y="67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63" name="Freeform 71"/>
            <p:cNvSpPr>
              <a:spLocks/>
            </p:cNvSpPr>
            <p:nvPr/>
          </p:nvSpPr>
          <p:spPr bwMode="auto">
            <a:xfrm>
              <a:off x="3462" y="3979"/>
              <a:ext cx="26" cy="53"/>
            </a:xfrm>
            <a:custGeom>
              <a:avLst/>
              <a:gdLst>
                <a:gd name="T0" fmla="*/ 0 w 103"/>
                <a:gd name="T1" fmla="*/ 0 h 204"/>
                <a:gd name="T2" fmla="*/ 102 w 103"/>
                <a:gd name="T3" fmla="*/ 204 h 204"/>
                <a:gd name="T4" fmla="*/ 103 w 103"/>
                <a:gd name="T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3" h="204">
                  <a:moveTo>
                    <a:pt x="0" y="0"/>
                  </a:moveTo>
                  <a:lnTo>
                    <a:pt x="102" y="204"/>
                  </a:lnTo>
                  <a:lnTo>
                    <a:pt x="103" y="204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64" name="Freeform 72"/>
            <p:cNvSpPr>
              <a:spLocks/>
            </p:cNvSpPr>
            <p:nvPr/>
          </p:nvSpPr>
          <p:spPr bwMode="auto">
            <a:xfrm>
              <a:off x="3028" y="3965"/>
              <a:ext cx="52" cy="27"/>
            </a:xfrm>
            <a:custGeom>
              <a:avLst/>
              <a:gdLst>
                <a:gd name="T0" fmla="*/ 0 w 202"/>
                <a:gd name="T1" fmla="*/ 100 h 100"/>
                <a:gd name="T2" fmla="*/ 201 w 202"/>
                <a:gd name="T3" fmla="*/ 0 h 100"/>
                <a:gd name="T4" fmla="*/ 202 w 202"/>
                <a:gd name="T5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2" h="100">
                  <a:moveTo>
                    <a:pt x="0" y="100"/>
                  </a:moveTo>
                  <a:lnTo>
                    <a:pt x="201" y="0"/>
                  </a:lnTo>
                  <a:lnTo>
                    <a:pt x="20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65" name="Freeform 73"/>
            <p:cNvSpPr>
              <a:spLocks/>
            </p:cNvSpPr>
            <p:nvPr/>
          </p:nvSpPr>
          <p:spPr bwMode="auto">
            <a:xfrm>
              <a:off x="3097" y="3947"/>
              <a:ext cx="19" cy="9"/>
            </a:xfrm>
            <a:custGeom>
              <a:avLst/>
              <a:gdLst>
                <a:gd name="T0" fmla="*/ 0 w 69"/>
                <a:gd name="T1" fmla="*/ 33 h 33"/>
                <a:gd name="T2" fmla="*/ 68 w 69"/>
                <a:gd name="T3" fmla="*/ 0 h 33"/>
                <a:gd name="T4" fmla="*/ 69 w 69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33">
                  <a:moveTo>
                    <a:pt x="0" y="33"/>
                  </a:moveTo>
                  <a:lnTo>
                    <a:pt x="68" y="0"/>
                  </a:lnTo>
                  <a:lnTo>
                    <a:pt x="6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66" name="Freeform 74"/>
            <p:cNvSpPr>
              <a:spLocks/>
            </p:cNvSpPr>
            <p:nvPr/>
          </p:nvSpPr>
          <p:spPr bwMode="auto">
            <a:xfrm>
              <a:off x="3131" y="3897"/>
              <a:ext cx="86" cy="42"/>
            </a:xfrm>
            <a:custGeom>
              <a:avLst/>
              <a:gdLst>
                <a:gd name="T0" fmla="*/ 0 w 335"/>
                <a:gd name="T1" fmla="*/ 167 h 167"/>
                <a:gd name="T2" fmla="*/ 334 w 335"/>
                <a:gd name="T3" fmla="*/ 0 h 167"/>
                <a:gd name="T4" fmla="*/ 335 w 335"/>
                <a:gd name="T5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5" h="167">
                  <a:moveTo>
                    <a:pt x="0" y="167"/>
                  </a:moveTo>
                  <a:lnTo>
                    <a:pt x="334" y="0"/>
                  </a:lnTo>
                  <a:lnTo>
                    <a:pt x="33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67" name="Freeform 75"/>
            <p:cNvSpPr>
              <a:spLocks/>
            </p:cNvSpPr>
            <p:nvPr/>
          </p:nvSpPr>
          <p:spPr bwMode="auto">
            <a:xfrm>
              <a:off x="3234" y="3881"/>
              <a:ext cx="18" cy="7"/>
            </a:xfrm>
            <a:custGeom>
              <a:avLst/>
              <a:gdLst>
                <a:gd name="T0" fmla="*/ 0 w 68"/>
                <a:gd name="T1" fmla="*/ 33 h 33"/>
                <a:gd name="T2" fmla="*/ 67 w 68"/>
                <a:gd name="T3" fmla="*/ 0 h 33"/>
                <a:gd name="T4" fmla="*/ 68 w 68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33">
                  <a:moveTo>
                    <a:pt x="0" y="33"/>
                  </a:moveTo>
                  <a:lnTo>
                    <a:pt x="67" y="0"/>
                  </a:lnTo>
                  <a:lnTo>
                    <a:pt x="6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68" name="Freeform 76"/>
            <p:cNvSpPr>
              <a:spLocks/>
            </p:cNvSpPr>
            <p:nvPr/>
          </p:nvSpPr>
          <p:spPr bwMode="auto">
            <a:xfrm>
              <a:off x="3270" y="3828"/>
              <a:ext cx="85" cy="43"/>
            </a:xfrm>
            <a:custGeom>
              <a:avLst/>
              <a:gdLst>
                <a:gd name="T0" fmla="*/ 0 w 335"/>
                <a:gd name="T1" fmla="*/ 166 h 166"/>
                <a:gd name="T2" fmla="*/ 334 w 335"/>
                <a:gd name="T3" fmla="*/ 0 h 166"/>
                <a:gd name="T4" fmla="*/ 335 w 335"/>
                <a:gd name="T5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5" h="166">
                  <a:moveTo>
                    <a:pt x="0" y="166"/>
                  </a:moveTo>
                  <a:lnTo>
                    <a:pt x="334" y="0"/>
                  </a:lnTo>
                  <a:lnTo>
                    <a:pt x="33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69" name="Freeform 77"/>
            <p:cNvSpPr>
              <a:spLocks/>
            </p:cNvSpPr>
            <p:nvPr/>
          </p:nvSpPr>
          <p:spPr bwMode="auto">
            <a:xfrm>
              <a:off x="3371" y="3811"/>
              <a:ext cx="18" cy="9"/>
            </a:xfrm>
            <a:custGeom>
              <a:avLst/>
              <a:gdLst>
                <a:gd name="T0" fmla="*/ 0 w 69"/>
                <a:gd name="T1" fmla="*/ 33 h 33"/>
                <a:gd name="T2" fmla="*/ 68 w 69"/>
                <a:gd name="T3" fmla="*/ 0 h 33"/>
                <a:gd name="T4" fmla="*/ 69 w 69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33">
                  <a:moveTo>
                    <a:pt x="0" y="33"/>
                  </a:moveTo>
                  <a:lnTo>
                    <a:pt x="68" y="0"/>
                  </a:lnTo>
                  <a:lnTo>
                    <a:pt x="6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70" name="Freeform 78"/>
            <p:cNvSpPr>
              <a:spLocks/>
            </p:cNvSpPr>
            <p:nvPr/>
          </p:nvSpPr>
          <p:spPr bwMode="auto">
            <a:xfrm>
              <a:off x="3406" y="3760"/>
              <a:ext cx="87" cy="44"/>
            </a:xfrm>
            <a:custGeom>
              <a:avLst/>
              <a:gdLst>
                <a:gd name="T0" fmla="*/ 0 w 336"/>
                <a:gd name="T1" fmla="*/ 167 h 167"/>
                <a:gd name="T2" fmla="*/ 335 w 336"/>
                <a:gd name="T3" fmla="*/ 0 h 167"/>
                <a:gd name="T4" fmla="*/ 336 w 336"/>
                <a:gd name="T5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6" h="167">
                  <a:moveTo>
                    <a:pt x="0" y="167"/>
                  </a:moveTo>
                  <a:lnTo>
                    <a:pt x="335" y="0"/>
                  </a:lnTo>
                  <a:lnTo>
                    <a:pt x="33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71" name="Freeform 79"/>
            <p:cNvSpPr>
              <a:spLocks/>
            </p:cNvSpPr>
            <p:nvPr/>
          </p:nvSpPr>
          <p:spPr bwMode="auto">
            <a:xfrm>
              <a:off x="3509" y="3743"/>
              <a:ext cx="17" cy="8"/>
            </a:xfrm>
            <a:custGeom>
              <a:avLst/>
              <a:gdLst>
                <a:gd name="T0" fmla="*/ 0 w 69"/>
                <a:gd name="T1" fmla="*/ 33 h 33"/>
                <a:gd name="T2" fmla="*/ 68 w 69"/>
                <a:gd name="T3" fmla="*/ 0 h 33"/>
                <a:gd name="T4" fmla="*/ 69 w 69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33">
                  <a:moveTo>
                    <a:pt x="0" y="33"/>
                  </a:moveTo>
                  <a:lnTo>
                    <a:pt x="68" y="0"/>
                  </a:lnTo>
                  <a:lnTo>
                    <a:pt x="6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72" name="Freeform 80"/>
            <p:cNvSpPr>
              <a:spLocks/>
            </p:cNvSpPr>
            <p:nvPr/>
          </p:nvSpPr>
          <p:spPr bwMode="auto">
            <a:xfrm>
              <a:off x="3543" y="3692"/>
              <a:ext cx="86" cy="43"/>
            </a:xfrm>
            <a:custGeom>
              <a:avLst/>
              <a:gdLst>
                <a:gd name="T0" fmla="*/ 0 w 335"/>
                <a:gd name="T1" fmla="*/ 166 h 166"/>
                <a:gd name="T2" fmla="*/ 334 w 335"/>
                <a:gd name="T3" fmla="*/ 0 h 166"/>
                <a:gd name="T4" fmla="*/ 335 w 335"/>
                <a:gd name="T5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5" h="166">
                  <a:moveTo>
                    <a:pt x="0" y="166"/>
                  </a:moveTo>
                  <a:lnTo>
                    <a:pt x="334" y="0"/>
                  </a:lnTo>
                  <a:lnTo>
                    <a:pt x="33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73" name="Freeform 81"/>
            <p:cNvSpPr>
              <a:spLocks/>
            </p:cNvSpPr>
            <p:nvPr/>
          </p:nvSpPr>
          <p:spPr bwMode="auto">
            <a:xfrm>
              <a:off x="3647" y="3676"/>
              <a:ext cx="16" cy="8"/>
            </a:xfrm>
            <a:custGeom>
              <a:avLst/>
              <a:gdLst>
                <a:gd name="T0" fmla="*/ 0 w 69"/>
                <a:gd name="T1" fmla="*/ 32 h 32"/>
                <a:gd name="T2" fmla="*/ 68 w 69"/>
                <a:gd name="T3" fmla="*/ 0 h 32"/>
                <a:gd name="T4" fmla="*/ 69 w 69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32">
                  <a:moveTo>
                    <a:pt x="0" y="32"/>
                  </a:moveTo>
                  <a:lnTo>
                    <a:pt x="68" y="0"/>
                  </a:lnTo>
                  <a:lnTo>
                    <a:pt x="6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74" name="Freeform 82"/>
            <p:cNvSpPr>
              <a:spLocks/>
            </p:cNvSpPr>
            <p:nvPr/>
          </p:nvSpPr>
          <p:spPr bwMode="auto">
            <a:xfrm>
              <a:off x="3680" y="3641"/>
              <a:ext cx="52" cy="25"/>
            </a:xfrm>
            <a:custGeom>
              <a:avLst/>
              <a:gdLst>
                <a:gd name="T0" fmla="*/ 0 w 202"/>
                <a:gd name="T1" fmla="*/ 101 h 101"/>
                <a:gd name="T2" fmla="*/ 201 w 202"/>
                <a:gd name="T3" fmla="*/ 0 h 101"/>
                <a:gd name="T4" fmla="*/ 202 w 202"/>
                <a:gd name="T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2" h="101">
                  <a:moveTo>
                    <a:pt x="0" y="101"/>
                  </a:moveTo>
                  <a:lnTo>
                    <a:pt x="201" y="0"/>
                  </a:lnTo>
                  <a:lnTo>
                    <a:pt x="20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75" name="Freeform 83"/>
            <p:cNvSpPr>
              <a:spLocks/>
            </p:cNvSpPr>
            <p:nvPr/>
          </p:nvSpPr>
          <p:spPr bwMode="auto">
            <a:xfrm>
              <a:off x="3049" y="3636"/>
              <a:ext cx="162" cy="162"/>
            </a:xfrm>
            <a:custGeom>
              <a:avLst/>
              <a:gdLst>
                <a:gd name="T0" fmla="*/ 0 w 629"/>
                <a:gd name="T1" fmla="*/ 628 h 628"/>
                <a:gd name="T2" fmla="*/ 628 w 629"/>
                <a:gd name="T3" fmla="*/ 0 h 628"/>
                <a:gd name="T4" fmla="*/ 629 w 629"/>
                <a:gd name="T5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9" h="628">
                  <a:moveTo>
                    <a:pt x="0" y="628"/>
                  </a:moveTo>
                  <a:lnTo>
                    <a:pt x="628" y="0"/>
                  </a:lnTo>
                  <a:lnTo>
                    <a:pt x="62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76" name="Freeform 84"/>
            <p:cNvSpPr>
              <a:spLocks/>
            </p:cNvSpPr>
            <p:nvPr/>
          </p:nvSpPr>
          <p:spPr bwMode="auto">
            <a:xfrm>
              <a:off x="3026" y="3600"/>
              <a:ext cx="248" cy="248"/>
            </a:xfrm>
            <a:custGeom>
              <a:avLst/>
              <a:gdLst>
                <a:gd name="T0" fmla="*/ 0 w 967"/>
                <a:gd name="T1" fmla="*/ 967 h 967"/>
                <a:gd name="T2" fmla="*/ 965 w 967"/>
                <a:gd name="T3" fmla="*/ 1 h 967"/>
                <a:gd name="T4" fmla="*/ 966 w 967"/>
                <a:gd name="T5" fmla="*/ 0 h 967"/>
                <a:gd name="T6" fmla="*/ 967 w 967"/>
                <a:gd name="T7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7" h="967">
                  <a:moveTo>
                    <a:pt x="0" y="967"/>
                  </a:moveTo>
                  <a:lnTo>
                    <a:pt x="965" y="1"/>
                  </a:lnTo>
                  <a:lnTo>
                    <a:pt x="966" y="0"/>
                  </a:lnTo>
                  <a:lnTo>
                    <a:pt x="96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77" name="Freeform 85"/>
            <p:cNvSpPr>
              <a:spLocks/>
            </p:cNvSpPr>
            <p:nvPr/>
          </p:nvSpPr>
          <p:spPr bwMode="auto">
            <a:xfrm>
              <a:off x="3015" y="3578"/>
              <a:ext cx="308" cy="307"/>
            </a:xfrm>
            <a:custGeom>
              <a:avLst/>
              <a:gdLst>
                <a:gd name="T0" fmla="*/ 0 w 1198"/>
                <a:gd name="T1" fmla="*/ 1197 h 1197"/>
                <a:gd name="T2" fmla="*/ 1040 w 1198"/>
                <a:gd name="T3" fmla="*/ 157 h 1197"/>
                <a:gd name="T4" fmla="*/ 1197 w 1198"/>
                <a:gd name="T5" fmla="*/ 0 h 1197"/>
                <a:gd name="T6" fmla="*/ 1198 w 1198"/>
                <a:gd name="T7" fmla="*/ 0 h 1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197">
                  <a:moveTo>
                    <a:pt x="0" y="1197"/>
                  </a:moveTo>
                  <a:lnTo>
                    <a:pt x="1040" y="157"/>
                  </a:lnTo>
                  <a:lnTo>
                    <a:pt x="1197" y="0"/>
                  </a:lnTo>
                  <a:lnTo>
                    <a:pt x="119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78" name="Freeform 86"/>
            <p:cNvSpPr>
              <a:spLocks/>
            </p:cNvSpPr>
            <p:nvPr/>
          </p:nvSpPr>
          <p:spPr bwMode="auto">
            <a:xfrm>
              <a:off x="3013" y="3564"/>
              <a:ext cx="352" cy="352"/>
            </a:xfrm>
            <a:custGeom>
              <a:avLst/>
              <a:gdLst>
                <a:gd name="T0" fmla="*/ 0 w 1374"/>
                <a:gd name="T1" fmla="*/ 1373 h 1373"/>
                <a:gd name="T2" fmla="*/ 1088 w 1374"/>
                <a:gd name="T3" fmla="*/ 286 h 1373"/>
                <a:gd name="T4" fmla="*/ 1373 w 1374"/>
                <a:gd name="T5" fmla="*/ 0 h 1373"/>
                <a:gd name="T6" fmla="*/ 1374 w 1374"/>
                <a:gd name="T7" fmla="*/ 0 h 1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4" h="1373">
                  <a:moveTo>
                    <a:pt x="0" y="1373"/>
                  </a:moveTo>
                  <a:lnTo>
                    <a:pt x="1088" y="286"/>
                  </a:lnTo>
                  <a:lnTo>
                    <a:pt x="1373" y="0"/>
                  </a:lnTo>
                  <a:lnTo>
                    <a:pt x="137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79" name="Freeform 87"/>
            <p:cNvSpPr>
              <a:spLocks/>
            </p:cNvSpPr>
            <p:nvPr/>
          </p:nvSpPr>
          <p:spPr bwMode="auto">
            <a:xfrm>
              <a:off x="3013" y="3552"/>
              <a:ext cx="388" cy="390"/>
            </a:xfrm>
            <a:custGeom>
              <a:avLst/>
              <a:gdLst>
                <a:gd name="T0" fmla="*/ 0 w 1514"/>
                <a:gd name="T1" fmla="*/ 1515 h 1515"/>
                <a:gd name="T2" fmla="*/ 1116 w 1514"/>
                <a:gd name="T3" fmla="*/ 397 h 1515"/>
                <a:gd name="T4" fmla="*/ 1513 w 1514"/>
                <a:gd name="T5" fmla="*/ 0 h 1515"/>
                <a:gd name="T6" fmla="*/ 1514 w 1514"/>
                <a:gd name="T7" fmla="*/ 0 h 1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14" h="1515">
                  <a:moveTo>
                    <a:pt x="0" y="1515"/>
                  </a:moveTo>
                  <a:lnTo>
                    <a:pt x="1116" y="397"/>
                  </a:lnTo>
                  <a:lnTo>
                    <a:pt x="1513" y="0"/>
                  </a:lnTo>
                  <a:lnTo>
                    <a:pt x="151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80" name="Freeform 88"/>
            <p:cNvSpPr>
              <a:spLocks/>
            </p:cNvSpPr>
            <p:nvPr/>
          </p:nvSpPr>
          <p:spPr bwMode="auto">
            <a:xfrm>
              <a:off x="3018" y="3547"/>
              <a:ext cx="419" cy="416"/>
            </a:xfrm>
            <a:custGeom>
              <a:avLst/>
              <a:gdLst>
                <a:gd name="T0" fmla="*/ 0 w 1632"/>
                <a:gd name="T1" fmla="*/ 1632 h 1632"/>
                <a:gd name="T2" fmla="*/ 1135 w 1632"/>
                <a:gd name="T3" fmla="*/ 495 h 1632"/>
                <a:gd name="T4" fmla="*/ 1630 w 1632"/>
                <a:gd name="T5" fmla="*/ 0 h 1632"/>
                <a:gd name="T6" fmla="*/ 1632 w 1632"/>
                <a:gd name="T7" fmla="*/ 0 h 1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2" h="1632">
                  <a:moveTo>
                    <a:pt x="0" y="1632"/>
                  </a:moveTo>
                  <a:lnTo>
                    <a:pt x="1135" y="495"/>
                  </a:lnTo>
                  <a:lnTo>
                    <a:pt x="1630" y="0"/>
                  </a:lnTo>
                  <a:lnTo>
                    <a:pt x="163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81" name="Freeform 89"/>
            <p:cNvSpPr>
              <a:spLocks/>
            </p:cNvSpPr>
            <p:nvPr/>
          </p:nvSpPr>
          <p:spPr bwMode="auto">
            <a:xfrm>
              <a:off x="3024" y="3541"/>
              <a:ext cx="444" cy="443"/>
            </a:xfrm>
            <a:custGeom>
              <a:avLst/>
              <a:gdLst>
                <a:gd name="T0" fmla="*/ 0 w 1727"/>
                <a:gd name="T1" fmla="*/ 1727 h 1727"/>
                <a:gd name="T2" fmla="*/ 1142 w 1727"/>
                <a:gd name="T3" fmla="*/ 584 h 1727"/>
                <a:gd name="T4" fmla="*/ 1726 w 1727"/>
                <a:gd name="T5" fmla="*/ 0 h 1727"/>
                <a:gd name="T6" fmla="*/ 1727 w 1727"/>
                <a:gd name="T7" fmla="*/ 0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27" h="1727">
                  <a:moveTo>
                    <a:pt x="0" y="1727"/>
                  </a:moveTo>
                  <a:lnTo>
                    <a:pt x="1142" y="584"/>
                  </a:lnTo>
                  <a:lnTo>
                    <a:pt x="1726" y="0"/>
                  </a:lnTo>
                  <a:lnTo>
                    <a:pt x="172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82" name="Freeform 90"/>
            <p:cNvSpPr>
              <a:spLocks/>
            </p:cNvSpPr>
            <p:nvPr/>
          </p:nvSpPr>
          <p:spPr bwMode="auto">
            <a:xfrm>
              <a:off x="3034" y="3974"/>
              <a:ext cx="29" cy="28"/>
            </a:xfrm>
            <a:custGeom>
              <a:avLst/>
              <a:gdLst>
                <a:gd name="T0" fmla="*/ 0 w 112"/>
                <a:gd name="T1" fmla="*/ 111 h 111"/>
                <a:gd name="T2" fmla="*/ 111 w 112"/>
                <a:gd name="T3" fmla="*/ 0 h 111"/>
                <a:gd name="T4" fmla="*/ 112 w 112"/>
                <a:gd name="T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2" h="111">
                  <a:moveTo>
                    <a:pt x="0" y="111"/>
                  </a:moveTo>
                  <a:lnTo>
                    <a:pt x="111" y="0"/>
                  </a:lnTo>
                  <a:lnTo>
                    <a:pt x="11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83" name="Freeform 91"/>
            <p:cNvSpPr>
              <a:spLocks/>
            </p:cNvSpPr>
            <p:nvPr/>
          </p:nvSpPr>
          <p:spPr bwMode="auto">
            <a:xfrm>
              <a:off x="3328" y="3538"/>
              <a:ext cx="170" cy="172"/>
            </a:xfrm>
            <a:custGeom>
              <a:avLst/>
              <a:gdLst>
                <a:gd name="T0" fmla="*/ 0 w 665"/>
                <a:gd name="T1" fmla="*/ 663 h 663"/>
                <a:gd name="T2" fmla="*/ 664 w 665"/>
                <a:gd name="T3" fmla="*/ 0 h 663"/>
                <a:gd name="T4" fmla="*/ 665 w 665"/>
                <a:gd name="T5" fmla="*/ 0 h 6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5" h="663">
                  <a:moveTo>
                    <a:pt x="0" y="663"/>
                  </a:moveTo>
                  <a:lnTo>
                    <a:pt x="664" y="0"/>
                  </a:lnTo>
                  <a:lnTo>
                    <a:pt x="66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84" name="Freeform 92"/>
            <p:cNvSpPr>
              <a:spLocks/>
            </p:cNvSpPr>
            <p:nvPr/>
          </p:nvSpPr>
          <p:spPr bwMode="auto">
            <a:xfrm>
              <a:off x="3063" y="3710"/>
              <a:ext cx="265" cy="264"/>
            </a:xfrm>
            <a:custGeom>
              <a:avLst/>
              <a:gdLst>
                <a:gd name="T0" fmla="*/ 0 w 1032"/>
                <a:gd name="T1" fmla="*/ 1032 h 1032"/>
                <a:gd name="T2" fmla="*/ 1031 w 1032"/>
                <a:gd name="T3" fmla="*/ 0 h 1032"/>
                <a:gd name="T4" fmla="*/ 1032 w 1032"/>
                <a:gd name="T5" fmla="*/ 0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32" h="1032">
                  <a:moveTo>
                    <a:pt x="0" y="1032"/>
                  </a:moveTo>
                  <a:lnTo>
                    <a:pt x="1031" y="0"/>
                  </a:lnTo>
                  <a:lnTo>
                    <a:pt x="103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85" name="Freeform 93"/>
            <p:cNvSpPr>
              <a:spLocks/>
            </p:cNvSpPr>
            <p:nvPr/>
          </p:nvSpPr>
          <p:spPr bwMode="auto">
            <a:xfrm>
              <a:off x="3046" y="3947"/>
              <a:ext cx="71" cy="70"/>
            </a:xfrm>
            <a:custGeom>
              <a:avLst/>
              <a:gdLst>
                <a:gd name="T0" fmla="*/ 0 w 278"/>
                <a:gd name="T1" fmla="*/ 277 h 277"/>
                <a:gd name="T2" fmla="*/ 277 w 278"/>
                <a:gd name="T3" fmla="*/ 0 h 277"/>
                <a:gd name="T4" fmla="*/ 278 w 278"/>
                <a:gd name="T5" fmla="*/ 0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8" h="277">
                  <a:moveTo>
                    <a:pt x="0" y="277"/>
                  </a:moveTo>
                  <a:lnTo>
                    <a:pt x="277" y="0"/>
                  </a:lnTo>
                  <a:lnTo>
                    <a:pt x="27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86" name="Freeform 94"/>
            <p:cNvSpPr>
              <a:spLocks/>
            </p:cNvSpPr>
            <p:nvPr/>
          </p:nvSpPr>
          <p:spPr bwMode="auto">
            <a:xfrm>
              <a:off x="3337" y="3538"/>
              <a:ext cx="188" cy="188"/>
            </a:xfrm>
            <a:custGeom>
              <a:avLst/>
              <a:gdLst>
                <a:gd name="T0" fmla="*/ 0 w 738"/>
                <a:gd name="T1" fmla="*/ 736 h 736"/>
                <a:gd name="T2" fmla="*/ 737 w 738"/>
                <a:gd name="T3" fmla="*/ 0 h 736"/>
                <a:gd name="T4" fmla="*/ 738 w 738"/>
                <a:gd name="T5" fmla="*/ 0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38" h="736">
                  <a:moveTo>
                    <a:pt x="0" y="736"/>
                  </a:moveTo>
                  <a:lnTo>
                    <a:pt x="737" y="0"/>
                  </a:lnTo>
                  <a:lnTo>
                    <a:pt x="73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87" name="Freeform 95"/>
            <p:cNvSpPr>
              <a:spLocks/>
            </p:cNvSpPr>
            <p:nvPr/>
          </p:nvSpPr>
          <p:spPr bwMode="auto">
            <a:xfrm>
              <a:off x="3117" y="3726"/>
              <a:ext cx="220" cy="221"/>
            </a:xfrm>
            <a:custGeom>
              <a:avLst/>
              <a:gdLst>
                <a:gd name="T0" fmla="*/ 0 w 857"/>
                <a:gd name="T1" fmla="*/ 857 h 857"/>
                <a:gd name="T2" fmla="*/ 856 w 857"/>
                <a:gd name="T3" fmla="*/ 0 h 857"/>
                <a:gd name="T4" fmla="*/ 857 w 857"/>
                <a:gd name="T5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7" h="857">
                  <a:moveTo>
                    <a:pt x="0" y="857"/>
                  </a:moveTo>
                  <a:lnTo>
                    <a:pt x="856" y="0"/>
                  </a:lnTo>
                  <a:lnTo>
                    <a:pt x="85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88" name="Freeform 96"/>
            <p:cNvSpPr>
              <a:spLocks/>
            </p:cNvSpPr>
            <p:nvPr/>
          </p:nvSpPr>
          <p:spPr bwMode="auto">
            <a:xfrm>
              <a:off x="3058" y="3921"/>
              <a:ext cx="113" cy="111"/>
            </a:xfrm>
            <a:custGeom>
              <a:avLst/>
              <a:gdLst>
                <a:gd name="T0" fmla="*/ 0 w 437"/>
                <a:gd name="T1" fmla="*/ 436 h 436"/>
                <a:gd name="T2" fmla="*/ 436 w 437"/>
                <a:gd name="T3" fmla="*/ 0 h 436"/>
                <a:gd name="T4" fmla="*/ 437 w 437"/>
                <a:gd name="T5" fmla="*/ 0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7" h="436">
                  <a:moveTo>
                    <a:pt x="0" y="436"/>
                  </a:moveTo>
                  <a:lnTo>
                    <a:pt x="436" y="0"/>
                  </a:lnTo>
                  <a:lnTo>
                    <a:pt x="43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89" name="Freeform 97"/>
            <p:cNvSpPr>
              <a:spLocks/>
            </p:cNvSpPr>
            <p:nvPr/>
          </p:nvSpPr>
          <p:spPr bwMode="auto">
            <a:xfrm>
              <a:off x="3345" y="3538"/>
              <a:ext cx="206" cy="207"/>
            </a:xfrm>
            <a:custGeom>
              <a:avLst/>
              <a:gdLst>
                <a:gd name="T0" fmla="*/ 0 w 803"/>
                <a:gd name="T1" fmla="*/ 803 h 803"/>
                <a:gd name="T2" fmla="*/ 802 w 803"/>
                <a:gd name="T3" fmla="*/ 0 h 803"/>
                <a:gd name="T4" fmla="*/ 803 w 803"/>
                <a:gd name="T5" fmla="*/ 0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03" h="803">
                  <a:moveTo>
                    <a:pt x="0" y="803"/>
                  </a:moveTo>
                  <a:lnTo>
                    <a:pt x="802" y="0"/>
                  </a:lnTo>
                  <a:lnTo>
                    <a:pt x="80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90" name="Freeform 98"/>
            <p:cNvSpPr>
              <a:spLocks/>
            </p:cNvSpPr>
            <p:nvPr/>
          </p:nvSpPr>
          <p:spPr bwMode="auto">
            <a:xfrm>
              <a:off x="3171" y="3745"/>
              <a:ext cx="174" cy="176"/>
            </a:xfrm>
            <a:custGeom>
              <a:avLst/>
              <a:gdLst>
                <a:gd name="T0" fmla="*/ 0 w 682"/>
                <a:gd name="T1" fmla="*/ 682 h 682"/>
                <a:gd name="T2" fmla="*/ 681 w 682"/>
                <a:gd name="T3" fmla="*/ 0 h 682"/>
                <a:gd name="T4" fmla="*/ 682 w 682"/>
                <a:gd name="T5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2" h="682">
                  <a:moveTo>
                    <a:pt x="0" y="682"/>
                  </a:moveTo>
                  <a:lnTo>
                    <a:pt x="681" y="0"/>
                  </a:lnTo>
                  <a:lnTo>
                    <a:pt x="68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91" name="Freeform 99"/>
            <p:cNvSpPr>
              <a:spLocks/>
            </p:cNvSpPr>
            <p:nvPr/>
          </p:nvSpPr>
          <p:spPr bwMode="auto">
            <a:xfrm>
              <a:off x="3072" y="3893"/>
              <a:ext cx="153" cy="153"/>
            </a:xfrm>
            <a:custGeom>
              <a:avLst/>
              <a:gdLst>
                <a:gd name="T0" fmla="*/ 0 w 591"/>
                <a:gd name="T1" fmla="*/ 590 h 590"/>
                <a:gd name="T2" fmla="*/ 590 w 591"/>
                <a:gd name="T3" fmla="*/ 0 h 590"/>
                <a:gd name="T4" fmla="*/ 591 w 591"/>
                <a:gd name="T5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1" h="590">
                  <a:moveTo>
                    <a:pt x="0" y="590"/>
                  </a:moveTo>
                  <a:lnTo>
                    <a:pt x="590" y="0"/>
                  </a:lnTo>
                  <a:lnTo>
                    <a:pt x="59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92" name="Freeform 100"/>
            <p:cNvSpPr>
              <a:spLocks/>
            </p:cNvSpPr>
            <p:nvPr/>
          </p:nvSpPr>
          <p:spPr bwMode="auto">
            <a:xfrm>
              <a:off x="3355" y="3542"/>
              <a:ext cx="221" cy="222"/>
            </a:xfrm>
            <a:custGeom>
              <a:avLst/>
              <a:gdLst>
                <a:gd name="T0" fmla="*/ 0 w 863"/>
                <a:gd name="T1" fmla="*/ 862 h 862"/>
                <a:gd name="T2" fmla="*/ 862 w 863"/>
                <a:gd name="T3" fmla="*/ 0 h 862"/>
                <a:gd name="T4" fmla="*/ 863 w 863"/>
                <a:gd name="T5" fmla="*/ 0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3" h="862">
                  <a:moveTo>
                    <a:pt x="0" y="862"/>
                  </a:moveTo>
                  <a:lnTo>
                    <a:pt x="862" y="0"/>
                  </a:lnTo>
                  <a:lnTo>
                    <a:pt x="86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93" name="Freeform 101"/>
            <p:cNvSpPr>
              <a:spLocks/>
            </p:cNvSpPr>
            <p:nvPr/>
          </p:nvSpPr>
          <p:spPr bwMode="auto">
            <a:xfrm>
              <a:off x="3225" y="3764"/>
              <a:ext cx="130" cy="129"/>
            </a:xfrm>
            <a:custGeom>
              <a:avLst/>
              <a:gdLst>
                <a:gd name="T0" fmla="*/ 0 w 507"/>
                <a:gd name="T1" fmla="*/ 506 h 506"/>
                <a:gd name="T2" fmla="*/ 506 w 507"/>
                <a:gd name="T3" fmla="*/ 0 h 506"/>
                <a:gd name="T4" fmla="*/ 507 w 507"/>
                <a:gd name="T5" fmla="*/ 0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7" h="506">
                  <a:moveTo>
                    <a:pt x="0" y="506"/>
                  </a:moveTo>
                  <a:lnTo>
                    <a:pt x="506" y="0"/>
                  </a:lnTo>
                  <a:lnTo>
                    <a:pt x="50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94" name="Freeform 102"/>
            <p:cNvSpPr>
              <a:spLocks/>
            </p:cNvSpPr>
            <p:nvPr/>
          </p:nvSpPr>
          <p:spPr bwMode="auto">
            <a:xfrm>
              <a:off x="3089" y="3867"/>
              <a:ext cx="190" cy="189"/>
            </a:xfrm>
            <a:custGeom>
              <a:avLst/>
              <a:gdLst>
                <a:gd name="T0" fmla="*/ 0 w 739"/>
                <a:gd name="T1" fmla="*/ 737 h 737"/>
                <a:gd name="T2" fmla="*/ 737 w 739"/>
                <a:gd name="T3" fmla="*/ 0 h 737"/>
                <a:gd name="T4" fmla="*/ 739 w 739"/>
                <a:gd name="T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39" h="737">
                  <a:moveTo>
                    <a:pt x="0" y="737"/>
                  </a:moveTo>
                  <a:lnTo>
                    <a:pt x="737" y="0"/>
                  </a:lnTo>
                  <a:lnTo>
                    <a:pt x="73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95" name="Freeform 103"/>
            <p:cNvSpPr>
              <a:spLocks/>
            </p:cNvSpPr>
            <p:nvPr/>
          </p:nvSpPr>
          <p:spPr bwMode="auto">
            <a:xfrm>
              <a:off x="3363" y="3547"/>
              <a:ext cx="236" cy="235"/>
            </a:xfrm>
            <a:custGeom>
              <a:avLst/>
              <a:gdLst>
                <a:gd name="T0" fmla="*/ 0 w 915"/>
                <a:gd name="T1" fmla="*/ 916 h 916"/>
                <a:gd name="T2" fmla="*/ 914 w 915"/>
                <a:gd name="T3" fmla="*/ 0 h 916"/>
                <a:gd name="T4" fmla="*/ 915 w 915"/>
                <a:gd name="T5" fmla="*/ 0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15" h="916">
                  <a:moveTo>
                    <a:pt x="0" y="916"/>
                  </a:moveTo>
                  <a:lnTo>
                    <a:pt x="914" y="0"/>
                  </a:lnTo>
                  <a:lnTo>
                    <a:pt x="91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96" name="Freeform 104"/>
            <p:cNvSpPr>
              <a:spLocks/>
            </p:cNvSpPr>
            <p:nvPr/>
          </p:nvSpPr>
          <p:spPr bwMode="auto">
            <a:xfrm>
              <a:off x="3279" y="3782"/>
              <a:ext cx="84" cy="85"/>
            </a:xfrm>
            <a:custGeom>
              <a:avLst/>
              <a:gdLst>
                <a:gd name="T0" fmla="*/ 0 w 334"/>
                <a:gd name="T1" fmla="*/ 332 h 332"/>
                <a:gd name="T2" fmla="*/ 333 w 334"/>
                <a:gd name="T3" fmla="*/ 0 h 332"/>
                <a:gd name="T4" fmla="*/ 334 w 334"/>
                <a:gd name="T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4" h="332">
                  <a:moveTo>
                    <a:pt x="0" y="332"/>
                  </a:moveTo>
                  <a:lnTo>
                    <a:pt x="333" y="0"/>
                  </a:lnTo>
                  <a:lnTo>
                    <a:pt x="33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97" name="Freeform 105"/>
            <p:cNvSpPr>
              <a:spLocks/>
            </p:cNvSpPr>
            <p:nvPr/>
          </p:nvSpPr>
          <p:spPr bwMode="auto">
            <a:xfrm>
              <a:off x="3106" y="3841"/>
              <a:ext cx="226" cy="224"/>
            </a:xfrm>
            <a:custGeom>
              <a:avLst/>
              <a:gdLst>
                <a:gd name="T0" fmla="*/ 0 w 881"/>
                <a:gd name="T1" fmla="*/ 880 h 880"/>
                <a:gd name="T2" fmla="*/ 880 w 881"/>
                <a:gd name="T3" fmla="*/ 0 h 880"/>
                <a:gd name="T4" fmla="*/ 881 w 881"/>
                <a:gd name="T5" fmla="*/ 0 h 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1" h="880">
                  <a:moveTo>
                    <a:pt x="0" y="880"/>
                  </a:moveTo>
                  <a:lnTo>
                    <a:pt x="880" y="0"/>
                  </a:lnTo>
                  <a:lnTo>
                    <a:pt x="88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98" name="Freeform 106"/>
            <p:cNvSpPr>
              <a:spLocks/>
            </p:cNvSpPr>
            <p:nvPr/>
          </p:nvSpPr>
          <p:spPr bwMode="auto">
            <a:xfrm>
              <a:off x="3372" y="3552"/>
              <a:ext cx="249" cy="247"/>
            </a:xfrm>
            <a:custGeom>
              <a:avLst/>
              <a:gdLst>
                <a:gd name="T0" fmla="*/ 0 w 965"/>
                <a:gd name="T1" fmla="*/ 964 h 964"/>
                <a:gd name="T2" fmla="*/ 964 w 965"/>
                <a:gd name="T3" fmla="*/ 0 h 964"/>
                <a:gd name="T4" fmla="*/ 965 w 965"/>
                <a:gd name="T5" fmla="*/ 0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5" h="964">
                  <a:moveTo>
                    <a:pt x="0" y="964"/>
                  </a:moveTo>
                  <a:lnTo>
                    <a:pt x="964" y="0"/>
                  </a:lnTo>
                  <a:lnTo>
                    <a:pt x="96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499" name="Freeform 107"/>
            <p:cNvSpPr>
              <a:spLocks/>
            </p:cNvSpPr>
            <p:nvPr/>
          </p:nvSpPr>
          <p:spPr bwMode="auto">
            <a:xfrm>
              <a:off x="3332" y="3799"/>
              <a:ext cx="40" cy="42"/>
            </a:xfrm>
            <a:custGeom>
              <a:avLst/>
              <a:gdLst>
                <a:gd name="T0" fmla="*/ 0 w 157"/>
                <a:gd name="T1" fmla="*/ 157 h 157"/>
                <a:gd name="T2" fmla="*/ 156 w 157"/>
                <a:gd name="T3" fmla="*/ 0 h 157"/>
                <a:gd name="T4" fmla="*/ 157 w 157"/>
                <a:gd name="T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7" h="157">
                  <a:moveTo>
                    <a:pt x="0" y="157"/>
                  </a:moveTo>
                  <a:lnTo>
                    <a:pt x="156" y="0"/>
                  </a:lnTo>
                  <a:lnTo>
                    <a:pt x="15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00" name="Freeform 108"/>
            <p:cNvSpPr>
              <a:spLocks/>
            </p:cNvSpPr>
            <p:nvPr/>
          </p:nvSpPr>
          <p:spPr bwMode="auto">
            <a:xfrm>
              <a:off x="3125" y="3817"/>
              <a:ext cx="257" cy="258"/>
            </a:xfrm>
            <a:custGeom>
              <a:avLst/>
              <a:gdLst>
                <a:gd name="T0" fmla="*/ 0 w 999"/>
                <a:gd name="T1" fmla="*/ 998 h 998"/>
                <a:gd name="T2" fmla="*/ 997 w 999"/>
                <a:gd name="T3" fmla="*/ 0 h 998"/>
                <a:gd name="T4" fmla="*/ 999 w 999"/>
                <a:gd name="T5" fmla="*/ 0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9" h="998">
                  <a:moveTo>
                    <a:pt x="0" y="998"/>
                  </a:moveTo>
                  <a:lnTo>
                    <a:pt x="997" y="0"/>
                  </a:lnTo>
                  <a:lnTo>
                    <a:pt x="99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01" name="Freeform 109"/>
            <p:cNvSpPr>
              <a:spLocks/>
            </p:cNvSpPr>
            <p:nvPr/>
          </p:nvSpPr>
          <p:spPr bwMode="auto">
            <a:xfrm>
              <a:off x="3387" y="3559"/>
              <a:ext cx="253" cy="254"/>
            </a:xfrm>
            <a:custGeom>
              <a:avLst/>
              <a:gdLst>
                <a:gd name="T0" fmla="*/ 0 w 989"/>
                <a:gd name="T1" fmla="*/ 989 h 989"/>
                <a:gd name="T2" fmla="*/ 988 w 989"/>
                <a:gd name="T3" fmla="*/ 0 h 989"/>
                <a:gd name="T4" fmla="*/ 989 w 989"/>
                <a:gd name="T5" fmla="*/ 0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89" h="989">
                  <a:moveTo>
                    <a:pt x="0" y="989"/>
                  </a:moveTo>
                  <a:lnTo>
                    <a:pt x="988" y="0"/>
                  </a:lnTo>
                  <a:lnTo>
                    <a:pt x="98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02" name="Freeform 110"/>
            <p:cNvSpPr>
              <a:spLocks/>
            </p:cNvSpPr>
            <p:nvPr/>
          </p:nvSpPr>
          <p:spPr bwMode="auto">
            <a:xfrm>
              <a:off x="3382" y="3813"/>
              <a:ext cx="5" cy="4"/>
            </a:xfrm>
            <a:custGeom>
              <a:avLst/>
              <a:gdLst>
                <a:gd name="T0" fmla="*/ 0 w 20"/>
                <a:gd name="T1" fmla="*/ 18 h 18"/>
                <a:gd name="T2" fmla="*/ 19 w 20"/>
                <a:gd name="T3" fmla="*/ 0 h 18"/>
                <a:gd name="T4" fmla="*/ 20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0" y="18"/>
                  </a:moveTo>
                  <a:lnTo>
                    <a:pt x="19" y="0"/>
                  </a:lnTo>
                  <a:lnTo>
                    <a:pt x="2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03" name="Freeform 111"/>
            <p:cNvSpPr>
              <a:spLocks/>
            </p:cNvSpPr>
            <p:nvPr/>
          </p:nvSpPr>
          <p:spPr bwMode="auto">
            <a:xfrm>
              <a:off x="3146" y="3836"/>
              <a:ext cx="244" cy="245"/>
            </a:xfrm>
            <a:custGeom>
              <a:avLst/>
              <a:gdLst>
                <a:gd name="T0" fmla="*/ 0 w 956"/>
                <a:gd name="T1" fmla="*/ 953 h 953"/>
                <a:gd name="T2" fmla="*/ 955 w 956"/>
                <a:gd name="T3" fmla="*/ 0 h 953"/>
                <a:gd name="T4" fmla="*/ 956 w 956"/>
                <a:gd name="T5" fmla="*/ 0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6" h="953">
                  <a:moveTo>
                    <a:pt x="0" y="953"/>
                  </a:moveTo>
                  <a:lnTo>
                    <a:pt x="955" y="0"/>
                  </a:lnTo>
                  <a:lnTo>
                    <a:pt x="95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04" name="Freeform 112"/>
            <p:cNvSpPr>
              <a:spLocks/>
            </p:cNvSpPr>
            <p:nvPr/>
          </p:nvSpPr>
          <p:spPr bwMode="auto">
            <a:xfrm>
              <a:off x="3440" y="3568"/>
              <a:ext cx="218" cy="219"/>
            </a:xfrm>
            <a:custGeom>
              <a:avLst/>
              <a:gdLst>
                <a:gd name="T0" fmla="*/ 0 w 852"/>
                <a:gd name="T1" fmla="*/ 851 h 851"/>
                <a:gd name="T2" fmla="*/ 851 w 852"/>
                <a:gd name="T3" fmla="*/ 0 h 851"/>
                <a:gd name="T4" fmla="*/ 852 w 852"/>
                <a:gd name="T5" fmla="*/ 0 h 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2" h="851">
                  <a:moveTo>
                    <a:pt x="0" y="851"/>
                  </a:moveTo>
                  <a:lnTo>
                    <a:pt x="851" y="0"/>
                  </a:lnTo>
                  <a:lnTo>
                    <a:pt x="85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05" name="Freeform 113"/>
            <p:cNvSpPr>
              <a:spLocks/>
            </p:cNvSpPr>
            <p:nvPr/>
          </p:nvSpPr>
          <p:spPr bwMode="auto">
            <a:xfrm>
              <a:off x="3390" y="3787"/>
              <a:ext cx="50" cy="49"/>
            </a:xfrm>
            <a:custGeom>
              <a:avLst/>
              <a:gdLst>
                <a:gd name="T0" fmla="*/ 0 w 193"/>
                <a:gd name="T1" fmla="*/ 194 h 194"/>
                <a:gd name="T2" fmla="*/ 192 w 193"/>
                <a:gd name="T3" fmla="*/ 0 h 194"/>
                <a:gd name="T4" fmla="*/ 193 w 193"/>
                <a:gd name="T5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3" h="194">
                  <a:moveTo>
                    <a:pt x="0" y="194"/>
                  </a:moveTo>
                  <a:lnTo>
                    <a:pt x="192" y="0"/>
                  </a:lnTo>
                  <a:lnTo>
                    <a:pt x="19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06" name="Freeform 114"/>
            <p:cNvSpPr>
              <a:spLocks/>
            </p:cNvSpPr>
            <p:nvPr/>
          </p:nvSpPr>
          <p:spPr bwMode="auto">
            <a:xfrm>
              <a:off x="3167" y="3854"/>
              <a:ext cx="233" cy="233"/>
            </a:xfrm>
            <a:custGeom>
              <a:avLst/>
              <a:gdLst>
                <a:gd name="T0" fmla="*/ 0 w 905"/>
                <a:gd name="T1" fmla="*/ 905 h 905"/>
                <a:gd name="T2" fmla="*/ 904 w 905"/>
                <a:gd name="T3" fmla="*/ 0 h 905"/>
                <a:gd name="T4" fmla="*/ 905 w 905"/>
                <a:gd name="T5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5" h="905">
                  <a:moveTo>
                    <a:pt x="0" y="905"/>
                  </a:moveTo>
                  <a:lnTo>
                    <a:pt x="904" y="0"/>
                  </a:lnTo>
                  <a:lnTo>
                    <a:pt x="90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07" name="Freeform 115"/>
            <p:cNvSpPr>
              <a:spLocks/>
            </p:cNvSpPr>
            <p:nvPr/>
          </p:nvSpPr>
          <p:spPr bwMode="auto">
            <a:xfrm>
              <a:off x="3493" y="3577"/>
              <a:ext cx="183" cy="183"/>
            </a:xfrm>
            <a:custGeom>
              <a:avLst/>
              <a:gdLst>
                <a:gd name="T0" fmla="*/ 0 w 708"/>
                <a:gd name="T1" fmla="*/ 708 h 708"/>
                <a:gd name="T2" fmla="*/ 707 w 708"/>
                <a:gd name="T3" fmla="*/ 0 h 708"/>
                <a:gd name="T4" fmla="*/ 708 w 708"/>
                <a:gd name="T5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08" h="708">
                  <a:moveTo>
                    <a:pt x="0" y="708"/>
                  </a:moveTo>
                  <a:lnTo>
                    <a:pt x="707" y="0"/>
                  </a:lnTo>
                  <a:lnTo>
                    <a:pt x="70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08" name="Freeform 116"/>
            <p:cNvSpPr>
              <a:spLocks/>
            </p:cNvSpPr>
            <p:nvPr/>
          </p:nvSpPr>
          <p:spPr bwMode="auto">
            <a:xfrm>
              <a:off x="3399" y="3760"/>
              <a:ext cx="94" cy="94"/>
            </a:xfrm>
            <a:custGeom>
              <a:avLst/>
              <a:gdLst>
                <a:gd name="T0" fmla="*/ 0 w 369"/>
                <a:gd name="T1" fmla="*/ 368 h 368"/>
                <a:gd name="T2" fmla="*/ 368 w 369"/>
                <a:gd name="T3" fmla="*/ 0 h 368"/>
                <a:gd name="T4" fmla="*/ 369 w 369"/>
                <a:gd name="T5" fmla="*/ 0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9" h="368">
                  <a:moveTo>
                    <a:pt x="0" y="368"/>
                  </a:moveTo>
                  <a:lnTo>
                    <a:pt x="368" y="0"/>
                  </a:lnTo>
                  <a:lnTo>
                    <a:pt x="36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09" name="Freeform 117"/>
            <p:cNvSpPr>
              <a:spLocks/>
            </p:cNvSpPr>
            <p:nvPr/>
          </p:nvSpPr>
          <p:spPr bwMode="auto">
            <a:xfrm>
              <a:off x="3191" y="3873"/>
              <a:ext cx="217" cy="217"/>
            </a:xfrm>
            <a:custGeom>
              <a:avLst/>
              <a:gdLst>
                <a:gd name="T0" fmla="*/ 0 w 851"/>
                <a:gd name="T1" fmla="*/ 850 h 850"/>
                <a:gd name="T2" fmla="*/ 850 w 851"/>
                <a:gd name="T3" fmla="*/ 0 h 850"/>
                <a:gd name="T4" fmla="*/ 851 w 851"/>
                <a:gd name="T5" fmla="*/ 0 h 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1" h="850">
                  <a:moveTo>
                    <a:pt x="0" y="850"/>
                  </a:moveTo>
                  <a:lnTo>
                    <a:pt x="850" y="0"/>
                  </a:lnTo>
                  <a:lnTo>
                    <a:pt x="85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10" name="Freeform 118"/>
            <p:cNvSpPr>
              <a:spLocks/>
            </p:cNvSpPr>
            <p:nvPr/>
          </p:nvSpPr>
          <p:spPr bwMode="auto">
            <a:xfrm>
              <a:off x="3548" y="3589"/>
              <a:ext cx="143" cy="143"/>
            </a:xfrm>
            <a:custGeom>
              <a:avLst/>
              <a:gdLst>
                <a:gd name="T0" fmla="*/ 0 w 559"/>
                <a:gd name="T1" fmla="*/ 559 h 559"/>
                <a:gd name="T2" fmla="*/ 558 w 559"/>
                <a:gd name="T3" fmla="*/ 0 h 559"/>
                <a:gd name="T4" fmla="*/ 559 w 559"/>
                <a:gd name="T5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59" h="559">
                  <a:moveTo>
                    <a:pt x="0" y="559"/>
                  </a:moveTo>
                  <a:lnTo>
                    <a:pt x="558" y="0"/>
                  </a:lnTo>
                  <a:lnTo>
                    <a:pt x="55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11" name="Freeform 119"/>
            <p:cNvSpPr>
              <a:spLocks/>
            </p:cNvSpPr>
            <p:nvPr/>
          </p:nvSpPr>
          <p:spPr bwMode="auto">
            <a:xfrm>
              <a:off x="3408" y="3732"/>
              <a:ext cx="140" cy="141"/>
            </a:xfrm>
            <a:custGeom>
              <a:avLst/>
              <a:gdLst>
                <a:gd name="T0" fmla="*/ 0 w 544"/>
                <a:gd name="T1" fmla="*/ 543 h 543"/>
                <a:gd name="T2" fmla="*/ 543 w 544"/>
                <a:gd name="T3" fmla="*/ 0 h 543"/>
                <a:gd name="T4" fmla="*/ 544 w 544"/>
                <a:gd name="T5" fmla="*/ 0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4" h="543">
                  <a:moveTo>
                    <a:pt x="0" y="543"/>
                  </a:moveTo>
                  <a:lnTo>
                    <a:pt x="543" y="0"/>
                  </a:lnTo>
                  <a:lnTo>
                    <a:pt x="54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12" name="Freeform 120"/>
            <p:cNvSpPr>
              <a:spLocks/>
            </p:cNvSpPr>
            <p:nvPr/>
          </p:nvSpPr>
          <p:spPr bwMode="auto">
            <a:xfrm>
              <a:off x="3215" y="3889"/>
              <a:ext cx="202" cy="204"/>
            </a:xfrm>
            <a:custGeom>
              <a:avLst/>
              <a:gdLst>
                <a:gd name="T0" fmla="*/ 0 w 789"/>
                <a:gd name="T1" fmla="*/ 789 h 789"/>
                <a:gd name="T2" fmla="*/ 788 w 789"/>
                <a:gd name="T3" fmla="*/ 0 h 789"/>
                <a:gd name="T4" fmla="*/ 789 w 789"/>
                <a:gd name="T5" fmla="*/ 0 h 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89" h="789">
                  <a:moveTo>
                    <a:pt x="0" y="789"/>
                  </a:moveTo>
                  <a:lnTo>
                    <a:pt x="788" y="0"/>
                  </a:lnTo>
                  <a:lnTo>
                    <a:pt x="78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13" name="Freeform 121"/>
            <p:cNvSpPr>
              <a:spLocks/>
            </p:cNvSpPr>
            <p:nvPr/>
          </p:nvSpPr>
          <p:spPr bwMode="auto">
            <a:xfrm>
              <a:off x="3602" y="3602"/>
              <a:ext cx="103" cy="104"/>
            </a:xfrm>
            <a:custGeom>
              <a:avLst/>
              <a:gdLst>
                <a:gd name="T0" fmla="*/ 0 w 405"/>
                <a:gd name="T1" fmla="*/ 405 h 405"/>
                <a:gd name="T2" fmla="*/ 404 w 405"/>
                <a:gd name="T3" fmla="*/ 0 h 405"/>
                <a:gd name="T4" fmla="*/ 405 w 405"/>
                <a:gd name="T5" fmla="*/ 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5" h="405">
                  <a:moveTo>
                    <a:pt x="0" y="405"/>
                  </a:moveTo>
                  <a:lnTo>
                    <a:pt x="404" y="0"/>
                  </a:lnTo>
                  <a:lnTo>
                    <a:pt x="40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14" name="Freeform 122"/>
            <p:cNvSpPr>
              <a:spLocks/>
            </p:cNvSpPr>
            <p:nvPr/>
          </p:nvSpPr>
          <p:spPr bwMode="auto">
            <a:xfrm>
              <a:off x="3417" y="3706"/>
              <a:ext cx="185" cy="183"/>
            </a:xfrm>
            <a:custGeom>
              <a:avLst/>
              <a:gdLst>
                <a:gd name="T0" fmla="*/ 0 w 719"/>
                <a:gd name="T1" fmla="*/ 717 h 717"/>
                <a:gd name="T2" fmla="*/ 718 w 719"/>
                <a:gd name="T3" fmla="*/ 0 h 717"/>
                <a:gd name="T4" fmla="*/ 719 w 719"/>
                <a:gd name="T5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9" h="717">
                  <a:moveTo>
                    <a:pt x="0" y="717"/>
                  </a:moveTo>
                  <a:lnTo>
                    <a:pt x="718" y="0"/>
                  </a:lnTo>
                  <a:lnTo>
                    <a:pt x="71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15" name="Freeform 123"/>
            <p:cNvSpPr>
              <a:spLocks/>
            </p:cNvSpPr>
            <p:nvPr/>
          </p:nvSpPr>
          <p:spPr bwMode="auto">
            <a:xfrm>
              <a:off x="3241" y="3908"/>
              <a:ext cx="186" cy="185"/>
            </a:xfrm>
            <a:custGeom>
              <a:avLst/>
              <a:gdLst>
                <a:gd name="T0" fmla="*/ 0 w 723"/>
                <a:gd name="T1" fmla="*/ 723 h 723"/>
                <a:gd name="T2" fmla="*/ 722 w 723"/>
                <a:gd name="T3" fmla="*/ 0 h 723"/>
                <a:gd name="T4" fmla="*/ 723 w 723"/>
                <a:gd name="T5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3" h="723">
                  <a:moveTo>
                    <a:pt x="0" y="723"/>
                  </a:moveTo>
                  <a:lnTo>
                    <a:pt x="722" y="0"/>
                  </a:lnTo>
                  <a:lnTo>
                    <a:pt x="72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16" name="Freeform 124"/>
            <p:cNvSpPr>
              <a:spLocks/>
            </p:cNvSpPr>
            <p:nvPr/>
          </p:nvSpPr>
          <p:spPr bwMode="auto">
            <a:xfrm>
              <a:off x="3656" y="3617"/>
              <a:ext cx="61" cy="62"/>
            </a:xfrm>
            <a:custGeom>
              <a:avLst/>
              <a:gdLst>
                <a:gd name="T0" fmla="*/ 0 w 244"/>
                <a:gd name="T1" fmla="*/ 244 h 244"/>
                <a:gd name="T2" fmla="*/ 243 w 244"/>
                <a:gd name="T3" fmla="*/ 0 h 244"/>
                <a:gd name="T4" fmla="*/ 244 w 244"/>
                <a:gd name="T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4" h="244">
                  <a:moveTo>
                    <a:pt x="0" y="244"/>
                  </a:moveTo>
                  <a:lnTo>
                    <a:pt x="243" y="0"/>
                  </a:lnTo>
                  <a:lnTo>
                    <a:pt x="24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17" name="Freeform 125"/>
            <p:cNvSpPr>
              <a:spLocks/>
            </p:cNvSpPr>
            <p:nvPr/>
          </p:nvSpPr>
          <p:spPr bwMode="auto">
            <a:xfrm>
              <a:off x="3427" y="3679"/>
              <a:ext cx="229" cy="229"/>
            </a:xfrm>
            <a:custGeom>
              <a:avLst/>
              <a:gdLst>
                <a:gd name="T0" fmla="*/ 0 w 893"/>
                <a:gd name="T1" fmla="*/ 892 h 892"/>
                <a:gd name="T2" fmla="*/ 892 w 893"/>
                <a:gd name="T3" fmla="*/ 0 h 892"/>
                <a:gd name="T4" fmla="*/ 893 w 893"/>
                <a:gd name="T5" fmla="*/ 0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3" h="892">
                  <a:moveTo>
                    <a:pt x="0" y="892"/>
                  </a:moveTo>
                  <a:lnTo>
                    <a:pt x="892" y="0"/>
                  </a:lnTo>
                  <a:lnTo>
                    <a:pt x="89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18" name="Freeform 126"/>
            <p:cNvSpPr>
              <a:spLocks/>
            </p:cNvSpPr>
            <p:nvPr/>
          </p:nvSpPr>
          <p:spPr bwMode="auto">
            <a:xfrm>
              <a:off x="3270" y="3927"/>
              <a:ext cx="165" cy="166"/>
            </a:xfrm>
            <a:custGeom>
              <a:avLst/>
              <a:gdLst>
                <a:gd name="T0" fmla="*/ 0 w 649"/>
                <a:gd name="T1" fmla="*/ 648 h 648"/>
                <a:gd name="T2" fmla="*/ 648 w 649"/>
                <a:gd name="T3" fmla="*/ 0 h 648"/>
                <a:gd name="T4" fmla="*/ 649 w 649"/>
                <a:gd name="T5" fmla="*/ 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49" h="648">
                  <a:moveTo>
                    <a:pt x="0" y="648"/>
                  </a:moveTo>
                  <a:lnTo>
                    <a:pt x="648" y="0"/>
                  </a:lnTo>
                  <a:lnTo>
                    <a:pt x="64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19" name="Freeform 127"/>
            <p:cNvSpPr>
              <a:spLocks/>
            </p:cNvSpPr>
            <p:nvPr/>
          </p:nvSpPr>
          <p:spPr bwMode="auto">
            <a:xfrm>
              <a:off x="3709" y="3633"/>
              <a:ext cx="18" cy="19"/>
            </a:xfrm>
            <a:custGeom>
              <a:avLst/>
              <a:gdLst>
                <a:gd name="T0" fmla="*/ 0 w 75"/>
                <a:gd name="T1" fmla="*/ 75 h 75"/>
                <a:gd name="T2" fmla="*/ 74 w 75"/>
                <a:gd name="T3" fmla="*/ 0 h 75"/>
                <a:gd name="T4" fmla="*/ 75 w 75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5" h="75">
                  <a:moveTo>
                    <a:pt x="0" y="75"/>
                  </a:moveTo>
                  <a:lnTo>
                    <a:pt x="74" y="0"/>
                  </a:lnTo>
                  <a:lnTo>
                    <a:pt x="7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20" name="Freeform 128"/>
            <p:cNvSpPr>
              <a:spLocks/>
            </p:cNvSpPr>
            <p:nvPr/>
          </p:nvSpPr>
          <p:spPr bwMode="auto">
            <a:xfrm>
              <a:off x="3435" y="3652"/>
              <a:ext cx="274" cy="275"/>
            </a:xfrm>
            <a:custGeom>
              <a:avLst/>
              <a:gdLst>
                <a:gd name="T0" fmla="*/ 0 w 1069"/>
                <a:gd name="T1" fmla="*/ 1067 h 1067"/>
                <a:gd name="T2" fmla="*/ 1068 w 1069"/>
                <a:gd name="T3" fmla="*/ 0 h 1067"/>
                <a:gd name="T4" fmla="*/ 1069 w 1069"/>
                <a:gd name="T5" fmla="*/ 0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9" h="1067">
                  <a:moveTo>
                    <a:pt x="0" y="1067"/>
                  </a:moveTo>
                  <a:lnTo>
                    <a:pt x="1068" y="0"/>
                  </a:lnTo>
                  <a:lnTo>
                    <a:pt x="106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21" name="Freeform 129"/>
            <p:cNvSpPr>
              <a:spLocks/>
            </p:cNvSpPr>
            <p:nvPr/>
          </p:nvSpPr>
          <p:spPr bwMode="auto">
            <a:xfrm>
              <a:off x="3299" y="3651"/>
              <a:ext cx="438" cy="439"/>
            </a:xfrm>
            <a:custGeom>
              <a:avLst/>
              <a:gdLst>
                <a:gd name="T0" fmla="*/ 0 w 1709"/>
                <a:gd name="T1" fmla="*/ 1709 h 1709"/>
                <a:gd name="T2" fmla="*/ 566 w 1709"/>
                <a:gd name="T3" fmla="*/ 1142 h 1709"/>
                <a:gd name="T4" fmla="*/ 1708 w 1709"/>
                <a:gd name="T5" fmla="*/ 0 h 1709"/>
                <a:gd name="T6" fmla="*/ 1709 w 1709"/>
                <a:gd name="T7" fmla="*/ 0 h 1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09" h="1709">
                  <a:moveTo>
                    <a:pt x="0" y="1709"/>
                  </a:moveTo>
                  <a:lnTo>
                    <a:pt x="566" y="1142"/>
                  </a:lnTo>
                  <a:lnTo>
                    <a:pt x="1708" y="0"/>
                  </a:lnTo>
                  <a:lnTo>
                    <a:pt x="170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22" name="Freeform 130"/>
            <p:cNvSpPr>
              <a:spLocks/>
            </p:cNvSpPr>
            <p:nvPr/>
          </p:nvSpPr>
          <p:spPr bwMode="auto">
            <a:xfrm>
              <a:off x="3331" y="3673"/>
              <a:ext cx="412" cy="413"/>
            </a:xfrm>
            <a:custGeom>
              <a:avLst/>
              <a:gdLst>
                <a:gd name="T0" fmla="*/ 0 w 1609"/>
                <a:gd name="T1" fmla="*/ 1609 h 1609"/>
                <a:gd name="T2" fmla="*/ 476 w 1609"/>
                <a:gd name="T3" fmla="*/ 1134 h 1609"/>
                <a:gd name="T4" fmla="*/ 1608 w 1609"/>
                <a:gd name="T5" fmla="*/ 0 h 1609"/>
                <a:gd name="T6" fmla="*/ 1609 w 1609"/>
                <a:gd name="T7" fmla="*/ 0 h 1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09" h="1609">
                  <a:moveTo>
                    <a:pt x="0" y="1609"/>
                  </a:moveTo>
                  <a:lnTo>
                    <a:pt x="476" y="1134"/>
                  </a:lnTo>
                  <a:lnTo>
                    <a:pt x="1608" y="0"/>
                  </a:lnTo>
                  <a:lnTo>
                    <a:pt x="160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23" name="Freeform 131"/>
            <p:cNvSpPr>
              <a:spLocks/>
            </p:cNvSpPr>
            <p:nvPr/>
          </p:nvSpPr>
          <p:spPr bwMode="auto">
            <a:xfrm>
              <a:off x="3366" y="3695"/>
              <a:ext cx="382" cy="382"/>
            </a:xfrm>
            <a:custGeom>
              <a:avLst/>
              <a:gdLst>
                <a:gd name="T0" fmla="*/ 0 w 1488"/>
                <a:gd name="T1" fmla="*/ 1487 h 1487"/>
                <a:gd name="T2" fmla="*/ 374 w 1488"/>
                <a:gd name="T3" fmla="*/ 1112 h 1487"/>
                <a:gd name="T4" fmla="*/ 1487 w 1488"/>
                <a:gd name="T5" fmla="*/ 0 h 1487"/>
                <a:gd name="T6" fmla="*/ 1488 w 1488"/>
                <a:gd name="T7" fmla="*/ 0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88" h="1487">
                  <a:moveTo>
                    <a:pt x="0" y="1487"/>
                  </a:moveTo>
                  <a:lnTo>
                    <a:pt x="374" y="1112"/>
                  </a:lnTo>
                  <a:lnTo>
                    <a:pt x="1487" y="0"/>
                  </a:lnTo>
                  <a:lnTo>
                    <a:pt x="148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24" name="Freeform 132"/>
            <p:cNvSpPr>
              <a:spLocks/>
            </p:cNvSpPr>
            <p:nvPr/>
          </p:nvSpPr>
          <p:spPr bwMode="auto">
            <a:xfrm>
              <a:off x="3405" y="3722"/>
              <a:ext cx="343" cy="343"/>
            </a:xfrm>
            <a:custGeom>
              <a:avLst/>
              <a:gdLst>
                <a:gd name="T0" fmla="*/ 0 w 1340"/>
                <a:gd name="T1" fmla="*/ 1339 h 1339"/>
                <a:gd name="T2" fmla="*/ 260 w 1340"/>
                <a:gd name="T3" fmla="*/ 1079 h 1339"/>
                <a:gd name="T4" fmla="*/ 1339 w 1340"/>
                <a:gd name="T5" fmla="*/ 0 h 1339"/>
                <a:gd name="T6" fmla="*/ 1340 w 1340"/>
                <a:gd name="T7" fmla="*/ 0 h 1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0" h="1339">
                  <a:moveTo>
                    <a:pt x="0" y="1339"/>
                  </a:moveTo>
                  <a:lnTo>
                    <a:pt x="260" y="1079"/>
                  </a:lnTo>
                  <a:lnTo>
                    <a:pt x="1339" y="0"/>
                  </a:lnTo>
                  <a:lnTo>
                    <a:pt x="134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25" name="Freeform 133"/>
            <p:cNvSpPr>
              <a:spLocks/>
            </p:cNvSpPr>
            <p:nvPr/>
          </p:nvSpPr>
          <p:spPr bwMode="auto">
            <a:xfrm>
              <a:off x="3448" y="3754"/>
              <a:ext cx="295" cy="296"/>
            </a:xfrm>
            <a:custGeom>
              <a:avLst/>
              <a:gdLst>
                <a:gd name="T0" fmla="*/ 0 w 1154"/>
                <a:gd name="T1" fmla="*/ 1155 h 1155"/>
                <a:gd name="T2" fmla="*/ 126 w 1154"/>
                <a:gd name="T3" fmla="*/ 1028 h 1155"/>
                <a:gd name="T4" fmla="*/ 1153 w 1154"/>
                <a:gd name="T5" fmla="*/ 0 h 1155"/>
                <a:gd name="T6" fmla="*/ 1154 w 1154"/>
                <a:gd name="T7" fmla="*/ 0 h 1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4" h="1155">
                  <a:moveTo>
                    <a:pt x="0" y="1155"/>
                  </a:moveTo>
                  <a:lnTo>
                    <a:pt x="126" y="1028"/>
                  </a:lnTo>
                  <a:lnTo>
                    <a:pt x="1153" y="0"/>
                  </a:lnTo>
                  <a:lnTo>
                    <a:pt x="115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26" name="Freeform 134"/>
            <p:cNvSpPr>
              <a:spLocks/>
            </p:cNvSpPr>
            <p:nvPr/>
          </p:nvSpPr>
          <p:spPr bwMode="auto">
            <a:xfrm>
              <a:off x="3498" y="3793"/>
              <a:ext cx="233" cy="234"/>
            </a:xfrm>
            <a:custGeom>
              <a:avLst/>
              <a:gdLst>
                <a:gd name="T0" fmla="*/ 0 w 910"/>
                <a:gd name="T1" fmla="*/ 909 h 909"/>
                <a:gd name="T2" fmla="*/ 909 w 910"/>
                <a:gd name="T3" fmla="*/ 0 h 909"/>
                <a:gd name="T4" fmla="*/ 910 w 910"/>
                <a:gd name="T5" fmla="*/ 0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10" h="909">
                  <a:moveTo>
                    <a:pt x="0" y="909"/>
                  </a:moveTo>
                  <a:lnTo>
                    <a:pt x="909" y="0"/>
                  </a:lnTo>
                  <a:lnTo>
                    <a:pt x="91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27" name="Freeform 135"/>
            <p:cNvSpPr>
              <a:spLocks/>
            </p:cNvSpPr>
            <p:nvPr/>
          </p:nvSpPr>
          <p:spPr bwMode="auto">
            <a:xfrm>
              <a:off x="3567" y="3849"/>
              <a:ext cx="135" cy="135"/>
            </a:xfrm>
            <a:custGeom>
              <a:avLst/>
              <a:gdLst>
                <a:gd name="T0" fmla="*/ 0 w 527"/>
                <a:gd name="T1" fmla="*/ 526 h 526"/>
                <a:gd name="T2" fmla="*/ 526 w 527"/>
                <a:gd name="T3" fmla="*/ 0 h 526"/>
                <a:gd name="T4" fmla="*/ 527 w 527"/>
                <a:gd name="T5" fmla="*/ 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7" h="526">
                  <a:moveTo>
                    <a:pt x="0" y="526"/>
                  </a:moveTo>
                  <a:lnTo>
                    <a:pt x="526" y="0"/>
                  </a:lnTo>
                  <a:lnTo>
                    <a:pt x="52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28" name="Freeform 136"/>
            <p:cNvSpPr>
              <a:spLocks/>
            </p:cNvSpPr>
            <p:nvPr/>
          </p:nvSpPr>
          <p:spPr bwMode="auto">
            <a:xfrm>
              <a:off x="2089" y="2476"/>
              <a:ext cx="98" cy="175"/>
            </a:xfrm>
            <a:custGeom>
              <a:avLst/>
              <a:gdLst>
                <a:gd name="T0" fmla="*/ 0 w 386"/>
                <a:gd name="T1" fmla="*/ 680 h 680"/>
                <a:gd name="T2" fmla="*/ 385 w 386"/>
                <a:gd name="T3" fmla="*/ 0 h 680"/>
                <a:gd name="T4" fmla="*/ 386 w 386"/>
                <a:gd name="T5" fmla="*/ 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6" h="680">
                  <a:moveTo>
                    <a:pt x="0" y="680"/>
                  </a:moveTo>
                  <a:lnTo>
                    <a:pt x="385" y="0"/>
                  </a:lnTo>
                  <a:lnTo>
                    <a:pt x="386" y="0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29" name="Freeform 137"/>
            <p:cNvSpPr>
              <a:spLocks/>
            </p:cNvSpPr>
            <p:nvPr/>
          </p:nvSpPr>
          <p:spPr bwMode="auto">
            <a:xfrm>
              <a:off x="2187" y="2476"/>
              <a:ext cx="117" cy="210"/>
            </a:xfrm>
            <a:custGeom>
              <a:avLst/>
              <a:gdLst>
                <a:gd name="T0" fmla="*/ 0 w 454"/>
                <a:gd name="T1" fmla="*/ 0 h 817"/>
                <a:gd name="T2" fmla="*/ 453 w 454"/>
                <a:gd name="T3" fmla="*/ 817 h 817"/>
                <a:gd name="T4" fmla="*/ 454 w 454"/>
                <a:gd name="T5" fmla="*/ 817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4" h="817">
                  <a:moveTo>
                    <a:pt x="0" y="0"/>
                  </a:moveTo>
                  <a:lnTo>
                    <a:pt x="453" y="817"/>
                  </a:lnTo>
                  <a:lnTo>
                    <a:pt x="454" y="817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30" name="Freeform 138"/>
            <p:cNvSpPr>
              <a:spLocks/>
            </p:cNvSpPr>
            <p:nvPr/>
          </p:nvSpPr>
          <p:spPr bwMode="auto">
            <a:xfrm>
              <a:off x="2224" y="2538"/>
              <a:ext cx="80" cy="148"/>
            </a:xfrm>
            <a:custGeom>
              <a:avLst/>
              <a:gdLst>
                <a:gd name="T0" fmla="*/ 0 w 311"/>
                <a:gd name="T1" fmla="*/ 0 h 573"/>
                <a:gd name="T2" fmla="*/ 310 w 311"/>
                <a:gd name="T3" fmla="*/ 573 h 573"/>
                <a:gd name="T4" fmla="*/ 311 w 311"/>
                <a:gd name="T5" fmla="*/ 573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1" h="573">
                  <a:moveTo>
                    <a:pt x="0" y="0"/>
                  </a:moveTo>
                  <a:lnTo>
                    <a:pt x="310" y="573"/>
                  </a:lnTo>
                  <a:lnTo>
                    <a:pt x="311" y="573"/>
                  </a:lnTo>
                </a:path>
              </a:pathLst>
            </a:custGeom>
            <a:noFill/>
            <a:ln w="2222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31" name="Freeform 139"/>
            <p:cNvSpPr>
              <a:spLocks/>
            </p:cNvSpPr>
            <p:nvPr/>
          </p:nvSpPr>
          <p:spPr bwMode="auto">
            <a:xfrm rot="10800000">
              <a:off x="1934" y="2736"/>
              <a:ext cx="1420" cy="220"/>
            </a:xfrm>
            <a:custGeom>
              <a:avLst/>
              <a:gdLst>
                <a:gd name="T0" fmla="*/ 0 w 6852"/>
                <a:gd name="T1" fmla="*/ 0 h 1012"/>
                <a:gd name="T2" fmla="*/ 55 w 6852"/>
                <a:gd name="T3" fmla="*/ 172 h 1012"/>
                <a:gd name="T4" fmla="*/ 224 w 6852"/>
                <a:gd name="T5" fmla="*/ 340 h 1012"/>
                <a:gd name="T6" fmla="*/ 502 w 6852"/>
                <a:gd name="T7" fmla="*/ 501 h 1012"/>
                <a:gd name="T8" fmla="*/ 880 w 6852"/>
                <a:gd name="T9" fmla="*/ 646 h 1012"/>
                <a:gd name="T10" fmla="*/ 1345 w 6852"/>
                <a:gd name="T11" fmla="*/ 772 h 1012"/>
                <a:gd name="T12" fmla="*/ 1880 w 6852"/>
                <a:gd name="T13" fmla="*/ 875 h 1012"/>
                <a:gd name="T14" fmla="*/ 2468 w 6852"/>
                <a:gd name="T15" fmla="*/ 951 h 1012"/>
                <a:gd name="T16" fmla="*/ 3088 w 6852"/>
                <a:gd name="T17" fmla="*/ 998 h 1012"/>
                <a:gd name="T18" fmla="*/ 3720 w 6852"/>
                <a:gd name="T19" fmla="*/ 1012 h 1012"/>
                <a:gd name="T20" fmla="*/ 4342 w 6852"/>
                <a:gd name="T21" fmla="*/ 996 h 1012"/>
                <a:gd name="T22" fmla="*/ 4933 w 6852"/>
                <a:gd name="T23" fmla="*/ 947 h 1012"/>
                <a:gd name="T24" fmla="*/ 5472 w 6852"/>
                <a:gd name="T25" fmla="*/ 870 h 1012"/>
                <a:gd name="T26" fmla="*/ 5942 w 6852"/>
                <a:gd name="T27" fmla="*/ 765 h 1012"/>
                <a:gd name="T28" fmla="*/ 6326 w 6852"/>
                <a:gd name="T29" fmla="*/ 638 h 1012"/>
                <a:gd name="T30" fmla="*/ 6612 w 6852"/>
                <a:gd name="T31" fmla="*/ 491 h 1012"/>
                <a:gd name="T32" fmla="*/ 6789 w 6852"/>
                <a:gd name="T33" fmla="*/ 330 h 1012"/>
                <a:gd name="T34" fmla="*/ 6851 w 6852"/>
                <a:gd name="T35" fmla="*/ 160 h 1012"/>
                <a:gd name="T36" fmla="*/ 6852 w 6852"/>
                <a:gd name="T37" fmla="*/ 160 h 10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852" h="1012">
                  <a:moveTo>
                    <a:pt x="0" y="0"/>
                  </a:moveTo>
                  <a:lnTo>
                    <a:pt x="55" y="172"/>
                  </a:lnTo>
                  <a:lnTo>
                    <a:pt x="224" y="340"/>
                  </a:lnTo>
                  <a:lnTo>
                    <a:pt x="502" y="501"/>
                  </a:lnTo>
                  <a:lnTo>
                    <a:pt x="880" y="646"/>
                  </a:lnTo>
                  <a:lnTo>
                    <a:pt x="1345" y="772"/>
                  </a:lnTo>
                  <a:lnTo>
                    <a:pt x="1880" y="875"/>
                  </a:lnTo>
                  <a:lnTo>
                    <a:pt x="2468" y="951"/>
                  </a:lnTo>
                  <a:lnTo>
                    <a:pt x="3088" y="998"/>
                  </a:lnTo>
                  <a:lnTo>
                    <a:pt x="3720" y="1012"/>
                  </a:lnTo>
                  <a:lnTo>
                    <a:pt x="4342" y="996"/>
                  </a:lnTo>
                  <a:lnTo>
                    <a:pt x="4933" y="947"/>
                  </a:lnTo>
                  <a:lnTo>
                    <a:pt x="5472" y="870"/>
                  </a:lnTo>
                  <a:lnTo>
                    <a:pt x="5942" y="765"/>
                  </a:lnTo>
                  <a:lnTo>
                    <a:pt x="6326" y="638"/>
                  </a:lnTo>
                  <a:lnTo>
                    <a:pt x="6612" y="491"/>
                  </a:lnTo>
                  <a:lnTo>
                    <a:pt x="6789" y="330"/>
                  </a:lnTo>
                  <a:lnTo>
                    <a:pt x="6851" y="160"/>
                  </a:lnTo>
                  <a:lnTo>
                    <a:pt x="6852" y="160"/>
                  </a:lnTo>
                </a:path>
              </a:pathLst>
            </a:custGeom>
            <a:noFill/>
            <a:ln w="22225" cap="flat" cmpd="sng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66FFCC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32" name="Freeform 140"/>
            <p:cNvSpPr>
              <a:spLocks/>
            </p:cNvSpPr>
            <p:nvPr/>
          </p:nvSpPr>
          <p:spPr bwMode="auto">
            <a:xfrm>
              <a:off x="2899" y="2139"/>
              <a:ext cx="0" cy="12"/>
            </a:xfrm>
            <a:custGeom>
              <a:avLst/>
              <a:gdLst>
                <a:gd name="T0" fmla="*/ 0 w 2"/>
                <a:gd name="T1" fmla="*/ 0 h 48"/>
                <a:gd name="T2" fmla="*/ 0 w 2"/>
                <a:gd name="T3" fmla="*/ 48 h 48"/>
                <a:gd name="T4" fmla="*/ 2 w 2"/>
                <a:gd name="T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48">
                  <a:moveTo>
                    <a:pt x="0" y="0"/>
                  </a:moveTo>
                  <a:lnTo>
                    <a:pt x="0" y="48"/>
                  </a:lnTo>
                  <a:lnTo>
                    <a:pt x="2" y="48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33" name="Freeform 141"/>
            <p:cNvSpPr>
              <a:spLocks/>
            </p:cNvSpPr>
            <p:nvPr/>
          </p:nvSpPr>
          <p:spPr bwMode="auto">
            <a:xfrm>
              <a:off x="2636" y="2090"/>
              <a:ext cx="1" cy="56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  <a:gd name="T4" fmla="*/ 1 w 1"/>
                <a:gd name="T5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  <a:lnTo>
                    <a:pt x="1" y="225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34" name="Freeform 142"/>
            <p:cNvSpPr>
              <a:spLocks/>
            </p:cNvSpPr>
            <p:nvPr/>
          </p:nvSpPr>
          <p:spPr bwMode="auto">
            <a:xfrm>
              <a:off x="2636" y="2157"/>
              <a:ext cx="1" cy="10"/>
            </a:xfrm>
            <a:custGeom>
              <a:avLst/>
              <a:gdLst>
                <a:gd name="T0" fmla="*/ 0 w 1"/>
                <a:gd name="T1" fmla="*/ 0 h 37"/>
                <a:gd name="T2" fmla="*/ 0 w 1"/>
                <a:gd name="T3" fmla="*/ 37 h 37"/>
                <a:gd name="T4" fmla="*/ 1 w 1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7">
                  <a:moveTo>
                    <a:pt x="0" y="0"/>
                  </a:moveTo>
                  <a:lnTo>
                    <a:pt x="0" y="37"/>
                  </a:lnTo>
                  <a:lnTo>
                    <a:pt x="1" y="37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35" name="Freeform 143"/>
            <p:cNvSpPr>
              <a:spLocks/>
            </p:cNvSpPr>
            <p:nvPr/>
          </p:nvSpPr>
          <p:spPr bwMode="auto">
            <a:xfrm>
              <a:off x="2636" y="2176"/>
              <a:ext cx="1" cy="58"/>
            </a:xfrm>
            <a:custGeom>
              <a:avLst/>
              <a:gdLst>
                <a:gd name="T0" fmla="*/ 0 w 1"/>
                <a:gd name="T1" fmla="*/ 0 h 224"/>
                <a:gd name="T2" fmla="*/ 0 w 1"/>
                <a:gd name="T3" fmla="*/ 224 h 224"/>
                <a:gd name="T4" fmla="*/ 1 w 1"/>
                <a:gd name="T5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4">
                  <a:moveTo>
                    <a:pt x="0" y="0"/>
                  </a:moveTo>
                  <a:lnTo>
                    <a:pt x="0" y="224"/>
                  </a:lnTo>
                  <a:lnTo>
                    <a:pt x="1" y="224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36" name="Freeform 144"/>
            <p:cNvSpPr>
              <a:spLocks/>
            </p:cNvSpPr>
            <p:nvPr/>
          </p:nvSpPr>
          <p:spPr bwMode="auto">
            <a:xfrm>
              <a:off x="2636" y="2245"/>
              <a:ext cx="1" cy="8"/>
            </a:xfrm>
            <a:custGeom>
              <a:avLst/>
              <a:gdLst>
                <a:gd name="T0" fmla="*/ 0 w 1"/>
                <a:gd name="T1" fmla="*/ 0 h 36"/>
                <a:gd name="T2" fmla="*/ 0 w 1"/>
                <a:gd name="T3" fmla="*/ 36 h 36"/>
                <a:gd name="T4" fmla="*/ 1 w 1"/>
                <a:gd name="T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">
                  <a:moveTo>
                    <a:pt x="0" y="0"/>
                  </a:moveTo>
                  <a:lnTo>
                    <a:pt x="0" y="36"/>
                  </a:lnTo>
                  <a:lnTo>
                    <a:pt x="1" y="36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37" name="Freeform 145"/>
            <p:cNvSpPr>
              <a:spLocks/>
            </p:cNvSpPr>
            <p:nvPr/>
          </p:nvSpPr>
          <p:spPr bwMode="auto">
            <a:xfrm>
              <a:off x="2636" y="2263"/>
              <a:ext cx="1" cy="56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  <a:gd name="T4" fmla="*/ 1 w 1"/>
                <a:gd name="T5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  <a:lnTo>
                    <a:pt x="1" y="225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38" name="Freeform 146"/>
            <p:cNvSpPr>
              <a:spLocks/>
            </p:cNvSpPr>
            <p:nvPr/>
          </p:nvSpPr>
          <p:spPr bwMode="auto">
            <a:xfrm>
              <a:off x="2636" y="2330"/>
              <a:ext cx="1" cy="9"/>
            </a:xfrm>
            <a:custGeom>
              <a:avLst/>
              <a:gdLst>
                <a:gd name="T0" fmla="*/ 0 w 1"/>
                <a:gd name="T1" fmla="*/ 0 h 37"/>
                <a:gd name="T2" fmla="*/ 0 w 1"/>
                <a:gd name="T3" fmla="*/ 37 h 37"/>
                <a:gd name="T4" fmla="*/ 1 w 1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7">
                  <a:moveTo>
                    <a:pt x="0" y="0"/>
                  </a:moveTo>
                  <a:lnTo>
                    <a:pt x="0" y="37"/>
                  </a:lnTo>
                  <a:lnTo>
                    <a:pt x="1" y="37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39" name="Freeform 147"/>
            <p:cNvSpPr>
              <a:spLocks/>
            </p:cNvSpPr>
            <p:nvPr/>
          </p:nvSpPr>
          <p:spPr bwMode="auto">
            <a:xfrm>
              <a:off x="2636" y="2349"/>
              <a:ext cx="1" cy="58"/>
            </a:xfrm>
            <a:custGeom>
              <a:avLst/>
              <a:gdLst>
                <a:gd name="T0" fmla="*/ 0 w 1"/>
                <a:gd name="T1" fmla="*/ 0 h 225"/>
                <a:gd name="T2" fmla="*/ 0 w 1"/>
                <a:gd name="T3" fmla="*/ 225 h 225"/>
                <a:gd name="T4" fmla="*/ 1 w 1"/>
                <a:gd name="T5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5">
                  <a:moveTo>
                    <a:pt x="0" y="0"/>
                  </a:moveTo>
                  <a:lnTo>
                    <a:pt x="0" y="225"/>
                  </a:lnTo>
                  <a:lnTo>
                    <a:pt x="1" y="225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40" name="Freeform 148"/>
            <p:cNvSpPr>
              <a:spLocks/>
            </p:cNvSpPr>
            <p:nvPr/>
          </p:nvSpPr>
          <p:spPr bwMode="auto">
            <a:xfrm>
              <a:off x="2636" y="2417"/>
              <a:ext cx="1" cy="8"/>
            </a:xfrm>
            <a:custGeom>
              <a:avLst/>
              <a:gdLst>
                <a:gd name="T0" fmla="*/ 0 w 1"/>
                <a:gd name="T1" fmla="*/ 0 h 36"/>
                <a:gd name="T2" fmla="*/ 0 w 1"/>
                <a:gd name="T3" fmla="*/ 36 h 36"/>
                <a:gd name="T4" fmla="*/ 1 w 1"/>
                <a:gd name="T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">
                  <a:moveTo>
                    <a:pt x="0" y="0"/>
                  </a:moveTo>
                  <a:lnTo>
                    <a:pt x="0" y="36"/>
                  </a:lnTo>
                  <a:lnTo>
                    <a:pt x="1" y="36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41" name="Freeform 149"/>
            <p:cNvSpPr>
              <a:spLocks/>
            </p:cNvSpPr>
            <p:nvPr/>
          </p:nvSpPr>
          <p:spPr bwMode="auto">
            <a:xfrm>
              <a:off x="2636" y="2435"/>
              <a:ext cx="1" cy="58"/>
            </a:xfrm>
            <a:custGeom>
              <a:avLst/>
              <a:gdLst>
                <a:gd name="T0" fmla="*/ 0 w 1"/>
                <a:gd name="T1" fmla="*/ 0 h 224"/>
                <a:gd name="T2" fmla="*/ 0 w 1"/>
                <a:gd name="T3" fmla="*/ 224 h 224"/>
                <a:gd name="T4" fmla="*/ 1 w 1"/>
                <a:gd name="T5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24">
                  <a:moveTo>
                    <a:pt x="0" y="0"/>
                  </a:moveTo>
                  <a:lnTo>
                    <a:pt x="0" y="224"/>
                  </a:lnTo>
                  <a:lnTo>
                    <a:pt x="1" y="224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42" name="Freeform 150"/>
            <p:cNvSpPr>
              <a:spLocks/>
            </p:cNvSpPr>
            <p:nvPr/>
          </p:nvSpPr>
          <p:spPr bwMode="auto">
            <a:xfrm>
              <a:off x="2636" y="2502"/>
              <a:ext cx="1" cy="10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1 w 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1" y="38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43" name="Freeform 151"/>
            <p:cNvSpPr>
              <a:spLocks/>
            </p:cNvSpPr>
            <p:nvPr/>
          </p:nvSpPr>
          <p:spPr bwMode="auto">
            <a:xfrm>
              <a:off x="2203" y="2151"/>
              <a:ext cx="167" cy="298"/>
            </a:xfrm>
            <a:custGeom>
              <a:avLst/>
              <a:gdLst>
                <a:gd name="T0" fmla="*/ 0 w 655"/>
                <a:gd name="T1" fmla="*/ 1159 h 1159"/>
                <a:gd name="T2" fmla="*/ 654 w 655"/>
                <a:gd name="T3" fmla="*/ 0 h 1159"/>
                <a:gd name="T4" fmla="*/ 655 w 655"/>
                <a:gd name="T5" fmla="*/ 0 h 1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5" h="1159">
                  <a:moveTo>
                    <a:pt x="0" y="1159"/>
                  </a:moveTo>
                  <a:lnTo>
                    <a:pt x="654" y="0"/>
                  </a:lnTo>
                  <a:lnTo>
                    <a:pt x="655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44" name="Freeform 152"/>
            <p:cNvSpPr>
              <a:spLocks/>
            </p:cNvSpPr>
            <p:nvPr/>
          </p:nvSpPr>
          <p:spPr bwMode="auto">
            <a:xfrm>
              <a:off x="2186" y="2087"/>
              <a:ext cx="692" cy="400"/>
            </a:xfrm>
            <a:custGeom>
              <a:avLst/>
              <a:gdLst>
                <a:gd name="T0" fmla="*/ 3 w 2695"/>
                <a:gd name="T1" fmla="*/ 1520 h 1565"/>
                <a:gd name="T2" fmla="*/ 56 w 2695"/>
                <a:gd name="T3" fmla="*/ 1557 h 1565"/>
                <a:gd name="T4" fmla="*/ 154 w 2695"/>
                <a:gd name="T5" fmla="*/ 1565 h 1565"/>
                <a:gd name="T6" fmla="*/ 296 w 2695"/>
                <a:gd name="T7" fmla="*/ 1546 h 1565"/>
                <a:gd name="T8" fmla="*/ 475 w 2695"/>
                <a:gd name="T9" fmla="*/ 1499 h 1565"/>
                <a:gd name="T10" fmla="*/ 686 w 2695"/>
                <a:gd name="T11" fmla="*/ 1425 h 1565"/>
                <a:gd name="T12" fmla="*/ 920 w 2695"/>
                <a:gd name="T13" fmla="*/ 1330 h 1565"/>
                <a:gd name="T14" fmla="*/ 1170 w 2695"/>
                <a:gd name="T15" fmla="*/ 1214 h 1565"/>
                <a:gd name="T16" fmla="*/ 1426 w 2695"/>
                <a:gd name="T17" fmla="*/ 1081 h 1565"/>
                <a:gd name="T18" fmla="*/ 1680 w 2695"/>
                <a:gd name="T19" fmla="*/ 940 h 1565"/>
                <a:gd name="T20" fmla="*/ 1921 w 2695"/>
                <a:gd name="T21" fmla="*/ 791 h 1565"/>
                <a:gd name="T22" fmla="*/ 2142 w 2695"/>
                <a:gd name="T23" fmla="*/ 643 h 1565"/>
                <a:gd name="T24" fmla="*/ 2334 w 2695"/>
                <a:gd name="T25" fmla="*/ 499 h 1565"/>
                <a:gd name="T26" fmla="*/ 2489 w 2695"/>
                <a:gd name="T27" fmla="*/ 366 h 1565"/>
                <a:gd name="T28" fmla="*/ 2604 w 2695"/>
                <a:gd name="T29" fmla="*/ 249 h 1565"/>
                <a:gd name="T30" fmla="*/ 2673 w 2695"/>
                <a:gd name="T31" fmla="*/ 150 h 1565"/>
                <a:gd name="T32" fmla="*/ 2695 w 2695"/>
                <a:gd name="T33" fmla="*/ 73 h 1565"/>
                <a:gd name="T34" fmla="*/ 2667 w 2695"/>
                <a:gd name="T35" fmla="*/ 23 h 1565"/>
                <a:gd name="T36" fmla="*/ 2592 w 2695"/>
                <a:gd name="T37" fmla="*/ 0 h 1565"/>
                <a:gd name="T38" fmla="*/ 2471 w 2695"/>
                <a:gd name="T39" fmla="*/ 6 h 1565"/>
                <a:gd name="T40" fmla="*/ 2310 w 2695"/>
                <a:gd name="T41" fmla="*/ 39 h 1565"/>
                <a:gd name="T42" fmla="*/ 2113 w 2695"/>
                <a:gd name="T43" fmla="*/ 99 h 1565"/>
                <a:gd name="T44" fmla="*/ 1890 w 2695"/>
                <a:gd name="T45" fmla="*/ 184 h 1565"/>
                <a:gd name="T46" fmla="*/ 1647 w 2695"/>
                <a:gd name="T47" fmla="*/ 290 h 1565"/>
                <a:gd name="T48" fmla="*/ 1392 w 2695"/>
                <a:gd name="T49" fmla="*/ 415 h 1565"/>
                <a:gd name="T50" fmla="*/ 1136 w 2695"/>
                <a:gd name="T51" fmla="*/ 553 h 1565"/>
                <a:gd name="T52" fmla="*/ 888 w 2695"/>
                <a:gd name="T53" fmla="*/ 699 h 1565"/>
                <a:gd name="T54" fmla="*/ 656 w 2695"/>
                <a:gd name="T55" fmla="*/ 847 h 1565"/>
                <a:gd name="T56" fmla="*/ 448 w 2695"/>
                <a:gd name="T57" fmla="*/ 994 h 1565"/>
                <a:gd name="T58" fmla="*/ 274 w 2695"/>
                <a:gd name="T59" fmla="*/ 1133 h 1565"/>
                <a:gd name="T60" fmla="*/ 137 w 2695"/>
                <a:gd name="T61" fmla="*/ 1259 h 1565"/>
                <a:gd name="T62" fmla="*/ 46 w 2695"/>
                <a:gd name="T63" fmla="*/ 1368 h 1565"/>
                <a:gd name="T64" fmla="*/ 0 w 2695"/>
                <a:gd name="T65" fmla="*/ 1457 h 1565"/>
                <a:gd name="T66" fmla="*/ 3 w 2695"/>
                <a:gd name="T67" fmla="*/ 1520 h 1565"/>
                <a:gd name="T68" fmla="*/ 4 w 2695"/>
                <a:gd name="T69" fmla="*/ 1520 h 1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95" h="1565">
                  <a:moveTo>
                    <a:pt x="3" y="1520"/>
                  </a:moveTo>
                  <a:lnTo>
                    <a:pt x="56" y="1557"/>
                  </a:lnTo>
                  <a:lnTo>
                    <a:pt x="154" y="1565"/>
                  </a:lnTo>
                  <a:lnTo>
                    <a:pt x="296" y="1546"/>
                  </a:lnTo>
                  <a:lnTo>
                    <a:pt x="475" y="1499"/>
                  </a:lnTo>
                  <a:lnTo>
                    <a:pt x="686" y="1425"/>
                  </a:lnTo>
                  <a:lnTo>
                    <a:pt x="920" y="1330"/>
                  </a:lnTo>
                  <a:lnTo>
                    <a:pt x="1170" y="1214"/>
                  </a:lnTo>
                  <a:lnTo>
                    <a:pt x="1426" y="1081"/>
                  </a:lnTo>
                  <a:lnTo>
                    <a:pt x="1680" y="940"/>
                  </a:lnTo>
                  <a:lnTo>
                    <a:pt x="1921" y="791"/>
                  </a:lnTo>
                  <a:lnTo>
                    <a:pt x="2142" y="643"/>
                  </a:lnTo>
                  <a:lnTo>
                    <a:pt x="2334" y="499"/>
                  </a:lnTo>
                  <a:lnTo>
                    <a:pt x="2489" y="366"/>
                  </a:lnTo>
                  <a:lnTo>
                    <a:pt x="2604" y="249"/>
                  </a:lnTo>
                  <a:lnTo>
                    <a:pt x="2673" y="150"/>
                  </a:lnTo>
                  <a:lnTo>
                    <a:pt x="2695" y="73"/>
                  </a:lnTo>
                  <a:lnTo>
                    <a:pt x="2667" y="23"/>
                  </a:lnTo>
                  <a:lnTo>
                    <a:pt x="2592" y="0"/>
                  </a:lnTo>
                  <a:lnTo>
                    <a:pt x="2471" y="6"/>
                  </a:lnTo>
                  <a:lnTo>
                    <a:pt x="2310" y="39"/>
                  </a:lnTo>
                  <a:lnTo>
                    <a:pt x="2113" y="99"/>
                  </a:lnTo>
                  <a:lnTo>
                    <a:pt x="1890" y="184"/>
                  </a:lnTo>
                  <a:lnTo>
                    <a:pt x="1647" y="290"/>
                  </a:lnTo>
                  <a:lnTo>
                    <a:pt x="1392" y="415"/>
                  </a:lnTo>
                  <a:lnTo>
                    <a:pt x="1136" y="553"/>
                  </a:lnTo>
                  <a:lnTo>
                    <a:pt x="888" y="699"/>
                  </a:lnTo>
                  <a:lnTo>
                    <a:pt x="656" y="847"/>
                  </a:lnTo>
                  <a:lnTo>
                    <a:pt x="448" y="994"/>
                  </a:lnTo>
                  <a:lnTo>
                    <a:pt x="274" y="1133"/>
                  </a:lnTo>
                  <a:lnTo>
                    <a:pt x="137" y="1259"/>
                  </a:lnTo>
                  <a:lnTo>
                    <a:pt x="46" y="1368"/>
                  </a:lnTo>
                  <a:lnTo>
                    <a:pt x="0" y="1457"/>
                  </a:lnTo>
                  <a:lnTo>
                    <a:pt x="3" y="1520"/>
                  </a:lnTo>
                  <a:lnTo>
                    <a:pt x="4" y="152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45" name="Freeform 153"/>
            <p:cNvSpPr>
              <a:spLocks/>
            </p:cNvSpPr>
            <p:nvPr/>
          </p:nvSpPr>
          <p:spPr bwMode="auto">
            <a:xfrm>
              <a:off x="2204" y="2322"/>
              <a:ext cx="125" cy="124"/>
            </a:xfrm>
            <a:custGeom>
              <a:avLst/>
              <a:gdLst>
                <a:gd name="T0" fmla="*/ 0 w 482"/>
                <a:gd name="T1" fmla="*/ 482 h 482"/>
                <a:gd name="T2" fmla="*/ 481 w 482"/>
                <a:gd name="T3" fmla="*/ 0 h 482"/>
                <a:gd name="T4" fmla="*/ 482 w 482"/>
                <a:gd name="T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2" h="482">
                  <a:moveTo>
                    <a:pt x="0" y="482"/>
                  </a:moveTo>
                  <a:lnTo>
                    <a:pt x="481" y="0"/>
                  </a:lnTo>
                  <a:lnTo>
                    <a:pt x="48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46" name="Freeform 154"/>
            <p:cNvSpPr>
              <a:spLocks/>
            </p:cNvSpPr>
            <p:nvPr/>
          </p:nvSpPr>
          <p:spPr bwMode="auto">
            <a:xfrm>
              <a:off x="2195" y="2269"/>
              <a:ext cx="214" cy="214"/>
            </a:xfrm>
            <a:custGeom>
              <a:avLst/>
              <a:gdLst>
                <a:gd name="T0" fmla="*/ 0 w 833"/>
                <a:gd name="T1" fmla="*/ 832 h 832"/>
                <a:gd name="T2" fmla="*/ 832 w 833"/>
                <a:gd name="T3" fmla="*/ 0 h 832"/>
                <a:gd name="T4" fmla="*/ 833 w 833"/>
                <a:gd name="T5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3" h="832">
                  <a:moveTo>
                    <a:pt x="0" y="832"/>
                  </a:moveTo>
                  <a:lnTo>
                    <a:pt x="832" y="0"/>
                  </a:lnTo>
                  <a:lnTo>
                    <a:pt x="83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47" name="Freeform 155"/>
            <p:cNvSpPr>
              <a:spLocks/>
            </p:cNvSpPr>
            <p:nvPr/>
          </p:nvSpPr>
          <p:spPr bwMode="auto">
            <a:xfrm>
              <a:off x="2217" y="2230"/>
              <a:ext cx="257" cy="257"/>
            </a:xfrm>
            <a:custGeom>
              <a:avLst/>
              <a:gdLst>
                <a:gd name="T0" fmla="*/ 0 w 1005"/>
                <a:gd name="T1" fmla="*/ 1004 h 1004"/>
                <a:gd name="T2" fmla="*/ 1004 w 1005"/>
                <a:gd name="T3" fmla="*/ 0 h 1004"/>
                <a:gd name="T4" fmla="*/ 1005 w 1005"/>
                <a:gd name="T5" fmla="*/ 0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5" h="1004">
                  <a:moveTo>
                    <a:pt x="0" y="1004"/>
                  </a:moveTo>
                  <a:lnTo>
                    <a:pt x="1004" y="0"/>
                  </a:lnTo>
                  <a:lnTo>
                    <a:pt x="100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48" name="Freeform 156"/>
            <p:cNvSpPr>
              <a:spLocks/>
            </p:cNvSpPr>
            <p:nvPr/>
          </p:nvSpPr>
          <p:spPr bwMode="auto">
            <a:xfrm>
              <a:off x="2246" y="2197"/>
              <a:ext cx="287" cy="289"/>
            </a:xfrm>
            <a:custGeom>
              <a:avLst/>
              <a:gdLst>
                <a:gd name="T0" fmla="*/ 0 w 1122"/>
                <a:gd name="T1" fmla="*/ 1122 h 1122"/>
                <a:gd name="T2" fmla="*/ 1121 w 1122"/>
                <a:gd name="T3" fmla="*/ 0 h 1122"/>
                <a:gd name="T4" fmla="*/ 1122 w 1122"/>
                <a:gd name="T5" fmla="*/ 0 h 1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22" h="1122">
                  <a:moveTo>
                    <a:pt x="0" y="1122"/>
                  </a:moveTo>
                  <a:lnTo>
                    <a:pt x="1121" y="0"/>
                  </a:lnTo>
                  <a:lnTo>
                    <a:pt x="112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49" name="Freeform 157"/>
            <p:cNvSpPr>
              <a:spLocks/>
            </p:cNvSpPr>
            <p:nvPr/>
          </p:nvSpPr>
          <p:spPr bwMode="auto">
            <a:xfrm>
              <a:off x="2280" y="2172"/>
              <a:ext cx="308" cy="306"/>
            </a:xfrm>
            <a:custGeom>
              <a:avLst/>
              <a:gdLst>
                <a:gd name="T0" fmla="*/ 0 w 1201"/>
                <a:gd name="T1" fmla="*/ 1200 h 1200"/>
                <a:gd name="T2" fmla="*/ 1200 w 1201"/>
                <a:gd name="T3" fmla="*/ 0 h 1200"/>
                <a:gd name="T4" fmla="*/ 1201 w 1201"/>
                <a:gd name="T5" fmla="*/ 0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1" h="1200">
                  <a:moveTo>
                    <a:pt x="0" y="1200"/>
                  </a:moveTo>
                  <a:lnTo>
                    <a:pt x="1200" y="0"/>
                  </a:lnTo>
                  <a:lnTo>
                    <a:pt x="120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50" name="Freeform 158"/>
            <p:cNvSpPr>
              <a:spLocks/>
            </p:cNvSpPr>
            <p:nvPr/>
          </p:nvSpPr>
          <p:spPr bwMode="auto">
            <a:xfrm>
              <a:off x="2318" y="2146"/>
              <a:ext cx="320" cy="322"/>
            </a:xfrm>
            <a:custGeom>
              <a:avLst/>
              <a:gdLst>
                <a:gd name="T0" fmla="*/ 0 w 1247"/>
                <a:gd name="T1" fmla="*/ 1247 h 1247"/>
                <a:gd name="T2" fmla="*/ 1233 w 1247"/>
                <a:gd name="T3" fmla="*/ 12 h 1247"/>
                <a:gd name="T4" fmla="*/ 1246 w 1247"/>
                <a:gd name="T5" fmla="*/ 0 h 1247"/>
                <a:gd name="T6" fmla="*/ 1247 w 1247"/>
                <a:gd name="T7" fmla="*/ 0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7" h="1247">
                  <a:moveTo>
                    <a:pt x="0" y="1247"/>
                  </a:moveTo>
                  <a:lnTo>
                    <a:pt x="1233" y="12"/>
                  </a:lnTo>
                  <a:lnTo>
                    <a:pt x="1246" y="0"/>
                  </a:lnTo>
                  <a:lnTo>
                    <a:pt x="124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51" name="Freeform 159"/>
            <p:cNvSpPr>
              <a:spLocks/>
            </p:cNvSpPr>
            <p:nvPr/>
          </p:nvSpPr>
          <p:spPr bwMode="auto">
            <a:xfrm>
              <a:off x="2360" y="2128"/>
              <a:ext cx="324" cy="325"/>
            </a:xfrm>
            <a:custGeom>
              <a:avLst/>
              <a:gdLst>
                <a:gd name="T0" fmla="*/ 0 w 1266"/>
                <a:gd name="T1" fmla="*/ 1265 h 1265"/>
                <a:gd name="T2" fmla="*/ 1071 w 1266"/>
                <a:gd name="T3" fmla="*/ 194 h 1265"/>
                <a:gd name="T4" fmla="*/ 1265 w 1266"/>
                <a:gd name="T5" fmla="*/ 0 h 1265"/>
                <a:gd name="T6" fmla="*/ 1266 w 1266"/>
                <a:gd name="T7" fmla="*/ 0 h 1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6" h="1265">
                  <a:moveTo>
                    <a:pt x="0" y="1265"/>
                  </a:moveTo>
                  <a:lnTo>
                    <a:pt x="1071" y="194"/>
                  </a:lnTo>
                  <a:lnTo>
                    <a:pt x="1265" y="0"/>
                  </a:lnTo>
                  <a:lnTo>
                    <a:pt x="126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52" name="Freeform 160"/>
            <p:cNvSpPr>
              <a:spLocks/>
            </p:cNvSpPr>
            <p:nvPr/>
          </p:nvSpPr>
          <p:spPr bwMode="auto">
            <a:xfrm>
              <a:off x="2405" y="2112"/>
              <a:ext cx="322" cy="323"/>
            </a:xfrm>
            <a:custGeom>
              <a:avLst/>
              <a:gdLst>
                <a:gd name="T0" fmla="*/ 0 w 1259"/>
                <a:gd name="T1" fmla="*/ 1259 h 1259"/>
                <a:gd name="T2" fmla="*/ 895 w 1259"/>
                <a:gd name="T3" fmla="*/ 363 h 1259"/>
                <a:gd name="T4" fmla="*/ 1258 w 1259"/>
                <a:gd name="T5" fmla="*/ 0 h 1259"/>
                <a:gd name="T6" fmla="*/ 1259 w 1259"/>
                <a:gd name="T7" fmla="*/ 0 h 1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9" h="1259">
                  <a:moveTo>
                    <a:pt x="0" y="1259"/>
                  </a:moveTo>
                  <a:lnTo>
                    <a:pt x="895" y="363"/>
                  </a:lnTo>
                  <a:lnTo>
                    <a:pt x="1258" y="0"/>
                  </a:lnTo>
                  <a:lnTo>
                    <a:pt x="125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53" name="Freeform 161"/>
            <p:cNvSpPr>
              <a:spLocks/>
            </p:cNvSpPr>
            <p:nvPr/>
          </p:nvSpPr>
          <p:spPr bwMode="auto">
            <a:xfrm>
              <a:off x="2454" y="2099"/>
              <a:ext cx="314" cy="314"/>
            </a:xfrm>
            <a:custGeom>
              <a:avLst/>
              <a:gdLst>
                <a:gd name="T0" fmla="*/ 0 w 1223"/>
                <a:gd name="T1" fmla="*/ 1223 h 1223"/>
                <a:gd name="T2" fmla="*/ 704 w 1223"/>
                <a:gd name="T3" fmla="*/ 518 h 1223"/>
                <a:gd name="T4" fmla="*/ 1222 w 1223"/>
                <a:gd name="T5" fmla="*/ 0 h 1223"/>
                <a:gd name="T6" fmla="*/ 1223 w 1223"/>
                <a:gd name="T7" fmla="*/ 0 h 1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3" h="1223">
                  <a:moveTo>
                    <a:pt x="0" y="1223"/>
                  </a:moveTo>
                  <a:lnTo>
                    <a:pt x="704" y="518"/>
                  </a:lnTo>
                  <a:lnTo>
                    <a:pt x="1222" y="0"/>
                  </a:lnTo>
                  <a:lnTo>
                    <a:pt x="122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54" name="Freeform 162"/>
            <p:cNvSpPr>
              <a:spLocks/>
            </p:cNvSpPr>
            <p:nvPr/>
          </p:nvSpPr>
          <p:spPr bwMode="auto">
            <a:xfrm>
              <a:off x="2506" y="2090"/>
              <a:ext cx="297" cy="298"/>
            </a:xfrm>
            <a:custGeom>
              <a:avLst/>
              <a:gdLst>
                <a:gd name="T0" fmla="*/ 0 w 1159"/>
                <a:gd name="T1" fmla="*/ 1159 h 1159"/>
                <a:gd name="T2" fmla="*/ 500 w 1159"/>
                <a:gd name="T3" fmla="*/ 659 h 1159"/>
                <a:gd name="T4" fmla="*/ 1157 w 1159"/>
                <a:gd name="T5" fmla="*/ 0 h 1159"/>
                <a:gd name="T6" fmla="*/ 1159 w 1159"/>
                <a:gd name="T7" fmla="*/ 0 h 1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9" h="1159">
                  <a:moveTo>
                    <a:pt x="0" y="1159"/>
                  </a:moveTo>
                  <a:lnTo>
                    <a:pt x="500" y="659"/>
                  </a:lnTo>
                  <a:lnTo>
                    <a:pt x="1157" y="0"/>
                  </a:lnTo>
                  <a:lnTo>
                    <a:pt x="115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55" name="Freeform 163"/>
            <p:cNvSpPr>
              <a:spLocks/>
            </p:cNvSpPr>
            <p:nvPr/>
          </p:nvSpPr>
          <p:spPr bwMode="auto">
            <a:xfrm>
              <a:off x="2563" y="2086"/>
              <a:ext cx="272" cy="273"/>
            </a:xfrm>
            <a:custGeom>
              <a:avLst/>
              <a:gdLst>
                <a:gd name="T0" fmla="*/ 0 w 1060"/>
                <a:gd name="T1" fmla="*/ 1060 h 1060"/>
                <a:gd name="T2" fmla="*/ 278 w 1060"/>
                <a:gd name="T3" fmla="*/ 782 h 1060"/>
                <a:gd name="T4" fmla="*/ 1059 w 1060"/>
                <a:gd name="T5" fmla="*/ 0 h 1060"/>
                <a:gd name="T6" fmla="*/ 1060 w 1060"/>
                <a:gd name="T7" fmla="*/ 0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0" h="1060">
                  <a:moveTo>
                    <a:pt x="0" y="1060"/>
                  </a:moveTo>
                  <a:lnTo>
                    <a:pt x="278" y="782"/>
                  </a:lnTo>
                  <a:lnTo>
                    <a:pt x="1059" y="0"/>
                  </a:lnTo>
                  <a:lnTo>
                    <a:pt x="106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56" name="Freeform 164"/>
            <p:cNvSpPr>
              <a:spLocks/>
            </p:cNvSpPr>
            <p:nvPr/>
          </p:nvSpPr>
          <p:spPr bwMode="auto">
            <a:xfrm>
              <a:off x="2626" y="2087"/>
              <a:ext cx="235" cy="235"/>
            </a:xfrm>
            <a:custGeom>
              <a:avLst/>
              <a:gdLst>
                <a:gd name="T0" fmla="*/ 0 w 914"/>
                <a:gd name="T1" fmla="*/ 913 h 913"/>
                <a:gd name="T2" fmla="*/ 33 w 914"/>
                <a:gd name="T3" fmla="*/ 880 h 913"/>
                <a:gd name="T4" fmla="*/ 913 w 914"/>
                <a:gd name="T5" fmla="*/ 0 h 913"/>
                <a:gd name="T6" fmla="*/ 914 w 914"/>
                <a:gd name="T7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14" h="913">
                  <a:moveTo>
                    <a:pt x="0" y="913"/>
                  </a:moveTo>
                  <a:lnTo>
                    <a:pt x="33" y="880"/>
                  </a:lnTo>
                  <a:lnTo>
                    <a:pt x="913" y="0"/>
                  </a:lnTo>
                  <a:lnTo>
                    <a:pt x="91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57" name="Freeform 165"/>
            <p:cNvSpPr>
              <a:spLocks/>
            </p:cNvSpPr>
            <p:nvPr/>
          </p:nvSpPr>
          <p:spPr bwMode="auto">
            <a:xfrm>
              <a:off x="2698" y="2099"/>
              <a:ext cx="179" cy="177"/>
            </a:xfrm>
            <a:custGeom>
              <a:avLst/>
              <a:gdLst>
                <a:gd name="T0" fmla="*/ 0 w 693"/>
                <a:gd name="T1" fmla="*/ 692 h 692"/>
                <a:gd name="T2" fmla="*/ 692 w 693"/>
                <a:gd name="T3" fmla="*/ 0 h 692"/>
                <a:gd name="T4" fmla="*/ 693 w 693"/>
                <a:gd name="T5" fmla="*/ 0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3" h="692">
                  <a:moveTo>
                    <a:pt x="0" y="692"/>
                  </a:moveTo>
                  <a:lnTo>
                    <a:pt x="692" y="0"/>
                  </a:lnTo>
                  <a:lnTo>
                    <a:pt x="69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58" name="Freeform 166"/>
            <p:cNvSpPr>
              <a:spLocks/>
            </p:cNvSpPr>
            <p:nvPr/>
          </p:nvSpPr>
          <p:spPr bwMode="auto">
            <a:xfrm>
              <a:off x="2801" y="2139"/>
              <a:ext cx="61" cy="62"/>
            </a:xfrm>
            <a:custGeom>
              <a:avLst/>
              <a:gdLst>
                <a:gd name="T0" fmla="*/ 0 w 239"/>
                <a:gd name="T1" fmla="*/ 237 h 237"/>
                <a:gd name="T2" fmla="*/ 238 w 239"/>
                <a:gd name="T3" fmla="*/ 0 h 237"/>
                <a:gd name="T4" fmla="*/ 239 w 239"/>
                <a:gd name="T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" h="237">
                  <a:moveTo>
                    <a:pt x="0" y="237"/>
                  </a:moveTo>
                  <a:lnTo>
                    <a:pt x="238" y="0"/>
                  </a:lnTo>
                  <a:lnTo>
                    <a:pt x="23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59" name="Freeform 167"/>
            <p:cNvSpPr>
              <a:spLocks/>
            </p:cNvSpPr>
            <p:nvPr/>
          </p:nvSpPr>
          <p:spPr bwMode="auto">
            <a:xfrm>
              <a:off x="2636" y="2316"/>
              <a:ext cx="1" cy="202"/>
            </a:xfrm>
            <a:custGeom>
              <a:avLst/>
              <a:gdLst>
                <a:gd name="T0" fmla="*/ 0 w 1"/>
                <a:gd name="T1" fmla="*/ 783 h 783"/>
                <a:gd name="T2" fmla="*/ 0 w 1"/>
                <a:gd name="T3" fmla="*/ 0 h 783"/>
                <a:gd name="T4" fmla="*/ 1 w 1"/>
                <a:gd name="T5" fmla="*/ 0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783">
                  <a:moveTo>
                    <a:pt x="0" y="78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60" name="Line 168"/>
            <p:cNvSpPr>
              <a:spLocks noChangeShapeType="1"/>
            </p:cNvSpPr>
            <p:nvPr/>
          </p:nvSpPr>
          <p:spPr bwMode="auto">
            <a:xfrm flipV="1">
              <a:off x="2194" y="2096"/>
              <a:ext cx="679" cy="37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561" name="Arc 169"/>
            <p:cNvSpPr>
              <a:spLocks/>
            </p:cNvSpPr>
            <p:nvPr/>
          </p:nvSpPr>
          <p:spPr bwMode="auto">
            <a:xfrm rot="-10800000">
              <a:off x="2495" y="2291"/>
              <a:ext cx="152" cy="11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530" name="Text Box 170"/>
            <p:cNvSpPr txBox="1">
              <a:spLocks noChangeArrowheads="1"/>
            </p:cNvSpPr>
            <p:nvPr/>
          </p:nvSpPr>
          <p:spPr bwMode="auto">
            <a:xfrm>
              <a:off x="2380" y="2275"/>
              <a:ext cx="27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l-GR" altLang="en-US" sz="2000"/>
                <a:t>α</a:t>
              </a:r>
            </a:p>
          </p:txBody>
        </p:sp>
        <p:sp>
          <p:nvSpPr>
            <p:cNvPr id="59563" name="Arc 171"/>
            <p:cNvSpPr>
              <a:spLocks/>
            </p:cNvSpPr>
            <p:nvPr/>
          </p:nvSpPr>
          <p:spPr bwMode="auto">
            <a:xfrm rot="-10800000">
              <a:off x="2553" y="1825"/>
              <a:ext cx="77" cy="4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22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532" name="Text Box 172"/>
            <p:cNvSpPr txBox="1">
              <a:spLocks noChangeArrowheads="1"/>
            </p:cNvSpPr>
            <p:nvPr/>
          </p:nvSpPr>
          <p:spPr bwMode="auto">
            <a:xfrm>
              <a:off x="2424" y="1779"/>
              <a:ext cx="26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l-GR" altLang="en-US" sz="2000">
                  <a:cs typeface="Times New Roman" panose="02020603050405020304" pitchFamily="18" charset="0"/>
                </a:rPr>
                <a:t>θ</a:t>
              </a:r>
            </a:p>
          </p:txBody>
        </p:sp>
      </p:grpSp>
      <p:sp>
        <p:nvSpPr>
          <p:cNvPr id="59565" name="Text Box 173"/>
          <p:cNvSpPr txBox="1">
            <a:spLocks noChangeArrowheads="1"/>
          </p:cNvSpPr>
          <p:nvPr/>
        </p:nvSpPr>
        <p:spPr bwMode="auto">
          <a:xfrm>
            <a:off x="6848475" y="3192463"/>
            <a:ext cx="1336675" cy="88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l-GR" altLang="en-US" sz="4000">
                <a:solidFill>
                  <a:schemeClr val="tx2"/>
                </a:solidFill>
              </a:rPr>
              <a:t>α</a:t>
            </a:r>
            <a:r>
              <a:rPr lang="en-US" altLang="en-US" sz="4000">
                <a:solidFill>
                  <a:schemeClr val="tx2"/>
                </a:solidFill>
              </a:rPr>
              <a:t> &gt; </a:t>
            </a:r>
            <a:r>
              <a:rPr lang="el-GR" altLang="en-US" sz="4000">
                <a:solidFill>
                  <a:schemeClr val="tx2"/>
                </a:solidFill>
              </a:rPr>
              <a:t>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 build="p" autoUpdateAnimBg="0"/>
      <p:bldP spid="59395" grpId="0" animBg="1" autoUpdateAnimBg="0"/>
      <p:bldP spid="59397" grpId="0" animBg="1"/>
      <p:bldP spid="5956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14288" y="600075"/>
            <a:ext cx="9072562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tabLst>
                <a:tab pos="80010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tabLst>
                <a:tab pos="80010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8001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2900">
                <a:latin typeface="Comic Sans MS" panose="030F0702030302020204" pitchFamily="66" charset="0"/>
              </a:rPr>
              <a:t>When the cutting plane is inclined to the axis and parallel to one of the generators of the cone or the inclination of the plane(</a:t>
            </a:r>
            <a:r>
              <a:rPr lang="el-GR" altLang="en-US" sz="2900">
                <a:latin typeface="Comic Sans MS" panose="030F0702030302020204" pitchFamily="66" charset="0"/>
              </a:rPr>
              <a:t>α</a:t>
            </a:r>
            <a:r>
              <a:rPr lang="en-US" altLang="en-US" sz="2900">
                <a:latin typeface="Comic Sans MS" panose="030F0702030302020204" pitchFamily="66" charset="0"/>
              </a:rPr>
              <a:t>) is equal to semi cone angle(</a:t>
            </a:r>
            <a:r>
              <a:rPr lang="el-GR" altLang="en-US" sz="2900">
                <a:latin typeface="Comic Sans MS" panose="030F0702030302020204" pitchFamily="66" charset="0"/>
              </a:rPr>
              <a:t>θ</a:t>
            </a:r>
            <a:r>
              <a:rPr lang="en-US" altLang="en-US" sz="2900">
                <a:latin typeface="Comic Sans MS" panose="030F0702030302020204" pitchFamily="66" charset="0"/>
              </a:rPr>
              <a:t>), we get a parabola as the section.</a:t>
            </a: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3276600" y="76200"/>
            <a:ext cx="2590800" cy="579438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FFFF00"/>
                </a:solidFill>
                <a:latin typeface="Comic Sans MS" panose="030F0702030302020204" pitchFamily="66" charset="0"/>
              </a:rPr>
              <a:t>PARABOLA</a:t>
            </a:r>
          </a:p>
        </p:txBody>
      </p:sp>
      <p:grpSp>
        <p:nvGrpSpPr>
          <p:cNvPr id="56324" name="Group 4"/>
          <p:cNvGrpSpPr>
            <a:grpSpLocks/>
          </p:cNvGrpSpPr>
          <p:nvPr/>
        </p:nvGrpSpPr>
        <p:grpSpPr bwMode="auto">
          <a:xfrm>
            <a:off x="2047875" y="2667000"/>
            <a:ext cx="5130800" cy="3894138"/>
            <a:chOff x="1290" y="1680"/>
            <a:chExt cx="3232" cy="2453"/>
          </a:xfrm>
        </p:grpSpPr>
        <p:grpSp>
          <p:nvGrpSpPr>
            <p:cNvPr id="16392" name="Group 5"/>
            <p:cNvGrpSpPr>
              <a:grpSpLocks/>
            </p:cNvGrpSpPr>
            <p:nvPr/>
          </p:nvGrpSpPr>
          <p:grpSpPr bwMode="auto">
            <a:xfrm>
              <a:off x="1290" y="1680"/>
              <a:ext cx="3232" cy="2453"/>
              <a:chOff x="1290" y="1395"/>
              <a:chExt cx="3232" cy="2453"/>
            </a:xfrm>
          </p:grpSpPr>
          <p:sp>
            <p:nvSpPr>
              <p:cNvPr id="56326" name="Freeform 6"/>
              <p:cNvSpPr>
                <a:spLocks/>
              </p:cNvSpPr>
              <p:nvPr/>
            </p:nvSpPr>
            <p:spPr bwMode="auto">
              <a:xfrm>
                <a:off x="1691" y="1446"/>
                <a:ext cx="1311" cy="1490"/>
              </a:xfrm>
              <a:custGeom>
                <a:avLst/>
                <a:gdLst>
                  <a:gd name="T0" fmla="*/ 0 w 7865"/>
                  <a:gd name="T1" fmla="*/ 5616 h 8944"/>
                  <a:gd name="T2" fmla="*/ 3490 w 7865"/>
                  <a:gd name="T3" fmla="*/ 8944 h 8944"/>
                  <a:gd name="T4" fmla="*/ 7865 w 7865"/>
                  <a:gd name="T5" fmla="*/ 3016 h 8944"/>
                  <a:gd name="T6" fmla="*/ 3437 w 7865"/>
                  <a:gd name="T7" fmla="*/ 0 h 8944"/>
                  <a:gd name="T8" fmla="*/ 0 w 7865"/>
                  <a:gd name="T9" fmla="*/ 5616 h 8944"/>
                  <a:gd name="T10" fmla="*/ 1 w 7865"/>
                  <a:gd name="T11" fmla="*/ 5616 h 89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65" h="8944">
                    <a:moveTo>
                      <a:pt x="0" y="5616"/>
                    </a:moveTo>
                    <a:lnTo>
                      <a:pt x="3490" y="8944"/>
                    </a:lnTo>
                    <a:lnTo>
                      <a:pt x="7865" y="3016"/>
                    </a:lnTo>
                    <a:lnTo>
                      <a:pt x="3437" y="0"/>
                    </a:lnTo>
                    <a:lnTo>
                      <a:pt x="0" y="5616"/>
                    </a:lnTo>
                    <a:lnTo>
                      <a:pt x="1" y="5616"/>
                    </a:lnTo>
                  </a:path>
                </a:pathLst>
              </a:custGeom>
              <a:solidFill>
                <a:srgbClr val="CCFFFF">
                  <a:alpha val="92999"/>
                </a:srgbClr>
              </a:solidFill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27" name="Freeform 7"/>
              <p:cNvSpPr>
                <a:spLocks/>
              </p:cNvSpPr>
              <p:nvPr/>
            </p:nvSpPr>
            <p:spPr bwMode="auto">
              <a:xfrm>
                <a:off x="1293" y="2423"/>
                <a:ext cx="1379" cy="468"/>
              </a:xfrm>
              <a:custGeom>
                <a:avLst/>
                <a:gdLst>
                  <a:gd name="T0" fmla="*/ 9655 w 9656"/>
                  <a:gd name="T1" fmla="*/ 1751 h 3275"/>
                  <a:gd name="T2" fmla="*/ 9579 w 9656"/>
                  <a:gd name="T3" fmla="*/ 1449 h 3275"/>
                  <a:gd name="T4" fmla="*/ 9342 w 9656"/>
                  <a:gd name="T5" fmla="*/ 1152 h 3275"/>
                  <a:gd name="T6" fmla="*/ 8952 w 9656"/>
                  <a:gd name="T7" fmla="*/ 874 h 3275"/>
                  <a:gd name="T8" fmla="*/ 8421 w 9656"/>
                  <a:gd name="T9" fmla="*/ 620 h 3275"/>
                  <a:gd name="T10" fmla="*/ 7767 w 9656"/>
                  <a:gd name="T11" fmla="*/ 401 h 3275"/>
                  <a:gd name="T12" fmla="*/ 7014 w 9656"/>
                  <a:gd name="T13" fmla="*/ 225 h 3275"/>
                  <a:gd name="T14" fmla="*/ 6185 w 9656"/>
                  <a:gd name="T15" fmla="*/ 97 h 3275"/>
                  <a:gd name="T16" fmla="*/ 5310 w 9656"/>
                  <a:gd name="T17" fmla="*/ 21 h 3275"/>
                  <a:gd name="T18" fmla="*/ 4420 w 9656"/>
                  <a:gd name="T19" fmla="*/ 0 h 3275"/>
                  <a:gd name="T20" fmla="*/ 3543 w 9656"/>
                  <a:gd name="T21" fmla="*/ 35 h 3275"/>
                  <a:gd name="T22" fmla="*/ 2710 w 9656"/>
                  <a:gd name="T23" fmla="*/ 125 h 3275"/>
                  <a:gd name="T24" fmla="*/ 1948 w 9656"/>
                  <a:gd name="T25" fmla="*/ 265 h 3275"/>
                  <a:gd name="T26" fmla="*/ 1285 w 9656"/>
                  <a:gd name="T27" fmla="*/ 452 h 3275"/>
                  <a:gd name="T28" fmla="*/ 743 w 9656"/>
                  <a:gd name="T29" fmla="*/ 681 h 3275"/>
                  <a:gd name="T30" fmla="*/ 339 w 9656"/>
                  <a:gd name="T31" fmla="*/ 941 h 3275"/>
                  <a:gd name="T32" fmla="*/ 88 w 9656"/>
                  <a:gd name="T33" fmla="*/ 1226 h 3275"/>
                  <a:gd name="T34" fmla="*/ 0 w 9656"/>
                  <a:gd name="T35" fmla="*/ 1523 h 3275"/>
                  <a:gd name="T36" fmla="*/ 74 w 9656"/>
                  <a:gd name="T37" fmla="*/ 1826 h 3275"/>
                  <a:gd name="T38" fmla="*/ 311 w 9656"/>
                  <a:gd name="T39" fmla="*/ 2122 h 3275"/>
                  <a:gd name="T40" fmla="*/ 702 w 9656"/>
                  <a:gd name="T41" fmla="*/ 2401 h 3275"/>
                  <a:gd name="T42" fmla="*/ 1234 w 9656"/>
                  <a:gd name="T43" fmla="*/ 2654 h 3275"/>
                  <a:gd name="T44" fmla="*/ 1887 w 9656"/>
                  <a:gd name="T45" fmla="*/ 2872 h 3275"/>
                  <a:gd name="T46" fmla="*/ 2641 w 9656"/>
                  <a:gd name="T47" fmla="*/ 3049 h 3275"/>
                  <a:gd name="T48" fmla="*/ 3469 w 9656"/>
                  <a:gd name="T49" fmla="*/ 3178 h 3275"/>
                  <a:gd name="T50" fmla="*/ 4343 w 9656"/>
                  <a:gd name="T51" fmla="*/ 3254 h 3275"/>
                  <a:gd name="T52" fmla="*/ 5235 w 9656"/>
                  <a:gd name="T53" fmla="*/ 3275 h 3275"/>
                  <a:gd name="T54" fmla="*/ 6111 w 9656"/>
                  <a:gd name="T55" fmla="*/ 3240 h 3275"/>
                  <a:gd name="T56" fmla="*/ 6945 w 9656"/>
                  <a:gd name="T57" fmla="*/ 3150 h 3275"/>
                  <a:gd name="T58" fmla="*/ 7706 w 9656"/>
                  <a:gd name="T59" fmla="*/ 3010 h 3275"/>
                  <a:gd name="T60" fmla="*/ 8369 w 9656"/>
                  <a:gd name="T61" fmla="*/ 2822 h 3275"/>
                  <a:gd name="T62" fmla="*/ 8912 w 9656"/>
                  <a:gd name="T63" fmla="*/ 2593 h 3275"/>
                  <a:gd name="T64" fmla="*/ 9314 w 9656"/>
                  <a:gd name="T65" fmla="*/ 2333 h 3275"/>
                  <a:gd name="T66" fmla="*/ 9565 w 9656"/>
                  <a:gd name="T67" fmla="*/ 2048 h 3275"/>
                  <a:gd name="T68" fmla="*/ 9655 w 9656"/>
                  <a:gd name="T69" fmla="*/ 1751 h 3275"/>
                  <a:gd name="T70" fmla="*/ 9656 w 9656"/>
                  <a:gd name="T71" fmla="*/ 1751 h 3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656" h="3275">
                    <a:moveTo>
                      <a:pt x="9655" y="1751"/>
                    </a:moveTo>
                    <a:lnTo>
                      <a:pt x="9579" y="1449"/>
                    </a:lnTo>
                    <a:lnTo>
                      <a:pt x="9342" y="1152"/>
                    </a:lnTo>
                    <a:lnTo>
                      <a:pt x="8952" y="874"/>
                    </a:lnTo>
                    <a:lnTo>
                      <a:pt x="8421" y="620"/>
                    </a:lnTo>
                    <a:lnTo>
                      <a:pt x="7767" y="401"/>
                    </a:lnTo>
                    <a:lnTo>
                      <a:pt x="7014" y="225"/>
                    </a:lnTo>
                    <a:lnTo>
                      <a:pt x="6185" y="97"/>
                    </a:lnTo>
                    <a:lnTo>
                      <a:pt x="5310" y="21"/>
                    </a:lnTo>
                    <a:lnTo>
                      <a:pt x="4420" y="0"/>
                    </a:lnTo>
                    <a:lnTo>
                      <a:pt x="3543" y="35"/>
                    </a:lnTo>
                    <a:lnTo>
                      <a:pt x="2710" y="125"/>
                    </a:lnTo>
                    <a:lnTo>
                      <a:pt x="1948" y="265"/>
                    </a:lnTo>
                    <a:lnTo>
                      <a:pt x="1285" y="452"/>
                    </a:lnTo>
                    <a:lnTo>
                      <a:pt x="743" y="681"/>
                    </a:lnTo>
                    <a:lnTo>
                      <a:pt x="339" y="941"/>
                    </a:lnTo>
                    <a:lnTo>
                      <a:pt x="88" y="1226"/>
                    </a:lnTo>
                    <a:lnTo>
                      <a:pt x="0" y="1523"/>
                    </a:lnTo>
                    <a:lnTo>
                      <a:pt x="74" y="1826"/>
                    </a:lnTo>
                    <a:lnTo>
                      <a:pt x="311" y="2122"/>
                    </a:lnTo>
                    <a:lnTo>
                      <a:pt x="702" y="2401"/>
                    </a:lnTo>
                    <a:lnTo>
                      <a:pt x="1234" y="2654"/>
                    </a:lnTo>
                    <a:lnTo>
                      <a:pt x="1887" y="2872"/>
                    </a:lnTo>
                    <a:lnTo>
                      <a:pt x="2641" y="3049"/>
                    </a:lnTo>
                    <a:lnTo>
                      <a:pt x="3469" y="3178"/>
                    </a:lnTo>
                    <a:lnTo>
                      <a:pt x="4343" y="3254"/>
                    </a:lnTo>
                    <a:lnTo>
                      <a:pt x="5235" y="3275"/>
                    </a:lnTo>
                    <a:lnTo>
                      <a:pt x="6111" y="3240"/>
                    </a:lnTo>
                    <a:lnTo>
                      <a:pt x="6945" y="3150"/>
                    </a:lnTo>
                    <a:lnTo>
                      <a:pt x="7706" y="3010"/>
                    </a:lnTo>
                    <a:lnTo>
                      <a:pt x="8369" y="2822"/>
                    </a:lnTo>
                    <a:lnTo>
                      <a:pt x="8912" y="2593"/>
                    </a:lnTo>
                    <a:lnTo>
                      <a:pt x="9314" y="2333"/>
                    </a:lnTo>
                    <a:lnTo>
                      <a:pt x="9565" y="2048"/>
                    </a:lnTo>
                    <a:lnTo>
                      <a:pt x="9655" y="1751"/>
                    </a:lnTo>
                    <a:lnTo>
                      <a:pt x="9656" y="1751"/>
                    </a:lnTo>
                  </a:path>
                </a:pathLst>
              </a:custGeom>
              <a:noFill/>
              <a:ln w="22225" cap="flat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28" name="Freeform 8"/>
              <p:cNvSpPr>
                <a:spLocks/>
              </p:cNvSpPr>
              <p:nvPr/>
            </p:nvSpPr>
            <p:spPr bwMode="auto">
              <a:xfrm>
                <a:off x="1717" y="1441"/>
                <a:ext cx="282" cy="448"/>
              </a:xfrm>
              <a:custGeom>
                <a:avLst/>
                <a:gdLst>
                  <a:gd name="T0" fmla="*/ 1972 w 1972"/>
                  <a:gd name="T1" fmla="*/ 0 h 3138"/>
                  <a:gd name="T2" fmla="*/ 0 w 1972"/>
                  <a:gd name="T3" fmla="*/ 3138 h 3138"/>
                  <a:gd name="T4" fmla="*/ 1 w 1972"/>
                  <a:gd name="T5" fmla="*/ 3138 h 3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2" h="3138">
                    <a:moveTo>
                      <a:pt x="1972" y="0"/>
                    </a:moveTo>
                    <a:lnTo>
                      <a:pt x="0" y="3138"/>
                    </a:lnTo>
                    <a:lnTo>
                      <a:pt x="1" y="3138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29" name="Freeform 9"/>
              <p:cNvSpPr>
                <a:spLocks/>
              </p:cNvSpPr>
              <p:nvPr/>
            </p:nvSpPr>
            <p:spPr bwMode="auto">
              <a:xfrm>
                <a:off x="1999" y="1441"/>
                <a:ext cx="237" cy="448"/>
              </a:xfrm>
              <a:custGeom>
                <a:avLst/>
                <a:gdLst>
                  <a:gd name="T0" fmla="*/ 0 w 1662"/>
                  <a:gd name="T1" fmla="*/ 0 h 3138"/>
                  <a:gd name="T2" fmla="*/ 1661 w 1662"/>
                  <a:gd name="T3" fmla="*/ 3138 h 3138"/>
                  <a:gd name="T4" fmla="*/ 1662 w 1662"/>
                  <a:gd name="T5" fmla="*/ 3138 h 3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62" h="3138">
                    <a:moveTo>
                      <a:pt x="0" y="0"/>
                    </a:moveTo>
                    <a:lnTo>
                      <a:pt x="1661" y="3138"/>
                    </a:lnTo>
                    <a:lnTo>
                      <a:pt x="1662" y="3138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30" name="Freeform 10"/>
              <p:cNvSpPr>
                <a:spLocks/>
              </p:cNvSpPr>
              <p:nvPr/>
            </p:nvSpPr>
            <p:spPr bwMode="auto">
              <a:xfrm>
                <a:off x="2229" y="1877"/>
                <a:ext cx="1" cy="12"/>
              </a:xfrm>
              <a:custGeom>
                <a:avLst/>
                <a:gdLst>
                  <a:gd name="T0" fmla="*/ 0 w 1"/>
                  <a:gd name="T1" fmla="*/ 0 h 85"/>
                  <a:gd name="T2" fmla="*/ 0 w 1"/>
                  <a:gd name="T3" fmla="*/ 85 h 85"/>
                  <a:gd name="T4" fmla="*/ 1 w 1"/>
                  <a:gd name="T5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85">
                    <a:moveTo>
                      <a:pt x="0" y="0"/>
                    </a:moveTo>
                    <a:lnTo>
                      <a:pt x="0" y="85"/>
                    </a:lnTo>
                    <a:lnTo>
                      <a:pt x="1" y="8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31" name="Freeform 11"/>
              <p:cNvSpPr>
                <a:spLocks/>
              </p:cNvSpPr>
              <p:nvPr/>
            </p:nvSpPr>
            <p:spPr bwMode="auto">
              <a:xfrm>
                <a:off x="2396" y="2177"/>
                <a:ext cx="276" cy="496"/>
              </a:xfrm>
              <a:custGeom>
                <a:avLst/>
                <a:gdLst>
                  <a:gd name="T0" fmla="*/ 0 w 1933"/>
                  <a:gd name="T1" fmla="*/ 0 h 3471"/>
                  <a:gd name="T2" fmla="*/ 1932 w 1933"/>
                  <a:gd name="T3" fmla="*/ 3471 h 3471"/>
                  <a:gd name="T4" fmla="*/ 1933 w 1933"/>
                  <a:gd name="T5" fmla="*/ 3471 h 34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33" h="3471">
                    <a:moveTo>
                      <a:pt x="0" y="0"/>
                    </a:moveTo>
                    <a:lnTo>
                      <a:pt x="1932" y="3471"/>
                    </a:lnTo>
                    <a:lnTo>
                      <a:pt x="1933" y="3471"/>
                    </a:lnTo>
                  </a:path>
                </a:pathLst>
              </a:custGeom>
              <a:noFill/>
              <a:ln w="22225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32" name="Freeform 12"/>
              <p:cNvSpPr>
                <a:spLocks/>
              </p:cNvSpPr>
              <p:nvPr/>
            </p:nvSpPr>
            <p:spPr bwMode="auto">
              <a:xfrm>
                <a:off x="1293" y="2177"/>
                <a:ext cx="261" cy="463"/>
              </a:xfrm>
              <a:custGeom>
                <a:avLst/>
                <a:gdLst>
                  <a:gd name="T0" fmla="*/ 1831 w 1831"/>
                  <a:gd name="T1" fmla="*/ 0 h 3243"/>
                  <a:gd name="T2" fmla="*/ 0 w 1831"/>
                  <a:gd name="T3" fmla="*/ 3243 h 3243"/>
                  <a:gd name="T4" fmla="*/ 1 w 1831"/>
                  <a:gd name="T5" fmla="*/ 3243 h 3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1" h="3243">
                    <a:moveTo>
                      <a:pt x="1831" y="0"/>
                    </a:moveTo>
                    <a:lnTo>
                      <a:pt x="0" y="3243"/>
                    </a:lnTo>
                    <a:lnTo>
                      <a:pt x="1" y="3243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33" name="Freeform 13"/>
              <p:cNvSpPr>
                <a:spLocks/>
              </p:cNvSpPr>
              <p:nvPr/>
            </p:nvSpPr>
            <p:spPr bwMode="auto">
              <a:xfrm>
                <a:off x="1999" y="1395"/>
                <a:ext cx="1" cy="9"/>
              </a:xfrm>
              <a:custGeom>
                <a:avLst/>
                <a:gdLst>
                  <a:gd name="T0" fmla="*/ 0 w 1"/>
                  <a:gd name="T1" fmla="*/ 0 h 65"/>
                  <a:gd name="T2" fmla="*/ 0 w 1"/>
                  <a:gd name="T3" fmla="*/ 65 h 65"/>
                  <a:gd name="T4" fmla="*/ 1 w 1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5">
                    <a:moveTo>
                      <a:pt x="0" y="0"/>
                    </a:moveTo>
                    <a:lnTo>
                      <a:pt x="0" y="65"/>
                    </a:lnTo>
                    <a:lnTo>
                      <a:pt x="1" y="6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34" name="Freeform 14"/>
              <p:cNvSpPr>
                <a:spLocks/>
              </p:cNvSpPr>
              <p:nvPr/>
            </p:nvSpPr>
            <p:spPr bwMode="auto">
              <a:xfrm>
                <a:off x="1999" y="1413"/>
                <a:ext cx="1" cy="56"/>
              </a:xfrm>
              <a:custGeom>
                <a:avLst/>
                <a:gdLst>
                  <a:gd name="T0" fmla="*/ 0 w 1"/>
                  <a:gd name="T1" fmla="*/ 0 h 391"/>
                  <a:gd name="T2" fmla="*/ 0 w 1"/>
                  <a:gd name="T3" fmla="*/ 391 h 391"/>
                  <a:gd name="T4" fmla="*/ 1 w 1"/>
                  <a:gd name="T5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1">
                    <a:moveTo>
                      <a:pt x="0" y="0"/>
                    </a:moveTo>
                    <a:lnTo>
                      <a:pt x="0" y="391"/>
                    </a:lnTo>
                    <a:lnTo>
                      <a:pt x="1" y="39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35" name="Freeform 15"/>
              <p:cNvSpPr>
                <a:spLocks/>
              </p:cNvSpPr>
              <p:nvPr/>
            </p:nvSpPr>
            <p:spPr bwMode="auto">
              <a:xfrm>
                <a:off x="1999" y="1478"/>
                <a:ext cx="1" cy="10"/>
              </a:xfrm>
              <a:custGeom>
                <a:avLst/>
                <a:gdLst>
                  <a:gd name="T0" fmla="*/ 0 w 1"/>
                  <a:gd name="T1" fmla="*/ 0 h 65"/>
                  <a:gd name="T2" fmla="*/ 0 w 1"/>
                  <a:gd name="T3" fmla="*/ 65 h 65"/>
                  <a:gd name="T4" fmla="*/ 1 w 1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5">
                    <a:moveTo>
                      <a:pt x="0" y="0"/>
                    </a:moveTo>
                    <a:lnTo>
                      <a:pt x="0" y="65"/>
                    </a:lnTo>
                    <a:lnTo>
                      <a:pt x="1" y="6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36" name="Freeform 16"/>
              <p:cNvSpPr>
                <a:spLocks/>
              </p:cNvSpPr>
              <p:nvPr/>
            </p:nvSpPr>
            <p:spPr bwMode="auto">
              <a:xfrm>
                <a:off x="1999" y="1497"/>
                <a:ext cx="1" cy="56"/>
              </a:xfrm>
              <a:custGeom>
                <a:avLst/>
                <a:gdLst>
                  <a:gd name="T0" fmla="*/ 0 w 1"/>
                  <a:gd name="T1" fmla="*/ 0 h 391"/>
                  <a:gd name="T2" fmla="*/ 0 w 1"/>
                  <a:gd name="T3" fmla="*/ 391 h 391"/>
                  <a:gd name="T4" fmla="*/ 1 w 1"/>
                  <a:gd name="T5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1">
                    <a:moveTo>
                      <a:pt x="0" y="0"/>
                    </a:moveTo>
                    <a:lnTo>
                      <a:pt x="0" y="391"/>
                    </a:lnTo>
                    <a:lnTo>
                      <a:pt x="1" y="39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37" name="Freeform 17"/>
              <p:cNvSpPr>
                <a:spLocks/>
              </p:cNvSpPr>
              <p:nvPr/>
            </p:nvSpPr>
            <p:spPr bwMode="auto">
              <a:xfrm>
                <a:off x="1999" y="1562"/>
                <a:ext cx="1" cy="9"/>
              </a:xfrm>
              <a:custGeom>
                <a:avLst/>
                <a:gdLst>
                  <a:gd name="T0" fmla="*/ 0 w 1"/>
                  <a:gd name="T1" fmla="*/ 0 h 65"/>
                  <a:gd name="T2" fmla="*/ 0 w 1"/>
                  <a:gd name="T3" fmla="*/ 65 h 65"/>
                  <a:gd name="T4" fmla="*/ 1 w 1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5">
                    <a:moveTo>
                      <a:pt x="0" y="0"/>
                    </a:moveTo>
                    <a:lnTo>
                      <a:pt x="0" y="65"/>
                    </a:lnTo>
                    <a:lnTo>
                      <a:pt x="1" y="6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38" name="Freeform 18"/>
              <p:cNvSpPr>
                <a:spLocks/>
              </p:cNvSpPr>
              <p:nvPr/>
            </p:nvSpPr>
            <p:spPr bwMode="auto">
              <a:xfrm>
                <a:off x="1999" y="1581"/>
                <a:ext cx="1" cy="55"/>
              </a:xfrm>
              <a:custGeom>
                <a:avLst/>
                <a:gdLst>
                  <a:gd name="T0" fmla="*/ 0 w 1"/>
                  <a:gd name="T1" fmla="*/ 0 h 389"/>
                  <a:gd name="T2" fmla="*/ 0 w 1"/>
                  <a:gd name="T3" fmla="*/ 389 h 389"/>
                  <a:gd name="T4" fmla="*/ 1 w 1"/>
                  <a:gd name="T5" fmla="*/ 38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89">
                    <a:moveTo>
                      <a:pt x="0" y="0"/>
                    </a:moveTo>
                    <a:lnTo>
                      <a:pt x="0" y="389"/>
                    </a:lnTo>
                    <a:lnTo>
                      <a:pt x="1" y="389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39" name="Freeform 19"/>
              <p:cNvSpPr>
                <a:spLocks/>
              </p:cNvSpPr>
              <p:nvPr/>
            </p:nvSpPr>
            <p:spPr bwMode="auto">
              <a:xfrm>
                <a:off x="1999" y="1646"/>
                <a:ext cx="1" cy="9"/>
              </a:xfrm>
              <a:custGeom>
                <a:avLst/>
                <a:gdLst>
                  <a:gd name="T0" fmla="*/ 0 w 1"/>
                  <a:gd name="T1" fmla="*/ 0 h 65"/>
                  <a:gd name="T2" fmla="*/ 0 w 1"/>
                  <a:gd name="T3" fmla="*/ 65 h 65"/>
                  <a:gd name="T4" fmla="*/ 1 w 1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5">
                    <a:moveTo>
                      <a:pt x="0" y="0"/>
                    </a:moveTo>
                    <a:lnTo>
                      <a:pt x="0" y="65"/>
                    </a:lnTo>
                    <a:lnTo>
                      <a:pt x="1" y="6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40" name="Freeform 20"/>
              <p:cNvSpPr>
                <a:spLocks/>
              </p:cNvSpPr>
              <p:nvPr/>
            </p:nvSpPr>
            <p:spPr bwMode="auto">
              <a:xfrm>
                <a:off x="1999" y="1664"/>
                <a:ext cx="1" cy="56"/>
              </a:xfrm>
              <a:custGeom>
                <a:avLst/>
                <a:gdLst>
                  <a:gd name="T0" fmla="*/ 0 w 1"/>
                  <a:gd name="T1" fmla="*/ 0 h 390"/>
                  <a:gd name="T2" fmla="*/ 0 w 1"/>
                  <a:gd name="T3" fmla="*/ 390 h 390"/>
                  <a:gd name="T4" fmla="*/ 1 w 1"/>
                  <a:gd name="T5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0">
                    <a:moveTo>
                      <a:pt x="0" y="0"/>
                    </a:moveTo>
                    <a:lnTo>
                      <a:pt x="0" y="390"/>
                    </a:lnTo>
                    <a:lnTo>
                      <a:pt x="1" y="390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41" name="Freeform 21"/>
              <p:cNvSpPr>
                <a:spLocks/>
              </p:cNvSpPr>
              <p:nvPr/>
            </p:nvSpPr>
            <p:spPr bwMode="auto">
              <a:xfrm>
                <a:off x="1999" y="1729"/>
                <a:ext cx="1" cy="10"/>
              </a:xfrm>
              <a:custGeom>
                <a:avLst/>
                <a:gdLst>
                  <a:gd name="T0" fmla="*/ 0 w 1"/>
                  <a:gd name="T1" fmla="*/ 0 h 66"/>
                  <a:gd name="T2" fmla="*/ 0 w 1"/>
                  <a:gd name="T3" fmla="*/ 66 h 66"/>
                  <a:gd name="T4" fmla="*/ 1 w 1"/>
                  <a:gd name="T5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6">
                    <a:moveTo>
                      <a:pt x="0" y="0"/>
                    </a:moveTo>
                    <a:lnTo>
                      <a:pt x="0" y="66"/>
                    </a:lnTo>
                    <a:lnTo>
                      <a:pt x="1" y="66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42" name="Freeform 22"/>
              <p:cNvSpPr>
                <a:spLocks/>
              </p:cNvSpPr>
              <p:nvPr/>
            </p:nvSpPr>
            <p:spPr bwMode="auto">
              <a:xfrm>
                <a:off x="1999" y="1748"/>
                <a:ext cx="1" cy="56"/>
              </a:xfrm>
              <a:custGeom>
                <a:avLst/>
                <a:gdLst>
                  <a:gd name="T0" fmla="*/ 0 w 1"/>
                  <a:gd name="T1" fmla="*/ 0 h 391"/>
                  <a:gd name="T2" fmla="*/ 0 w 1"/>
                  <a:gd name="T3" fmla="*/ 391 h 391"/>
                  <a:gd name="T4" fmla="*/ 1 w 1"/>
                  <a:gd name="T5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1">
                    <a:moveTo>
                      <a:pt x="0" y="0"/>
                    </a:moveTo>
                    <a:lnTo>
                      <a:pt x="0" y="391"/>
                    </a:lnTo>
                    <a:lnTo>
                      <a:pt x="1" y="39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43" name="Freeform 23"/>
              <p:cNvSpPr>
                <a:spLocks/>
              </p:cNvSpPr>
              <p:nvPr/>
            </p:nvSpPr>
            <p:spPr bwMode="auto">
              <a:xfrm>
                <a:off x="1999" y="1813"/>
                <a:ext cx="1" cy="9"/>
              </a:xfrm>
              <a:custGeom>
                <a:avLst/>
                <a:gdLst>
                  <a:gd name="T0" fmla="*/ 0 w 1"/>
                  <a:gd name="T1" fmla="*/ 0 h 64"/>
                  <a:gd name="T2" fmla="*/ 0 w 1"/>
                  <a:gd name="T3" fmla="*/ 64 h 64"/>
                  <a:gd name="T4" fmla="*/ 1 w 1"/>
                  <a:gd name="T5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4">
                    <a:moveTo>
                      <a:pt x="0" y="0"/>
                    </a:moveTo>
                    <a:lnTo>
                      <a:pt x="0" y="64"/>
                    </a:lnTo>
                    <a:lnTo>
                      <a:pt x="1" y="64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44" name="Freeform 24"/>
              <p:cNvSpPr>
                <a:spLocks/>
              </p:cNvSpPr>
              <p:nvPr/>
            </p:nvSpPr>
            <p:spPr bwMode="auto">
              <a:xfrm>
                <a:off x="1999" y="1831"/>
                <a:ext cx="1" cy="56"/>
              </a:xfrm>
              <a:custGeom>
                <a:avLst/>
                <a:gdLst>
                  <a:gd name="T0" fmla="*/ 0 w 1"/>
                  <a:gd name="T1" fmla="*/ 0 h 391"/>
                  <a:gd name="T2" fmla="*/ 0 w 1"/>
                  <a:gd name="T3" fmla="*/ 391 h 391"/>
                  <a:gd name="T4" fmla="*/ 1 w 1"/>
                  <a:gd name="T5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1">
                    <a:moveTo>
                      <a:pt x="0" y="0"/>
                    </a:moveTo>
                    <a:lnTo>
                      <a:pt x="0" y="391"/>
                    </a:lnTo>
                    <a:lnTo>
                      <a:pt x="1" y="39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45" name="Freeform 25"/>
              <p:cNvSpPr>
                <a:spLocks/>
              </p:cNvSpPr>
              <p:nvPr/>
            </p:nvSpPr>
            <p:spPr bwMode="auto">
              <a:xfrm>
                <a:off x="1999" y="1896"/>
                <a:ext cx="1" cy="10"/>
              </a:xfrm>
              <a:custGeom>
                <a:avLst/>
                <a:gdLst>
                  <a:gd name="T0" fmla="*/ 0 w 1"/>
                  <a:gd name="T1" fmla="*/ 0 h 66"/>
                  <a:gd name="T2" fmla="*/ 0 w 1"/>
                  <a:gd name="T3" fmla="*/ 66 h 66"/>
                  <a:gd name="T4" fmla="*/ 1 w 1"/>
                  <a:gd name="T5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6">
                    <a:moveTo>
                      <a:pt x="0" y="0"/>
                    </a:moveTo>
                    <a:lnTo>
                      <a:pt x="0" y="66"/>
                    </a:lnTo>
                    <a:lnTo>
                      <a:pt x="1" y="66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46" name="Freeform 26"/>
              <p:cNvSpPr>
                <a:spLocks/>
              </p:cNvSpPr>
              <p:nvPr/>
            </p:nvSpPr>
            <p:spPr bwMode="auto">
              <a:xfrm>
                <a:off x="1999" y="1915"/>
                <a:ext cx="1" cy="56"/>
              </a:xfrm>
              <a:custGeom>
                <a:avLst/>
                <a:gdLst>
                  <a:gd name="T0" fmla="*/ 0 w 1"/>
                  <a:gd name="T1" fmla="*/ 0 h 390"/>
                  <a:gd name="T2" fmla="*/ 0 w 1"/>
                  <a:gd name="T3" fmla="*/ 390 h 390"/>
                  <a:gd name="T4" fmla="*/ 1 w 1"/>
                  <a:gd name="T5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0">
                    <a:moveTo>
                      <a:pt x="0" y="0"/>
                    </a:moveTo>
                    <a:lnTo>
                      <a:pt x="0" y="390"/>
                    </a:lnTo>
                    <a:lnTo>
                      <a:pt x="1" y="390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47" name="Freeform 27"/>
              <p:cNvSpPr>
                <a:spLocks/>
              </p:cNvSpPr>
              <p:nvPr/>
            </p:nvSpPr>
            <p:spPr bwMode="auto">
              <a:xfrm>
                <a:off x="1999" y="1980"/>
                <a:ext cx="1" cy="9"/>
              </a:xfrm>
              <a:custGeom>
                <a:avLst/>
                <a:gdLst>
                  <a:gd name="T0" fmla="*/ 0 w 1"/>
                  <a:gd name="T1" fmla="*/ 0 h 65"/>
                  <a:gd name="T2" fmla="*/ 0 w 1"/>
                  <a:gd name="T3" fmla="*/ 65 h 65"/>
                  <a:gd name="T4" fmla="*/ 1 w 1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5">
                    <a:moveTo>
                      <a:pt x="0" y="0"/>
                    </a:moveTo>
                    <a:lnTo>
                      <a:pt x="0" y="65"/>
                    </a:lnTo>
                    <a:lnTo>
                      <a:pt x="1" y="6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48" name="Freeform 28"/>
              <p:cNvSpPr>
                <a:spLocks/>
              </p:cNvSpPr>
              <p:nvPr/>
            </p:nvSpPr>
            <p:spPr bwMode="auto">
              <a:xfrm>
                <a:off x="1999" y="1999"/>
                <a:ext cx="1" cy="55"/>
              </a:xfrm>
              <a:custGeom>
                <a:avLst/>
                <a:gdLst>
                  <a:gd name="T0" fmla="*/ 0 w 1"/>
                  <a:gd name="T1" fmla="*/ 0 h 389"/>
                  <a:gd name="T2" fmla="*/ 0 w 1"/>
                  <a:gd name="T3" fmla="*/ 389 h 389"/>
                  <a:gd name="T4" fmla="*/ 1 w 1"/>
                  <a:gd name="T5" fmla="*/ 38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89">
                    <a:moveTo>
                      <a:pt x="0" y="0"/>
                    </a:moveTo>
                    <a:lnTo>
                      <a:pt x="0" y="389"/>
                    </a:lnTo>
                    <a:lnTo>
                      <a:pt x="1" y="389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49" name="Freeform 29"/>
              <p:cNvSpPr>
                <a:spLocks/>
              </p:cNvSpPr>
              <p:nvPr/>
            </p:nvSpPr>
            <p:spPr bwMode="auto">
              <a:xfrm>
                <a:off x="1999" y="2064"/>
                <a:ext cx="1" cy="9"/>
              </a:xfrm>
              <a:custGeom>
                <a:avLst/>
                <a:gdLst>
                  <a:gd name="T0" fmla="*/ 0 w 1"/>
                  <a:gd name="T1" fmla="*/ 0 h 65"/>
                  <a:gd name="T2" fmla="*/ 0 w 1"/>
                  <a:gd name="T3" fmla="*/ 65 h 65"/>
                  <a:gd name="T4" fmla="*/ 1 w 1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5">
                    <a:moveTo>
                      <a:pt x="0" y="0"/>
                    </a:moveTo>
                    <a:lnTo>
                      <a:pt x="0" y="65"/>
                    </a:lnTo>
                    <a:lnTo>
                      <a:pt x="1" y="6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50" name="Freeform 30"/>
              <p:cNvSpPr>
                <a:spLocks/>
              </p:cNvSpPr>
              <p:nvPr/>
            </p:nvSpPr>
            <p:spPr bwMode="auto">
              <a:xfrm>
                <a:off x="1999" y="2082"/>
                <a:ext cx="1" cy="56"/>
              </a:xfrm>
              <a:custGeom>
                <a:avLst/>
                <a:gdLst>
                  <a:gd name="T0" fmla="*/ 0 w 1"/>
                  <a:gd name="T1" fmla="*/ 0 h 391"/>
                  <a:gd name="T2" fmla="*/ 0 w 1"/>
                  <a:gd name="T3" fmla="*/ 391 h 391"/>
                  <a:gd name="T4" fmla="*/ 1 w 1"/>
                  <a:gd name="T5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1">
                    <a:moveTo>
                      <a:pt x="0" y="0"/>
                    </a:moveTo>
                    <a:lnTo>
                      <a:pt x="0" y="391"/>
                    </a:lnTo>
                    <a:lnTo>
                      <a:pt x="1" y="39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51" name="Freeform 31"/>
              <p:cNvSpPr>
                <a:spLocks/>
              </p:cNvSpPr>
              <p:nvPr/>
            </p:nvSpPr>
            <p:spPr bwMode="auto">
              <a:xfrm>
                <a:off x="1999" y="2147"/>
                <a:ext cx="1" cy="10"/>
              </a:xfrm>
              <a:custGeom>
                <a:avLst/>
                <a:gdLst>
                  <a:gd name="T0" fmla="*/ 0 w 1"/>
                  <a:gd name="T1" fmla="*/ 0 h 65"/>
                  <a:gd name="T2" fmla="*/ 0 w 1"/>
                  <a:gd name="T3" fmla="*/ 65 h 65"/>
                  <a:gd name="T4" fmla="*/ 1 w 1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5">
                    <a:moveTo>
                      <a:pt x="0" y="0"/>
                    </a:moveTo>
                    <a:lnTo>
                      <a:pt x="0" y="65"/>
                    </a:lnTo>
                    <a:lnTo>
                      <a:pt x="1" y="6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52" name="Freeform 32"/>
              <p:cNvSpPr>
                <a:spLocks/>
              </p:cNvSpPr>
              <p:nvPr/>
            </p:nvSpPr>
            <p:spPr bwMode="auto">
              <a:xfrm>
                <a:off x="1999" y="2166"/>
                <a:ext cx="1" cy="56"/>
              </a:xfrm>
              <a:custGeom>
                <a:avLst/>
                <a:gdLst>
                  <a:gd name="T0" fmla="*/ 0 w 1"/>
                  <a:gd name="T1" fmla="*/ 0 h 391"/>
                  <a:gd name="T2" fmla="*/ 0 w 1"/>
                  <a:gd name="T3" fmla="*/ 391 h 391"/>
                  <a:gd name="T4" fmla="*/ 1 w 1"/>
                  <a:gd name="T5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1">
                    <a:moveTo>
                      <a:pt x="0" y="0"/>
                    </a:moveTo>
                    <a:lnTo>
                      <a:pt x="0" y="391"/>
                    </a:lnTo>
                    <a:lnTo>
                      <a:pt x="1" y="39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53" name="Freeform 33"/>
              <p:cNvSpPr>
                <a:spLocks/>
              </p:cNvSpPr>
              <p:nvPr/>
            </p:nvSpPr>
            <p:spPr bwMode="auto">
              <a:xfrm>
                <a:off x="1999" y="2231"/>
                <a:ext cx="1" cy="9"/>
              </a:xfrm>
              <a:custGeom>
                <a:avLst/>
                <a:gdLst>
                  <a:gd name="T0" fmla="*/ 0 w 1"/>
                  <a:gd name="T1" fmla="*/ 0 h 65"/>
                  <a:gd name="T2" fmla="*/ 0 w 1"/>
                  <a:gd name="T3" fmla="*/ 65 h 65"/>
                  <a:gd name="T4" fmla="*/ 1 w 1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5">
                    <a:moveTo>
                      <a:pt x="0" y="0"/>
                    </a:moveTo>
                    <a:lnTo>
                      <a:pt x="0" y="65"/>
                    </a:lnTo>
                    <a:lnTo>
                      <a:pt x="1" y="6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54" name="Freeform 34"/>
              <p:cNvSpPr>
                <a:spLocks/>
              </p:cNvSpPr>
              <p:nvPr/>
            </p:nvSpPr>
            <p:spPr bwMode="auto">
              <a:xfrm>
                <a:off x="1999" y="2250"/>
                <a:ext cx="1" cy="55"/>
              </a:xfrm>
              <a:custGeom>
                <a:avLst/>
                <a:gdLst>
                  <a:gd name="T0" fmla="*/ 0 w 1"/>
                  <a:gd name="T1" fmla="*/ 0 h 389"/>
                  <a:gd name="T2" fmla="*/ 0 w 1"/>
                  <a:gd name="T3" fmla="*/ 389 h 389"/>
                  <a:gd name="T4" fmla="*/ 1 w 1"/>
                  <a:gd name="T5" fmla="*/ 38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89">
                    <a:moveTo>
                      <a:pt x="0" y="0"/>
                    </a:moveTo>
                    <a:lnTo>
                      <a:pt x="0" y="389"/>
                    </a:lnTo>
                    <a:lnTo>
                      <a:pt x="1" y="389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55" name="Freeform 35"/>
              <p:cNvSpPr>
                <a:spLocks/>
              </p:cNvSpPr>
              <p:nvPr/>
            </p:nvSpPr>
            <p:spPr bwMode="auto">
              <a:xfrm>
                <a:off x="1999" y="2315"/>
                <a:ext cx="1" cy="9"/>
              </a:xfrm>
              <a:custGeom>
                <a:avLst/>
                <a:gdLst>
                  <a:gd name="T0" fmla="*/ 0 w 1"/>
                  <a:gd name="T1" fmla="*/ 0 h 65"/>
                  <a:gd name="T2" fmla="*/ 0 w 1"/>
                  <a:gd name="T3" fmla="*/ 65 h 65"/>
                  <a:gd name="T4" fmla="*/ 1 w 1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5">
                    <a:moveTo>
                      <a:pt x="0" y="0"/>
                    </a:moveTo>
                    <a:lnTo>
                      <a:pt x="0" y="65"/>
                    </a:lnTo>
                    <a:lnTo>
                      <a:pt x="1" y="6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56" name="Freeform 36"/>
              <p:cNvSpPr>
                <a:spLocks/>
              </p:cNvSpPr>
              <p:nvPr/>
            </p:nvSpPr>
            <p:spPr bwMode="auto">
              <a:xfrm>
                <a:off x="1999" y="2333"/>
                <a:ext cx="1" cy="56"/>
              </a:xfrm>
              <a:custGeom>
                <a:avLst/>
                <a:gdLst>
                  <a:gd name="T0" fmla="*/ 0 w 1"/>
                  <a:gd name="T1" fmla="*/ 0 h 390"/>
                  <a:gd name="T2" fmla="*/ 0 w 1"/>
                  <a:gd name="T3" fmla="*/ 390 h 390"/>
                  <a:gd name="T4" fmla="*/ 1 w 1"/>
                  <a:gd name="T5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0">
                    <a:moveTo>
                      <a:pt x="0" y="0"/>
                    </a:moveTo>
                    <a:lnTo>
                      <a:pt x="0" y="390"/>
                    </a:lnTo>
                    <a:lnTo>
                      <a:pt x="1" y="390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57" name="Freeform 37"/>
              <p:cNvSpPr>
                <a:spLocks/>
              </p:cNvSpPr>
              <p:nvPr/>
            </p:nvSpPr>
            <p:spPr bwMode="auto">
              <a:xfrm>
                <a:off x="1999" y="2398"/>
                <a:ext cx="1" cy="10"/>
              </a:xfrm>
              <a:custGeom>
                <a:avLst/>
                <a:gdLst>
                  <a:gd name="T0" fmla="*/ 0 w 1"/>
                  <a:gd name="T1" fmla="*/ 0 h 66"/>
                  <a:gd name="T2" fmla="*/ 0 w 1"/>
                  <a:gd name="T3" fmla="*/ 66 h 66"/>
                  <a:gd name="T4" fmla="*/ 1 w 1"/>
                  <a:gd name="T5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6">
                    <a:moveTo>
                      <a:pt x="0" y="0"/>
                    </a:moveTo>
                    <a:lnTo>
                      <a:pt x="0" y="66"/>
                    </a:lnTo>
                    <a:lnTo>
                      <a:pt x="1" y="66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58" name="Freeform 38"/>
              <p:cNvSpPr>
                <a:spLocks/>
              </p:cNvSpPr>
              <p:nvPr/>
            </p:nvSpPr>
            <p:spPr bwMode="auto">
              <a:xfrm>
                <a:off x="1999" y="2417"/>
                <a:ext cx="1" cy="56"/>
              </a:xfrm>
              <a:custGeom>
                <a:avLst/>
                <a:gdLst>
                  <a:gd name="T0" fmla="*/ 0 w 1"/>
                  <a:gd name="T1" fmla="*/ 0 h 391"/>
                  <a:gd name="T2" fmla="*/ 0 w 1"/>
                  <a:gd name="T3" fmla="*/ 391 h 391"/>
                  <a:gd name="T4" fmla="*/ 1 w 1"/>
                  <a:gd name="T5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1">
                    <a:moveTo>
                      <a:pt x="0" y="0"/>
                    </a:moveTo>
                    <a:lnTo>
                      <a:pt x="0" y="391"/>
                    </a:lnTo>
                    <a:lnTo>
                      <a:pt x="1" y="39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59" name="Freeform 39"/>
              <p:cNvSpPr>
                <a:spLocks/>
              </p:cNvSpPr>
              <p:nvPr/>
            </p:nvSpPr>
            <p:spPr bwMode="auto">
              <a:xfrm>
                <a:off x="1999" y="2482"/>
                <a:ext cx="1" cy="9"/>
              </a:xfrm>
              <a:custGeom>
                <a:avLst/>
                <a:gdLst>
                  <a:gd name="T0" fmla="*/ 0 w 1"/>
                  <a:gd name="T1" fmla="*/ 0 h 64"/>
                  <a:gd name="T2" fmla="*/ 0 w 1"/>
                  <a:gd name="T3" fmla="*/ 64 h 64"/>
                  <a:gd name="T4" fmla="*/ 1 w 1"/>
                  <a:gd name="T5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4">
                    <a:moveTo>
                      <a:pt x="0" y="0"/>
                    </a:moveTo>
                    <a:lnTo>
                      <a:pt x="0" y="64"/>
                    </a:lnTo>
                    <a:lnTo>
                      <a:pt x="1" y="64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60" name="Freeform 40"/>
              <p:cNvSpPr>
                <a:spLocks/>
              </p:cNvSpPr>
              <p:nvPr/>
            </p:nvSpPr>
            <p:spPr bwMode="auto">
              <a:xfrm>
                <a:off x="1999" y="2500"/>
                <a:ext cx="1" cy="56"/>
              </a:xfrm>
              <a:custGeom>
                <a:avLst/>
                <a:gdLst>
                  <a:gd name="T0" fmla="*/ 0 w 1"/>
                  <a:gd name="T1" fmla="*/ 0 h 391"/>
                  <a:gd name="T2" fmla="*/ 0 w 1"/>
                  <a:gd name="T3" fmla="*/ 391 h 391"/>
                  <a:gd name="T4" fmla="*/ 1 w 1"/>
                  <a:gd name="T5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1">
                    <a:moveTo>
                      <a:pt x="0" y="0"/>
                    </a:moveTo>
                    <a:lnTo>
                      <a:pt x="0" y="391"/>
                    </a:lnTo>
                    <a:lnTo>
                      <a:pt x="1" y="39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61" name="Freeform 41"/>
              <p:cNvSpPr>
                <a:spLocks/>
              </p:cNvSpPr>
              <p:nvPr/>
            </p:nvSpPr>
            <p:spPr bwMode="auto">
              <a:xfrm>
                <a:off x="1999" y="2565"/>
                <a:ext cx="1" cy="10"/>
              </a:xfrm>
              <a:custGeom>
                <a:avLst/>
                <a:gdLst>
                  <a:gd name="T0" fmla="*/ 0 w 1"/>
                  <a:gd name="T1" fmla="*/ 0 h 66"/>
                  <a:gd name="T2" fmla="*/ 0 w 1"/>
                  <a:gd name="T3" fmla="*/ 66 h 66"/>
                  <a:gd name="T4" fmla="*/ 1 w 1"/>
                  <a:gd name="T5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6">
                    <a:moveTo>
                      <a:pt x="0" y="0"/>
                    </a:moveTo>
                    <a:lnTo>
                      <a:pt x="0" y="66"/>
                    </a:lnTo>
                    <a:lnTo>
                      <a:pt x="1" y="66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62" name="Freeform 42"/>
              <p:cNvSpPr>
                <a:spLocks/>
              </p:cNvSpPr>
              <p:nvPr/>
            </p:nvSpPr>
            <p:spPr bwMode="auto">
              <a:xfrm>
                <a:off x="1999" y="2584"/>
                <a:ext cx="1" cy="56"/>
              </a:xfrm>
              <a:custGeom>
                <a:avLst/>
                <a:gdLst>
                  <a:gd name="T0" fmla="*/ 0 w 1"/>
                  <a:gd name="T1" fmla="*/ 0 h 390"/>
                  <a:gd name="T2" fmla="*/ 0 w 1"/>
                  <a:gd name="T3" fmla="*/ 390 h 390"/>
                  <a:gd name="T4" fmla="*/ 1 w 1"/>
                  <a:gd name="T5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0">
                    <a:moveTo>
                      <a:pt x="0" y="0"/>
                    </a:moveTo>
                    <a:lnTo>
                      <a:pt x="0" y="390"/>
                    </a:lnTo>
                    <a:lnTo>
                      <a:pt x="1" y="390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63" name="Freeform 43"/>
              <p:cNvSpPr>
                <a:spLocks/>
              </p:cNvSpPr>
              <p:nvPr/>
            </p:nvSpPr>
            <p:spPr bwMode="auto">
              <a:xfrm>
                <a:off x="1999" y="2649"/>
                <a:ext cx="1" cy="9"/>
              </a:xfrm>
              <a:custGeom>
                <a:avLst/>
                <a:gdLst>
                  <a:gd name="T0" fmla="*/ 0 w 1"/>
                  <a:gd name="T1" fmla="*/ 0 h 65"/>
                  <a:gd name="T2" fmla="*/ 0 w 1"/>
                  <a:gd name="T3" fmla="*/ 65 h 65"/>
                  <a:gd name="T4" fmla="*/ 1 w 1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5">
                    <a:moveTo>
                      <a:pt x="0" y="0"/>
                    </a:moveTo>
                    <a:lnTo>
                      <a:pt x="0" y="65"/>
                    </a:lnTo>
                    <a:lnTo>
                      <a:pt x="1" y="6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64" name="Freeform 44"/>
              <p:cNvSpPr>
                <a:spLocks/>
              </p:cNvSpPr>
              <p:nvPr/>
            </p:nvSpPr>
            <p:spPr bwMode="auto">
              <a:xfrm>
                <a:off x="1999" y="2668"/>
                <a:ext cx="1" cy="55"/>
              </a:xfrm>
              <a:custGeom>
                <a:avLst/>
                <a:gdLst>
                  <a:gd name="T0" fmla="*/ 0 w 1"/>
                  <a:gd name="T1" fmla="*/ 0 h 389"/>
                  <a:gd name="T2" fmla="*/ 0 w 1"/>
                  <a:gd name="T3" fmla="*/ 389 h 389"/>
                  <a:gd name="T4" fmla="*/ 1 w 1"/>
                  <a:gd name="T5" fmla="*/ 38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89">
                    <a:moveTo>
                      <a:pt x="0" y="0"/>
                    </a:moveTo>
                    <a:lnTo>
                      <a:pt x="0" y="389"/>
                    </a:lnTo>
                    <a:lnTo>
                      <a:pt x="1" y="389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65" name="Freeform 45"/>
              <p:cNvSpPr>
                <a:spLocks/>
              </p:cNvSpPr>
              <p:nvPr/>
            </p:nvSpPr>
            <p:spPr bwMode="auto">
              <a:xfrm>
                <a:off x="1999" y="2733"/>
                <a:ext cx="1" cy="9"/>
              </a:xfrm>
              <a:custGeom>
                <a:avLst/>
                <a:gdLst>
                  <a:gd name="T0" fmla="*/ 0 w 1"/>
                  <a:gd name="T1" fmla="*/ 0 h 65"/>
                  <a:gd name="T2" fmla="*/ 0 w 1"/>
                  <a:gd name="T3" fmla="*/ 65 h 65"/>
                  <a:gd name="T4" fmla="*/ 1 w 1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5">
                    <a:moveTo>
                      <a:pt x="0" y="0"/>
                    </a:moveTo>
                    <a:lnTo>
                      <a:pt x="0" y="65"/>
                    </a:lnTo>
                    <a:lnTo>
                      <a:pt x="1" y="6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66" name="Freeform 46"/>
              <p:cNvSpPr>
                <a:spLocks/>
              </p:cNvSpPr>
              <p:nvPr/>
            </p:nvSpPr>
            <p:spPr bwMode="auto">
              <a:xfrm>
                <a:off x="1999" y="2751"/>
                <a:ext cx="1" cy="56"/>
              </a:xfrm>
              <a:custGeom>
                <a:avLst/>
                <a:gdLst>
                  <a:gd name="T0" fmla="*/ 0 w 1"/>
                  <a:gd name="T1" fmla="*/ 0 h 391"/>
                  <a:gd name="T2" fmla="*/ 0 w 1"/>
                  <a:gd name="T3" fmla="*/ 391 h 391"/>
                  <a:gd name="T4" fmla="*/ 1 w 1"/>
                  <a:gd name="T5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1">
                    <a:moveTo>
                      <a:pt x="0" y="0"/>
                    </a:moveTo>
                    <a:lnTo>
                      <a:pt x="0" y="391"/>
                    </a:lnTo>
                    <a:lnTo>
                      <a:pt x="1" y="39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67" name="Freeform 47"/>
              <p:cNvSpPr>
                <a:spLocks/>
              </p:cNvSpPr>
              <p:nvPr/>
            </p:nvSpPr>
            <p:spPr bwMode="auto">
              <a:xfrm>
                <a:off x="1999" y="2816"/>
                <a:ext cx="1" cy="10"/>
              </a:xfrm>
              <a:custGeom>
                <a:avLst/>
                <a:gdLst>
                  <a:gd name="T0" fmla="*/ 0 w 1"/>
                  <a:gd name="T1" fmla="*/ 0 h 65"/>
                  <a:gd name="T2" fmla="*/ 0 w 1"/>
                  <a:gd name="T3" fmla="*/ 65 h 65"/>
                  <a:gd name="T4" fmla="*/ 1 w 1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5">
                    <a:moveTo>
                      <a:pt x="0" y="0"/>
                    </a:moveTo>
                    <a:lnTo>
                      <a:pt x="0" y="65"/>
                    </a:lnTo>
                    <a:lnTo>
                      <a:pt x="1" y="6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68" name="Freeform 48"/>
              <p:cNvSpPr>
                <a:spLocks/>
              </p:cNvSpPr>
              <p:nvPr/>
            </p:nvSpPr>
            <p:spPr bwMode="auto">
              <a:xfrm>
                <a:off x="1999" y="2835"/>
                <a:ext cx="1" cy="56"/>
              </a:xfrm>
              <a:custGeom>
                <a:avLst/>
                <a:gdLst>
                  <a:gd name="T0" fmla="*/ 0 w 1"/>
                  <a:gd name="T1" fmla="*/ 0 h 391"/>
                  <a:gd name="T2" fmla="*/ 0 w 1"/>
                  <a:gd name="T3" fmla="*/ 391 h 391"/>
                  <a:gd name="T4" fmla="*/ 1 w 1"/>
                  <a:gd name="T5" fmla="*/ 391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91">
                    <a:moveTo>
                      <a:pt x="0" y="0"/>
                    </a:moveTo>
                    <a:lnTo>
                      <a:pt x="0" y="391"/>
                    </a:lnTo>
                    <a:lnTo>
                      <a:pt x="1" y="39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69" name="Freeform 49"/>
              <p:cNvSpPr>
                <a:spLocks/>
              </p:cNvSpPr>
              <p:nvPr/>
            </p:nvSpPr>
            <p:spPr bwMode="auto">
              <a:xfrm>
                <a:off x="1999" y="2900"/>
                <a:ext cx="1" cy="9"/>
              </a:xfrm>
              <a:custGeom>
                <a:avLst/>
                <a:gdLst>
                  <a:gd name="T0" fmla="*/ 0 w 1"/>
                  <a:gd name="T1" fmla="*/ 0 h 65"/>
                  <a:gd name="T2" fmla="*/ 0 w 1"/>
                  <a:gd name="T3" fmla="*/ 65 h 65"/>
                  <a:gd name="T4" fmla="*/ 1 w 1"/>
                  <a:gd name="T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5">
                    <a:moveTo>
                      <a:pt x="0" y="0"/>
                    </a:moveTo>
                    <a:lnTo>
                      <a:pt x="0" y="65"/>
                    </a:lnTo>
                    <a:lnTo>
                      <a:pt x="1" y="65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70" name="Freeform 50"/>
              <p:cNvSpPr>
                <a:spLocks/>
              </p:cNvSpPr>
              <p:nvPr/>
            </p:nvSpPr>
            <p:spPr bwMode="auto">
              <a:xfrm>
                <a:off x="1999" y="2919"/>
                <a:ext cx="1" cy="55"/>
              </a:xfrm>
              <a:custGeom>
                <a:avLst/>
                <a:gdLst>
                  <a:gd name="T0" fmla="*/ 0 w 1"/>
                  <a:gd name="T1" fmla="*/ 0 h 389"/>
                  <a:gd name="T2" fmla="*/ 0 w 1"/>
                  <a:gd name="T3" fmla="*/ 389 h 389"/>
                  <a:gd name="T4" fmla="*/ 1 w 1"/>
                  <a:gd name="T5" fmla="*/ 38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89">
                    <a:moveTo>
                      <a:pt x="0" y="0"/>
                    </a:moveTo>
                    <a:lnTo>
                      <a:pt x="0" y="389"/>
                    </a:lnTo>
                    <a:lnTo>
                      <a:pt x="1" y="389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71" name="Freeform 51"/>
              <p:cNvSpPr>
                <a:spLocks/>
              </p:cNvSpPr>
              <p:nvPr/>
            </p:nvSpPr>
            <p:spPr bwMode="auto">
              <a:xfrm>
                <a:off x="1554" y="1889"/>
                <a:ext cx="163" cy="288"/>
              </a:xfrm>
              <a:custGeom>
                <a:avLst/>
                <a:gdLst>
                  <a:gd name="T0" fmla="*/ 0 w 1139"/>
                  <a:gd name="T1" fmla="*/ 2016 h 2016"/>
                  <a:gd name="T2" fmla="*/ 1138 w 1139"/>
                  <a:gd name="T3" fmla="*/ 0 h 2016"/>
                  <a:gd name="T4" fmla="*/ 1139 w 1139"/>
                  <a:gd name="T5" fmla="*/ 0 h 20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39" h="2016">
                    <a:moveTo>
                      <a:pt x="0" y="2016"/>
                    </a:moveTo>
                    <a:lnTo>
                      <a:pt x="1138" y="0"/>
                    </a:lnTo>
                    <a:lnTo>
                      <a:pt x="1139" y="0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72" name="Freeform 52"/>
              <p:cNvSpPr>
                <a:spLocks/>
              </p:cNvSpPr>
              <p:nvPr/>
            </p:nvSpPr>
            <p:spPr bwMode="auto">
              <a:xfrm>
                <a:off x="2229" y="1877"/>
                <a:ext cx="167" cy="300"/>
              </a:xfrm>
              <a:custGeom>
                <a:avLst/>
                <a:gdLst>
                  <a:gd name="T0" fmla="*/ 0 w 1170"/>
                  <a:gd name="T1" fmla="*/ 0 h 2101"/>
                  <a:gd name="T2" fmla="*/ 1169 w 1170"/>
                  <a:gd name="T3" fmla="*/ 2101 h 2101"/>
                  <a:gd name="T4" fmla="*/ 1170 w 1170"/>
                  <a:gd name="T5" fmla="*/ 2101 h 2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70" h="2101">
                    <a:moveTo>
                      <a:pt x="0" y="0"/>
                    </a:moveTo>
                    <a:lnTo>
                      <a:pt x="1169" y="2101"/>
                    </a:lnTo>
                    <a:lnTo>
                      <a:pt x="1170" y="2101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73" name="Freeform 53"/>
              <p:cNvSpPr>
                <a:spLocks/>
              </p:cNvSpPr>
              <p:nvPr/>
            </p:nvSpPr>
            <p:spPr bwMode="auto">
              <a:xfrm>
                <a:off x="3627" y="2480"/>
                <a:ext cx="690" cy="1019"/>
              </a:xfrm>
              <a:custGeom>
                <a:avLst/>
                <a:gdLst>
                  <a:gd name="T0" fmla="*/ 0 w 4828"/>
                  <a:gd name="T1" fmla="*/ 7131 h 7131"/>
                  <a:gd name="T2" fmla="*/ 4827 w 4828"/>
                  <a:gd name="T3" fmla="*/ 0 h 7131"/>
                  <a:gd name="T4" fmla="*/ 4828 w 4828"/>
                  <a:gd name="T5" fmla="*/ 0 h 7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28" h="7131">
                    <a:moveTo>
                      <a:pt x="0" y="7131"/>
                    </a:moveTo>
                    <a:lnTo>
                      <a:pt x="4827" y="0"/>
                    </a:lnTo>
                    <a:lnTo>
                      <a:pt x="4828" y="0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74" name="Freeform 54"/>
              <p:cNvSpPr>
                <a:spLocks/>
              </p:cNvSpPr>
              <p:nvPr/>
            </p:nvSpPr>
            <p:spPr bwMode="auto">
              <a:xfrm>
                <a:off x="1832" y="2101"/>
                <a:ext cx="601" cy="766"/>
              </a:xfrm>
              <a:custGeom>
                <a:avLst/>
                <a:gdLst>
                  <a:gd name="T0" fmla="*/ 0 w 4207"/>
                  <a:gd name="T1" fmla="*/ 2340 h 5364"/>
                  <a:gd name="T2" fmla="*/ 749 w 4207"/>
                  <a:gd name="T3" fmla="*/ 1335 h 5364"/>
                  <a:gd name="T4" fmla="*/ 1169 w 4207"/>
                  <a:gd name="T5" fmla="*/ 849 h 5364"/>
                  <a:gd name="T6" fmla="*/ 1645 w 4207"/>
                  <a:gd name="T7" fmla="*/ 429 h 5364"/>
                  <a:gd name="T8" fmla="*/ 1912 w 4207"/>
                  <a:gd name="T9" fmla="*/ 260 h 5364"/>
                  <a:gd name="T10" fmla="*/ 2200 w 4207"/>
                  <a:gd name="T11" fmla="*/ 128 h 5364"/>
                  <a:gd name="T12" fmla="*/ 2514 w 4207"/>
                  <a:gd name="T13" fmla="*/ 40 h 5364"/>
                  <a:gd name="T14" fmla="*/ 2847 w 4207"/>
                  <a:gd name="T15" fmla="*/ 0 h 5364"/>
                  <a:gd name="T16" fmla="*/ 3178 w 4207"/>
                  <a:gd name="T17" fmla="*/ 18 h 5364"/>
                  <a:gd name="T18" fmla="*/ 3484 w 4207"/>
                  <a:gd name="T19" fmla="*/ 96 h 5364"/>
                  <a:gd name="T20" fmla="*/ 3741 w 4207"/>
                  <a:gd name="T21" fmla="*/ 240 h 5364"/>
                  <a:gd name="T22" fmla="*/ 3936 w 4207"/>
                  <a:gd name="T23" fmla="*/ 453 h 5364"/>
                  <a:gd name="T24" fmla="*/ 4072 w 4207"/>
                  <a:gd name="T25" fmla="*/ 722 h 5364"/>
                  <a:gd name="T26" fmla="*/ 4157 w 4207"/>
                  <a:gd name="T27" fmla="*/ 1033 h 5364"/>
                  <a:gd name="T28" fmla="*/ 4207 w 4207"/>
                  <a:gd name="T29" fmla="*/ 1724 h 5364"/>
                  <a:gd name="T30" fmla="*/ 4151 w 4207"/>
                  <a:gd name="T31" fmla="*/ 2421 h 5364"/>
                  <a:gd name="T32" fmla="*/ 4028 w 4207"/>
                  <a:gd name="T33" fmla="*/ 3070 h 5364"/>
                  <a:gd name="T34" fmla="*/ 3855 w 4207"/>
                  <a:gd name="T35" fmla="*/ 3679 h 5364"/>
                  <a:gd name="T36" fmla="*/ 3641 w 4207"/>
                  <a:gd name="T37" fmla="*/ 4257 h 5364"/>
                  <a:gd name="T38" fmla="*/ 3150 w 4207"/>
                  <a:gd name="T39" fmla="*/ 5364 h 5364"/>
                  <a:gd name="T40" fmla="*/ 3151 w 4207"/>
                  <a:gd name="T41" fmla="*/ 5364 h 5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207" h="5364">
                    <a:moveTo>
                      <a:pt x="0" y="2340"/>
                    </a:moveTo>
                    <a:lnTo>
                      <a:pt x="749" y="1335"/>
                    </a:lnTo>
                    <a:lnTo>
                      <a:pt x="1169" y="849"/>
                    </a:lnTo>
                    <a:lnTo>
                      <a:pt x="1645" y="429"/>
                    </a:lnTo>
                    <a:lnTo>
                      <a:pt x="1912" y="260"/>
                    </a:lnTo>
                    <a:lnTo>
                      <a:pt x="2200" y="128"/>
                    </a:lnTo>
                    <a:lnTo>
                      <a:pt x="2514" y="40"/>
                    </a:lnTo>
                    <a:lnTo>
                      <a:pt x="2847" y="0"/>
                    </a:lnTo>
                    <a:lnTo>
                      <a:pt x="3178" y="18"/>
                    </a:lnTo>
                    <a:lnTo>
                      <a:pt x="3484" y="96"/>
                    </a:lnTo>
                    <a:lnTo>
                      <a:pt x="3741" y="240"/>
                    </a:lnTo>
                    <a:lnTo>
                      <a:pt x="3936" y="453"/>
                    </a:lnTo>
                    <a:lnTo>
                      <a:pt x="4072" y="722"/>
                    </a:lnTo>
                    <a:lnTo>
                      <a:pt x="4157" y="1033"/>
                    </a:lnTo>
                    <a:lnTo>
                      <a:pt x="4207" y="1724"/>
                    </a:lnTo>
                    <a:lnTo>
                      <a:pt x="4151" y="2421"/>
                    </a:lnTo>
                    <a:lnTo>
                      <a:pt x="4028" y="3070"/>
                    </a:lnTo>
                    <a:lnTo>
                      <a:pt x="3855" y="3679"/>
                    </a:lnTo>
                    <a:lnTo>
                      <a:pt x="3641" y="4257"/>
                    </a:lnTo>
                    <a:lnTo>
                      <a:pt x="3150" y="5364"/>
                    </a:lnTo>
                    <a:lnTo>
                      <a:pt x="3151" y="5364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75" name="Freeform 55"/>
              <p:cNvSpPr>
                <a:spLocks/>
              </p:cNvSpPr>
              <p:nvPr/>
            </p:nvSpPr>
            <p:spPr bwMode="auto">
              <a:xfrm>
                <a:off x="1826" y="2423"/>
                <a:ext cx="456" cy="444"/>
              </a:xfrm>
              <a:custGeom>
                <a:avLst/>
                <a:gdLst>
                  <a:gd name="T0" fmla="*/ 0 w 3193"/>
                  <a:gd name="T1" fmla="*/ 0 h 3108"/>
                  <a:gd name="T2" fmla="*/ 3192 w 3193"/>
                  <a:gd name="T3" fmla="*/ 3108 h 3108"/>
                  <a:gd name="T4" fmla="*/ 3193 w 3193"/>
                  <a:gd name="T5" fmla="*/ 3108 h 3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93" h="3108">
                    <a:moveTo>
                      <a:pt x="0" y="0"/>
                    </a:moveTo>
                    <a:lnTo>
                      <a:pt x="3192" y="3108"/>
                    </a:lnTo>
                    <a:lnTo>
                      <a:pt x="3193" y="3108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76" name="Freeform 56"/>
              <p:cNvSpPr>
                <a:spLocks/>
              </p:cNvSpPr>
              <p:nvPr/>
            </p:nvSpPr>
            <p:spPr bwMode="auto">
              <a:xfrm>
                <a:off x="2034" y="2627"/>
                <a:ext cx="2239" cy="1221"/>
              </a:xfrm>
              <a:custGeom>
                <a:avLst/>
                <a:gdLst>
                  <a:gd name="T0" fmla="*/ 0 w 15670"/>
                  <a:gd name="T1" fmla="*/ 0 h 8547"/>
                  <a:gd name="T2" fmla="*/ 15668 w 15670"/>
                  <a:gd name="T3" fmla="*/ 8547 h 8547"/>
                  <a:gd name="T4" fmla="*/ 15670 w 15670"/>
                  <a:gd name="T5" fmla="*/ 8547 h 8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70" h="8547">
                    <a:moveTo>
                      <a:pt x="0" y="0"/>
                    </a:moveTo>
                    <a:lnTo>
                      <a:pt x="15668" y="8547"/>
                    </a:lnTo>
                    <a:lnTo>
                      <a:pt x="15670" y="8547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77" name="Freeform 57"/>
              <p:cNvSpPr>
                <a:spLocks/>
              </p:cNvSpPr>
              <p:nvPr/>
            </p:nvSpPr>
            <p:spPr bwMode="auto">
              <a:xfrm>
                <a:off x="3105" y="2936"/>
                <a:ext cx="896" cy="276"/>
              </a:xfrm>
              <a:custGeom>
                <a:avLst/>
                <a:gdLst>
                  <a:gd name="T0" fmla="*/ 6271 w 6271"/>
                  <a:gd name="T1" fmla="*/ 576 h 1930"/>
                  <a:gd name="T2" fmla="*/ 5934 w 6271"/>
                  <a:gd name="T3" fmla="*/ 401 h 1930"/>
                  <a:gd name="T4" fmla="*/ 5629 w 6271"/>
                  <a:gd name="T5" fmla="*/ 262 h 1930"/>
                  <a:gd name="T6" fmla="*/ 5096 w 6271"/>
                  <a:gd name="T7" fmla="*/ 79 h 1930"/>
                  <a:gd name="T8" fmla="*/ 4642 w 6271"/>
                  <a:gd name="T9" fmla="*/ 0 h 1930"/>
                  <a:gd name="T10" fmla="*/ 4238 w 6271"/>
                  <a:gd name="T11" fmla="*/ 2 h 1930"/>
                  <a:gd name="T12" fmla="*/ 3480 w 6271"/>
                  <a:gd name="T13" fmla="*/ 152 h 1930"/>
                  <a:gd name="T14" fmla="*/ 2722 w 6271"/>
                  <a:gd name="T15" fmla="*/ 376 h 1930"/>
                  <a:gd name="T16" fmla="*/ 1972 w 6271"/>
                  <a:gd name="T17" fmla="*/ 631 h 1930"/>
                  <a:gd name="T18" fmla="*/ 1611 w 6271"/>
                  <a:gd name="T19" fmla="*/ 784 h 1930"/>
                  <a:gd name="T20" fmla="*/ 1258 w 6271"/>
                  <a:gd name="T21" fmla="*/ 983 h 1930"/>
                  <a:gd name="T22" fmla="*/ 591 w 6271"/>
                  <a:gd name="T23" fmla="*/ 1473 h 1930"/>
                  <a:gd name="T24" fmla="*/ 0 w 6271"/>
                  <a:gd name="T25" fmla="*/ 1930 h 1930"/>
                  <a:gd name="T26" fmla="*/ 1 w 6271"/>
                  <a:gd name="T27" fmla="*/ 1930 h 19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71" h="1930">
                    <a:moveTo>
                      <a:pt x="6271" y="576"/>
                    </a:moveTo>
                    <a:lnTo>
                      <a:pt x="5934" y="401"/>
                    </a:lnTo>
                    <a:lnTo>
                      <a:pt x="5629" y="262"/>
                    </a:lnTo>
                    <a:lnTo>
                      <a:pt x="5096" y="79"/>
                    </a:lnTo>
                    <a:lnTo>
                      <a:pt x="4642" y="0"/>
                    </a:lnTo>
                    <a:lnTo>
                      <a:pt x="4238" y="2"/>
                    </a:lnTo>
                    <a:lnTo>
                      <a:pt x="3480" y="152"/>
                    </a:lnTo>
                    <a:lnTo>
                      <a:pt x="2722" y="376"/>
                    </a:lnTo>
                    <a:lnTo>
                      <a:pt x="1972" y="631"/>
                    </a:lnTo>
                    <a:lnTo>
                      <a:pt x="1611" y="784"/>
                    </a:lnTo>
                    <a:lnTo>
                      <a:pt x="1258" y="983"/>
                    </a:lnTo>
                    <a:lnTo>
                      <a:pt x="591" y="1473"/>
                    </a:lnTo>
                    <a:lnTo>
                      <a:pt x="0" y="1930"/>
                    </a:lnTo>
                    <a:lnTo>
                      <a:pt x="1" y="193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78" name="Freeform 58"/>
              <p:cNvSpPr>
                <a:spLocks/>
              </p:cNvSpPr>
              <p:nvPr/>
            </p:nvSpPr>
            <p:spPr bwMode="auto">
              <a:xfrm>
                <a:off x="1946" y="2164"/>
                <a:ext cx="119" cy="119"/>
              </a:xfrm>
              <a:custGeom>
                <a:avLst/>
                <a:gdLst>
                  <a:gd name="T0" fmla="*/ 0 w 834"/>
                  <a:gd name="T1" fmla="*/ 834 h 834"/>
                  <a:gd name="T2" fmla="*/ 368 w 834"/>
                  <a:gd name="T3" fmla="*/ 465 h 834"/>
                  <a:gd name="T4" fmla="*/ 833 w 834"/>
                  <a:gd name="T5" fmla="*/ 0 h 834"/>
                  <a:gd name="T6" fmla="*/ 834 w 834"/>
                  <a:gd name="T7" fmla="*/ 0 h 8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4" h="834">
                    <a:moveTo>
                      <a:pt x="0" y="834"/>
                    </a:moveTo>
                    <a:lnTo>
                      <a:pt x="368" y="465"/>
                    </a:lnTo>
                    <a:lnTo>
                      <a:pt x="833" y="0"/>
                    </a:lnTo>
                    <a:lnTo>
                      <a:pt x="834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79" name="Freeform 59"/>
              <p:cNvSpPr>
                <a:spLocks/>
              </p:cNvSpPr>
              <p:nvPr/>
            </p:nvSpPr>
            <p:spPr bwMode="auto">
              <a:xfrm>
                <a:off x="1842" y="2424"/>
                <a:ext cx="15" cy="15"/>
              </a:xfrm>
              <a:custGeom>
                <a:avLst/>
                <a:gdLst>
                  <a:gd name="T0" fmla="*/ 0 w 105"/>
                  <a:gd name="T1" fmla="*/ 104 h 104"/>
                  <a:gd name="T2" fmla="*/ 104 w 105"/>
                  <a:gd name="T3" fmla="*/ 0 h 104"/>
                  <a:gd name="T4" fmla="*/ 105 w 105"/>
                  <a:gd name="T5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5" h="104">
                    <a:moveTo>
                      <a:pt x="0" y="104"/>
                    </a:moveTo>
                    <a:lnTo>
                      <a:pt x="104" y="0"/>
                    </a:lnTo>
                    <a:lnTo>
                      <a:pt x="105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80" name="Freeform 60"/>
              <p:cNvSpPr>
                <a:spLocks/>
              </p:cNvSpPr>
              <p:nvPr/>
            </p:nvSpPr>
            <p:spPr bwMode="auto">
              <a:xfrm>
                <a:off x="1999" y="2112"/>
                <a:ext cx="171" cy="171"/>
              </a:xfrm>
              <a:custGeom>
                <a:avLst/>
                <a:gdLst>
                  <a:gd name="T0" fmla="*/ 0 w 1198"/>
                  <a:gd name="T1" fmla="*/ 1198 h 1198"/>
                  <a:gd name="T2" fmla="*/ 1197 w 1198"/>
                  <a:gd name="T3" fmla="*/ 0 h 1198"/>
                  <a:gd name="T4" fmla="*/ 1198 w 1198"/>
                  <a:gd name="T5" fmla="*/ 0 h 1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98" h="1198">
                    <a:moveTo>
                      <a:pt x="0" y="1198"/>
                    </a:moveTo>
                    <a:lnTo>
                      <a:pt x="1197" y="0"/>
                    </a:lnTo>
                    <a:lnTo>
                      <a:pt x="1198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81" name="Freeform 61"/>
              <p:cNvSpPr>
                <a:spLocks/>
              </p:cNvSpPr>
              <p:nvPr/>
            </p:nvSpPr>
            <p:spPr bwMode="auto">
              <a:xfrm>
                <a:off x="1857" y="2283"/>
                <a:ext cx="142" cy="141"/>
              </a:xfrm>
              <a:custGeom>
                <a:avLst/>
                <a:gdLst>
                  <a:gd name="T0" fmla="*/ 0 w 992"/>
                  <a:gd name="T1" fmla="*/ 990 h 990"/>
                  <a:gd name="T2" fmla="*/ 991 w 992"/>
                  <a:gd name="T3" fmla="*/ 0 h 990"/>
                  <a:gd name="T4" fmla="*/ 992 w 992"/>
                  <a:gd name="T5" fmla="*/ 0 h 9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2" h="990">
                    <a:moveTo>
                      <a:pt x="0" y="990"/>
                    </a:moveTo>
                    <a:lnTo>
                      <a:pt x="991" y="0"/>
                    </a:lnTo>
                    <a:lnTo>
                      <a:pt x="992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82" name="Freeform 62"/>
              <p:cNvSpPr>
                <a:spLocks/>
              </p:cNvSpPr>
              <p:nvPr/>
            </p:nvSpPr>
            <p:spPr bwMode="auto">
              <a:xfrm>
                <a:off x="1869" y="2423"/>
                <a:ext cx="42" cy="42"/>
              </a:xfrm>
              <a:custGeom>
                <a:avLst/>
                <a:gdLst>
                  <a:gd name="T0" fmla="*/ 0 w 297"/>
                  <a:gd name="T1" fmla="*/ 296 h 296"/>
                  <a:gd name="T2" fmla="*/ 296 w 297"/>
                  <a:gd name="T3" fmla="*/ 0 h 296"/>
                  <a:gd name="T4" fmla="*/ 297 w 297"/>
                  <a:gd name="T5" fmla="*/ 0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7" h="296">
                    <a:moveTo>
                      <a:pt x="0" y="296"/>
                    </a:moveTo>
                    <a:lnTo>
                      <a:pt x="296" y="0"/>
                    </a:lnTo>
                    <a:lnTo>
                      <a:pt x="297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83" name="Freeform 63"/>
              <p:cNvSpPr>
                <a:spLocks/>
              </p:cNvSpPr>
              <p:nvPr/>
            </p:nvSpPr>
            <p:spPr bwMode="auto">
              <a:xfrm>
                <a:off x="1999" y="2101"/>
                <a:ext cx="234" cy="234"/>
              </a:xfrm>
              <a:custGeom>
                <a:avLst/>
                <a:gdLst>
                  <a:gd name="T0" fmla="*/ 0 w 1639"/>
                  <a:gd name="T1" fmla="*/ 1638 h 1638"/>
                  <a:gd name="T2" fmla="*/ 1638 w 1639"/>
                  <a:gd name="T3" fmla="*/ 0 h 1638"/>
                  <a:gd name="T4" fmla="*/ 1639 w 1639"/>
                  <a:gd name="T5" fmla="*/ 0 h 16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39" h="1638">
                    <a:moveTo>
                      <a:pt x="0" y="1638"/>
                    </a:moveTo>
                    <a:lnTo>
                      <a:pt x="1638" y="0"/>
                    </a:lnTo>
                    <a:lnTo>
                      <a:pt x="1639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84" name="Freeform 64"/>
              <p:cNvSpPr>
                <a:spLocks/>
              </p:cNvSpPr>
              <p:nvPr/>
            </p:nvSpPr>
            <p:spPr bwMode="auto">
              <a:xfrm>
                <a:off x="1911" y="2335"/>
                <a:ext cx="88" cy="88"/>
              </a:xfrm>
              <a:custGeom>
                <a:avLst/>
                <a:gdLst>
                  <a:gd name="T0" fmla="*/ 0 w 613"/>
                  <a:gd name="T1" fmla="*/ 613 h 613"/>
                  <a:gd name="T2" fmla="*/ 612 w 613"/>
                  <a:gd name="T3" fmla="*/ 0 h 613"/>
                  <a:gd name="T4" fmla="*/ 613 w 613"/>
                  <a:gd name="T5" fmla="*/ 0 h 6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13" h="613">
                    <a:moveTo>
                      <a:pt x="0" y="613"/>
                    </a:moveTo>
                    <a:lnTo>
                      <a:pt x="612" y="0"/>
                    </a:lnTo>
                    <a:lnTo>
                      <a:pt x="613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85" name="Freeform 65"/>
              <p:cNvSpPr>
                <a:spLocks/>
              </p:cNvSpPr>
              <p:nvPr/>
            </p:nvSpPr>
            <p:spPr bwMode="auto">
              <a:xfrm>
                <a:off x="1896" y="2423"/>
                <a:ext cx="68" cy="68"/>
              </a:xfrm>
              <a:custGeom>
                <a:avLst/>
                <a:gdLst>
                  <a:gd name="T0" fmla="*/ 0 w 478"/>
                  <a:gd name="T1" fmla="*/ 477 h 477"/>
                  <a:gd name="T2" fmla="*/ 477 w 478"/>
                  <a:gd name="T3" fmla="*/ 0 h 477"/>
                  <a:gd name="T4" fmla="*/ 478 w 478"/>
                  <a:gd name="T5" fmla="*/ 0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8" h="477">
                    <a:moveTo>
                      <a:pt x="0" y="477"/>
                    </a:moveTo>
                    <a:lnTo>
                      <a:pt x="477" y="0"/>
                    </a:lnTo>
                    <a:lnTo>
                      <a:pt x="478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86" name="Freeform 66"/>
              <p:cNvSpPr>
                <a:spLocks/>
              </p:cNvSpPr>
              <p:nvPr/>
            </p:nvSpPr>
            <p:spPr bwMode="auto">
              <a:xfrm>
                <a:off x="1999" y="2103"/>
                <a:ext cx="284" cy="285"/>
              </a:xfrm>
              <a:custGeom>
                <a:avLst/>
                <a:gdLst>
                  <a:gd name="T0" fmla="*/ 0 w 1993"/>
                  <a:gd name="T1" fmla="*/ 1994 h 1994"/>
                  <a:gd name="T2" fmla="*/ 1992 w 1993"/>
                  <a:gd name="T3" fmla="*/ 0 h 1994"/>
                  <a:gd name="T4" fmla="*/ 1993 w 1993"/>
                  <a:gd name="T5" fmla="*/ 0 h 19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93" h="1994">
                    <a:moveTo>
                      <a:pt x="0" y="1994"/>
                    </a:moveTo>
                    <a:lnTo>
                      <a:pt x="1992" y="0"/>
                    </a:lnTo>
                    <a:lnTo>
                      <a:pt x="1993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87" name="Freeform 67"/>
              <p:cNvSpPr>
                <a:spLocks/>
              </p:cNvSpPr>
              <p:nvPr/>
            </p:nvSpPr>
            <p:spPr bwMode="auto">
              <a:xfrm>
                <a:off x="1964" y="2388"/>
                <a:ext cx="35" cy="35"/>
              </a:xfrm>
              <a:custGeom>
                <a:avLst/>
                <a:gdLst>
                  <a:gd name="T0" fmla="*/ 0 w 245"/>
                  <a:gd name="T1" fmla="*/ 245 h 245"/>
                  <a:gd name="T2" fmla="*/ 244 w 245"/>
                  <a:gd name="T3" fmla="*/ 0 h 245"/>
                  <a:gd name="T4" fmla="*/ 245 w 245"/>
                  <a:gd name="T5" fmla="*/ 0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5" h="245">
                    <a:moveTo>
                      <a:pt x="0" y="245"/>
                    </a:moveTo>
                    <a:lnTo>
                      <a:pt x="244" y="0"/>
                    </a:lnTo>
                    <a:lnTo>
                      <a:pt x="245" y="0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88" name="Freeform 68"/>
              <p:cNvSpPr>
                <a:spLocks/>
              </p:cNvSpPr>
              <p:nvPr/>
            </p:nvSpPr>
            <p:spPr bwMode="auto">
              <a:xfrm>
                <a:off x="1922" y="2441"/>
                <a:ext cx="77" cy="76"/>
              </a:xfrm>
              <a:custGeom>
                <a:avLst/>
                <a:gdLst>
                  <a:gd name="T0" fmla="*/ 0 w 537"/>
                  <a:gd name="T1" fmla="*/ 535 h 535"/>
                  <a:gd name="T2" fmla="*/ 536 w 537"/>
                  <a:gd name="T3" fmla="*/ 0 h 535"/>
                  <a:gd name="T4" fmla="*/ 537 w 537"/>
                  <a:gd name="T5" fmla="*/ 0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7" h="535">
                    <a:moveTo>
                      <a:pt x="0" y="535"/>
                    </a:moveTo>
                    <a:lnTo>
                      <a:pt x="536" y="0"/>
                    </a:lnTo>
                    <a:lnTo>
                      <a:pt x="537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89" name="Freeform 69"/>
              <p:cNvSpPr>
                <a:spLocks/>
              </p:cNvSpPr>
              <p:nvPr/>
            </p:nvSpPr>
            <p:spPr bwMode="auto">
              <a:xfrm>
                <a:off x="2015" y="2113"/>
                <a:ext cx="311" cy="311"/>
              </a:xfrm>
              <a:custGeom>
                <a:avLst/>
                <a:gdLst>
                  <a:gd name="T0" fmla="*/ 0 w 2176"/>
                  <a:gd name="T1" fmla="*/ 2176 h 2176"/>
                  <a:gd name="T2" fmla="*/ 2175 w 2176"/>
                  <a:gd name="T3" fmla="*/ 0 h 2176"/>
                  <a:gd name="T4" fmla="*/ 2176 w 2176"/>
                  <a:gd name="T5" fmla="*/ 0 h 2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76" h="2176">
                    <a:moveTo>
                      <a:pt x="0" y="2176"/>
                    </a:moveTo>
                    <a:lnTo>
                      <a:pt x="2175" y="0"/>
                    </a:lnTo>
                    <a:lnTo>
                      <a:pt x="2176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90" name="Freeform 70"/>
              <p:cNvSpPr>
                <a:spLocks/>
              </p:cNvSpPr>
              <p:nvPr/>
            </p:nvSpPr>
            <p:spPr bwMode="auto">
              <a:xfrm>
                <a:off x="1999" y="2424"/>
                <a:ext cx="16" cy="17"/>
              </a:xfrm>
              <a:custGeom>
                <a:avLst/>
                <a:gdLst>
                  <a:gd name="T0" fmla="*/ 0 w 116"/>
                  <a:gd name="T1" fmla="*/ 116 h 116"/>
                  <a:gd name="T2" fmla="*/ 115 w 116"/>
                  <a:gd name="T3" fmla="*/ 0 h 116"/>
                  <a:gd name="T4" fmla="*/ 116 w 116"/>
                  <a:gd name="T5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6" h="116">
                    <a:moveTo>
                      <a:pt x="0" y="116"/>
                    </a:moveTo>
                    <a:lnTo>
                      <a:pt x="115" y="0"/>
                    </a:lnTo>
                    <a:lnTo>
                      <a:pt x="116" y="0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91" name="Freeform 71"/>
              <p:cNvSpPr>
                <a:spLocks/>
              </p:cNvSpPr>
              <p:nvPr/>
            </p:nvSpPr>
            <p:spPr bwMode="auto">
              <a:xfrm>
                <a:off x="1949" y="2493"/>
                <a:ext cx="50" cy="50"/>
              </a:xfrm>
              <a:custGeom>
                <a:avLst/>
                <a:gdLst>
                  <a:gd name="T0" fmla="*/ 0 w 350"/>
                  <a:gd name="T1" fmla="*/ 349 h 349"/>
                  <a:gd name="T2" fmla="*/ 349 w 350"/>
                  <a:gd name="T3" fmla="*/ 0 h 349"/>
                  <a:gd name="T4" fmla="*/ 350 w 350"/>
                  <a:gd name="T5" fmla="*/ 0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0" h="349">
                    <a:moveTo>
                      <a:pt x="0" y="349"/>
                    </a:moveTo>
                    <a:lnTo>
                      <a:pt x="349" y="0"/>
                    </a:lnTo>
                    <a:lnTo>
                      <a:pt x="350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92" name="Freeform 72"/>
              <p:cNvSpPr>
                <a:spLocks/>
              </p:cNvSpPr>
              <p:nvPr/>
            </p:nvSpPr>
            <p:spPr bwMode="auto">
              <a:xfrm>
                <a:off x="2065" y="2131"/>
                <a:ext cx="296" cy="296"/>
              </a:xfrm>
              <a:custGeom>
                <a:avLst/>
                <a:gdLst>
                  <a:gd name="T0" fmla="*/ 0 w 2070"/>
                  <a:gd name="T1" fmla="*/ 2070 h 2070"/>
                  <a:gd name="T2" fmla="*/ 2069 w 2070"/>
                  <a:gd name="T3" fmla="*/ 0 h 2070"/>
                  <a:gd name="T4" fmla="*/ 2070 w 2070"/>
                  <a:gd name="T5" fmla="*/ 0 h 20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70" h="2070">
                    <a:moveTo>
                      <a:pt x="0" y="2070"/>
                    </a:moveTo>
                    <a:lnTo>
                      <a:pt x="2069" y="0"/>
                    </a:lnTo>
                    <a:lnTo>
                      <a:pt x="2070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93" name="Freeform 73"/>
              <p:cNvSpPr>
                <a:spLocks/>
              </p:cNvSpPr>
              <p:nvPr/>
            </p:nvSpPr>
            <p:spPr bwMode="auto">
              <a:xfrm>
                <a:off x="1999" y="2427"/>
                <a:ext cx="66" cy="66"/>
              </a:xfrm>
              <a:custGeom>
                <a:avLst/>
                <a:gdLst>
                  <a:gd name="T0" fmla="*/ 0 w 466"/>
                  <a:gd name="T1" fmla="*/ 465 h 465"/>
                  <a:gd name="T2" fmla="*/ 465 w 466"/>
                  <a:gd name="T3" fmla="*/ 0 h 465"/>
                  <a:gd name="T4" fmla="*/ 466 w 466"/>
                  <a:gd name="T5" fmla="*/ 0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6" h="465">
                    <a:moveTo>
                      <a:pt x="0" y="465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94" name="Freeform 74"/>
              <p:cNvSpPr>
                <a:spLocks/>
              </p:cNvSpPr>
              <p:nvPr/>
            </p:nvSpPr>
            <p:spPr bwMode="auto">
              <a:xfrm>
                <a:off x="1975" y="2546"/>
                <a:ext cx="24" cy="23"/>
              </a:xfrm>
              <a:custGeom>
                <a:avLst/>
                <a:gdLst>
                  <a:gd name="T0" fmla="*/ 0 w 164"/>
                  <a:gd name="T1" fmla="*/ 163 h 163"/>
                  <a:gd name="T2" fmla="*/ 163 w 164"/>
                  <a:gd name="T3" fmla="*/ 0 h 163"/>
                  <a:gd name="T4" fmla="*/ 164 w 164"/>
                  <a:gd name="T5" fmla="*/ 0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4" h="163">
                    <a:moveTo>
                      <a:pt x="0" y="163"/>
                    </a:moveTo>
                    <a:lnTo>
                      <a:pt x="163" y="0"/>
                    </a:lnTo>
                    <a:lnTo>
                      <a:pt x="164" y="0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95" name="Freeform 75"/>
              <p:cNvSpPr>
                <a:spLocks/>
              </p:cNvSpPr>
              <p:nvPr/>
            </p:nvSpPr>
            <p:spPr bwMode="auto">
              <a:xfrm>
                <a:off x="2277" y="2157"/>
                <a:ext cx="111" cy="110"/>
              </a:xfrm>
              <a:custGeom>
                <a:avLst/>
                <a:gdLst>
                  <a:gd name="T0" fmla="*/ 0 w 772"/>
                  <a:gd name="T1" fmla="*/ 771 h 771"/>
                  <a:gd name="T2" fmla="*/ 770 w 772"/>
                  <a:gd name="T3" fmla="*/ 0 h 771"/>
                  <a:gd name="T4" fmla="*/ 772 w 772"/>
                  <a:gd name="T5" fmla="*/ 0 h 7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72" h="771">
                    <a:moveTo>
                      <a:pt x="0" y="771"/>
                    </a:moveTo>
                    <a:lnTo>
                      <a:pt x="770" y="0"/>
                    </a:lnTo>
                    <a:lnTo>
                      <a:pt x="772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96" name="Freeform 76"/>
              <p:cNvSpPr>
                <a:spLocks/>
              </p:cNvSpPr>
              <p:nvPr/>
            </p:nvSpPr>
            <p:spPr bwMode="auto">
              <a:xfrm>
                <a:off x="1999" y="2267"/>
                <a:ext cx="279" cy="279"/>
              </a:xfrm>
              <a:custGeom>
                <a:avLst/>
                <a:gdLst>
                  <a:gd name="T0" fmla="*/ 0 w 1953"/>
                  <a:gd name="T1" fmla="*/ 1952 h 1952"/>
                  <a:gd name="T2" fmla="*/ 808 w 1953"/>
                  <a:gd name="T3" fmla="*/ 1144 h 1952"/>
                  <a:gd name="T4" fmla="*/ 1951 w 1953"/>
                  <a:gd name="T5" fmla="*/ 0 h 1952"/>
                  <a:gd name="T6" fmla="*/ 1953 w 1953"/>
                  <a:gd name="T7" fmla="*/ 0 h 19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3" h="1952">
                    <a:moveTo>
                      <a:pt x="0" y="1952"/>
                    </a:moveTo>
                    <a:lnTo>
                      <a:pt x="808" y="1144"/>
                    </a:lnTo>
                    <a:lnTo>
                      <a:pt x="1951" y="0"/>
                    </a:lnTo>
                    <a:lnTo>
                      <a:pt x="1953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97" name="Freeform 77"/>
              <p:cNvSpPr>
                <a:spLocks/>
              </p:cNvSpPr>
              <p:nvPr/>
            </p:nvSpPr>
            <p:spPr bwMode="auto">
              <a:xfrm>
                <a:off x="2002" y="2435"/>
                <a:ext cx="160" cy="160"/>
              </a:xfrm>
              <a:custGeom>
                <a:avLst/>
                <a:gdLst>
                  <a:gd name="T0" fmla="*/ 0 w 1120"/>
                  <a:gd name="T1" fmla="*/ 1119 h 1119"/>
                  <a:gd name="T2" fmla="*/ 1119 w 1120"/>
                  <a:gd name="T3" fmla="*/ 0 h 1119"/>
                  <a:gd name="T4" fmla="*/ 1120 w 1120"/>
                  <a:gd name="T5" fmla="*/ 0 h 1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0" h="1119">
                    <a:moveTo>
                      <a:pt x="0" y="1119"/>
                    </a:moveTo>
                    <a:lnTo>
                      <a:pt x="1119" y="0"/>
                    </a:lnTo>
                    <a:lnTo>
                      <a:pt x="1120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98" name="Freeform 78"/>
              <p:cNvSpPr>
                <a:spLocks/>
              </p:cNvSpPr>
              <p:nvPr/>
            </p:nvSpPr>
            <p:spPr bwMode="auto">
              <a:xfrm>
                <a:off x="2167" y="2189"/>
                <a:ext cx="241" cy="241"/>
              </a:xfrm>
              <a:custGeom>
                <a:avLst/>
                <a:gdLst>
                  <a:gd name="T0" fmla="*/ 0 w 1683"/>
                  <a:gd name="T1" fmla="*/ 1683 h 1683"/>
                  <a:gd name="T2" fmla="*/ 1681 w 1683"/>
                  <a:gd name="T3" fmla="*/ 0 h 1683"/>
                  <a:gd name="T4" fmla="*/ 1683 w 1683"/>
                  <a:gd name="T5" fmla="*/ 0 h 16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83" h="1683">
                    <a:moveTo>
                      <a:pt x="0" y="1683"/>
                    </a:moveTo>
                    <a:lnTo>
                      <a:pt x="1681" y="0"/>
                    </a:lnTo>
                    <a:lnTo>
                      <a:pt x="1683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399" name="Freeform 79"/>
              <p:cNvSpPr>
                <a:spLocks/>
              </p:cNvSpPr>
              <p:nvPr/>
            </p:nvSpPr>
            <p:spPr bwMode="auto">
              <a:xfrm>
                <a:off x="2162" y="2430"/>
                <a:ext cx="5" cy="5"/>
              </a:xfrm>
              <a:custGeom>
                <a:avLst/>
                <a:gdLst>
                  <a:gd name="T0" fmla="*/ 0 w 38"/>
                  <a:gd name="T1" fmla="*/ 37 h 37"/>
                  <a:gd name="T2" fmla="*/ 37 w 38"/>
                  <a:gd name="T3" fmla="*/ 0 h 37"/>
                  <a:gd name="T4" fmla="*/ 38 w 38"/>
                  <a:gd name="T5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" h="37">
                    <a:moveTo>
                      <a:pt x="0" y="37"/>
                    </a:moveTo>
                    <a:lnTo>
                      <a:pt x="37" y="0"/>
                    </a:lnTo>
                    <a:lnTo>
                      <a:pt x="38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00" name="Freeform 80"/>
              <p:cNvSpPr>
                <a:spLocks/>
              </p:cNvSpPr>
              <p:nvPr/>
            </p:nvSpPr>
            <p:spPr bwMode="auto">
              <a:xfrm>
                <a:off x="2029" y="2592"/>
                <a:ext cx="28" cy="29"/>
              </a:xfrm>
              <a:custGeom>
                <a:avLst/>
                <a:gdLst>
                  <a:gd name="T0" fmla="*/ 0 w 199"/>
                  <a:gd name="T1" fmla="*/ 199 h 199"/>
                  <a:gd name="T2" fmla="*/ 198 w 199"/>
                  <a:gd name="T3" fmla="*/ 0 h 199"/>
                  <a:gd name="T4" fmla="*/ 199 w 199"/>
                  <a:gd name="T5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9" h="199">
                    <a:moveTo>
                      <a:pt x="0" y="199"/>
                    </a:moveTo>
                    <a:lnTo>
                      <a:pt x="198" y="0"/>
                    </a:lnTo>
                    <a:lnTo>
                      <a:pt x="199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01" name="Freeform 81"/>
              <p:cNvSpPr>
                <a:spLocks/>
              </p:cNvSpPr>
              <p:nvPr/>
            </p:nvSpPr>
            <p:spPr bwMode="auto">
              <a:xfrm>
                <a:off x="2209" y="2228"/>
                <a:ext cx="212" cy="213"/>
              </a:xfrm>
              <a:custGeom>
                <a:avLst/>
                <a:gdLst>
                  <a:gd name="T0" fmla="*/ 0 w 1488"/>
                  <a:gd name="T1" fmla="*/ 1489 h 1489"/>
                  <a:gd name="T2" fmla="*/ 1487 w 1488"/>
                  <a:gd name="T3" fmla="*/ 0 h 1489"/>
                  <a:gd name="T4" fmla="*/ 1488 w 1488"/>
                  <a:gd name="T5" fmla="*/ 0 h 1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88" h="1489">
                    <a:moveTo>
                      <a:pt x="0" y="1489"/>
                    </a:moveTo>
                    <a:lnTo>
                      <a:pt x="1487" y="0"/>
                    </a:lnTo>
                    <a:lnTo>
                      <a:pt x="1488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02" name="Freeform 82"/>
              <p:cNvSpPr>
                <a:spLocks/>
              </p:cNvSpPr>
              <p:nvPr/>
            </p:nvSpPr>
            <p:spPr bwMode="auto">
              <a:xfrm>
                <a:off x="2057" y="2441"/>
                <a:ext cx="152" cy="151"/>
              </a:xfrm>
              <a:custGeom>
                <a:avLst/>
                <a:gdLst>
                  <a:gd name="T0" fmla="*/ 0 w 1063"/>
                  <a:gd name="T1" fmla="*/ 1061 h 1061"/>
                  <a:gd name="T2" fmla="*/ 1062 w 1063"/>
                  <a:gd name="T3" fmla="*/ 0 h 1061"/>
                  <a:gd name="T4" fmla="*/ 1063 w 1063"/>
                  <a:gd name="T5" fmla="*/ 0 h 10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63" h="1061">
                    <a:moveTo>
                      <a:pt x="0" y="1061"/>
                    </a:moveTo>
                    <a:lnTo>
                      <a:pt x="1062" y="0"/>
                    </a:lnTo>
                    <a:lnTo>
                      <a:pt x="1063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03" name="Freeform 83"/>
              <p:cNvSpPr>
                <a:spLocks/>
              </p:cNvSpPr>
              <p:nvPr/>
            </p:nvSpPr>
            <p:spPr bwMode="auto">
              <a:xfrm>
                <a:off x="2055" y="2642"/>
                <a:ext cx="5" cy="5"/>
              </a:xfrm>
              <a:custGeom>
                <a:avLst/>
                <a:gdLst>
                  <a:gd name="T0" fmla="*/ 0 w 36"/>
                  <a:gd name="T1" fmla="*/ 35 h 35"/>
                  <a:gd name="T2" fmla="*/ 35 w 36"/>
                  <a:gd name="T3" fmla="*/ 0 h 35"/>
                  <a:gd name="T4" fmla="*/ 36 w 36"/>
                  <a:gd name="T5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35">
                    <a:moveTo>
                      <a:pt x="0" y="35"/>
                    </a:moveTo>
                    <a:lnTo>
                      <a:pt x="35" y="0"/>
                    </a:lnTo>
                    <a:lnTo>
                      <a:pt x="36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04" name="Freeform 84"/>
              <p:cNvSpPr>
                <a:spLocks/>
              </p:cNvSpPr>
              <p:nvPr/>
            </p:nvSpPr>
            <p:spPr bwMode="auto">
              <a:xfrm>
                <a:off x="2254" y="2272"/>
                <a:ext cx="176" cy="176"/>
              </a:xfrm>
              <a:custGeom>
                <a:avLst/>
                <a:gdLst>
                  <a:gd name="T0" fmla="*/ 0 w 1229"/>
                  <a:gd name="T1" fmla="*/ 1228 h 1228"/>
                  <a:gd name="T2" fmla="*/ 1227 w 1229"/>
                  <a:gd name="T3" fmla="*/ 0 h 1228"/>
                  <a:gd name="T4" fmla="*/ 1229 w 1229"/>
                  <a:gd name="T5" fmla="*/ 0 h 1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29" h="1228">
                    <a:moveTo>
                      <a:pt x="0" y="1228"/>
                    </a:moveTo>
                    <a:lnTo>
                      <a:pt x="1227" y="0"/>
                    </a:lnTo>
                    <a:lnTo>
                      <a:pt x="1229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05" name="Freeform 85"/>
              <p:cNvSpPr>
                <a:spLocks/>
              </p:cNvSpPr>
              <p:nvPr/>
            </p:nvSpPr>
            <p:spPr bwMode="auto">
              <a:xfrm>
                <a:off x="2060" y="2448"/>
                <a:ext cx="194" cy="194"/>
              </a:xfrm>
              <a:custGeom>
                <a:avLst/>
                <a:gdLst>
                  <a:gd name="T0" fmla="*/ 0 w 1358"/>
                  <a:gd name="T1" fmla="*/ 1358 h 1358"/>
                  <a:gd name="T2" fmla="*/ 1357 w 1358"/>
                  <a:gd name="T3" fmla="*/ 0 h 1358"/>
                  <a:gd name="T4" fmla="*/ 1358 w 1358"/>
                  <a:gd name="T5" fmla="*/ 0 h 13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58" h="1358">
                    <a:moveTo>
                      <a:pt x="0" y="1358"/>
                    </a:moveTo>
                    <a:lnTo>
                      <a:pt x="1357" y="0"/>
                    </a:lnTo>
                    <a:lnTo>
                      <a:pt x="1358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06" name="Freeform 86"/>
              <p:cNvSpPr>
                <a:spLocks/>
              </p:cNvSpPr>
              <p:nvPr/>
            </p:nvSpPr>
            <p:spPr bwMode="auto">
              <a:xfrm>
                <a:off x="2082" y="2660"/>
                <a:ext cx="12" cy="13"/>
              </a:xfrm>
              <a:custGeom>
                <a:avLst/>
                <a:gdLst>
                  <a:gd name="T0" fmla="*/ 0 w 87"/>
                  <a:gd name="T1" fmla="*/ 87 h 87"/>
                  <a:gd name="T2" fmla="*/ 86 w 87"/>
                  <a:gd name="T3" fmla="*/ 0 h 87"/>
                  <a:gd name="T4" fmla="*/ 87 w 87"/>
                  <a:gd name="T5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7" h="87">
                    <a:moveTo>
                      <a:pt x="0" y="87"/>
                    </a:moveTo>
                    <a:lnTo>
                      <a:pt x="86" y="0"/>
                    </a:lnTo>
                    <a:lnTo>
                      <a:pt x="87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07" name="Freeform 87"/>
              <p:cNvSpPr>
                <a:spLocks/>
              </p:cNvSpPr>
              <p:nvPr/>
            </p:nvSpPr>
            <p:spPr bwMode="auto">
              <a:xfrm>
                <a:off x="2299" y="2321"/>
                <a:ext cx="134" cy="135"/>
              </a:xfrm>
              <a:custGeom>
                <a:avLst/>
                <a:gdLst>
                  <a:gd name="T0" fmla="*/ 0 w 940"/>
                  <a:gd name="T1" fmla="*/ 941 h 941"/>
                  <a:gd name="T2" fmla="*/ 939 w 940"/>
                  <a:gd name="T3" fmla="*/ 0 h 941"/>
                  <a:gd name="T4" fmla="*/ 940 w 940"/>
                  <a:gd name="T5" fmla="*/ 0 h 9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40" h="941">
                    <a:moveTo>
                      <a:pt x="0" y="941"/>
                    </a:moveTo>
                    <a:lnTo>
                      <a:pt x="939" y="0"/>
                    </a:lnTo>
                    <a:lnTo>
                      <a:pt x="940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08" name="Freeform 88"/>
              <p:cNvSpPr>
                <a:spLocks/>
              </p:cNvSpPr>
              <p:nvPr/>
            </p:nvSpPr>
            <p:spPr bwMode="auto">
              <a:xfrm>
                <a:off x="2094" y="2456"/>
                <a:ext cx="205" cy="204"/>
              </a:xfrm>
              <a:custGeom>
                <a:avLst/>
                <a:gdLst>
                  <a:gd name="T0" fmla="*/ 0 w 1432"/>
                  <a:gd name="T1" fmla="*/ 1431 h 1431"/>
                  <a:gd name="T2" fmla="*/ 1431 w 1432"/>
                  <a:gd name="T3" fmla="*/ 0 h 1431"/>
                  <a:gd name="T4" fmla="*/ 1432 w 1432"/>
                  <a:gd name="T5" fmla="*/ 0 h 1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2" h="1431">
                    <a:moveTo>
                      <a:pt x="0" y="1431"/>
                    </a:moveTo>
                    <a:lnTo>
                      <a:pt x="1431" y="0"/>
                    </a:lnTo>
                    <a:lnTo>
                      <a:pt x="1432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09" name="Freeform 89"/>
              <p:cNvSpPr>
                <a:spLocks/>
              </p:cNvSpPr>
              <p:nvPr/>
            </p:nvSpPr>
            <p:spPr bwMode="auto">
              <a:xfrm>
                <a:off x="2109" y="2679"/>
                <a:ext cx="19" cy="20"/>
              </a:xfrm>
              <a:custGeom>
                <a:avLst/>
                <a:gdLst>
                  <a:gd name="T0" fmla="*/ 0 w 138"/>
                  <a:gd name="T1" fmla="*/ 139 h 139"/>
                  <a:gd name="T2" fmla="*/ 137 w 138"/>
                  <a:gd name="T3" fmla="*/ 0 h 139"/>
                  <a:gd name="T4" fmla="*/ 138 w 138"/>
                  <a:gd name="T5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8" h="139">
                    <a:moveTo>
                      <a:pt x="0" y="139"/>
                    </a:moveTo>
                    <a:lnTo>
                      <a:pt x="137" y="0"/>
                    </a:lnTo>
                    <a:lnTo>
                      <a:pt x="138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10" name="Freeform 90"/>
              <p:cNvSpPr>
                <a:spLocks/>
              </p:cNvSpPr>
              <p:nvPr/>
            </p:nvSpPr>
            <p:spPr bwMode="auto">
              <a:xfrm>
                <a:off x="2342" y="2375"/>
                <a:ext cx="90" cy="90"/>
              </a:xfrm>
              <a:custGeom>
                <a:avLst/>
                <a:gdLst>
                  <a:gd name="T0" fmla="*/ 0 w 629"/>
                  <a:gd name="T1" fmla="*/ 629 h 629"/>
                  <a:gd name="T2" fmla="*/ 628 w 629"/>
                  <a:gd name="T3" fmla="*/ 0 h 629"/>
                  <a:gd name="T4" fmla="*/ 629 w 629"/>
                  <a:gd name="T5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29" h="629">
                    <a:moveTo>
                      <a:pt x="0" y="629"/>
                    </a:moveTo>
                    <a:lnTo>
                      <a:pt x="628" y="0"/>
                    </a:lnTo>
                    <a:lnTo>
                      <a:pt x="629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11" name="Freeform 91"/>
              <p:cNvSpPr>
                <a:spLocks/>
              </p:cNvSpPr>
              <p:nvPr/>
            </p:nvSpPr>
            <p:spPr bwMode="auto">
              <a:xfrm>
                <a:off x="2128" y="2465"/>
                <a:ext cx="214" cy="214"/>
              </a:xfrm>
              <a:custGeom>
                <a:avLst/>
                <a:gdLst>
                  <a:gd name="T0" fmla="*/ 0 w 1498"/>
                  <a:gd name="T1" fmla="*/ 1497 h 1497"/>
                  <a:gd name="T2" fmla="*/ 1497 w 1498"/>
                  <a:gd name="T3" fmla="*/ 0 h 1497"/>
                  <a:gd name="T4" fmla="*/ 1498 w 1498"/>
                  <a:gd name="T5" fmla="*/ 0 h 1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98" h="1497">
                    <a:moveTo>
                      <a:pt x="0" y="1497"/>
                    </a:moveTo>
                    <a:lnTo>
                      <a:pt x="1497" y="0"/>
                    </a:lnTo>
                    <a:lnTo>
                      <a:pt x="1498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12" name="Freeform 92"/>
              <p:cNvSpPr>
                <a:spLocks/>
              </p:cNvSpPr>
              <p:nvPr/>
            </p:nvSpPr>
            <p:spPr bwMode="auto">
              <a:xfrm>
                <a:off x="2135" y="2697"/>
                <a:ext cx="27" cy="27"/>
              </a:xfrm>
              <a:custGeom>
                <a:avLst/>
                <a:gdLst>
                  <a:gd name="T0" fmla="*/ 0 w 191"/>
                  <a:gd name="T1" fmla="*/ 190 h 190"/>
                  <a:gd name="T2" fmla="*/ 190 w 191"/>
                  <a:gd name="T3" fmla="*/ 0 h 190"/>
                  <a:gd name="T4" fmla="*/ 191 w 191"/>
                  <a:gd name="T5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1" h="190">
                    <a:moveTo>
                      <a:pt x="0" y="190"/>
                    </a:moveTo>
                    <a:lnTo>
                      <a:pt x="190" y="0"/>
                    </a:lnTo>
                    <a:lnTo>
                      <a:pt x="191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13" name="Freeform 93"/>
              <p:cNvSpPr>
                <a:spLocks/>
              </p:cNvSpPr>
              <p:nvPr/>
            </p:nvSpPr>
            <p:spPr bwMode="auto">
              <a:xfrm>
                <a:off x="2384" y="2433"/>
                <a:ext cx="43" cy="42"/>
              </a:xfrm>
              <a:custGeom>
                <a:avLst/>
                <a:gdLst>
                  <a:gd name="T0" fmla="*/ 0 w 299"/>
                  <a:gd name="T1" fmla="*/ 297 h 297"/>
                  <a:gd name="T2" fmla="*/ 298 w 299"/>
                  <a:gd name="T3" fmla="*/ 0 h 297"/>
                  <a:gd name="T4" fmla="*/ 299 w 299"/>
                  <a:gd name="T5" fmla="*/ 0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9" h="297">
                    <a:moveTo>
                      <a:pt x="0" y="297"/>
                    </a:moveTo>
                    <a:lnTo>
                      <a:pt x="298" y="0"/>
                    </a:lnTo>
                    <a:lnTo>
                      <a:pt x="299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14" name="Freeform 94"/>
              <p:cNvSpPr>
                <a:spLocks/>
              </p:cNvSpPr>
              <p:nvPr/>
            </p:nvSpPr>
            <p:spPr bwMode="auto">
              <a:xfrm>
                <a:off x="2162" y="2475"/>
                <a:ext cx="222" cy="222"/>
              </a:xfrm>
              <a:custGeom>
                <a:avLst/>
                <a:gdLst>
                  <a:gd name="T0" fmla="*/ 0 w 1555"/>
                  <a:gd name="T1" fmla="*/ 1554 h 1554"/>
                  <a:gd name="T2" fmla="*/ 1554 w 1555"/>
                  <a:gd name="T3" fmla="*/ 0 h 1554"/>
                  <a:gd name="T4" fmla="*/ 1555 w 1555"/>
                  <a:gd name="T5" fmla="*/ 0 h 1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55" h="1554">
                    <a:moveTo>
                      <a:pt x="0" y="1554"/>
                    </a:moveTo>
                    <a:lnTo>
                      <a:pt x="1554" y="0"/>
                    </a:lnTo>
                    <a:lnTo>
                      <a:pt x="1555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15" name="Freeform 95"/>
              <p:cNvSpPr>
                <a:spLocks/>
              </p:cNvSpPr>
              <p:nvPr/>
            </p:nvSpPr>
            <p:spPr bwMode="auto">
              <a:xfrm>
                <a:off x="2162" y="2495"/>
                <a:ext cx="255" cy="255"/>
              </a:xfrm>
              <a:custGeom>
                <a:avLst/>
                <a:gdLst>
                  <a:gd name="T0" fmla="*/ 0 w 1788"/>
                  <a:gd name="T1" fmla="*/ 1788 h 1788"/>
                  <a:gd name="T2" fmla="*/ 241 w 1788"/>
                  <a:gd name="T3" fmla="*/ 1547 h 1788"/>
                  <a:gd name="T4" fmla="*/ 1787 w 1788"/>
                  <a:gd name="T5" fmla="*/ 0 h 1788"/>
                  <a:gd name="T6" fmla="*/ 1788 w 1788"/>
                  <a:gd name="T7" fmla="*/ 0 h 1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88" h="1788">
                    <a:moveTo>
                      <a:pt x="0" y="1788"/>
                    </a:moveTo>
                    <a:lnTo>
                      <a:pt x="241" y="1547"/>
                    </a:lnTo>
                    <a:lnTo>
                      <a:pt x="1787" y="0"/>
                    </a:lnTo>
                    <a:lnTo>
                      <a:pt x="1788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16" name="Freeform 96"/>
              <p:cNvSpPr>
                <a:spLocks/>
              </p:cNvSpPr>
              <p:nvPr/>
            </p:nvSpPr>
            <p:spPr bwMode="auto">
              <a:xfrm>
                <a:off x="2188" y="2563"/>
                <a:ext cx="214" cy="213"/>
              </a:xfrm>
              <a:custGeom>
                <a:avLst/>
                <a:gdLst>
                  <a:gd name="T0" fmla="*/ 0 w 1494"/>
                  <a:gd name="T1" fmla="*/ 1493 h 1493"/>
                  <a:gd name="T2" fmla="*/ 293 w 1494"/>
                  <a:gd name="T3" fmla="*/ 1200 h 1493"/>
                  <a:gd name="T4" fmla="*/ 1493 w 1494"/>
                  <a:gd name="T5" fmla="*/ 0 h 1493"/>
                  <a:gd name="T6" fmla="*/ 1494 w 1494"/>
                  <a:gd name="T7" fmla="*/ 0 h 1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4" h="1493">
                    <a:moveTo>
                      <a:pt x="0" y="1493"/>
                    </a:moveTo>
                    <a:lnTo>
                      <a:pt x="293" y="1200"/>
                    </a:lnTo>
                    <a:lnTo>
                      <a:pt x="1493" y="0"/>
                    </a:lnTo>
                    <a:lnTo>
                      <a:pt x="1494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17" name="Freeform 97"/>
              <p:cNvSpPr>
                <a:spLocks/>
              </p:cNvSpPr>
              <p:nvPr/>
            </p:nvSpPr>
            <p:spPr bwMode="auto">
              <a:xfrm>
                <a:off x="2215" y="2639"/>
                <a:ext cx="164" cy="163"/>
              </a:xfrm>
              <a:custGeom>
                <a:avLst/>
                <a:gdLst>
                  <a:gd name="T0" fmla="*/ 0 w 1146"/>
                  <a:gd name="T1" fmla="*/ 1145 h 1145"/>
                  <a:gd name="T2" fmla="*/ 344 w 1146"/>
                  <a:gd name="T3" fmla="*/ 800 h 1145"/>
                  <a:gd name="T4" fmla="*/ 1145 w 1146"/>
                  <a:gd name="T5" fmla="*/ 0 h 1145"/>
                  <a:gd name="T6" fmla="*/ 1146 w 1146"/>
                  <a:gd name="T7" fmla="*/ 0 h 1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46" h="1145">
                    <a:moveTo>
                      <a:pt x="0" y="1145"/>
                    </a:moveTo>
                    <a:lnTo>
                      <a:pt x="344" y="800"/>
                    </a:lnTo>
                    <a:lnTo>
                      <a:pt x="1145" y="0"/>
                    </a:lnTo>
                    <a:lnTo>
                      <a:pt x="1146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18" name="Freeform 98"/>
              <p:cNvSpPr>
                <a:spLocks/>
              </p:cNvSpPr>
              <p:nvPr/>
            </p:nvSpPr>
            <p:spPr bwMode="auto">
              <a:xfrm>
                <a:off x="2242" y="2723"/>
                <a:ext cx="105" cy="105"/>
              </a:xfrm>
              <a:custGeom>
                <a:avLst/>
                <a:gdLst>
                  <a:gd name="T0" fmla="*/ 0 w 735"/>
                  <a:gd name="T1" fmla="*/ 734 h 734"/>
                  <a:gd name="T2" fmla="*/ 396 w 735"/>
                  <a:gd name="T3" fmla="*/ 339 h 734"/>
                  <a:gd name="T4" fmla="*/ 733 w 735"/>
                  <a:gd name="T5" fmla="*/ 0 h 734"/>
                  <a:gd name="T6" fmla="*/ 735 w 735"/>
                  <a:gd name="T7" fmla="*/ 0 h 7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5" h="734">
                    <a:moveTo>
                      <a:pt x="0" y="734"/>
                    </a:moveTo>
                    <a:lnTo>
                      <a:pt x="396" y="339"/>
                    </a:lnTo>
                    <a:lnTo>
                      <a:pt x="733" y="0"/>
                    </a:lnTo>
                    <a:lnTo>
                      <a:pt x="735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19" name="Freeform 99"/>
              <p:cNvSpPr>
                <a:spLocks/>
              </p:cNvSpPr>
              <p:nvPr/>
            </p:nvSpPr>
            <p:spPr bwMode="auto">
              <a:xfrm>
                <a:off x="2268" y="2817"/>
                <a:ext cx="37" cy="37"/>
              </a:xfrm>
              <a:custGeom>
                <a:avLst/>
                <a:gdLst>
                  <a:gd name="T0" fmla="*/ 0 w 260"/>
                  <a:gd name="T1" fmla="*/ 259 h 259"/>
                  <a:gd name="T2" fmla="*/ 259 w 260"/>
                  <a:gd name="T3" fmla="*/ 0 h 259"/>
                  <a:gd name="T4" fmla="*/ 260 w 260"/>
                  <a:gd name="T5" fmla="*/ 0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0" h="259">
                    <a:moveTo>
                      <a:pt x="0" y="259"/>
                    </a:moveTo>
                    <a:lnTo>
                      <a:pt x="259" y="0"/>
                    </a:lnTo>
                    <a:lnTo>
                      <a:pt x="260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20" name="Freeform 100"/>
              <p:cNvSpPr>
                <a:spLocks/>
              </p:cNvSpPr>
              <p:nvPr/>
            </p:nvSpPr>
            <p:spPr bwMode="auto">
              <a:xfrm>
                <a:off x="2053" y="1664"/>
                <a:ext cx="690" cy="1019"/>
              </a:xfrm>
              <a:custGeom>
                <a:avLst/>
                <a:gdLst>
                  <a:gd name="T0" fmla="*/ 0 w 4828"/>
                  <a:gd name="T1" fmla="*/ 7130 h 7130"/>
                  <a:gd name="T2" fmla="*/ 4827 w 4828"/>
                  <a:gd name="T3" fmla="*/ 0 h 7130"/>
                  <a:gd name="T4" fmla="*/ 4828 w 4828"/>
                  <a:gd name="T5" fmla="*/ 0 h 7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828" h="7130">
                    <a:moveTo>
                      <a:pt x="0" y="7130"/>
                    </a:moveTo>
                    <a:lnTo>
                      <a:pt x="4827" y="0"/>
                    </a:lnTo>
                    <a:lnTo>
                      <a:pt x="4828" y="0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21" name="Freeform 101"/>
              <p:cNvSpPr>
                <a:spLocks/>
              </p:cNvSpPr>
              <p:nvPr/>
            </p:nvSpPr>
            <p:spPr bwMode="auto">
              <a:xfrm>
                <a:off x="2283" y="2089"/>
                <a:ext cx="2239" cy="1221"/>
              </a:xfrm>
              <a:custGeom>
                <a:avLst/>
                <a:gdLst>
                  <a:gd name="T0" fmla="*/ 0 w 15670"/>
                  <a:gd name="T1" fmla="*/ 0 h 8546"/>
                  <a:gd name="T2" fmla="*/ 15668 w 15670"/>
                  <a:gd name="T3" fmla="*/ 8546 h 8546"/>
                  <a:gd name="T4" fmla="*/ 15670 w 15670"/>
                  <a:gd name="T5" fmla="*/ 8546 h 85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70" h="8546">
                    <a:moveTo>
                      <a:pt x="0" y="0"/>
                    </a:moveTo>
                    <a:lnTo>
                      <a:pt x="15668" y="8546"/>
                    </a:lnTo>
                    <a:lnTo>
                      <a:pt x="15670" y="8546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22" name="Freeform 102"/>
              <p:cNvSpPr>
                <a:spLocks/>
              </p:cNvSpPr>
              <p:nvPr/>
            </p:nvSpPr>
            <p:spPr bwMode="auto">
              <a:xfrm>
                <a:off x="3934" y="2973"/>
                <a:ext cx="221" cy="792"/>
              </a:xfrm>
              <a:custGeom>
                <a:avLst/>
                <a:gdLst>
                  <a:gd name="T0" fmla="*/ 0 w 1546"/>
                  <a:gd name="T1" fmla="*/ 0 h 5541"/>
                  <a:gd name="T2" fmla="*/ 468 w 1546"/>
                  <a:gd name="T3" fmla="*/ 418 h 5541"/>
                  <a:gd name="T4" fmla="*/ 811 w 1546"/>
                  <a:gd name="T5" fmla="*/ 795 h 5541"/>
                  <a:gd name="T6" fmla="*/ 1054 w 1546"/>
                  <a:gd name="T7" fmla="*/ 1141 h 5541"/>
                  <a:gd name="T8" fmla="*/ 1216 w 1546"/>
                  <a:gd name="T9" fmla="*/ 1470 h 5541"/>
                  <a:gd name="T10" fmla="*/ 1389 w 1546"/>
                  <a:gd name="T11" fmla="*/ 2119 h 5541"/>
                  <a:gd name="T12" fmla="*/ 1467 w 1546"/>
                  <a:gd name="T13" fmla="*/ 2790 h 5541"/>
                  <a:gd name="T14" fmla="*/ 1546 w 1546"/>
                  <a:gd name="T15" fmla="*/ 4156 h 5541"/>
                  <a:gd name="T16" fmla="*/ 1476 w 1546"/>
                  <a:gd name="T17" fmla="*/ 4844 h 5541"/>
                  <a:gd name="T18" fmla="*/ 1294 w 1546"/>
                  <a:gd name="T19" fmla="*/ 5541 h 5541"/>
                  <a:gd name="T20" fmla="*/ 1295 w 1546"/>
                  <a:gd name="T21" fmla="*/ 5541 h 5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46" h="5541">
                    <a:moveTo>
                      <a:pt x="0" y="0"/>
                    </a:moveTo>
                    <a:lnTo>
                      <a:pt x="468" y="418"/>
                    </a:lnTo>
                    <a:lnTo>
                      <a:pt x="811" y="795"/>
                    </a:lnTo>
                    <a:lnTo>
                      <a:pt x="1054" y="1141"/>
                    </a:lnTo>
                    <a:lnTo>
                      <a:pt x="1216" y="1470"/>
                    </a:lnTo>
                    <a:lnTo>
                      <a:pt x="1389" y="2119"/>
                    </a:lnTo>
                    <a:lnTo>
                      <a:pt x="1467" y="2790"/>
                    </a:lnTo>
                    <a:lnTo>
                      <a:pt x="1546" y="4156"/>
                    </a:lnTo>
                    <a:lnTo>
                      <a:pt x="1476" y="4844"/>
                    </a:lnTo>
                    <a:lnTo>
                      <a:pt x="1294" y="5541"/>
                    </a:lnTo>
                    <a:lnTo>
                      <a:pt x="1295" y="5541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23" name="Freeform 103"/>
              <p:cNvSpPr>
                <a:spLocks/>
              </p:cNvSpPr>
              <p:nvPr/>
            </p:nvSpPr>
            <p:spPr bwMode="auto">
              <a:xfrm>
                <a:off x="3114" y="3161"/>
                <a:ext cx="56" cy="56"/>
              </a:xfrm>
              <a:custGeom>
                <a:avLst/>
                <a:gdLst>
                  <a:gd name="T0" fmla="*/ 0 w 392"/>
                  <a:gd name="T1" fmla="*/ 392 h 392"/>
                  <a:gd name="T2" fmla="*/ 391 w 392"/>
                  <a:gd name="T3" fmla="*/ 0 h 392"/>
                  <a:gd name="T4" fmla="*/ 392 w 392"/>
                  <a:gd name="T5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2" h="392">
                    <a:moveTo>
                      <a:pt x="0" y="392"/>
                    </a:moveTo>
                    <a:lnTo>
                      <a:pt x="391" y="0"/>
                    </a:lnTo>
                    <a:lnTo>
                      <a:pt x="392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24" name="Freeform 104"/>
              <p:cNvSpPr>
                <a:spLocks/>
              </p:cNvSpPr>
              <p:nvPr/>
            </p:nvSpPr>
            <p:spPr bwMode="auto">
              <a:xfrm>
                <a:off x="3148" y="3048"/>
                <a:ext cx="188" cy="187"/>
              </a:xfrm>
              <a:custGeom>
                <a:avLst/>
                <a:gdLst>
                  <a:gd name="T0" fmla="*/ 0 w 1312"/>
                  <a:gd name="T1" fmla="*/ 1311 h 1311"/>
                  <a:gd name="T2" fmla="*/ 1310 w 1312"/>
                  <a:gd name="T3" fmla="*/ 0 h 1311"/>
                  <a:gd name="T4" fmla="*/ 1312 w 1312"/>
                  <a:gd name="T5" fmla="*/ 0 h 1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12" h="1311">
                    <a:moveTo>
                      <a:pt x="0" y="1311"/>
                    </a:moveTo>
                    <a:lnTo>
                      <a:pt x="1310" y="0"/>
                    </a:lnTo>
                    <a:lnTo>
                      <a:pt x="1312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25" name="Freeform 105"/>
              <p:cNvSpPr>
                <a:spLocks/>
              </p:cNvSpPr>
              <p:nvPr/>
            </p:nvSpPr>
            <p:spPr bwMode="auto">
              <a:xfrm>
                <a:off x="3182" y="3013"/>
                <a:ext cx="241" cy="241"/>
              </a:xfrm>
              <a:custGeom>
                <a:avLst/>
                <a:gdLst>
                  <a:gd name="T0" fmla="*/ 0 w 1685"/>
                  <a:gd name="T1" fmla="*/ 1686 h 1686"/>
                  <a:gd name="T2" fmla="*/ 1684 w 1685"/>
                  <a:gd name="T3" fmla="*/ 0 h 1686"/>
                  <a:gd name="T4" fmla="*/ 1685 w 1685"/>
                  <a:gd name="T5" fmla="*/ 0 h 16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85" h="1686">
                    <a:moveTo>
                      <a:pt x="0" y="1686"/>
                    </a:moveTo>
                    <a:lnTo>
                      <a:pt x="1684" y="0"/>
                    </a:lnTo>
                    <a:lnTo>
                      <a:pt x="1685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26" name="Freeform 106"/>
              <p:cNvSpPr>
                <a:spLocks/>
              </p:cNvSpPr>
              <p:nvPr/>
            </p:nvSpPr>
            <p:spPr bwMode="auto">
              <a:xfrm>
                <a:off x="3216" y="2987"/>
                <a:ext cx="285" cy="285"/>
              </a:xfrm>
              <a:custGeom>
                <a:avLst/>
                <a:gdLst>
                  <a:gd name="T0" fmla="*/ 0 w 1995"/>
                  <a:gd name="T1" fmla="*/ 1995 h 1995"/>
                  <a:gd name="T2" fmla="*/ 1994 w 1995"/>
                  <a:gd name="T3" fmla="*/ 0 h 1995"/>
                  <a:gd name="T4" fmla="*/ 1995 w 1995"/>
                  <a:gd name="T5" fmla="*/ 0 h 19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95" h="1995">
                    <a:moveTo>
                      <a:pt x="0" y="1995"/>
                    </a:moveTo>
                    <a:lnTo>
                      <a:pt x="1994" y="0"/>
                    </a:lnTo>
                    <a:lnTo>
                      <a:pt x="1995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27" name="Freeform 107"/>
              <p:cNvSpPr>
                <a:spLocks/>
              </p:cNvSpPr>
              <p:nvPr/>
            </p:nvSpPr>
            <p:spPr bwMode="auto">
              <a:xfrm>
                <a:off x="3250" y="2965"/>
                <a:ext cx="326" cy="326"/>
              </a:xfrm>
              <a:custGeom>
                <a:avLst/>
                <a:gdLst>
                  <a:gd name="T0" fmla="*/ 0 w 2281"/>
                  <a:gd name="T1" fmla="*/ 2281 h 2281"/>
                  <a:gd name="T2" fmla="*/ 2280 w 2281"/>
                  <a:gd name="T3" fmla="*/ 0 h 2281"/>
                  <a:gd name="T4" fmla="*/ 2281 w 2281"/>
                  <a:gd name="T5" fmla="*/ 0 h 2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81" h="2281">
                    <a:moveTo>
                      <a:pt x="0" y="2281"/>
                    </a:moveTo>
                    <a:lnTo>
                      <a:pt x="2280" y="0"/>
                    </a:lnTo>
                    <a:lnTo>
                      <a:pt x="2281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28" name="Freeform 108"/>
              <p:cNvSpPr>
                <a:spLocks/>
              </p:cNvSpPr>
              <p:nvPr/>
            </p:nvSpPr>
            <p:spPr bwMode="auto">
              <a:xfrm>
                <a:off x="3284" y="2946"/>
                <a:ext cx="363" cy="363"/>
              </a:xfrm>
              <a:custGeom>
                <a:avLst/>
                <a:gdLst>
                  <a:gd name="T0" fmla="*/ 0 w 2541"/>
                  <a:gd name="T1" fmla="*/ 2541 h 2541"/>
                  <a:gd name="T2" fmla="*/ 2540 w 2541"/>
                  <a:gd name="T3" fmla="*/ 0 h 2541"/>
                  <a:gd name="T4" fmla="*/ 2541 w 2541"/>
                  <a:gd name="T5" fmla="*/ 0 h 2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41" h="2541">
                    <a:moveTo>
                      <a:pt x="0" y="2541"/>
                    </a:moveTo>
                    <a:lnTo>
                      <a:pt x="2540" y="0"/>
                    </a:lnTo>
                    <a:lnTo>
                      <a:pt x="2541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29" name="Freeform 109"/>
              <p:cNvSpPr>
                <a:spLocks/>
              </p:cNvSpPr>
              <p:nvPr/>
            </p:nvSpPr>
            <p:spPr bwMode="auto">
              <a:xfrm>
                <a:off x="3318" y="2936"/>
                <a:ext cx="392" cy="392"/>
              </a:xfrm>
              <a:custGeom>
                <a:avLst/>
                <a:gdLst>
                  <a:gd name="T0" fmla="*/ 0 w 2742"/>
                  <a:gd name="T1" fmla="*/ 2742 h 2742"/>
                  <a:gd name="T2" fmla="*/ 2741 w 2742"/>
                  <a:gd name="T3" fmla="*/ 0 h 2742"/>
                  <a:gd name="T4" fmla="*/ 2742 w 2742"/>
                  <a:gd name="T5" fmla="*/ 0 h 27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42" h="2742">
                    <a:moveTo>
                      <a:pt x="0" y="2742"/>
                    </a:moveTo>
                    <a:lnTo>
                      <a:pt x="2741" y="0"/>
                    </a:lnTo>
                    <a:lnTo>
                      <a:pt x="2742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30" name="Freeform 110"/>
              <p:cNvSpPr>
                <a:spLocks/>
              </p:cNvSpPr>
              <p:nvPr/>
            </p:nvSpPr>
            <p:spPr bwMode="auto">
              <a:xfrm>
                <a:off x="3352" y="2936"/>
                <a:ext cx="411" cy="410"/>
              </a:xfrm>
              <a:custGeom>
                <a:avLst/>
                <a:gdLst>
                  <a:gd name="T0" fmla="*/ 0 w 2876"/>
                  <a:gd name="T1" fmla="*/ 2875 h 2875"/>
                  <a:gd name="T2" fmla="*/ 2875 w 2876"/>
                  <a:gd name="T3" fmla="*/ 0 h 2875"/>
                  <a:gd name="T4" fmla="*/ 2876 w 2876"/>
                  <a:gd name="T5" fmla="*/ 0 h 28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76" h="2875">
                    <a:moveTo>
                      <a:pt x="0" y="2875"/>
                    </a:moveTo>
                    <a:lnTo>
                      <a:pt x="2875" y="0"/>
                    </a:lnTo>
                    <a:lnTo>
                      <a:pt x="2876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31" name="Freeform 111"/>
              <p:cNvSpPr>
                <a:spLocks/>
              </p:cNvSpPr>
              <p:nvPr/>
            </p:nvSpPr>
            <p:spPr bwMode="auto">
              <a:xfrm>
                <a:off x="3386" y="2942"/>
                <a:ext cx="423" cy="423"/>
              </a:xfrm>
              <a:custGeom>
                <a:avLst/>
                <a:gdLst>
                  <a:gd name="T0" fmla="*/ 0 w 2962"/>
                  <a:gd name="T1" fmla="*/ 2962 h 2962"/>
                  <a:gd name="T2" fmla="*/ 2961 w 2962"/>
                  <a:gd name="T3" fmla="*/ 0 h 2962"/>
                  <a:gd name="T4" fmla="*/ 2962 w 2962"/>
                  <a:gd name="T5" fmla="*/ 0 h 29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62" h="2962">
                    <a:moveTo>
                      <a:pt x="0" y="2962"/>
                    </a:moveTo>
                    <a:lnTo>
                      <a:pt x="2961" y="0"/>
                    </a:lnTo>
                    <a:lnTo>
                      <a:pt x="2962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32" name="Freeform 112"/>
              <p:cNvSpPr>
                <a:spLocks/>
              </p:cNvSpPr>
              <p:nvPr/>
            </p:nvSpPr>
            <p:spPr bwMode="auto">
              <a:xfrm>
                <a:off x="3420" y="2952"/>
                <a:ext cx="431" cy="431"/>
              </a:xfrm>
              <a:custGeom>
                <a:avLst/>
                <a:gdLst>
                  <a:gd name="T0" fmla="*/ 0 w 3018"/>
                  <a:gd name="T1" fmla="*/ 3018 h 3018"/>
                  <a:gd name="T2" fmla="*/ 3017 w 3018"/>
                  <a:gd name="T3" fmla="*/ 0 h 3018"/>
                  <a:gd name="T4" fmla="*/ 3018 w 3018"/>
                  <a:gd name="T5" fmla="*/ 0 h 30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18" h="3018">
                    <a:moveTo>
                      <a:pt x="0" y="3018"/>
                    </a:moveTo>
                    <a:lnTo>
                      <a:pt x="3017" y="0"/>
                    </a:lnTo>
                    <a:lnTo>
                      <a:pt x="3018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33" name="Freeform 113"/>
              <p:cNvSpPr>
                <a:spLocks/>
              </p:cNvSpPr>
              <p:nvPr/>
            </p:nvSpPr>
            <p:spPr bwMode="auto">
              <a:xfrm>
                <a:off x="3454" y="2966"/>
                <a:ext cx="436" cy="436"/>
              </a:xfrm>
              <a:custGeom>
                <a:avLst/>
                <a:gdLst>
                  <a:gd name="T0" fmla="*/ 0 w 3053"/>
                  <a:gd name="T1" fmla="*/ 3054 h 3054"/>
                  <a:gd name="T2" fmla="*/ 3052 w 3053"/>
                  <a:gd name="T3" fmla="*/ 0 h 3054"/>
                  <a:gd name="T4" fmla="*/ 3053 w 3053"/>
                  <a:gd name="T5" fmla="*/ 0 h 30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53" h="3054">
                    <a:moveTo>
                      <a:pt x="0" y="3054"/>
                    </a:moveTo>
                    <a:lnTo>
                      <a:pt x="3052" y="0"/>
                    </a:lnTo>
                    <a:lnTo>
                      <a:pt x="3053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34" name="Freeform 114"/>
              <p:cNvSpPr>
                <a:spLocks/>
              </p:cNvSpPr>
              <p:nvPr/>
            </p:nvSpPr>
            <p:spPr bwMode="auto">
              <a:xfrm>
                <a:off x="3488" y="2984"/>
                <a:ext cx="437" cy="437"/>
              </a:xfrm>
              <a:custGeom>
                <a:avLst/>
                <a:gdLst>
                  <a:gd name="T0" fmla="*/ 0 w 3056"/>
                  <a:gd name="T1" fmla="*/ 3056 h 3056"/>
                  <a:gd name="T2" fmla="*/ 3054 w 3056"/>
                  <a:gd name="T3" fmla="*/ 0 h 3056"/>
                  <a:gd name="T4" fmla="*/ 3056 w 3056"/>
                  <a:gd name="T5" fmla="*/ 0 h 30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56" h="3056">
                    <a:moveTo>
                      <a:pt x="0" y="3056"/>
                    </a:moveTo>
                    <a:lnTo>
                      <a:pt x="3054" y="0"/>
                    </a:lnTo>
                    <a:lnTo>
                      <a:pt x="3056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35" name="Freeform 115"/>
              <p:cNvSpPr>
                <a:spLocks/>
              </p:cNvSpPr>
              <p:nvPr/>
            </p:nvSpPr>
            <p:spPr bwMode="auto">
              <a:xfrm>
                <a:off x="3522" y="3003"/>
                <a:ext cx="437" cy="436"/>
              </a:xfrm>
              <a:custGeom>
                <a:avLst/>
                <a:gdLst>
                  <a:gd name="T0" fmla="*/ 0 w 3056"/>
                  <a:gd name="T1" fmla="*/ 3055 h 3055"/>
                  <a:gd name="T2" fmla="*/ 3054 w 3056"/>
                  <a:gd name="T3" fmla="*/ 0 h 3055"/>
                  <a:gd name="T4" fmla="*/ 3056 w 3056"/>
                  <a:gd name="T5" fmla="*/ 0 h 30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56" h="3055">
                    <a:moveTo>
                      <a:pt x="0" y="3055"/>
                    </a:moveTo>
                    <a:lnTo>
                      <a:pt x="3054" y="0"/>
                    </a:lnTo>
                    <a:lnTo>
                      <a:pt x="3056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36" name="Freeform 116"/>
              <p:cNvSpPr>
                <a:spLocks/>
              </p:cNvSpPr>
              <p:nvPr/>
            </p:nvSpPr>
            <p:spPr bwMode="auto">
              <a:xfrm>
                <a:off x="3556" y="3023"/>
                <a:ext cx="435" cy="435"/>
              </a:xfrm>
              <a:custGeom>
                <a:avLst/>
                <a:gdLst>
                  <a:gd name="T0" fmla="*/ 0 w 3043"/>
                  <a:gd name="T1" fmla="*/ 3043 h 3043"/>
                  <a:gd name="T2" fmla="*/ 2142 w 3043"/>
                  <a:gd name="T3" fmla="*/ 901 h 3043"/>
                  <a:gd name="T4" fmla="*/ 3042 w 3043"/>
                  <a:gd name="T5" fmla="*/ 0 h 3043"/>
                  <a:gd name="T6" fmla="*/ 3043 w 3043"/>
                  <a:gd name="T7" fmla="*/ 0 h 30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43" h="3043">
                    <a:moveTo>
                      <a:pt x="0" y="3043"/>
                    </a:moveTo>
                    <a:lnTo>
                      <a:pt x="2142" y="901"/>
                    </a:lnTo>
                    <a:lnTo>
                      <a:pt x="3042" y="0"/>
                    </a:lnTo>
                    <a:lnTo>
                      <a:pt x="3043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37" name="Freeform 117"/>
              <p:cNvSpPr>
                <a:spLocks/>
              </p:cNvSpPr>
              <p:nvPr/>
            </p:nvSpPr>
            <p:spPr bwMode="auto">
              <a:xfrm>
                <a:off x="3590" y="3049"/>
                <a:ext cx="427" cy="427"/>
              </a:xfrm>
              <a:custGeom>
                <a:avLst/>
                <a:gdLst>
                  <a:gd name="T0" fmla="*/ 0 w 2989"/>
                  <a:gd name="T1" fmla="*/ 2990 h 2990"/>
                  <a:gd name="T2" fmla="*/ 1132 w 2989"/>
                  <a:gd name="T3" fmla="*/ 1857 h 2990"/>
                  <a:gd name="T4" fmla="*/ 2988 w 2989"/>
                  <a:gd name="T5" fmla="*/ 0 h 2990"/>
                  <a:gd name="T6" fmla="*/ 2989 w 2989"/>
                  <a:gd name="T7" fmla="*/ 0 h 29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89" h="2990">
                    <a:moveTo>
                      <a:pt x="0" y="2990"/>
                    </a:moveTo>
                    <a:lnTo>
                      <a:pt x="1132" y="1857"/>
                    </a:lnTo>
                    <a:lnTo>
                      <a:pt x="2988" y="0"/>
                    </a:lnTo>
                    <a:lnTo>
                      <a:pt x="2989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38" name="Freeform 118"/>
              <p:cNvSpPr>
                <a:spLocks/>
              </p:cNvSpPr>
              <p:nvPr/>
            </p:nvSpPr>
            <p:spPr bwMode="auto">
              <a:xfrm>
                <a:off x="3624" y="3077"/>
                <a:ext cx="418" cy="418"/>
              </a:xfrm>
              <a:custGeom>
                <a:avLst/>
                <a:gdLst>
                  <a:gd name="T0" fmla="*/ 0 w 2926"/>
                  <a:gd name="T1" fmla="*/ 2926 h 2926"/>
                  <a:gd name="T2" fmla="*/ 123 w 2926"/>
                  <a:gd name="T3" fmla="*/ 2804 h 2926"/>
                  <a:gd name="T4" fmla="*/ 2925 w 2926"/>
                  <a:gd name="T5" fmla="*/ 0 h 2926"/>
                  <a:gd name="T6" fmla="*/ 2926 w 2926"/>
                  <a:gd name="T7" fmla="*/ 0 h 29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26" h="2926">
                    <a:moveTo>
                      <a:pt x="0" y="2926"/>
                    </a:moveTo>
                    <a:lnTo>
                      <a:pt x="123" y="2804"/>
                    </a:lnTo>
                    <a:lnTo>
                      <a:pt x="2925" y="0"/>
                    </a:lnTo>
                    <a:lnTo>
                      <a:pt x="2926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39" name="Freeform 119"/>
              <p:cNvSpPr>
                <a:spLocks/>
              </p:cNvSpPr>
              <p:nvPr/>
            </p:nvSpPr>
            <p:spPr bwMode="auto">
              <a:xfrm>
                <a:off x="3658" y="3106"/>
                <a:ext cx="407" cy="407"/>
              </a:xfrm>
              <a:custGeom>
                <a:avLst/>
                <a:gdLst>
                  <a:gd name="T0" fmla="*/ 0 w 2849"/>
                  <a:gd name="T1" fmla="*/ 2849 h 2849"/>
                  <a:gd name="T2" fmla="*/ 2848 w 2849"/>
                  <a:gd name="T3" fmla="*/ 0 h 2849"/>
                  <a:gd name="T4" fmla="*/ 2849 w 2849"/>
                  <a:gd name="T5" fmla="*/ 0 h 28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49" h="2849">
                    <a:moveTo>
                      <a:pt x="0" y="2849"/>
                    </a:moveTo>
                    <a:lnTo>
                      <a:pt x="2848" y="0"/>
                    </a:lnTo>
                    <a:lnTo>
                      <a:pt x="2849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40" name="Freeform 120"/>
              <p:cNvSpPr>
                <a:spLocks/>
              </p:cNvSpPr>
              <p:nvPr/>
            </p:nvSpPr>
            <p:spPr bwMode="auto">
              <a:xfrm>
                <a:off x="3692" y="3138"/>
                <a:ext cx="394" cy="394"/>
              </a:xfrm>
              <a:custGeom>
                <a:avLst/>
                <a:gdLst>
                  <a:gd name="T0" fmla="*/ 0 w 2757"/>
                  <a:gd name="T1" fmla="*/ 2758 h 2758"/>
                  <a:gd name="T2" fmla="*/ 2756 w 2757"/>
                  <a:gd name="T3" fmla="*/ 0 h 2758"/>
                  <a:gd name="T4" fmla="*/ 2757 w 2757"/>
                  <a:gd name="T5" fmla="*/ 0 h 27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57" h="2758">
                    <a:moveTo>
                      <a:pt x="0" y="2758"/>
                    </a:moveTo>
                    <a:lnTo>
                      <a:pt x="2756" y="0"/>
                    </a:lnTo>
                    <a:lnTo>
                      <a:pt x="2757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41" name="Freeform 121"/>
              <p:cNvSpPr>
                <a:spLocks/>
              </p:cNvSpPr>
              <p:nvPr/>
            </p:nvSpPr>
            <p:spPr bwMode="auto">
              <a:xfrm>
                <a:off x="3726" y="3173"/>
                <a:ext cx="378" cy="377"/>
              </a:xfrm>
              <a:custGeom>
                <a:avLst/>
                <a:gdLst>
                  <a:gd name="T0" fmla="*/ 0 w 2644"/>
                  <a:gd name="T1" fmla="*/ 2643 h 2643"/>
                  <a:gd name="T2" fmla="*/ 2643 w 2644"/>
                  <a:gd name="T3" fmla="*/ 0 h 2643"/>
                  <a:gd name="T4" fmla="*/ 2644 w 2644"/>
                  <a:gd name="T5" fmla="*/ 0 h 26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44" h="2643">
                    <a:moveTo>
                      <a:pt x="0" y="2643"/>
                    </a:moveTo>
                    <a:lnTo>
                      <a:pt x="2643" y="0"/>
                    </a:lnTo>
                    <a:lnTo>
                      <a:pt x="2644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42" name="Freeform 122"/>
              <p:cNvSpPr>
                <a:spLocks/>
              </p:cNvSpPr>
              <p:nvPr/>
            </p:nvSpPr>
            <p:spPr bwMode="auto">
              <a:xfrm>
                <a:off x="3760" y="3211"/>
                <a:ext cx="358" cy="358"/>
              </a:xfrm>
              <a:custGeom>
                <a:avLst/>
                <a:gdLst>
                  <a:gd name="T0" fmla="*/ 0 w 2505"/>
                  <a:gd name="T1" fmla="*/ 2505 h 2505"/>
                  <a:gd name="T2" fmla="*/ 2504 w 2505"/>
                  <a:gd name="T3" fmla="*/ 0 h 2505"/>
                  <a:gd name="T4" fmla="*/ 2505 w 2505"/>
                  <a:gd name="T5" fmla="*/ 0 h 2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05" h="2505">
                    <a:moveTo>
                      <a:pt x="0" y="2505"/>
                    </a:moveTo>
                    <a:lnTo>
                      <a:pt x="2504" y="0"/>
                    </a:lnTo>
                    <a:lnTo>
                      <a:pt x="2505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43" name="Freeform 123"/>
              <p:cNvSpPr>
                <a:spLocks/>
              </p:cNvSpPr>
              <p:nvPr/>
            </p:nvSpPr>
            <p:spPr bwMode="auto">
              <a:xfrm>
                <a:off x="3794" y="3253"/>
                <a:ext cx="334" cy="334"/>
              </a:xfrm>
              <a:custGeom>
                <a:avLst/>
                <a:gdLst>
                  <a:gd name="T0" fmla="*/ 0 w 2340"/>
                  <a:gd name="T1" fmla="*/ 2340 h 2340"/>
                  <a:gd name="T2" fmla="*/ 2339 w 2340"/>
                  <a:gd name="T3" fmla="*/ 0 h 2340"/>
                  <a:gd name="T4" fmla="*/ 2340 w 2340"/>
                  <a:gd name="T5" fmla="*/ 0 h 2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340" h="2340">
                    <a:moveTo>
                      <a:pt x="0" y="2340"/>
                    </a:moveTo>
                    <a:lnTo>
                      <a:pt x="2339" y="0"/>
                    </a:lnTo>
                    <a:lnTo>
                      <a:pt x="2340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44" name="Freeform 124"/>
              <p:cNvSpPr>
                <a:spLocks/>
              </p:cNvSpPr>
              <p:nvPr/>
            </p:nvSpPr>
            <p:spPr bwMode="auto">
              <a:xfrm>
                <a:off x="3828" y="3298"/>
                <a:ext cx="308" cy="308"/>
              </a:xfrm>
              <a:custGeom>
                <a:avLst/>
                <a:gdLst>
                  <a:gd name="T0" fmla="*/ 0 w 2155"/>
                  <a:gd name="T1" fmla="*/ 2156 h 2156"/>
                  <a:gd name="T2" fmla="*/ 2154 w 2155"/>
                  <a:gd name="T3" fmla="*/ 0 h 2156"/>
                  <a:gd name="T4" fmla="*/ 2155 w 2155"/>
                  <a:gd name="T5" fmla="*/ 0 h 2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5" h="2156">
                    <a:moveTo>
                      <a:pt x="0" y="2156"/>
                    </a:moveTo>
                    <a:lnTo>
                      <a:pt x="2154" y="0"/>
                    </a:lnTo>
                    <a:lnTo>
                      <a:pt x="2155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45" name="Freeform 125"/>
              <p:cNvSpPr>
                <a:spLocks/>
              </p:cNvSpPr>
              <p:nvPr/>
            </p:nvSpPr>
            <p:spPr bwMode="auto">
              <a:xfrm>
                <a:off x="3862" y="3345"/>
                <a:ext cx="279" cy="280"/>
              </a:xfrm>
              <a:custGeom>
                <a:avLst/>
                <a:gdLst>
                  <a:gd name="T0" fmla="*/ 0 w 1954"/>
                  <a:gd name="T1" fmla="*/ 1955 h 1955"/>
                  <a:gd name="T2" fmla="*/ 1953 w 1954"/>
                  <a:gd name="T3" fmla="*/ 0 h 1955"/>
                  <a:gd name="T4" fmla="*/ 1954 w 1954"/>
                  <a:gd name="T5" fmla="*/ 0 h 19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54" h="1955">
                    <a:moveTo>
                      <a:pt x="0" y="1955"/>
                    </a:moveTo>
                    <a:lnTo>
                      <a:pt x="1953" y="0"/>
                    </a:lnTo>
                    <a:lnTo>
                      <a:pt x="1954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46" name="Freeform 126"/>
              <p:cNvSpPr>
                <a:spLocks/>
              </p:cNvSpPr>
              <p:nvPr/>
            </p:nvSpPr>
            <p:spPr bwMode="auto">
              <a:xfrm>
                <a:off x="3896" y="3393"/>
                <a:ext cx="250" cy="250"/>
              </a:xfrm>
              <a:custGeom>
                <a:avLst/>
                <a:gdLst>
                  <a:gd name="T0" fmla="*/ 0 w 1749"/>
                  <a:gd name="T1" fmla="*/ 1748 h 1748"/>
                  <a:gd name="T2" fmla="*/ 1748 w 1749"/>
                  <a:gd name="T3" fmla="*/ 0 h 1748"/>
                  <a:gd name="T4" fmla="*/ 1749 w 1749"/>
                  <a:gd name="T5" fmla="*/ 0 h 17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49" h="1748">
                    <a:moveTo>
                      <a:pt x="0" y="1748"/>
                    </a:moveTo>
                    <a:lnTo>
                      <a:pt x="1748" y="0"/>
                    </a:lnTo>
                    <a:lnTo>
                      <a:pt x="1749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47" name="Freeform 127"/>
              <p:cNvSpPr>
                <a:spLocks/>
              </p:cNvSpPr>
              <p:nvPr/>
            </p:nvSpPr>
            <p:spPr bwMode="auto">
              <a:xfrm>
                <a:off x="3930" y="3442"/>
                <a:ext cx="220" cy="220"/>
              </a:xfrm>
              <a:custGeom>
                <a:avLst/>
                <a:gdLst>
                  <a:gd name="T0" fmla="*/ 0 w 1539"/>
                  <a:gd name="T1" fmla="*/ 1538 h 1538"/>
                  <a:gd name="T2" fmla="*/ 1538 w 1539"/>
                  <a:gd name="T3" fmla="*/ 0 h 1538"/>
                  <a:gd name="T4" fmla="*/ 1539 w 1539"/>
                  <a:gd name="T5" fmla="*/ 0 h 1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9" h="1538">
                    <a:moveTo>
                      <a:pt x="0" y="1538"/>
                    </a:moveTo>
                    <a:lnTo>
                      <a:pt x="1538" y="0"/>
                    </a:lnTo>
                    <a:lnTo>
                      <a:pt x="1539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48" name="Freeform 128"/>
              <p:cNvSpPr>
                <a:spLocks/>
              </p:cNvSpPr>
              <p:nvPr/>
            </p:nvSpPr>
            <p:spPr bwMode="auto">
              <a:xfrm>
                <a:off x="3964" y="3491"/>
                <a:ext cx="189" cy="189"/>
              </a:xfrm>
              <a:custGeom>
                <a:avLst/>
                <a:gdLst>
                  <a:gd name="T0" fmla="*/ 0 w 1323"/>
                  <a:gd name="T1" fmla="*/ 1323 h 1323"/>
                  <a:gd name="T2" fmla="*/ 1322 w 1323"/>
                  <a:gd name="T3" fmla="*/ 0 h 1323"/>
                  <a:gd name="T4" fmla="*/ 1323 w 1323"/>
                  <a:gd name="T5" fmla="*/ 0 h 1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23" h="1323">
                    <a:moveTo>
                      <a:pt x="0" y="1323"/>
                    </a:moveTo>
                    <a:lnTo>
                      <a:pt x="1322" y="0"/>
                    </a:lnTo>
                    <a:lnTo>
                      <a:pt x="1323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49" name="Freeform 129"/>
              <p:cNvSpPr>
                <a:spLocks/>
              </p:cNvSpPr>
              <p:nvPr/>
            </p:nvSpPr>
            <p:spPr bwMode="auto">
              <a:xfrm>
                <a:off x="3998" y="3542"/>
                <a:ext cx="157" cy="157"/>
              </a:xfrm>
              <a:custGeom>
                <a:avLst/>
                <a:gdLst>
                  <a:gd name="T0" fmla="*/ 0 w 1099"/>
                  <a:gd name="T1" fmla="*/ 1098 h 1098"/>
                  <a:gd name="T2" fmla="*/ 1098 w 1099"/>
                  <a:gd name="T3" fmla="*/ 0 h 1098"/>
                  <a:gd name="T4" fmla="*/ 1099 w 1099"/>
                  <a:gd name="T5" fmla="*/ 0 h 10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99" h="1098">
                    <a:moveTo>
                      <a:pt x="0" y="1098"/>
                    </a:moveTo>
                    <a:lnTo>
                      <a:pt x="1098" y="0"/>
                    </a:lnTo>
                    <a:lnTo>
                      <a:pt x="1099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50" name="Freeform 130"/>
              <p:cNvSpPr>
                <a:spLocks/>
              </p:cNvSpPr>
              <p:nvPr/>
            </p:nvSpPr>
            <p:spPr bwMode="auto">
              <a:xfrm>
                <a:off x="4032" y="3595"/>
                <a:ext cx="122" cy="122"/>
              </a:xfrm>
              <a:custGeom>
                <a:avLst/>
                <a:gdLst>
                  <a:gd name="T0" fmla="*/ 0 w 856"/>
                  <a:gd name="T1" fmla="*/ 855 h 855"/>
                  <a:gd name="T2" fmla="*/ 855 w 856"/>
                  <a:gd name="T3" fmla="*/ 0 h 855"/>
                  <a:gd name="T4" fmla="*/ 856 w 856"/>
                  <a:gd name="T5" fmla="*/ 0 h 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56" h="855">
                    <a:moveTo>
                      <a:pt x="0" y="855"/>
                    </a:moveTo>
                    <a:lnTo>
                      <a:pt x="855" y="0"/>
                    </a:lnTo>
                    <a:lnTo>
                      <a:pt x="856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51" name="Freeform 131"/>
              <p:cNvSpPr>
                <a:spLocks/>
              </p:cNvSpPr>
              <p:nvPr/>
            </p:nvSpPr>
            <p:spPr bwMode="auto">
              <a:xfrm>
                <a:off x="4066" y="3655"/>
                <a:ext cx="81" cy="81"/>
              </a:xfrm>
              <a:custGeom>
                <a:avLst/>
                <a:gdLst>
                  <a:gd name="T0" fmla="*/ 0 w 569"/>
                  <a:gd name="T1" fmla="*/ 567 h 567"/>
                  <a:gd name="T2" fmla="*/ 568 w 569"/>
                  <a:gd name="T3" fmla="*/ 0 h 567"/>
                  <a:gd name="T4" fmla="*/ 569 w 569"/>
                  <a:gd name="T5" fmla="*/ 0 h 5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9" h="567">
                    <a:moveTo>
                      <a:pt x="0" y="567"/>
                    </a:moveTo>
                    <a:lnTo>
                      <a:pt x="568" y="0"/>
                    </a:lnTo>
                    <a:lnTo>
                      <a:pt x="569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52" name="Freeform 132"/>
              <p:cNvSpPr>
                <a:spLocks/>
              </p:cNvSpPr>
              <p:nvPr/>
            </p:nvSpPr>
            <p:spPr bwMode="auto">
              <a:xfrm>
                <a:off x="4100" y="3724"/>
                <a:ext cx="30" cy="30"/>
              </a:xfrm>
              <a:custGeom>
                <a:avLst/>
                <a:gdLst>
                  <a:gd name="T0" fmla="*/ 0 w 211"/>
                  <a:gd name="T1" fmla="*/ 210 h 210"/>
                  <a:gd name="T2" fmla="*/ 210 w 211"/>
                  <a:gd name="T3" fmla="*/ 0 h 210"/>
                  <a:gd name="T4" fmla="*/ 211 w 211"/>
                  <a:gd name="T5" fmla="*/ 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1" h="210">
                    <a:moveTo>
                      <a:pt x="0" y="210"/>
                    </a:moveTo>
                    <a:lnTo>
                      <a:pt x="210" y="0"/>
                    </a:lnTo>
                    <a:lnTo>
                      <a:pt x="211" y="0"/>
                    </a:lnTo>
                  </a:path>
                </a:pathLst>
              </a:custGeom>
              <a:noFill/>
              <a:ln w="22225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53" name="Freeform 133"/>
              <p:cNvSpPr>
                <a:spLocks/>
              </p:cNvSpPr>
              <p:nvPr/>
            </p:nvSpPr>
            <p:spPr bwMode="auto">
              <a:xfrm>
                <a:off x="1290" y="2644"/>
                <a:ext cx="1385" cy="242"/>
              </a:xfrm>
              <a:custGeom>
                <a:avLst/>
                <a:gdLst>
                  <a:gd name="T0" fmla="*/ 0 w 7815"/>
                  <a:gd name="T1" fmla="*/ 0 h 1416"/>
                  <a:gd name="T2" fmla="*/ 61 w 7815"/>
                  <a:gd name="T3" fmla="*/ 245 h 1416"/>
                  <a:gd name="T4" fmla="*/ 252 w 7815"/>
                  <a:gd name="T5" fmla="*/ 483 h 1416"/>
                  <a:gd name="T6" fmla="*/ 569 w 7815"/>
                  <a:gd name="T7" fmla="*/ 710 h 1416"/>
                  <a:gd name="T8" fmla="*/ 999 w 7815"/>
                  <a:gd name="T9" fmla="*/ 914 h 1416"/>
                  <a:gd name="T10" fmla="*/ 1528 w 7815"/>
                  <a:gd name="T11" fmla="*/ 1091 h 1416"/>
                  <a:gd name="T12" fmla="*/ 2138 w 7815"/>
                  <a:gd name="T13" fmla="*/ 1234 h 1416"/>
                  <a:gd name="T14" fmla="*/ 2808 w 7815"/>
                  <a:gd name="T15" fmla="*/ 1338 h 1416"/>
                  <a:gd name="T16" fmla="*/ 3516 w 7815"/>
                  <a:gd name="T17" fmla="*/ 1400 h 1416"/>
                  <a:gd name="T18" fmla="*/ 4237 w 7815"/>
                  <a:gd name="T19" fmla="*/ 1416 h 1416"/>
                  <a:gd name="T20" fmla="*/ 4947 w 7815"/>
                  <a:gd name="T21" fmla="*/ 1389 h 1416"/>
                  <a:gd name="T22" fmla="*/ 5621 w 7815"/>
                  <a:gd name="T23" fmla="*/ 1317 h 1416"/>
                  <a:gd name="T24" fmla="*/ 6237 w 7815"/>
                  <a:gd name="T25" fmla="*/ 1202 h 1416"/>
                  <a:gd name="T26" fmla="*/ 6773 w 7815"/>
                  <a:gd name="T27" fmla="*/ 1050 h 1416"/>
                  <a:gd name="T28" fmla="*/ 7213 w 7815"/>
                  <a:gd name="T29" fmla="*/ 866 h 1416"/>
                  <a:gd name="T30" fmla="*/ 7540 w 7815"/>
                  <a:gd name="T31" fmla="*/ 655 h 1416"/>
                  <a:gd name="T32" fmla="*/ 7742 w 7815"/>
                  <a:gd name="T33" fmla="*/ 425 h 1416"/>
                  <a:gd name="T34" fmla="*/ 7814 w 7815"/>
                  <a:gd name="T35" fmla="*/ 183 h 1416"/>
                  <a:gd name="T36" fmla="*/ 7815 w 7815"/>
                  <a:gd name="T37" fmla="*/ 183 h 1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815" h="1416">
                    <a:moveTo>
                      <a:pt x="0" y="0"/>
                    </a:moveTo>
                    <a:lnTo>
                      <a:pt x="61" y="245"/>
                    </a:lnTo>
                    <a:lnTo>
                      <a:pt x="252" y="483"/>
                    </a:lnTo>
                    <a:lnTo>
                      <a:pt x="569" y="710"/>
                    </a:lnTo>
                    <a:lnTo>
                      <a:pt x="999" y="914"/>
                    </a:lnTo>
                    <a:lnTo>
                      <a:pt x="1528" y="1091"/>
                    </a:lnTo>
                    <a:lnTo>
                      <a:pt x="2138" y="1234"/>
                    </a:lnTo>
                    <a:lnTo>
                      <a:pt x="2808" y="1338"/>
                    </a:lnTo>
                    <a:lnTo>
                      <a:pt x="3516" y="1400"/>
                    </a:lnTo>
                    <a:lnTo>
                      <a:pt x="4237" y="1416"/>
                    </a:lnTo>
                    <a:lnTo>
                      <a:pt x="4947" y="1389"/>
                    </a:lnTo>
                    <a:lnTo>
                      <a:pt x="5621" y="1317"/>
                    </a:lnTo>
                    <a:lnTo>
                      <a:pt x="6237" y="1202"/>
                    </a:lnTo>
                    <a:lnTo>
                      <a:pt x="6773" y="1050"/>
                    </a:lnTo>
                    <a:lnTo>
                      <a:pt x="7213" y="866"/>
                    </a:lnTo>
                    <a:lnTo>
                      <a:pt x="7540" y="655"/>
                    </a:lnTo>
                    <a:lnTo>
                      <a:pt x="7742" y="425"/>
                    </a:lnTo>
                    <a:lnTo>
                      <a:pt x="7814" y="183"/>
                    </a:lnTo>
                    <a:lnTo>
                      <a:pt x="7815" y="183"/>
                    </a:lnTo>
                  </a:path>
                </a:pathLst>
              </a:custGeom>
              <a:noFill/>
              <a:ln w="2222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54" name="Line 134"/>
              <p:cNvSpPr>
                <a:spLocks noChangeShapeType="1"/>
              </p:cNvSpPr>
              <p:nvPr/>
            </p:nvSpPr>
            <p:spPr bwMode="auto">
              <a:xfrm flipH="1">
                <a:off x="2694" y="1740"/>
                <a:ext cx="0" cy="468"/>
              </a:xfrm>
              <a:prstGeom prst="line">
                <a:avLst/>
              </a:prstGeom>
              <a:noFill/>
              <a:ln w="222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55" name="Arc 135"/>
              <p:cNvSpPr>
                <a:spLocks/>
              </p:cNvSpPr>
              <p:nvPr/>
            </p:nvSpPr>
            <p:spPr bwMode="auto">
              <a:xfrm rot="-10800000">
                <a:off x="2586" y="1884"/>
                <a:ext cx="102" cy="8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22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6456" name="Arc 136"/>
              <p:cNvSpPr>
                <a:spLocks/>
              </p:cNvSpPr>
              <p:nvPr/>
            </p:nvSpPr>
            <p:spPr bwMode="auto">
              <a:xfrm rot="-32400000">
                <a:off x="1904" y="1582"/>
                <a:ext cx="102" cy="8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22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6393" name="Text Box 137"/>
            <p:cNvSpPr txBox="1">
              <a:spLocks noChangeArrowheads="1"/>
            </p:cNvSpPr>
            <p:nvPr/>
          </p:nvSpPr>
          <p:spPr bwMode="auto">
            <a:xfrm>
              <a:off x="1733" y="1867"/>
              <a:ext cx="364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l-GR" altLang="en-US" sz="2000"/>
                <a:t>θ</a:t>
              </a:r>
            </a:p>
          </p:txBody>
        </p:sp>
        <p:sp>
          <p:nvSpPr>
            <p:cNvPr id="16394" name="Text Box 138"/>
            <p:cNvSpPr txBox="1">
              <a:spLocks noChangeArrowheads="1"/>
            </p:cNvSpPr>
            <p:nvPr/>
          </p:nvSpPr>
          <p:spPr bwMode="auto">
            <a:xfrm>
              <a:off x="2426" y="2140"/>
              <a:ext cx="364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l-GR" altLang="en-US" sz="2000"/>
                <a:t>α</a:t>
              </a:r>
            </a:p>
          </p:txBody>
        </p:sp>
      </p:grpSp>
      <p:sp>
        <p:nvSpPr>
          <p:cNvPr id="56459" name="Text Box 139"/>
          <p:cNvSpPr txBox="1">
            <a:spLocks noChangeArrowheads="1"/>
          </p:cNvSpPr>
          <p:nvPr/>
        </p:nvSpPr>
        <p:spPr bwMode="auto">
          <a:xfrm>
            <a:off x="6834188" y="2492375"/>
            <a:ext cx="1336675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l-GR" altLang="en-US" sz="4000">
                <a:solidFill>
                  <a:schemeClr val="tx2"/>
                </a:solidFill>
              </a:rPr>
              <a:t>α</a:t>
            </a:r>
            <a:r>
              <a:rPr lang="en-US" altLang="en-US" sz="4000">
                <a:solidFill>
                  <a:schemeClr val="tx2"/>
                </a:solidFill>
              </a:rPr>
              <a:t> = </a:t>
            </a:r>
            <a:r>
              <a:rPr lang="el-GR" altLang="en-US" sz="4000">
                <a:solidFill>
                  <a:schemeClr val="tx2"/>
                </a:solidFill>
              </a:rPr>
              <a:t>θ</a:t>
            </a:r>
          </a:p>
        </p:txBody>
      </p:sp>
      <p:sp>
        <p:nvSpPr>
          <p:cNvPr id="56460" name="AutoShape 14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991475" y="6538913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56461" name="AutoShape 141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281863" y="6538913"/>
            <a:ext cx="685800" cy="304800"/>
          </a:xfrm>
          <a:prstGeom prst="actionButtonBackPreviou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6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build="p" autoUpdateAnimBg="0"/>
      <p:bldP spid="56323" grpId="0" animBg="1" autoUpdateAnimBg="0"/>
      <p:bldP spid="56459" grpId="0" autoUpdateAnimBg="0"/>
      <p:bldP spid="56460" grpId="0" animBg="1" autoUpdateAnimBg="0"/>
      <p:bldP spid="5646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354013" y="981075"/>
            <a:ext cx="8435975" cy="237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3000">
                <a:latin typeface="Comic Sans MS" panose="030F0702030302020204" pitchFamily="66" charset="0"/>
              </a:rPr>
              <a:t>When the cutting plane is parallel to the axis or the inclination of the plane with cone axis(</a:t>
            </a:r>
            <a:r>
              <a:rPr lang="el-GR" altLang="en-US" sz="3000">
                <a:latin typeface="Comic Sans MS" panose="030F0702030302020204" pitchFamily="66" charset="0"/>
              </a:rPr>
              <a:t>α</a:t>
            </a:r>
            <a:r>
              <a:rPr lang="en-US" altLang="en-US" sz="3000">
                <a:latin typeface="Comic Sans MS" panose="030F0702030302020204" pitchFamily="66" charset="0"/>
              </a:rPr>
              <a:t>) is less than semi cone angle(</a:t>
            </a:r>
            <a:r>
              <a:rPr lang="el-GR" altLang="en-US" sz="3000">
                <a:latin typeface="Comic Sans MS" panose="030F0702030302020204" pitchFamily="66" charset="0"/>
              </a:rPr>
              <a:t>θ</a:t>
            </a:r>
            <a:r>
              <a:rPr lang="en-US" altLang="en-US" sz="3000">
                <a:latin typeface="Comic Sans MS" panose="030F0702030302020204" pitchFamily="66" charset="0"/>
              </a:rPr>
              <a:t>), we get a hyperbola as the section.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3276600" y="0"/>
            <a:ext cx="2590800" cy="579438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FFFF00"/>
                </a:solidFill>
                <a:latin typeface="Comic Sans MS" panose="030F0702030302020204" pitchFamily="66" charset="0"/>
              </a:rPr>
              <a:t>HYPERBOLA</a:t>
            </a:r>
          </a:p>
        </p:txBody>
      </p:sp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304800" y="457200"/>
            <a:ext cx="3200400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rgbClr val="6E4B8B"/>
                </a:solidFill>
                <a:latin typeface="Comic Sans MS" panose="030F0702030302020204" pitchFamily="66" charset="0"/>
              </a:rPr>
              <a:t>Definition :-</a:t>
            </a:r>
          </a:p>
        </p:txBody>
      </p:sp>
      <p:sp>
        <p:nvSpPr>
          <p:cNvPr id="66565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981950" y="6534150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66566" name="AutoShape 6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272338" y="6534150"/>
            <a:ext cx="685800" cy="304800"/>
          </a:xfrm>
          <a:prstGeom prst="actionButtonBackPreviou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2339975" y="3208338"/>
            <a:ext cx="1336675" cy="80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l-GR" altLang="en-US" sz="3600">
                <a:solidFill>
                  <a:schemeClr val="tx2"/>
                </a:solidFill>
              </a:rPr>
              <a:t>α</a:t>
            </a:r>
            <a:r>
              <a:rPr lang="en-US" altLang="en-US" sz="3600">
                <a:solidFill>
                  <a:schemeClr val="tx2"/>
                </a:solidFill>
              </a:rPr>
              <a:t> &lt; </a:t>
            </a:r>
            <a:r>
              <a:rPr lang="el-GR" altLang="en-US" sz="3600">
                <a:solidFill>
                  <a:schemeClr val="tx2"/>
                </a:solidFill>
              </a:rPr>
              <a:t>θ</a:t>
            </a:r>
          </a:p>
        </p:txBody>
      </p:sp>
      <p:grpSp>
        <p:nvGrpSpPr>
          <p:cNvPr id="66568" name="Group 8"/>
          <p:cNvGrpSpPr>
            <a:grpSpLocks/>
          </p:cNvGrpSpPr>
          <p:nvPr/>
        </p:nvGrpSpPr>
        <p:grpSpPr bwMode="auto">
          <a:xfrm>
            <a:off x="1619250" y="2781300"/>
            <a:ext cx="6624638" cy="4384675"/>
            <a:chOff x="1020" y="1752"/>
            <a:chExt cx="4173" cy="2762"/>
          </a:xfrm>
        </p:grpSpPr>
        <p:sp>
          <p:nvSpPr>
            <p:cNvPr id="66569" name="Freeform 9"/>
            <p:cNvSpPr>
              <a:spLocks/>
            </p:cNvSpPr>
            <p:nvPr/>
          </p:nvSpPr>
          <p:spPr bwMode="auto">
            <a:xfrm>
              <a:off x="3888" y="4175"/>
              <a:ext cx="1" cy="137"/>
            </a:xfrm>
            <a:custGeom>
              <a:avLst/>
              <a:gdLst>
                <a:gd name="T0" fmla="*/ 0 w 1"/>
                <a:gd name="T1" fmla="*/ 0 h 825"/>
                <a:gd name="T2" fmla="*/ 0 w 1"/>
                <a:gd name="T3" fmla="*/ 825 h 825"/>
                <a:gd name="T4" fmla="*/ 1 w 1"/>
                <a:gd name="T5" fmla="*/ 825 h 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25">
                  <a:moveTo>
                    <a:pt x="0" y="0"/>
                  </a:moveTo>
                  <a:lnTo>
                    <a:pt x="0" y="825"/>
                  </a:lnTo>
                  <a:lnTo>
                    <a:pt x="1" y="825"/>
                  </a:lnTo>
                </a:path>
              </a:pathLst>
            </a:custGeom>
            <a:noFill/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70" name="Freeform 10"/>
            <p:cNvSpPr>
              <a:spLocks/>
            </p:cNvSpPr>
            <p:nvPr/>
          </p:nvSpPr>
          <p:spPr bwMode="auto">
            <a:xfrm>
              <a:off x="3368" y="1797"/>
              <a:ext cx="796" cy="2210"/>
            </a:xfrm>
            <a:custGeom>
              <a:avLst/>
              <a:gdLst>
                <a:gd name="T0" fmla="*/ 72 w 3060"/>
                <a:gd name="T1" fmla="*/ 8172 h 11412"/>
                <a:gd name="T2" fmla="*/ 3060 w 3060"/>
                <a:gd name="T3" fmla="*/ 11412 h 11412"/>
                <a:gd name="T4" fmla="*/ 3060 w 3060"/>
                <a:gd name="T5" fmla="*/ 2628 h 11412"/>
                <a:gd name="T6" fmla="*/ 0 w 3060"/>
                <a:gd name="T7" fmla="*/ 0 h 11412"/>
                <a:gd name="T8" fmla="*/ 72 w 3060"/>
                <a:gd name="T9" fmla="*/ 8172 h 11412"/>
                <a:gd name="T10" fmla="*/ 74 w 3060"/>
                <a:gd name="T11" fmla="*/ 8172 h 11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60" h="11412">
                  <a:moveTo>
                    <a:pt x="72" y="8172"/>
                  </a:moveTo>
                  <a:lnTo>
                    <a:pt x="3060" y="11412"/>
                  </a:lnTo>
                  <a:lnTo>
                    <a:pt x="3060" y="2628"/>
                  </a:lnTo>
                  <a:lnTo>
                    <a:pt x="0" y="0"/>
                  </a:lnTo>
                  <a:lnTo>
                    <a:pt x="72" y="8172"/>
                  </a:lnTo>
                  <a:lnTo>
                    <a:pt x="74" y="8172"/>
                  </a:lnTo>
                </a:path>
              </a:pathLst>
            </a:custGeom>
            <a:solidFill>
              <a:srgbClr val="CCFFFF"/>
            </a:solidFill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71" name="Freeform 11"/>
            <p:cNvSpPr>
              <a:spLocks/>
            </p:cNvSpPr>
            <p:nvPr/>
          </p:nvSpPr>
          <p:spPr bwMode="auto">
            <a:xfrm>
              <a:off x="3052" y="3087"/>
              <a:ext cx="1183" cy="323"/>
            </a:xfrm>
            <a:custGeom>
              <a:avLst/>
              <a:gdLst>
                <a:gd name="T0" fmla="*/ 7099 w 7100"/>
                <a:gd name="T1" fmla="*/ 1050 h 1933"/>
                <a:gd name="T2" fmla="*/ 7038 w 7100"/>
                <a:gd name="T3" fmla="*/ 865 h 1933"/>
                <a:gd name="T4" fmla="*/ 6853 w 7100"/>
                <a:gd name="T5" fmla="*/ 685 h 1933"/>
                <a:gd name="T6" fmla="*/ 6546 w 7100"/>
                <a:gd name="T7" fmla="*/ 515 h 1933"/>
                <a:gd name="T8" fmla="*/ 6132 w 7100"/>
                <a:gd name="T9" fmla="*/ 361 h 1933"/>
                <a:gd name="T10" fmla="*/ 5624 w 7100"/>
                <a:gd name="T11" fmla="*/ 229 h 1933"/>
                <a:gd name="T12" fmla="*/ 5040 w 7100"/>
                <a:gd name="T13" fmla="*/ 124 h 1933"/>
                <a:gd name="T14" fmla="*/ 4403 w 7100"/>
                <a:gd name="T15" fmla="*/ 49 h 1933"/>
                <a:gd name="T16" fmla="*/ 3735 w 7100"/>
                <a:gd name="T17" fmla="*/ 7 h 1933"/>
                <a:gd name="T18" fmla="*/ 3059 w 7100"/>
                <a:gd name="T19" fmla="*/ 0 h 1933"/>
                <a:gd name="T20" fmla="*/ 2400 w 7100"/>
                <a:gd name="T21" fmla="*/ 27 h 1933"/>
                <a:gd name="T22" fmla="*/ 1784 w 7100"/>
                <a:gd name="T23" fmla="*/ 90 h 1933"/>
                <a:gd name="T24" fmla="*/ 1231 w 7100"/>
                <a:gd name="T25" fmla="*/ 183 h 1933"/>
                <a:gd name="T26" fmla="*/ 761 w 7100"/>
                <a:gd name="T27" fmla="*/ 304 h 1933"/>
                <a:gd name="T28" fmla="*/ 391 w 7100"/>
                <a:gd name="T29" fmla="*/ 450 h 1933"/>
                <a:gd name="T30" fmla="*/ 136 w 7100"/>
                <a:gd name="T31" fmla="*/ 615 h 1933"/>
                <a:gd name="T32" fmla="*/ 4 w 7100"/>
                <a:gd name="T33" fmla="*/ 792 h 1933"/>
                <a:gd name="T34" fmla="*/ 0 w 7100"/>
                <a:gd name="T35" fmla="*/ 975 h 1933"/>
                <a:gd name="T36" fmla="*/ 124 w 7100"/>
                <a:gd name="T37" fmla="*/ 1157 h 1933"/>
                <a:gd name="T38" fmla="*/ 371 w 7100"/>
                <a:gd name="T39" fmla="*/ 1334 h 1933"/>
                <a:gd name="T40" fmla="*/ 733 w 7100"/>
                <a:gd name="T41" fmla="*/ 1497 h 1933"/>
                <a:gd name="T42" fmla="*/ 1197 w 7100"/>
                <a:gd name="T43" fmla="*/ 1641 h 1933"/>
                <a:gd name="T44" fmla="*/ 1744 w 7100"/>
                <a:gd name="T45" fmla="*/ 1759 h 1933"/>
                <a:gd name="T46" fmla="*/ 2357 w 7100"/>
                <a:gd name="T47" fmla="*/ 1851 h 1933"/>
                <a:gd name="T48" fmla="*/ 3014 w 7100"/>
                <a:gd name="T49" fmla="*/ 1909 h 1933"/>
                <a:gd name="T50" fmla="*/ 3688 w 7100"/>
                <a:gd name="T51" fmla="*/ 1933 h 1933"/>
                <a:gd name="T52" fmla="*/ 4359 w 7100"/>
                <a:gd name="T53" fmla="*/ 1923 h 1933"/>
                <a:gd name="T54" fmla="*/ 4998 w 7100"/>
                <a:gd name="T55" fmla="*/ 1878 h 1933"/>
                <a:gd name="T56" fmla="*/ 5586 w 7100"/>
                <a:gd name="T57" fmla="*/ 1800 h 1933"/>
                <a:gd name="T58" fmla="*/ 6101 w 7100"/>
                <a:gd name="T59" fmla="*/ 1692 h 1933"/>
                <a:gd name="T60" fmla="*/ 6522 w 7100"/>
                <a:gd name="T61" fmla="*/ 1558 h 1933"/>
                <a:gd name="T62" fmla="*/ 6835 w 7100"/>
                <a:gd name="T63" fmla="*/ 1402 h 1933"/>
                <a:gd name="T64" fmla="*/ 7030 w 7100"/>
                <a:gd name="T65" fmla="*/ 1231 h 1933"/>
                <a:gd name="T66" fmla="*/ 7099 w 7100"/>
                <a:gd name="T67" fmla="*/ 1050 h 1933"/>
                <a:gd name="T68" fmla="*/ 7100 w 7100"/>
                <a:gd name="T69" fmla="*/ 1050 h 1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100" h="1933">
                  <a:moveTo>
                    <a:pt x="7099" y="1050"/>
                  </a:moveTo>
                  <a:lnTo>
                    <a:pt x="7038" y="865"/>
                  </a:lnTo>
                  <a:lnTo>
                    <a:pt x="6853" y="685"/>
                  </a:lnTo>
                  <a:lnTo>
                    <a:pt x="6546" y="515"/>
                  </a:lnTo>
                  <a:lnTo>
                    <a:pt x="6132" y="361"/>
                  </a:lnTo>
                  <a:lnTo>
                    <a:pt x="5624" y="229"/>
                  </a:lnTo>
                  <a:lnTo>
                    <a:pt x="5040" y="124"/>
                  </a:lnTo>
                  <a:lnTo>
                    <a:pt x="4403" y="49"/>
                  </a:lnTo>
                  <a:lnTo>
                    <a:pt x="3735" y="7"/>
                  </a:lnTo>
                  <a:lnTo>
                    <a:pt x="3059" y="0"/>
                  </a:lnTo>
                  <a:lnTo>
                    <a:pt x="2400" y="27"/>
                  </a:lnTo>
                  <a:lnTo>
                    <a:pt x="1784" y="90"/>
                  </a:lnTo>
                  <a:lnTo>
                    <a:pt x="1231" y="183"/>
                  </a:lnTo>
                  <a:lnTo>
                    <a:pt x="761" y="304"/>
                  </a:lnTo>
                  <a:lnTo>
                    <a:pt x="391" y="450"/>
                  </a:lnTo>
                  <a:lnTo>
                    <a:pt x="136" y="615"/>
                  </a:lnTo>
                  <a:lnTo>
                    <a:pt x="4" y="792"/>
                  </a:lnTo>
                  <a:lnTo>
                    <a:pt x="0" y="975"/>
                  </a:lnTo>
                  <a:lnTo>
                    <a:pt x="124" y="1157"/>
                  </a:lnTo>
                  <a:lnTo>
                    <a:pt x="371" y="1334"/>
                  </a:lnTo>
                  <a:lnTo>
                    <a:pt x="733" y="1497"/>
                  </a:lnTo>
                  <a:lnTo>
                    <a:pt x="1197" y="1641"/>
                  </a:lnTo>
                  <a:lnTo>
                    <a:pt x="1744" y="1759"/>
                  </a:lnTo>
                  <a:lnTo>
                    <a:pt x="2357" y="1851"/>
                  </a:lnTo>
                  <a:lnTo>
                    <a:pt x="3014" y="1909"/>
                  </a:lnTo>
                  <a:lnTo>
                    <a:pt x="3688" y="1933"/>
                  </a:lnTo>
                  <a:lnTo>
                    <a:pt x="4359" y="1923"/>
                  </a:lnTo>
                  <a:lnTo>
                    <a:pt x="4998" y="1878"/>
                  </a:lnTo>
                  <a:lnTo>
                    <a:pt x="5586" y="1800"/>
                  </a:lnTo>
                  <a:lnTo>
                    <a:pt x="6101" y="1692"/>
                  </a:lnTo>
                  <a:lnTo>
                    <a:pt x="6522" y="1558"/>
                  </a:lnTo>
                  <a:lnTo>
                    <a:pt x="6835" y="1402"/>
                  </a:lnTo>
                  <a:lnTo>
                    <a:pt x="7030" y="1231"/>
                  </a:lnTo>
                  <a:lnTo>
                    <a:pt x="7099" y="1050"/>
                  </a:lnTo>
                  <a:lnTo>
                    <a:pt x="7100" y="1050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72" name="Freeform 12"/>
            <p:cNvSpPr>
              <a:spLocks/>
            </p:cNvSpPr>
            <p:nvPr/>
          </p:nvSpPr>
          <p:spPr bwMode="auto">
            <a:xfrm>
              <a:off x="3414" y="2197"/>
              <a:ext cx="221" cy="392"/>
            </a:xfrm>
            <a:custGeom>
              <a:avLst/>
              <a:gdLst>
                <a:gd name="T0" fmla="*/ 1326 w 1326"/>
                <a:gd name="T1" fmla="*/ 0 h 2351"/>
                <a:gd name="T2" fmla="*/ 0 w 1326"/>
                <a:gd name="T3" fmla="*/ 2351 h 2351"/>
                <a:gd name="T4" fmla="*/ 1 w 1326"/>
                <a:gd name="T5" fmla="*/ 2351 h 2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6" h="2351">
                  <a:moveTo>
                    <a:pt x="1326" y="0"/>
                  </a:moveTo>
                  <a:lnTo>
                    <a:pt x="0" y="2351"/>
                  </a:lnTo>
                  <a:lnTo>
                    <a:pt x="1" y="2351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73" name="Freeform 13"/>
            <p:cNvSpPr>
              <a:spLocks/>
            </p:cNvSpPr>
            <p:nvPr/>
          </p:nvSpPr>
          <p:spPr bwMode="auto">
            <a:xfrm>
              <a:off x="3642" y="2197"/>
              <a:ext cx="161" cy="288"/>
            </a:xfrm>
            <a:custGeom>
              <a:avLst/>
              <a:gdLst>
                <a:gd name="T0" fmla="*/ 0 w 963"/>
                <a:gd name="T1" fmla="*/ 0 h 1729"/>
                <a:gd name="T2" fmla="*/ 962 w 963"/>
                <a:gd name="T3" fmla="*/ 1729 h 1729"/>
                <a:gd name="T4" fmla="*/ 963 w 963"/>
                <a:gd name="T5" fmla="*/ 1729 h 17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3" h="1729">
                  <a:moveTo>
                    <a:pt x="0" y="0"/>
                  </a:moveTo>
                  <a:lnTo>
                    <a:pt x="962" y="1729"/>
                  </a:lnTo>
                  <a:lnTo>
                    <a:pt x="963" y="1729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74" name="Freeform 14"/>
            <p:cNvSpPr>
              <a:spLocks/>
            </p:cNvSpPr>
            <p:nvPr/>
          </p:nvSpPr>
          <p:spPr bwMode="auto">
            <a:xfrm>
              <a:off x="4126" y="3067"/>
              <a:ext cx="109" cy="195"/>
            </a:xfrm>
            <a:custGeom>
              <a:avLst/>
              <a:gdLst>
                <a:gd name="T0" fmla="*/ 0 w 655"/>
                <a:gd name="T1" fmla="*/ 0 h 1176"/>
                <a:gd name="T2" fmla="*/ 654 w 655"/>
                <a:gd name="T3" fmla="*/ 1176 h 1176"/>
                <a:gd name="T4" fmla="*/ 655 w 655"/>
                <a:gd name="T5" fmla="*/ 1176 h 1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5" h="1176">
                  <a:moveTo>
                    <a:pt x="0" y="0"/>
                  </a:moveTo>
                  <a:lnTo>
                    <a:pt x="654" y="1176"/>
                  </a:lnTo>
                  <a:lnTo>
                    <a:pt x="655" y="117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75" name="Freeform 15"/>
            <p:cNvSpPr>
              <a:spLocks/>
            </p:cNvSpPr>
            <p:nvPr/>
          </p:nvSpPr>
          <p:spPr bwMode="auto">
            <a:xfrm>
              <a:off x="3049" y="2836"/>
              <a:ext cx="225" cy="399"/>
            </a:xfrm>
            <a:custGeom>
              <a:avLst/>
              <a:gdLst>
                <a:gd name="T0" fmla="*/ 1349 w 1349"/>
                <a:gd name="T1" fmla="*/ 0 h 2391"/>
                <a:gd name="T2" fmla="*/ 0 w 1349"/>
                <a:gd name="T3" fmla="*/ 2391 h 2391"/>
                <a:gd name="T4" fmla="*/ 1 w 1349"/>
                <a:gd name="T5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9" h="2391">
                  <a:moveTo>
                    <a:pt x="1349" y="0"/>
                  </a:moveTo>
                  <a:lnTo>
                    <a:pt x="0" y="2391"/>
                  </a:lnTo>
                  <a:lnTo>
                    <a:pt x="1" y="2391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76" name="Freeform 16"/>
            <p:cNvSpPr>
              <a:spLocks/>
            </p:cNvSpPr>
            <p:nvPr/>
          </p:nvSpPr>
          <p:spPr bwMode="auto">
            <a:xfrm>
              <a:off x="3634" y="2165"/>
              <a:ext cx="1" cy="144"/>
            </a:xfrm>
            <a:custGeom>
              <a:avLst/>
              <a:gdLst>
                <a:gd name="T0" fmla="*/ 0 w 1"/>
                <a:gd name="T1" fmla="*/ 0 h 864"/>
                <a:gd name="T2" fmla="*/ 0 w 1"/>
                <a:gd name="T3" fmla="*/ 864 h 864"/>
                <a:gd name="T4" fmla="*/ 1 w 1"/>
                <a:gd name="T5" fmla="*/ 864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4">
                  <a:moveTo>
                    <a:pt x="0" y="0"/>
                  </a:moveTo>
                  <a:lnTo>
                    <a:pt x="0" y="864"/>
                  </a:lnTo>
                  <a:lnTo>
                    <a:pt x="1" y="864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77" name="Freeform 17"/>
            <p:cNvSpPr>
              <a:spLocks/>
            </p:cNvSpPr>
            <p:nvPr/>
          </p:nvSpPr>
          <p:spPr bwMode="auto">
            <a:xfrm>
              <a:off x="3634" y="2333"/>
              <a:ext cx="1" cy="24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78" name="Freeform 18"/>
            <p:cNvSpPr>
              <a:spLocks/>
            </p:cNvSpPr>
            <p:nvPr/>
          </p:nvSpPr>
          <p:spPr bwMode="auto">
            <a:xfrm>
              <a:off x="3634" y="2381"/>
              <a:ext cx="1" cy="144"/>
            </a:xfrm>
            <a:custGeom>
              <a:avLst/>
              <a:gdLst>
                <a:gd name="T0" fmla="*/ 0 w 1"/>
                <a:gd name="T1" fmla="*/ 0 h 864"/>
                <a:gd name="T2" fmla="*/ 0 w 1"/>
                <a:gd name="T3" fmla="*/ 864 h 864"/>
                <a:gd name="T4" fmla="*/ 1 w 1"/>
                <a:gd name="T5" fmla="*/ 864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4">
                  <a:moveTo>
                    <a:pt x="0" y="0"/>
                  </a:moveTo>
                  <a:lnTo>
                    <a:pt x="0" y="864"/>
                  </a:lnTo>
                  <a:lnTo>
                    <a:pt x="1" y="86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79" name="Freeform 19"/>
            <p:cNvSpPr>
              <a:spLocks/>
            </p:cNvSpPr>
            <p:nvPr/>
          </p:nvSpPr>
          <p:spPr bwMode="auto">
            <a:xfrm>
              <a:off x="3634" y="2549"/>
              <a:ext cx="1" cy="24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80" name="Freeform 20"/>
            <p:cNvSpPr>
              <a:spLocks/>
            </p:cNvSpPr>
            <p:nvPr/>
          </p:nvSpPr>
          <p:spPr bwMode="auto">
            <a:xfrm>
              <a:off x="3634" y="2597"/>
              <a:ext cx="1" cy="144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81" name="Freeform 21"/>
            <p:cNvSpPr>
              <a:spLocks/>
            </p:cNvSpPr>
            <p:nvPr/>
          </p:nvSpPr>
          <p:spPr bwMode="auto">
            <a:xfrm>
              <a:off x="3634" y="2765"/>
              <a:ext cx="1" cy="23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82" name="Freeform 22"/>
            <p:cNvSpPr>
              <a:spLocks/>
            </p:cNvSpPr>
            <p:nvPr/>
          </p:nvSpPr>
          <p:spPr bwMode="auto">
            <a:xfrm>
              <a:off x="3634" y="2812"/>
              <a:ext cx="1" cy="144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83" name="Freeform 23"/>
            <p:cNvSpPr>
              <a:spLocks/>
            </p:cNvSpPr>
            <p:nvPr/>
          </p:nvSpPr>
          <p:spPr bwMode="auto">
            <a:xfrm>
              <a:off x="3634" y="2980"/>
              <a:ext cx="1" cy="24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84" name="Freeform 24"/>
            <p:cNvSpPr>
              <a:spLocks/>
            </p:cNvSpPr>
            <p:nvPr/>
          </p:nvSpPr>
          <p:spPr bwMode="auto">
            <a:xfrm>
              <a:off x="3634" y="3028"/>
              <a:ext cx="1" cy="144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85" name="Freeform 25"/>
            <p:cNvSpPr>
              <a:spLocks/>
            </p:cNvSpPr>
            <p:nvPr/>
          </p:nvSpPr>
          <p:spPr bwMode="auto">
            <a:xfrm>
              <a:off x="3634" y="3196"/>
              <a:ext cx="1" cy="24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86" name="Freeform 26"/>
            <p:cNvSpPr>
              <a:spLocks/>
            </p:cNvSpPr>
            <p:nvPr/>
          </p:nvSpPr>
          <p:spPr bwMode="auto">
            <a:xfrm>
              <a:off x="3634" y="3244"/>
              <a:ext cx="1" cy="144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87" name="Freeform 27"/>
            <p:cNvSpPr>
              <a:spLocks/>
            </p:cNvSpPr>
            <p:nvPr/>
          </p:nvSpPr>
          <p:spPr bwMode="auto">
            <a:xfrm>
              <a:off x="3634" y="3412"/>
              <a:ext cx="1" cy="23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88" name="Freeform 28"/>
            <p:cNvSpPr>
              <a:spLocks/>
            </p:cNvSpPr>
            <p:nvPr/>
          </p:nvSpPr>
          <p:spPr bwMode="auto">
            <a:xfrm>
              <a:off x="3634" y="4322"/>
              <a:ext cx="1" cy="144"/>
            </a:xfrm>
            <a:custGeom>
              <a:avLst/>
              <a:gdLst>
                <a:gd name="T0" fmla="*/ 0 w 1"/>
                <a:gd name="T1" fmla="*/ 0 h 864"/>
                <a:gd name="T2" fmla="*/ 0 w 1"/>
                <a:gd name="T3" fmla="*/ 864 h 864"/>
                <a:gd name="T4" fmla="*/ 1 w 1"/>
                <a:gd name="T5" fmla="*/ 864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4">
                  <a:moveTo>
                    <a:pt x="0" y="0"/>
                  </a:moveTo>
                  <a:lnTo>
                    <a:pt x="0" y="864"/>
                  </a:lnTo>
                  <a:lnTo>
                    <a:pt x="1" y="864"/>
                  </a:lnTo>
                </a:path>
              </a:pathLst>
            </a:custGeom>
            <a:noFill/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89" name="Freeform 29"/>
            <p:cNvSpPr>
              <a:spLocks/>
            </p:cNvSpPr>
            <p:nvPr/>
          </p:nvSpPr>
          <p:spPr bwMode="auto">
            <a:xfrm>
              <a:off x="3634" y="4490"/>
              <a:ext cx="1" cy="24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90" name="Freeform 30"/>
            <p:cNvSpPr>
              <a:spLocks/>
            </p:cNvSpPr>
            <p:nvPr/>
          </p:nvSpPr>
          <p:spPr bwMode="auto">
            <a:xfrm>
              <a:off x="3274" y="2589"/>
              <a:ext cx="140" cy="247"/>
            </a:xfrm>
            <a:custGeom>
              <a:avLst/>
              <a:gdLst>
                <a:gd name="T0" fmla="*/ 0 w 840"/>
                <a:gd name="T1" fmla="*/ 1485 h 1485"/>
                <a:gd name="T2" fmla="*/ 839 w 840"/>
                <a:gd name="T3" fmla="*/ 0 h 1485"/>
                <a:gd name="T4" fmla="*/ 840 w 840"/>
                <a:gd name="T5" fmla="*/ 0 h 1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0" h="1485">
                  <a:moveTo>
                    <a:pt x="0" y="1485"/>
                  </a:moveTo>
                  <a:lnTo>
                    <a:pt x="839" y="0"/>
                  </a:lnTo>
                  <a:lnTo>
                    <a:pt x="840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91" name="Freeform 31"/>
            <p:cNvSpPr>
              <a:spLocks/>
            </p:cNvSpPr>
            <p:nvPr/>
          </p:nvSpPr>
          <p:spPr bwMode="auto">
            <a:xfrm>
              <a:off x="3768" y="3552"/>
              <a:ext cx="1" cy="24"/>
            </a:xfrm>
            <a:custGeom>
              <a:avLst/>
              <a:gdLst>
                <a:gd name="T0" fmla="*/ 0 w 2"/>
                <a:gd name="T1" fmla="*/ 143 h 143"/>
                <a:gd name="T2" fmla="*/ 0 w 2"/>
                <a:gd name="T3" fmla="*/ 0 h 143"/>
                <a:gd name="T4" fmla="*/ 2 w 2"/>
                <a:gd name="T5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43">
                  <a:moveTo>
                    <a:pt x="0" y="14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92" name="Freeform 32"/>
            <p:cNvSpPr>
              <a:spLocks/>
            </p:cNvSpPr>
            <p:nvPr/>
          </p:nvSpPr>
          <p:spPr bwMode="auto">
            <a:xfrm>
              <a:off x="3769" y="3384"/>
              <a:ext cx="1" cy="144"/>
            </a:xfrm>
            <a:custGeom>
              <a:avLst/>
              <a:gdLst>
                <a:gd name="T0" fmla="*/ 0 w 2"/>
                <a:gd name="T1" fmla="*/ 864 h 864"/>
                <a:gd name="T2" fmla="*/ 1 w 2"/>
                <a:gd name="T3" fmla="*/ 0 h 864"/>
                <a:gd name="T4" fmla="*/ 2 w 2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864">
                  <a:moveTo>
                    <a:pt x="0" y="864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93" name="Freeform 33"/>
            <p:cNvSpPr>
              <a:spLocks/>
            </p:cNvSpPr>
            <p:nvPr/>
          </p:nvSpPr>
          <p:spPr bwMode="auto">
            <a:xfrm>
              <a:off x="3769" y="3337"/>
              <a:ext cx="1" cy="23"/>
            </a:xfrm>
            <a:custGeom>
              <a:avLst/>
              <a:gdLst>
                <a:gd name="T0" fmla="*/ 0 w 1"/>
                <a:gd name="T1" fmla="*/ 143 h 143"/>
                <a:gd name="T2" fmla="*/ 0 w 1"/>
                <a:gd name="T3" fmla="*/ 0 h 143"/>
                <a:gd name="T4" fmla="*/ 1 w 1"/>
                <a:gd name="T5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14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94" name="Freeform 34"/>
            <p:cNvSpPr>
              <a:spLocks/>
            </p:cNvSpPr>
            <p:nvPr/>
          </p:nvSpPr>
          <p:spPr bwMode="auto">
            <a:xfrm>
              <a:off x="3769" y="3169"/>
              <a:ext cx="1" cy="144"/>
            </a:xfrm>
            <a:custGeom>
              <a:avLst/>
              <a:gdLst>
                <a:gd name="T0" fmla="*/ 0 w 3"/>
                <a:gd name="T1" fmla="*/ 864 h 864"/>
                <a:gd name="T2" fmla="*/ 2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95" name="Freeform 35"/>
            <p:cNvSpPr>
              <a:spLocks/>
            </p:cNvSpPr>
            <p:nvPr/>
          </p:nvSpPr>
          <p:spPr bwMode="auto">
            <a:xfrm>
              <a:off x="3769" y="3121"/>
              <a:ext cx="1" cy="24"/>
            </a:xfrm>
            <a:custGeom>
              <a:avLst/>
              <a:gdLst>
                <a:gd name="T0" fmla="*/ 0 w 2"/>
                <a:gd name="T1" fmla="*/ 142 h 142"/>
                <a:gd name="T2" fmla="*/ 1 w 2"/>
                <a:gd name="T3" fmla="*/ 0 h 142"/>
                <a:gd name="T4" fmla="*/ 2 w 2"/>
                <a:gd name="T5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42">
                  <a:moveTo>
                    <a:pt x="0" y="142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96" name="Freeform 36"/>
            <p:cNvSpPr>
              <a:spLocks/>
            </p:cNvSpPr>
            <p:nvPr/>
          </p:nvSpPr>
          <p:spPr bwMode="auto">
            <a:xfrm>
              <a:off x="3770" y="2953"/>
              <a:ext cx="1" cy="144"/>
            </a:xfrm>
            <a:custGeom>
              <a:avLst/>
              <a:gdLst>
                <a:gd name="T0" fmla="*/ 0 w 3"/>
                <a:gd name="T1" fmla="*/ 864 h 864"/>
                <a:gd name="T2" fmla="*/ 2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97" name="Freeform 37"/>
            <p:cNvSpPr>
              <a:spLocks/>
            </p:cNvSpPr>
            <p:nvPr/>
          </p:nvSpPr>
          <p:spPr bwMode="auto">
            <a:xfrm>
              <a:off x="3770" y="2905"/>
              <a:ext cx="1" cy="24"/>
            </a:xfrm>
            <a:custGeom>
              <a:avLst/>
              <a:gdLst>
                <a:gd name="T0" fmla="*/ 0 w 1"/>
                <a:gd name="T1" fmla="*/ 143 h 143"/>
                <a:gd name="T2" fmla="*/ 0 w 1"/>
                <a:gd name="T3" fmla="*/ 0 h 143"/>
                <a:gd name="T4" fmla="*/ 1 w 1"/>
                <a:gd name="T5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14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98" name="Freeform 38"/>
            <p:cNvSpPr>
              <a:spLocks/>
            </p:cNvSpPr>
            <p:nvPr/>
          </p:nvSpPr>
          <p:spPr bwMode="auto">
            <a:xfrm>
              <a:off x="3770" y="2737"/>
              <a:ext cx="1" cy="144"/>
            </a:xfrm>
            <a:custGeom>
              <a:avLst/>
              <a:gdLst>
                <a:gd name="T0" fmla="*/ 0 w 3"/>
                <a:gd name="T1" fmla="*/ 864 h 864"/>
                <a:gd name="T2" fmla="*/ 1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1" y="0"/>
                  </a:ln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599" name="Freeform 39"/>
            <p:cNvSpPr>
              <a:spLocks/>
            </p:cNvSpPr>
            <p:nvPr/>
          </p:nvSpPr>
          <p:spPr bwMode="auto">
            <a:xfrm>
              <a:off x="3770" y="2690"/>
              <a:ext cx="1" cy="24"/>
            </a:xfrm>
            <a:custGeom>
              <a:avLst/>
              <a:gdLst>
                <a:gd name="T0" fmla="*/ 0 w 1"/>
                <a:gd name="T1" fmla="*/ 144 h 144"/>
                <a:gd name="T2" fmla="*/ 0 w 1"/>
                <a:gd name="T3" fmla="*/ 0 h 144"/>
                <a:gd name="T4" fmla="*/ 1 w 1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4">
                  <a:moveTo>
                    <a:pt x="0" y="14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00" name="Freeform 40"/>
            <p:cNvSpPr>
              <a:spLocks/>
            </p:cNvSpPr>
            <p:nvPr/>
          </p:nvSpPr>
          <p:spPr bwMode="auto">
            <a:xfrm>
              <a:off x="3770" y="2522"/>
              <a:ext cx="1" cy="144"/>
            </a:xfrm>
            <a:custGeom>
              <a:avLst/>
              <a:gdLst>
                <a:gd name="T0" fmla="*/ 0 w 3"/>
                <a:gd name="T1" fmla="*/ 864 h 864"/>
                <a:gd name="T2" fmla="*/ 2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01" name="Freeform 41"/>
            <p:cNvSpPr>
              <a:spLocks/>
            </p:cNvSpPr>
            <p:nvPr/>
          </p:nvSpPr>
          <p:spPr bwMode="auto">
            <a:xfrm>
              <a:off x="3771" y="2474"/>
              <a:ext cx="1" cy="24"/>
            </a:xfrm>
            <a:custGeom>
              <a:avLst/>
              <a:gdLst>
                <a:gd name="T0" fmla="*/ 0 w 2"/>
                <a:gd name="T1" fmla="*/ 144 h 144"/>
                <a:gd name="T2" fmla="*/ 1 w 2"/>
                <a:gd name="T3" fmla="*/ 0 h 144"/>
                <a:gd name="T4" fmla="*/ 2 w 2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44">
                  <a:moveTo>
                    <a:pt x="0" y="144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02" name="Freeform 42"/>
            <p:cNvSpPr>
              <a:spLocks/>
            </p:cNvSpPr>
            <p:nvPr/>
          </p:nvSpPr>
          <p:spPr bwMode="auto">
            <a:xfrm>
              <a:off x="3771" y="2306"/>
              <a:ext cx="1" cy="144"/>
            </a:xfrm>
            <a:custGeom>
              <a:avLst/>
              <a:gdLst>
                <a:gd name="T0" fmla="*/ 0 w 3"/>
                <a:gd name="T1" fmla="*/ 864 h 864"/>
                <a:gd name="T2" fmla="*/ 2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03" name="Freeform 43"/>
            <p:cNvSpPr>
              <a:spLocks/>
            </p:cNvSpPr>
            <p:nvPr/>
          </p:nvSpPr>
          <p:spPr bwMode="auto">
            <a:xfrm>
              <a:off x="3771" y="2258"/>
              <a:ext cx="1" cy="24"/>
            </a:xfrm>
            <a:custGeom>
              <a:avLst/>
              <a:gdLst>
                <a:gd name="T0" fmla="*/ 0 w 1"/>
                <a:gd name="T1" fmla="*/ 144 h 144"/>
                <a:gd name="T2" fmla="*/ 0 w 1"/>
                <a:gd name="T3" fmla="*/ 0 h 144"/>
                <a:gd name="T4" fmla="*/ 1 w 1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4">
                  <a:moveTo>
                    <a:pt x="0" y="14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04" name="Freeform 44"/>
            <p:cNvSpPr>
              <a:spLocks/>
            </p:cNvSpPr>
            <p:nvPr/>
          </p:nvSpPr>
          <p:spPr bwMode="auto">
            <a:xfrm>
              <a:off x="3772" y="2057"/>
              <a:ext cx="1" cy="177"/>
            </a:xfrm>
            <a:custGeom>
              <a:avLst/>
              <a:gdLst>
                <a:gd name="T0" fmla="*/ 0 w 3"/>
                <a:gd name="T1" fmla="*/ 1065 h 1065"/>
                <a:gd name="T2" fmla="*/ 2 w 3"/>
                <a:gd name="T3" fmla="*/ 0 h 1065"/>
                <a:gd name="T4" fmla="*/ 3 w 3"/>
                <a:gd name="T5" fmla="*/ 0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065">
                  <a:moveTo>
                    <a:pt x="0" y="1065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05" name="Freeform 45"/>
            <p:cNvSpPr>
              <a:spLocks/>
            </p:cNvSpPr>
            <p:nvPr/>
          </p:nvSpPr>
          <p:spPr bwMode="auto">
            <a:xfrm>
              <a:off x="3374" y="3099"/>
              <a:ext cx="792" cy="237"/>
            </a:xfrm>
            <a:custGeom>
              <a:avLst/>
              <a:gdLst>
                <a:gd name="T0" fmla="*/ 0 w 4751"/>
                <a:gd name="T1" fmla="*/ 0 h 1417"/>
                <a:gd name="T2" fmla="*/ 4750 w 4751"/>
                <a:gd name="T3" fmla="*/ 1417 h 1417"/>
                <a:gd name="T4" fmla="*/ 4751 w 4751"/>
                <a:gd name="T5" fmla="*/ 1417 h 1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51" h="1417">
                  <a:moveTo>
                    <a:pt x="0" y="0"/>
                  </a:moveTo>
                  <a:lnTo>
                    <a:pt x="4750" y="1417"/>
                  </a:lnTo>
                  <a:lnTo>
                    <a:pt x="4751" y="1417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06" name="Freeform 46"/>
            <p:cNvSpPr>
              <a:spLocks/>
            </p:cNvSpPr>
            <p:nvPr/>
          </p:nvSpPr>
          <p:spPr bwMode="auto">
            <a:xfrm>
              <a:off x="3374" y="2462"/>
              <a:ext cx="406" cy="637"/>
            </a:xfrm>
            <a:custGeom>
              <a:avLst/>
              <a:gdLst>
                <a:gd name="T0" fmla="*/ 0 w 2437"/>
                <a:gd name="T1" fmla="*/ 3822 h 3822"/>
                <a:gd name="T2" fmla="*/ 59 w 2437"/>
                <a:gd name="T3" fmla="*/ 3224 h 3822"/>
                <a:gd name="T4" fmla="*/ 190 w 2437"/>
                <a:gd name="T5" fmla="*/ 2642 h 3822"/>
                <a:gd name="T6" fmla="*/ 688 w 2437"/>
                <a:gd name="T7" fmla="*/ 1554 h 3822"/>
                <a:gd name="T8" fmla="*/ 1008 w 2437"/>
                <a:gd name="T9" fmla="*/ 1053 h 3822"/>
                <a:gd name="T10" fmla="*/ 1441 w 2437"/>
                <a:gd name="T11" fmla="*/ 637 h 3822"/>
                <a:gd name="T12" fmla="*/ 1896 w 2437"/>
                <a:gd name="T13" fmla="*/ 247 h 3822"/>
                <a:gd name="T14" fmla="*/ 2152 w 2437"/>
                <a:gd name="T15" fmla="*/ 98 h 3822"/>
                <a:gd name="T16" fmla="*/ 2436 w 2437"/>
                <a:gd name="T17" fmla="*/ 0 h 3822"/>
                <a:gd name="T18" fmla="*/ 2437 w 2437"/>
                <a:gd name="T19" fmla="*/ 0 h 3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37" h="3822">
                  <a:moveTo>
                    <a:pt x="0" y="3822"/>
                  </a:moveTo>
                  <a:lnTo>
                    <a:pt x="59" y="3224"/>
                  </a:lnTo>
                  <a:lnTo>
                    <a:pt x="190" y="2642"/>
                  </a:lnTo>
                  <a:lnTo>
                    <a:pt x="688" y="1554"/>
                  </a:lnTo>
                  <a:lnTo>
                    <a:pt x="1008" y="1053"/>
                  </a:lnTo>
                  <a:lnTo>
                    <a:pt x="1441" y="637"/>
                  </a:lnTo>
                  <a:lnTo>
                    <a:pt x="1896" y="247"/>
                  </a:lnTo>
                  <a:lnTo>
                    <a:pt x="2152" y="98"/>
                  </a:lnTo>
                  <a:lnTo>
                    <a:pt x="2436" y="0"/>
                  </a:lnTo>
                  <a:lnTo>
                    <a:pt x="243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07" name="Freeform 47"/>
            <p:cNvSpPr>
              <a:spLocks/>
            </p:cNvSpPr>
            <p:nvPr/>
          </p:nvSpPr>
          <p:spPr bwMode="auto">
            <a:xfrm>
              <a:off x="3780" y="2462"/>
              <a:ext cx="384" cy="877"/>
            </a:xfrm>
            <a:custGeom>
              <a:avLst/>
              <a:gdLst>
                <a:gd name="T0" fmla="*/ 0 w 2306"/>
                <a:gd name="T1" fmla="*/ 0 h 5260"/>
                <a:gd name="T2" fmla="*/ 524 w 2306"/>
                <a:gd name="T3" fmla="*/ 518 h 5260"/>
                <a:gd name="T4" fmla="*/ 763 w 2306"/>
                <a:gd name="T5" fmla="*/ 794 h 5260"/>
                <a:gd name="T6" fmla="*/ 959 w 2306"/>
                <a:gd name="T7" fmla="*/ 1105 h 5260"/>
                <a:gd name="T8" fmla="*/ 1322 w 2306"/>
                <a:gd name="T9" fmla="*/ 1747 h 5260"/>
                <a:gd name="T10" fmla="*/ 1616 w 2306"/>
                <a:gd name="T11" fmla="*/ 2420 h 5260"/>
                <a:gd name="T12" fmla="*/ 1899 w 2306"/>
                <a:gd name="T13" fmla="*/ 3099 h 5260"/>
                <a:gd name="T14" fmla="*/ 2118 w 2306"/>
                <a:gd name="T15" fmla="*/ 3800 h 5260"/>
                <a:gd name="T16" fmla="*/ 2305 w 2306"/>
                <a:gd name="T17" fmla="*/ 5260 h 5260"/>
                <a:gd name="T18" fmla="*/ 2306 w 2306"/>
                <a:gd name="T19" fmla="*/ 5260 h 5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06" h="5260">
                  <a:moveTo>
                    <a:pt x="0" y="0"/>
                  </a:moveTo>
                  <a:lnTo>
                    <a:pt x="524" y="518"/>
                  </a:lnTo>
                  <a:lnTo>
                    <a:pt x="763" y="794"/>
                  </a:lnTo>
                  <a:lnTo>
                    <a:pt x="959" y="1105"/>
                  </a:lnTo>
                  <a:lnTo>
                    <a:pt x="1322" y="1747"/>
                  </a:lnTo>
                  <a:lnTo>
                    <a:pt x="1616" y="2420"/>
                  </a:lnTo>
                  <a:lnTo>
                    <a:pt x="1899" y="3099"/>
                  </a:lnTo>
                  <a:lnTo>
                    <a:pt x="2118" y="3800"/>
                  </a:lnTo>
                  <a:lnTo>
                    <a:pt x="2305" y="5260"/>
                  </a:lnTo>
                  <a:lnTo>
                    <a:pt x="2306" y="526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08" name="Freeform 48"/>
            <p:cNvSpPr>
              <a:spLocks/>
            </p:cNvSpPr>
            <p:nvPr/>
          </p:nvSpPr>
          <p:spPr bwMode="auto">
            <a:xfrm>
              <a:off x="3802" y="2485"/>
              <a:ext cx="46" cy="81"/>
            </a:xfrm>
            <a:custGeom>
              <a:avLst/>
              <a:gdLst>
                <a:gd name="T0" fmla="*/ 0 w 272"/>
                <a:gd name="T1" fmla="*/ 0 h 488"/>
                <a:gd name="T2" fmla="*/ 271 w 272"/>
                <a:gd name="T3" fmla="*/ 488 h 488"/>
                <a:gd name="T4" fmla="*/ 272 w 272"/>
                <a:gd name="T5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488">
                  <a:moveTo>
                    <a:pt x="0" y="0"/>
                  </a:moveTo>
                  <a:lnTo>
                    <a:pt x="271" y="488"/>
                  </a:lnTo>
                  <a:lnTo>
                    <a:pt x="272" y="48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09" name="Freeform 49"/>
            <p:cNvSpPr>
              <a:spLocks/>
            </p:cNvSpPr>
            <p:nvPr/>
          </p:nvSpPr>
          <p:spPr bwMode="auto">
            <a:xfrm>
              <a:off x="3871" y="2608"/>
              <a:ext cx="47" cy="84"/>
            </a:xfrm>
            <a:custGeom>
              <a:avLst/>
              <a:gdLst>
                <a:gd name="T0" fmla="*/ 0 w 280"/>
                <a:gd name="T1" fmla="*/ 0 h 502"/>
                <a:gd name="T2" fmla="*/ 279 w 280"/>
                <a:gd name="T3" fmla="*/ 502 h 502"/>
                <a:gd name="T4" fmla="*/ 280 w 280"/>
                <a:gd name="T5" fmla="*/ 502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0" h="502">
                  <a:moveTo>
                    <a:pt x="0" y="0"/>
                  </a:moveTo>
                  <a:lnTo>
                    <a:pt x="279" y="502"/>
                  </a:lnTo>
                  <a:lnTo>
                    <a:pt x="280" y="50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10" name="Freeform 50"/>
            <p:cNvSpPr>
              <a:spLocks/>
            </p:cNvSpPr>
            <p:nvPr/>
          </p:nvSpPr>
          <p:spPr bwMode="auto">
            <a:xfrm>
              <a:off x="3941" y="2734"/>
              <a:ext cx="47" cy="84"/>
            </a:xfrm>
            <a:custGeom>
              <a:avLst/>
              <a:gdLst>
                <a:gd name="T0" fmla="*/ 0 w 280"/>
                <a:gd name="T1" fmla="*/ 0 h 502"/>
                <a:gd name="T2" fmla="*/ 279 w 280"/>
                <a:gd name="T3" fmla="*/ 502 h 502"/>
                <a:gd name="T4" fmla="*/ 280 w 280"/>
                <a:gd name="T5" fmla="*/ 502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0" h="502">
                  <a:moveTo>
                    <a:pt x="0" y="0"/>
                  </a:moveTo>
                  <a:lnTo>
                    <a:pt x="279" y="502"/>
                  </a:lnTo>
                  <a:lnTo>
                    <a:pt x="280" y="50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11" name="Freeform 51"/>
            <p:cNvSpPr>
              <a:spLocks/>
            </p:cNvSpPr>
            <p:nvPr/>
          </p:nvSpPr>
          <p:spPr bwMode="auto">
            <a:xfrm>
              <a:off x="4011" y="2859"/>
              <a:ext cx="46" cy="84"/>
            </a:xfrm>
            <a:custGeom>
              <a:avLst/>
              <a:gdLst>
                <a:gd name="T0" fmla="*/ 0 w 280"/>
                <a:gd name="T1" fmla="*/ 0 h 503"/>
                <a:gd name="T2" fmla="*/ 279 w 280"/>
                <a:gd name="T3" fmla="*/ 503 h 503"/>
                <a:gd name="T4" fmla="*/ 280 w 280"/>
                <a:gd name="T5" fmla="*/ 503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0" h="503">
                  <a:moveTo>
                    <a:pt x="0" y="0"/>
                  </a:moveTo>
                  <a:lnTo>
                    <a:pt x="279" y="503"/>
                  </a:lnTo>
                  <a:lnTo>
                    <a:pt x="280" y="50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12" name="Freeform 52"/>
            <p:cNvSpPr>
              <a:spLocks/>
            </p:cNvSpPr>
            <p:nvPr/>
          </p:nvSpPr>
          <p:spPr bwMode="auto">
            <a:xfrm>
              <a:off x="4081" y="2985"/>
              <a:ext cx="45" cy="82"/>
            </a:xfrm>
            <a:custGeom>
              <a:avLst/>
              <a:gdLst>
                <a:gd name="T0" fmla="*/ 0 w 273"/>
                <a:gd name="T1" fmla="*/ 0 h 488"/>
                <a:gd name="T2" fmla="*/ 272 w 273"/>
                <a:gd name="T3" fmla="*/ 488 h 488"/>
                <a:gd name="T4" fmla="*/ 273 w 273"/>
                <a:gd name="T5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3" h="488">
                  <a:moveTo>
                    <a:pt x="0" y="0"/>
                  </a:moveTo>
                  <a:lnTo>
                    <a:pt x="272" y="488"/>
                  </a:lnTo>
                  <a:lnTo>
                    <a:pt x="273" y="48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13" name="Freeform 53"/>
            <p:cNvSpPr>
              <a:spLocks/>
            </p:cNvSpPr>
            <p:nvPr/>
          </p:nvSpPr>
          <p:spPr bwMode="auto">
            <a:xfrm>
              <a:off x="1079" y="3217"/>
              <a:ext cx="2690" cy="1015"/>
            </a:xfrm>
            <a:custGeom>
              <a:avLst/>
              <a:gdLst>
                <a:gd name="T0" fmla="*/ 16140 w 16140"/>
                <a:gd name="T1" fmla="*/ 0 h 6085"/>
                <a:gd name="T2" fmla="*/ 0 w 16140"/>
                <a:gd name="T3" fmla="*/ 6085 h 6085"/>
                <a:gd name="T4" fmla="*/ 1 w 16140"/>
                <a:gd name="T5" fmla="*/ 6085 h 6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140" h="6085">
                  <a:moveTo>
                    <a:pt x="16140" y="0"/>
                  </a:moveTo>
                  <a:lnTo>
                    <a:pt x="0" y="6085"/>
                  </a:lnTo>
                  <a:lnTo>
                    <a:pt x="1" y="6085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14" name="Freeform 54"/>
            <p:cNvSpPr>
              <a:spLocks/>
            </p:cNvSpPr>
            <p:nvPr/>
          </p:nvSpPr>
          <p:spPr bwMode="auto">
            <a:xfrm>
              <a:off x="1311" y="2462"/>
              <a:ext cx="2469" cy="939"/>
            </a:xfrm>
            <a:custGeom>
              <a:avLst/>
              <a:gdLst>
                <a:gd name="T0" fmla="*/ 14811 w 14811"/>
                <a:gd name="T1" fmla="*/ 0 h 5635"/>
                <a:gd name="T2" fmla="*/ 0 w 14811"/>
                <a:gd name="T3" fmla="*/ 5635 h 5635"/>
                <a:gd name="T4" fmla="*/ 1 w 14811"/>
                <a:gd name="T5" fmla="*/ 5635 h 5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11" h="5635">
                  <a:moveTo>
                    <a:pt x="14811" y="0"/>
                  </a:moveTo>
                  <a:lnTo>
                    <a:pt x="0" y="5635"/>
                  </a:lnTo>
                  <a:lnTo>
                    <a:pt x="1" y="5635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15" name="Freeform 55"/>
            <p:cNvSpPr>
              <a:spLocks/>
            </p:cNvSpPr>
            <p:nvPr/>
          </p:nvSpPr>
          <p:spPr bwMode="auto">
            <a:xfrm>
              <a:off x="1291" y="3345"/>
              <a:ext cx="73" cy="203"/>
            </a:xfrm>
            <a:custGeom>
              <a:avLst/>
              <a:gdLst>
                <a:gd name="T0" fmla="*/ 0 w 435"/>
                <a:gd name="T1" fmla="*/ 0 h 1218"/>
                <a:gd name="T2" fmla="*/ 434 w 435"/>
                <a:gd name="T3" fmla="*/ 1218 h 1218"/>
                <a:gd name="T4" fmla="*/ 435 w 435"/>
                <a:gd name="T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5" h="1218">
                  <a:moveTo>
                    <a:pt x="0" y="0"/>
                  </a:moveTo>
                  <a:lnTo>
                    <a:pt x="434" y="1218"/>
                  </a:lnTo>
                  <a:lnTo>
                    <a:pt x="435" y="1218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16" name="Freeform 56"/>
            <p:cNvSpPr>
              <a:spLocks/>
            </p:cNvSpPr>
            <p:nvPr/>
          </p:nvSpPr>
          <p:spPr bwMode="auto">
            <a:xfrm>
              <a:off x="1380" y="3593"/>
              <a:ext cx="16" cy="45"/>
            </a:xfrm>
            <a:custGeom>
              <a:avLst/>
              <a:gdLst>
                <a:gd name="T0" fmla="*/ 0 w 96"/>
                <a:gd name="T1" fmla="*/ 0 h 271"/>
                <a:gd name="T2" fmla="*/ 95 w 96"/>
                <a:gd name="T3" fmla="*/ 271 h 271"/>
                <a:gd name="T4" fmla="*/ 96 w 96"/>
                <a:gd name="T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271">
                  <a:moveTo>
                    <a:pt x="0" y="0"/>
                  </a:moveTo>
                  <a:lnTo>
                    <a:pt x="95" y="271"/>
                  </a:lnTo>
                  <a:lnTo>
                    <a:pt x="96" y="271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17" name="Freeform 57"/>
            <p:cNvSpPr>
              <a:spLocks/>
            </p:cNvSpPr>
            <p:nvPr/>
          </p:nvSpPr>
          <p:spPr bwMode="auto">
            <a:xfrm>
              <a:off x="1412" y="3684"/>
              <a:ext cx="80" cy="225"/>
            </a:xfrm>
            <a:custGeom>
              <a:avLst/>
              <a:gdLst>
                <a:gd name="T0" fmla="*/ 0 w 485"/>
                <a:gd name="T1" fmla="*/ 0 h 1354"/>
                <a:gd name="T2" fmla="*/ 484 w 485"/>
                <a:gd name="T3" fmla="*/ 1354 h 1354"/>
                <a:gd name="T4" fmla="*/ 485 w 485"/>
                <a:gd name="T5" fmla="*/ 1354 h 1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5" h="1354">
                  <a:moveTo>
                    <a:pt x="0" y="0"/>
                  </a:moveTo>
                  <a:lnTo>
                    <a:pt x="484" y="1354"/>
                  </a:lnTo>
                  <a:lnTo>
                    <a:pt x="485" y="1354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18" name="Freeform 58"/>
            <p:cNvSpPr>
              <a:spLocks/>
            </p:cNvSpPr>
            <p:nvPr/>
          </p:nvSpPr>
          <p:spPr bwMode="auto">
            <a:xfrm>
              <a:off x="1508" y="3954"/>
              <a:ext cx="17" cy="45"/>
            </a:xfrm>
            <a:custGeom>
              <a:avLst/>
              <a:gdLst>
                <a:gd name="T0" fmla="*/ 0 w 97"/>
                <a:gd name="T1" fmla="*/ 0 h 270"/>
                <a:gd name="T2" fmla="*/ 96 w 97"/>
                <a:gd name="T3" fmla="*/ 270 h 270"/>
                <a:gd name="T4" fmla="*/ 97 w 97"/>
                <a:gd name="T5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" h="270">
                  <a:moveTo>
                    <a:pt x="0" y="0"/>
                  </a:moveTo>
                  <a:lnTo>
                    <a:pt x="96" y="270"/>
                  </a:lnTo>
                  <a:lnTo>
                    <a:pt x="97" y="27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19" name="Freeform 59"/>
            <p:cNvSpPr>
              <a:spLocks/>
            </p:cNvSpPr>
            <p:nvPr/>
          </p:nvSpPr>
          <p:spPr bwMode="auto">
            <a:xfrm>
              <a:off x="1540" y="4045"/>
              <a:ext cx="73" cy="202"/>
            </a:xfrm>
            <a:custGeom>
              <a:avLst/>
              <a:gdLst>
                <a:gd name="T0" fmla="*/ 0 w 435"/>
                <a:gd name="T1" fmla="*/ 0 h 1217"/>
                <a:gd name="T2" fmla="*/ 434 w 435"/>
                <a:gd name="T3" fmla="*/ 1217 h 1217"/>
                <a:gd name="T4" fmla="*/ 435 w 435"/>
                <a:gd name="T5" fmla="*/ 1217 h 1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5" h="1217">
                  <a:moveTo>
                    <a:pt x="0" y="0"/>
                  </a:moveTo>
                  <a:lnTo>
                    <a:pt x="434" y="1217"/>
                  </a:lnTo>
                  <a:lnTo>
                    <a:pt x="435" y="1217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20" name="Freeform 60"/>
            <p:cNvSpPr>
              <a:spLocks/>
            </p:cNvSpPr>
            <p:nvPr/>
          </p:nvSpPr>
          <p:spPr bwMode="auto">
            <a:xfrm>
              <a:off x="1021" y="3401"/>
              <a:ext cx="290" cy="831"/>
            </a:xfrm>
            <a:custGeom>
              <a:avLst/>
              <a:gdLst>
                <a:gd name="T0" fmla="*/ 349 w 1742"/>
                <a:gd name="T1" fmla="*/ 4981 h 4981"/>
                <a:gd name="T2" fmla="*/ 115 w 1742"/>
                <a:gd name="T3" fmla="*/ 4326 h 4981"/>
                <a:gd name="T4" fmla="*/ 0 w 1742"/>
                <a:gd name="T5" fmla="*/ 3643 h 4981"/>
                <a:gd name="T6" fmla="*/ 23 w 1742"/>
                <a:gd name="T7" fmla="*/ 2945 h 4981"/>
                <a:gd name="T8" fmla="*/ 168 w 1742"/>
                <a:gd name="T9" fmla="*/ 2264 h 4981"/>
                <a:gd name="T10" fmla="*/ 456 w 1742"/>
                <a:gd name="T11" fmla="*/ 1633 h 4981"/>
                <a:gd name="T12" fmla="*/ 830 w 1742"/>
                <a:gd name="T13" fmla="*/ 1045 h 4981"/>
                <a:gd name="T14" fmla="*/ 1263 w 1742"/>
                <a:gd name="T15" fmla="*/ 503 h 4981"/>
                <a:gd name="T16" fmla="*/ 1741 w 1742"/>
                <a:gd name="T17" fmla="*/ 0 h 4981"/>
                <a:gd name="T18" fmla="*/ 1742 w 1742"/>
                <a:gd name="T19" fmla="*/ 0 h 49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42" h="4981">
                  <a:moveTo>
                    <a:pt x="349" y="4981"/>
                  </a:moveTo>
                  <a:lnTo>
                    <a:pt x="115" y="4326"/>
                  </a:lnTo>
                  <a:lnTo>
                    <a:pt x="0" y="3643"/>
                  </a:lnTo>
                  <a:lnTo>
                    <a:pt x="23" y="2945"/>
                  </a:lnTo>
                  <a:lnTo>
                    <a:pt x="168" y="2264"/>
                  </a:lnTo>
                  <a:lnTo>
                    <a:pt x="456" y="1633"/>
                  </a:lnTo>
                  <a:lnTo>
                    <a:pt x="830" y="1045"/>
                  </a:lnTo>
                  <a:lnTo>
                    <a:pt x="1263" y="503"/>
                  </a:lnTo>
                  <a:lnTo>
                    <a:pt x="1741" y="0"/>
                  </a:lnTo>
                  <a:lnTo>
                    <a:pt x="174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21" name="Freeform 61"/>
            <p:cNvSpPr>
              <a:spLocks/>
            </p:cNvSpPr>
            <p:nvPr/>
          </p:nvSpPr>
          <p:spPr bwMode="auto">
            <a:xfrm>
              <a:off x="1311" y="3401"/>
              <a:ext cx="705" cy="496"/>
            </a:xfrm>
            <a:custGeom>
              <a:avLst/>
              <a:gdLst>
                <a:gd name="T0" fmla="*/ 4229 w 4229"/>
                <a:gd name="T1" fmla="*/ 2973 h 2973"/>
                <a:gd name="T2" fmla="*/ 3995 w 4229"/>
                <a:gd name="T3" fmla="*/ 2318 h 2973"/>
                <a:gd name="T4" fmla="*/ 3653 w 4229"/>
                <a:gd name="T5" fmla="*/ 1717 h 2973"/>
                <a:gd name="T6" fmla="*/ 3192 w 4229"/>
                <a:gd name="T7" fmla="*/ 1190 h 2973"/>
                <a:gd name="T8" fmla="*/ 2651 w 4229"/>
                <a:gd name="T9" fmla="*/ 755 h 2973"/>
                <a:gd name="T10" fmla="*/ 2027 w 4229"/>
                <a:gd name="T11" fmla="*/ 449 h 2973"/>
                <a:gd name="T12" fmla="*/ 1367 w 4229"/>
                <a:gd name="T13" fmla="*/ 231 h 2973"/>
                <a:gd name="T14" fmla="*/ 689 w 4229"/>
                <a:gd name="T15" fmla="*/ 86 h 2973"/>
                <a:gd name="T16" fmla="*/ 0 w 4229"/>
                <a:gd name="T17" fmla="*/ 0 h 2973"/>
                <a:gd name="T18" fmla="*/ 1 w 4229"/>
                <a:gd name="T19" fmla="*/ 0 h 2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29" h="2973">
                  <a:moveTo>
                    <a:pt x="4229" y="2973"/>
                  </a:moveTo>
                  <a:lnTo>
                    <a:pt x="3995" y="2318"/>
                  </a:lnTo>
                  <a:lnTo>
                    <a:pt x="3653" y="1717"/>
                  </a:lnTo>
                  <a:lnTo>
                    <a:pt x="3192" y="1190"/>
                  </a:lnTo>
                  <a:lnTo>
                    <a:pt x="2651" y="755"/>
                  </a:lnTo>
                  <a:lnTo>
                    <a:pt x="2027" y="449"/>
                  </a:lnTo>
                  <a:lnTo>
                    <a:pt x="1367" y="231"/>
                  </a:lnTo>
                  <a:lnTo>
                    <a:pt x="689" y="86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22" name="Freeform 62"/>
            <p:cNvSpPr>
              <a:spLocks/>
            </p:cNvSpPr>
            <p:nvPr/>
          </p:nvSpPr>
          <p:spPr bwMode="auto">
            <a:xfrm>
              <a:off x="1079" y="3897"/>
              <a:ext cx="937" cy="335"/>
            </a:xfrm>
            <a:custGeom>
              <a:avLst/>
              <a:gdLst>
                <a:gd name="T0" fmla="*/ 5621 w 5621"/>
                <a:gd name="T1" fmla="*/ 0 h 2008"/>
                <a:gd name="T2" fmla="*/ 0 w 5621"/>
                <a:gd name="T3" fmla="*/ 2008 h 2008"/>
                <a:gd name="T4" fmla="*/ 1 w 5621"/>
                <a:gd name="T5" fmla="*/ 2008 h 2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21" h="2008">
                  <a:moveTo>
                    <a:pt x="5621" y="0"/>
                  </a:moveTo>
                  <a:lnTo>
                    <a:pt x="0" y="2008"/>
                  </a:lnTo>
                  <a:lnTo>
                    <a:pt x="1" y="2008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23" name="Freeform 63"/>
            <p:cNvSpPr>
              <a:spLocks/>
            </p:cNvSpPr>
            <p:nvPr/>
          </p:nvSpPr>
          <p:spPr bwMode="auto">
            <a:xfrm>
              <a:off x="1202" y="3402"/>
              <a:ext cx="118" cy="118"/>
            </a:xfrm>
            <a:custGeom>
              <a:avLst/>
              <a:gdLst>
                <a:gd name="T0" fmla="*/ 0 w 706"/>
                <a:gd name="T1" fmla="*/ 705 h 705"/>
                <a:gd name="T2" fmla="*/ 670 w 706"/>
                <a:gd name="T3" fmla="*/ 34 h 705"/>
                <a:gd name="T4" fmla="*/ 705 w 706"/>
                <a:gd name="T5" fmla="*/ 0 h 705"/>
                <a:gd name="T6" fmla="*/ 706 w 706"/>
                <a:gd name="T7" fmla="*/ 0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6" h="705">
                  <a:moveTo>
                    <a:pt x="0" y="705"/>
                  </a:moveTo>
                  <a:lnTo>
                    <a:pt x="670" y="34"/>
                  </a:lnTo>
                  <a:lnTo>
                    <a:pt x="705" y="0"/>
                  </a:lnTo>
                  <a:lnTo>
                    <a:pt x="70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24" name="Freeform 64"/>
            <p:cNvSpPr>
              <a:spLocks/>
            </p:cNvSpPr>
            <p:nvPr/>
          </p:nvSpPr>
          <p:spPr bwMode="auto">
            <a:xfrm>
              <a:off x="1119" y="3406"/>
              <a:ext cx="231" cy="231"/>
            </a:xfrm>
            <a:custGeom>
              <a:avLst/>
              <a:gdLst>
                <a:gd name="T0" fmla="*/ 0 w 1387"/>
                <a:gd name="T1" fmla="*/ 1387 h 1387"/>
                <a:gd name="T2" fmla="*/ 1222 w 1387"/>
                <a:gd name="T3" fmla="*/ 165 h 1387"/>
                <a:gd name="T4" fmla="*/ 1386 w 1387"/>
                <a:gd name="T5" fmla="*/ 0 h 1387"/>
                <a:gd name="T6" fmla="*/ 1387 w 1387"/>
                <a:gd name="T7" fmla="*/ 0 h 1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7" h="1387">
                  <a:moveTo>
                    <a:pt x="0" y="1387"/>
                  </a:moveTo>
                  <a:lnTo>
                    <a:pt x="1222" y="165"/>
                  </a:lnTo>
                  <a:lnTo>
                    <a:pt x="1386" y="0"/>
                  </a:lnTo>
                  <a:lnTo>
                    <a:pt x="138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25" name="Freeform 65"/>
            <p:cNvSpPr>
              <a:spLocks/>
            </p:cNvSpPr>
            <p:nvPr/>
          </p:nvSpPr>
          <p:spPr bwMode="auto">
            <a:xfrm>
              <a:off x="1076" y="3409"/>
              <a:ext cx="304" cy="305"/>
            </a:xfrm>
            <a:custGeom>
              <a:avLst/>
              <a:gdLst>
                <a:gd name="T0" fmla="*/ 0 w 1828"/>
                <a:gd name="T1" fmla="*/ 1828 h 1828"/>
                <a:gd name="T2" fmla="*/ 1535 w 1828"/>
                <a:gd name="T3" fmla="*/ 292 h 1828"/>
                <a:gd name="T4" fmla="*/ 1827 w 1828"/>
                <a:gd name="T5" fmla="*/ 0 h 1828"/>
                <a:gd name="T6" fmla="*/ 1828 w 1828"/>
                <a:gd name="T7" fmla="*/ 0 h 1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28" h="1828">
                  <a:moveTo>
                    <a:pt x="0" y="1828"/>
                  </a:moveTo>
                  <a:lnTo>
                    <a:pt x="1535" y="292"/>
                  </a:lnTo>
                  <a:lnTo>
                    <a:pt x="1827" y="0"/>
                  </a:lnTo>
                  <a:lnTo>
                    <a:pt x="182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26" name="Freeform 66"/>
            <p:cNvSpPr>
              <a:spLocks/>
            </p:cNvSpPr>
            <p:nvPr/>
          </p:nvSpPr>
          <p:spPr bwMode="auto">
            <a:xfrm>
              <a:off x="1051" y="3413"/>
              <a:ext cx="359" cy="359"/>
            </a:xfrm>
            <a:custGeom>
              <a:avLst/>
              <a:gdLst>
                <a:gd name="T0" fmla="*/ 0 w 2153"/>
                <a:gd name="T1" fmla="*/ 2154 h 2154"/>
                <a:gd name="T2" fmla="*/ 1734 w 2153"/>
                <a:gd name="T3" fmla="*/ 417 h 2154"/>
                <a:gd name="T4" fmla="*/ 2152 w 2153"/>
                <a:gd name="T5" fmla="*/ 0 h 2154"/>
                <a:gd name="T6" fmla="*/ 2153 w 2153"/>
                <a:gd name="T7" fmla="*/ 0 h 2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53" h="2154">
                  <a:moveTo>
                    <a:pt x="0" y="2154"/>
                  </a:moveTo>
                  <a:lnTo>
                    <a:pt x="1734" y="417"/>
                  </a:lnTo>
                  <a:lnTo>
                    <a:pt x="2152" y="0"/>
                  </a:lnTo>
                  <a:lnTo>
                    <a:pt x="215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27" name="Freeform 67"/>
            <p:cNvSpPr>
              <a:spLocks/>
            </p:cNvSpPr>
            <p:nvPr/>
          </p:nvSpPr>
          <p:spPr bwMode="auto">
            <a:xfrm>
              <a:off x="1037" y="3418"/>
              <a:ext cx="402" cy="402"/>
            </a:xfrm>
            <a:custGeom>
              <a:avLst/>
              <a:gdLst>
                <a:gd name="T0" fmla="*/ 0 w 2412"/>
                <a:gd name="T1" fmla="*/ 2413 h 2413"/>
                <a:gd name="T2" fmla="*/ 1871 w 2412"/>
                <a:gd name="T3" fmla="*/ 541 h 2413"/>
                <a:gd name="T4" fmla="*/ 2411 w 2412"/>
                <a:gd name="T5" fmla="*/ 0 h 2413"/>
                <a:gd name="T6" fmla="*/ 2412 w 2412"/>
                <a:gd name="T7" fmla="*/ 0 h 2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12" h="2413">
                  <a:moveTo>
                    <a:pt x="0" y="2413"/>
                  </a:moveTo>
                  <a:lnTo>
                    <a:pt x="1871" y="541"/>
                  </a:lnTo>
                  <a:lnTo>
                    <a:pt x="2411" y="0"/>
                  </a:lnTo>
                  <a:lnTo>
                    <a:pt x="241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28" name="Freeform 68"/>
            <p:cNvSpPr>
              <a:spLocks/>
            </p:cNvSpPr>
            <p:nvPr/>
          </p:nvSpPr>
          <p:spPr bwMode="auto">
            <a:xfrm>
              <a:off x="1029" y="3423"/>
              <a:ext cx="439" cy="439"/>
            </a:xfrm>
            <a:custGeom>
              <a:avLst/>
              <a:gdLst>
                <a:gd name="T0" fmla="*/ 0 w 2634"/>
                <a:gd name="T1" fmla="*/ 2636 h 2636"/>
                <a:gd name="T2" fmla="*/ 1975 w 2634"/>
                <a:gd name="T3" fmla="*/ 658 h 2636"/>
                <a:gd name="T4" fmla="*/ 2633 w 2634"/>
                <a:gd name="T5" fmla="*/ 0 h 2636"/>
                <a:gd name="T6" fmla="*/ 2634 w 2634"/>
                <a:gd name="T7" fmla="*/ 0 h 2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34" h="2636">
                  <a:moveTo>
                    <a:pt x="0" y="2636"/>
                  </a:moveTo>
                  <a:lnTo>
                    <a:pt x="1975" y="658"/>
                  </a:lnTo>
                  <a:lnTo>
                    <a:pt x="2633" y="0"/>
                  </a:lnTo>
                  <a:lnTo>
                    <a:pt x="263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29" name="Freeform 69"/>
            <p:cNvSpPr>
              <a:spLocks/>
            </p:cNvSpPr>
            <p:nvPr/>
          </p:nvSpPr>
          <p:spPr bwMode="auto">
            <a:xfrm>
              <a:off x="1024" y="3429"/>
              <a:ext cx="472" cy="472"/>
            </a:xfrm>
            <a:custGeom>
              <a:avLst/>
              <a:gdLst>
                <a:gd name="T0" fmla="*/ 0 w 2832"/>
                <a:gd name="T1" fmla="*/ 2833 h 2833"/>
                <a:gd name="T2" fmla="*/ 2060 w 2832"/>
                <a:gd name="T3" fmla="*/ 772 h 2833"/>
                <a:gd name="T4" fmla="*/ 2831 w 2832"/>
                <a:gd name="T5" fmla="*/ 0 h 2833"/>
                <a:gd name="T6" fmla="*/ 2832 w 2832"/>
                <a:gd name="T7" fmla="*/ 0 h 2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32" h="2833">
                  <a:moveTo>
                    <a:pt x="0" y="2833"/>
                  </a:moveTo>
                  <a:lnTo>
                    <a:pt x="2060" y="772"/>
                  </a:lnTo>
                  <a:lnTo>
                    <a:pt x="2831" y="0"/>
                  </a:lnTo>
                  <a:lnTo>
                    <a:pt x="283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30" name="Freeform 70"/>
            <p:cNvSpPr>
              <a:spLocks/>
            </p:cNvSpPr>
            <p:nvPr/>
          </p:nvSpPr>
          <p:spPr bwMode="auto">
            <a:xfrm>
              <a:off x="1021" y="3436"/>
              <a:ext cx="502" cy="502"/>
            </a:xfrm>
            <a:custGeom>
              <a:avLst/>
              <a:gdLst>
                <a:gd name="T0" fmla="*/ 0 w 3012"/>
                <a:gd name="T1" fmla="*/ 3015 h 3015"/>
                <a:gd name="T2" fmla="*/ 2130 w 3012"/>
                <a:gd name="T3" fmla="*/ 882 h 3015"/>
                <a:gd name="T4" fmla="*/ 3011 w 3012"/>
                <a:gd name="T5" fmla="*/ 0 h 3015"/>
                <a:gd name="T6" fmla="*/ 3012 w 3012"/>
                <a:gd name="T7" fmla="*/ 0 h 3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12" h="3015">
                  <a:moveTo>
                    <a:pt x="0" y="3015"/>
                  </a:moveTo>
                  <a:lnTo>
                    <a:pt x="2130" y="882"/>
                  </a:lnTo>
                  <a:lnTo>
                    <a:pt x="3011" y="0"/>
                  </a:lnTo>
                  <a:lnTo>
                    <a:pt x="301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31" name="Freeform 71"/>
            <p:cNvSpPr>
              <a:spLocks/>
            </p:cNvSpPr>
            <p:nvPr/>
          </p:nvSpPr>
          <p:spPr bwMode="auto">
            <a:xfrm>
              <a:off x="1020" y="3443"/>
              <a:ext cx="530" cy="530"/>
            </a:xfrm>
            <a:custGeom>
              <a:avLst/>
              <a:gdLst>
                <a:gd name="T0" fmla="*/ 0 w 3179"/>
                <a:gd name="T1" fmla="*/ 3180 h 3180"/>
                <a:gd name="T2" fmla="*/ 2189 w 3179"/>
                <a:gd name="T3" fmla="*/ 990 h 3180"/>
                <a:gd name="T4" fmla="*/ 3178 w 3179"/>
                <a:gd name="T5" fmla="*/ 0 h 3180"/>
                <a:gd name="T6" fmla="*/ 3179 w 3179"/>
                <a:gd name="T7" fmla="*/ 0 h 3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79" h="3180">
                  <a:moveTo>
                    <a:pt x="0" y="3180"/>
                  </a:moveTo>
                  <a:lnTo>
                    <a:pt x="2189" y="990"/>
                  </a:lnTo>
                  <a:lnTo>
                    <a:pt x="3178" y="0"/>
                  </a:lnTo>
                  <a:lnTo>
                    <a:pt x="317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32" name="Freeform 72"/>
            <p:cNvSpPr>
              <a:spLocks/>
            </p:cNvSpPr>
            <p:nvPr/>
          </p:nvSpPr>
          <p:spPr bwMode="auto">
            <a:xfrm>
              <a:off x="1021" y="3451"/>
              <a:ext cx="555" cy="555"/>
            </a:xfrm>
            <a:custGeom>
              <a:avLst/>
              <a:gdLst>
                <a:gd name="T0" fmla="*/ 0 w 3330"/>
                <a:gd name="T1" fmla="*/ 3332 h 3332"/>
                <a:gd name="T2" fmla="*/ 2237 w 3330"/>
                <a:gd name="T3" fmla="*/ 1092 h 3332"/>
                <a:gd name="T4" fmla="*/ 3329 w 3330"/>
                <a:gd name="T5" fmla="*/ 0 h 3332"/>
                <a:gd name="T6" fmla="*/ 3330 w 3330"/>
                <a:gd name="T7" fmla="*/ 0 h 3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30" h="3332">
                  <a:moveTo>
                    <a:pt x="0" y="3332"/>
                  </a:moveTo>
                  <a:lnTo>
                    <a:pt x="2237" y="1092"/>
                  </a:lnTo>
                  <a:lnTo>
                    <a:pt x="3329" y="0"/>
                  </a:lnTo>
                  <a:lnTo>
                    <a:pt x="333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33" name="Freeform 73"/>
            <p:cNvSpPr>
              <a:spLocks/>
            </p:cNvSpPr>
            <p:nvPr/>
          </p:nvSpPr>
          <p:spPr bwMode="auto">
            <a:xfrm>
              <a:off x="1023" y="3459"/>
              <a:ext cx="578" cy="578"/>
            </a:xfrm>
            <a:custGeom>
              <a:avLst/>
              <a:gdLst>
                <a:gd name="T0" fmla="*/ 0 w 3468"/>
                <a:gd name="T1" fmla="*/ 3470 h 3470"/>
                <a:gd name="T2" fmla="*/ 2275 w 3468"/>
                <a:gd name="T3" fmla="*/ 1192 h 3470"/>
                <a:gd name="T4" fmla="*/ 3466 w 3468"/>
                <a:gd name="T5" fmla="*/ 0 h 3470"/>
                <a:gd name="T6" fmla="*/ 3468 w 3468"/>
                <a:gd name="T7" fmla="*/ 0 h 3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68" h="3470">
                  <a:moveTo>
                    <a:pt x="0" y="3470"/>
                  </a:moveTo>
                  <a:lnTo>
                    <a:pt x="2275" y="1192"/>
                  </a:lnTo>
                  <a:lnTo>
                    <a:pt x="3466" y="0"/>
                  </a:lnTo>
                  <a:lnTo>
                    <a:pt x="346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34" name="Freeform 74"/>
            <p:cNvSpPr>
              <a:spLocks/>
            </p:cNvSpPr>
            <p:nvPr/>
          </p:nvSpPr>
          <p:spPr bwMode="auto">
            <a:xfrm>
              <a:off x="1027" y="3468"/>
              <a:ext cx="599" cy="599"/>
            </a:xfrm>
            <a:custGeom>
              <a:avLst/>
              <a:gdLst>
                <a:gd name="T0" fmla="*/ 0 w 3594"/>
                <a:gd name="T1" fmla="*/ 3597 h 3597"/>
                <a:gd name="T2" fmla="*/ 2305 w 3594"/>
                <a:gd name="T3" fmla="*/ 1290 h 3597"/>
                <a:gd name="T4" fmla="*/ 3593 w 3594"/>
                <a:gd name="T5" fmla="*/ 0 h 3597"/>
                <a:gd name="T6" fmla="*/ 3594 w 3594"/>
                <a:gd name="T7" fmla="*/ 0 h 3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4" h="3597">
                  <a:moveTo>
                    <a:pt x="0" y="3597"/>
                  </a:moveTo>
                  <a:lnTo>
                    <a:pt x="2305" y="1290"/>
                  </a:lnTo>
                  <a:lnTo>
                    <a:pt x="3593" y="0"/>
                  </a:lnTo>
                  <a:lnTo>
                    <a:pt x="359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35" name="Freeform 75"/>
            <p:cNvSpPr>
              <a:spLocks/>
            </p:cNvSpPr>
            <p:nvPr/>
          </p:nvSpPr>
          <p:spPr bwMode="auto">
            <a:xfrm>
              <a:off x="1033" y="3477"/>
              <a:ext cx="618" cy="619"/>
            </a:xfrm>
            <a:custGeom>
              <a:avLst/>
              <a:gdLst>
                <a:gd name="T0" fmla="*/ 0 w 3708"/>
                <a:gd name="T1" fmla="*/ 3711 h 3711"/>
                <a:gd name="T2" fmla="*/ 2325 w 3708"/>
                <a:gd name="T3" fmla="*/ 1384 h 3711"/>
                <a:gd name="T4" fmla="*/ 3707 w 3708"/>
                <a:gd name="T5" fmla="*/ 0 h 3711"/>
                <a:gd name="T6" fmla="*/ 3708 w 3708"/>
                <a:gd name="T7" fmla="*/ 0 h 3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08" h="3711">
                  <a:moveTo>
                    <a:pt x="0" y="3711"/>
                  </a:moveTo>
                  <a:lnTo>
                    <a:pt x="2325" y="1384"/>
                  </a:lnTo>
                  <a:lnTo>
                    <a:pt x="3707" y="0"/>
                  </a:lnTo>
                  <a:lnTo>
                    <a:pt x="370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36" name="Freeform 76"/>
            <p:cNvSpPr>
              <a:spLocks/>
            </p:cNvSpPr>
            <p:nvPr/>
          </p:nvSpPr>
          <p:spPr bwMode="auto">
            <a:xfrm>
              <a:off x="1040" y="3487"/>
              <a:ext cx="635" cy="635"/>
            </a:xfrm>
            <a:custGeom>
              <a:avLst/>
              <a:gdLst>
                <a:gd name="T0" fmla="*/ 0 w 3809"/>
                <a:gd name="T1" fmla="*/ 3812 h 3812"/>
                <a:gd name="T2" fmla="*/ 2335 w 3809"/>
                <a:gd name="T3" fmla="*/ 1475 h 3812"/>
                <a:gd name="T4" fmla="*/ 3808 w 3809"/>
                <a:gd name="T5" fmla="*/ 0 h 3812"/>
                <a:gd name="T6" fmla="*/ 3809 w 3809"/>
                <a:gd name="T7" fmla="*/ 0 h 3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09" h="3812">
                  <a:moveTo>
                    <a:pt x="0" y="3812"/>
                  </a:moveTo>
                  <a:lnTo>
                    <a:pt x="2335" y="1475"/>
                  </a:lnTo>
                  <a:lnTo>
                    <a:pt x="3808" y="0"/>
                  </a:lnTo>
                  <a:lnTo>
                    <a:pt x="380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37" name="Freeform 77"/>
            <p:cNvSpPr>
              <a:spLocks/>
            </p:cNvSpPr>
            <p:nvPr/>
          </p:nvSpPr>
          <p:spPr bwMode="auto">
            <a:xfrm>
              <a:off x="1048" y="3497"/>
              <a:ext cx="651" cy="651"/>
            </a:xfrm>
            <a:custGeom>
              <a:avLst/>
              <a:gdLst>
                <a:gd name="T0" fmla="*/ 0 w 3903"/>
                <a:gd name="T1" fmla="*/ 3904 h 3904"/>
                <a:gd name="T2" fmla="*/ 2341 w 3903"/>
                <a:gd name="T3" fmla="*/ 1562 h 3904"/>
                <a:gd name="T4" fmla="*/ 3902 w 3903"/>
                <a:gd name="T5" fmla="*/ 0 h 3904"/>
                <a:gd name="T6" fmla="*/ 3903 w 3903"/>
                <a:gd name="T7" fmla="*/ 0 h 3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03" h="3904">
                  <a:moveTo>
                    <a:pt x="0" y="3904"/>
                  </a:moveTo>
                  <a:lnTo>
                    <a:pt x="2341" y="1562"/>
                  </a:lnTo>
                  <a:lnTo>
                    <a:pt x="3902" y="0"/>
                  </a:lnTo>
                  <a:lnTo>
                    <a:pt x="390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38" name="Freeform 78"/>
            <p:cNvSpPr>
              <a:spLocks/>
            </p:cNvSpPr>
            <p:nvPr/>
          </p:nvSpPr>
          <p:spPr bwMode="auto">
            <a:xfrm>
              <a:off x="1057" y="3509"/>
              <a:ext cx="664" cy="664"/>
            </a:xfrm>
            <a:custGeom>
              <a:avLst/>
              <a:gdLst>
                <a:gd name="T0" fmla="*/ 0 w 3985"/>
                <a:gd name="T1" fmla="*/ 3988 h 3988"/>
                <a:gd name="T2" fmla="*/ 2341 w 3985"/>
                <a:gd name="T3" fmla="*/ 1644 h 3988"/>
                <a:gd name="T4" fmla="*/ 3984 w 3985"/>
                <a:gd name="T5" fmla="*/ 0 h 3988"/>
                <a:gd name="T6" fmla="*/ 3985 w 3985"/>
                <a:gd name="T7" fmla="*/ 0 h 39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85" h="3988">
                  <a:moveTo>
                    <a:pt x="0" y="3988"/>
                  </a:moveTo>
                  <a:lnTo>
                    <a:pt x="2341" y="1644"/>
                  </a:lnTo>
                  <a:lnTo>
                    <a:pt x="3984" y="0"/>
                  </a:lnTo>
                  <a:lnTo>
                    <a:pt x="398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39" name="Freeform 79"/>
            <p:cNvSpPr>
              <a:spLocks/>
            </p:cNvSpPr>
            <p:nvPr/>
          </p:nvSpPr>
          <p:spPr bwMode="auto">
            <a:xfrm>
              <a:off x="1066" y="3521"/>
              <a:ext cx="677" cy="677"/>
            </a:xfrm>
            <a:custGeom>
              <a:avLst/>
              <a:gdLst>
                <a:gd name="T0" fmla="*/ 0 w 4060"/>
                <a:gd name="T1" fmla="*/ 4062 h 4062"/>
                <a:gd name="T2" fmla="*/ 2340 w 4060"/>
                <a:gd name="T3" fmla="*/ 1720 h 4062"/>
                <a:gd name="T4" fmla="*/ 4059 w 4060"/>
                <a:gd name="T5" fmla="*/ 0 h 4062"/>
                <a:gd name="T6" fmla="*/ 4060 w 4060"/>
                <a:gd name="T7" fmla="*/ 0 h 4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60" h="4062">
                  <a:moveTo>
                    <a:pt x="0" y="4062"/>
                  </a:moveTo>
                  <a:lnTo>
                    <a:pt x="2340" y="1720"/>
                  </a:lnTo>
                  <a:lnTo>
                    <a:pt x="4059" y="0"/>
                  </a:lnTo>
                  <a:lnTo>
                    <a:pt x="406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40" name="Freeform 80"/>
            <p:cNvSpPr>
              <a:spLocks/>
            </p:cNvSpPr>
            <p:nvPr/>
          </p:nvSpPr>
          <p:spPr bwMode="auto">
            <a:xfrm>
              <a:off x="1076" y="3534"/>
              <a:ext cx="687" cy="688"/>
            </a:xfrm>
            <a:custGeom>
              <a:avLst/>
              <a:gdLst>
                <a:gd name="T0" fmla="*/ 0 w 4127"/>
                <a:gd name="T1" fmla="*/ 4129 h 4129"/>
                <a:gd name="T2" fmla="*/ 2337 w 4127"/>
                <a:gd name="T3" fmla="*/ 1791 h 4129"/>
                <a:gd name="T4" fmla="*/ 4126 w 4127"/>
                <a:gd name="T5" fmla="*/ 0 h 4129"/>
                <a:gd name="T6" fmla="*/ 4127 w 4127"/>
                <a:gd name="T7" fmla="*/ 0 h 4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27" h="4129">
                  <a:moveTo>
                    <a:pt x="0" y="4129"/>
                  </a:moveTo>
                  <a:lnTo>
                    <a:pt x="2337" y="1791"/>
                  </a:lnTo>
                  <a:lnTo>
                    <a:pt x="4126" y="0"/>
                  </a:lnTo>
                  <a:lnTo>
                    <a:pt x="412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41" name="Freeform 81"/>
            <p:cNvSpPr>
              <a:spLocks/>
            </p:cNvSpPr>
            <p:nvPr/>
          </p:nvSpPr>
          <p:spPr bwMode="auto">
            <a:xfrm>
              <a:off x="1113" y="3548"/>
              <a:ext cx="670" cy="671"/>
            </a:xfrm>
            <a:custGeom>
              <a:avLst/>
              <a:gdLst>
                <a:gd name="T0" fmla="*/ 0 w 4024"/>
                <a:gd name="T1" fmla="*/ 4025 h 4025"/>
                <a:gd name="T2" fmla="*/ 2168 w 4024"/>
                <a:gd name="T3" fmla="*/ 1856 h 4025"/>
                <a:gd name="T4" fmla="*/ 4023 w 4024"/>
                <a:gd name="T5" fmla="*/ 0 h 4025"/>
                <a:gd name="T6" fmla="*/ 4024 w 4024"/>
                <a:gd name="T7" fmla="*/ 0 h 4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24" h="4025">
                  <a:moveTo>
                    <a:pt x="0" y="4025"/>
                  </a:moveTo>
                  <a:lnTo>
                    <a:pt x="2168" y="1856"/>
                  </a:lnTo>
                  <a:lnTo>
                    <a:pt x="4023" y="0"/>
                  </a:lnTo>
                  <a:lnTo>
                    <a:pt x="402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42" name="Freeform 82"/>
            <p:cNvSpPr>
              <a:spLocks/>
            </p:cNvSpPr>
            <p:nvPr/>
          </p:nvSpPr>
          <p:spPr bwMode="auto">
            <a:xfrm>
              <a:off x="1167" y="3563"/>
              <a:ext cx="635" cy="636"/>
            </a:xfrm>
            <a:custGeom>
              <a:avLst/>
              <a:gdLst>
                <a:gd name="T0" fmla="*/ 0 w 3811"/>
                <a:gd name="T1" fmla="*/ 3814 h 3814"/>
                <a:gd name="T2" fmla="*/ 1894 w 3811"/>
                <a:gd name="T3" fmla="*/ 1917 h 3814"/>
                <a:gd name="T4" fmla="*/ 3810 w 3811"/>
                <a:gd name="T5" fmla="*/ 0 h 3814"/>
                <a:gd name="T6" fmla="*/ 3811 w 3811"/>
                <a:gd name="T7" fmla="*/ 0 h 3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11" h="3814">
                  <a:moveTo>
                    <a:pt x="0" y="3814"/>
                  </a:moveTo>
                  <a:lnTo>
                    <a:pt x="1894" y="1917"/>
                  </a:lnTo>
                  <a:lnTo>
                    <a:pt x="3810" y="0"/>
                  </a:lnTo>
                  <a:lnTo>
                    <a:pt x="381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43" name="Freeform 83"/>
            <p:cNvSpPr>
              <a:spLocks/>
            </p:cNvSpPr>
            <p:nvPr/>
          </p:nvSpPr>
          <p:spPr bwMode="auto">
            <a:xfrm>
              <a:off x="1221" y="3579"/>
              <a:ext cx="600" cy="599"/>
            </a:xfrm>
            <a:custGeom>
              <a:avLst/>
              <a:gdLst>
                <a:gd name="T0" fmla="*/ 0 w 3595"/>
                <a:gd name="T1" fmla="*/ 3598 h 3598"/>
                <a:gd name="T2" fmla="*/ 1622 w 3595"/>
                <a:gd name="T3" fmla="*/ 1974 h 3598"/>
                <a:gd name="T4" fmla="*/ 3594 w 3595"/>
                <a:gd name="T5" fmla="*/ 0 h 3598"/>
                <a:gd name="T6" fmla="*/ 3595 w 3595"/>
                <a:gd name="T7" fmla="*/ 0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5" h="3598">
                  <a:moveTo>
                    <a:pt x="0" y="3598"/>
                  </a:moveTo>
                  <a:lnTo>
                    <a:pt x="1622" y="1974"/>
                  </a:lnTo>
                  <a:lnTo>
                    <a:pt x="3594" y="0"/>
                  </a:lnTo>
                  <a:lnTo>
                    <a:pt x="359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44" name="Freeform 84"/>
            <p:cNvSpPr>
              <a:spLocks/>
            </p:cNvSpPr>
            <p:nvPr/>
          </p:nvSpPr>
          <p:spPr bwMode="auto">
            <a:xfrm>
              <a:off x="1276" y="3595"/>
              <a:ext cx="562" cy="563"/>
            </a:xfrm>
            <a:custGeom>
              <a:avLst/>
              <a:gdLst>
                <a:gd name="T0" fmla="*/ 0 w 3377"/>
                <a:gd name="T1" fmla="*/ 3378 h 3378"/>
                <a:gd name="T2" fmla="*/ 1350 w 3377"/>
                <a:gd name="T3" fmla="*/ 2026 h 3378"/>
                <a:gd name="T4" fmla="*/ 3376 w 3377"/>
                <a:gd name="T5" fmla="*/ 0 h 3378"/>
                <a:gd name="T6" fmla="*/ 3377 w 3377"/>
                <a:gd name="T7" fmla="*/ 0 h 3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77" h="3378">
                  <a:moveTo>
                    <a:pt x="0" y="3378"/>
                  </a:moveTo>
                  <a:lnTo>
                    <a:pt x="1350" y="2026"/>
                  </a:lnTo>
                  <a:lnTo>
                    <a:pt x="3376" y="0"/>
                  </a:lnTo>
                  <a:lnTo>
                    <a:pt x="337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45" name="Freeform 85"/>
            <p:cNvSpPr>
              <a:spLocks/>
            </p:cNvSpPr>
            <p:nvPr/>
          </p:nvSpPr>
          <p:spPr bwMode="auto">
            <a:xfrm>
              <a:off x="1330" y="3612"/>
              <a:ext cx="525" cy="525"/>
            </a:xfrm>
            <a:custGeom>
              <a:avLst/>
              <a:gdLst>
                <a:gd name="T0" fmla="*/ 0 w 3152"/>
                <a:gd name="T1" fmla="*/ 3154 h 3154"/>
                <a:gd name="T2" fmla="*/ 1077 w 3152"/>
                <a:gd name="T3" fmla="*/ 2075 h 3154"/>
                <a:gd name="T4" fmla="*/ 3151 w 3152"/>
                <a:gd name="T5" fmla="*/ 0 h 3154"/>
                <a:gd name="T6" fmla="*/ 3152 w 3152"/>
                <a:gd name="T7" fmla="*/ 0 h 3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52" h="3154">
                  <a:moveTo>
                    <a:pt x="0" y="3154"/>
                  </a:moveTo>
                  <a:lnTo>
                    <a:pt x="1077" y="2075"/>
                  </a:lnTo>
                  <a:lnTo>
                    <a:pt x="3151" y="0"/>
                  </a:lnTo>
                  <a:lnTo>
                    <a:pt x="315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46" name="Freeform 86"/>
            <p:cNvSpPr>
              <a:spLocks/>
            </p:cNvSpPr>
            <p:nvPr/>
          </p:nvSpPr>
          <p:spPr bwMode="auto">
            <a:xfrm>
              <a:off x="1384" y="3629"/>
              <a:ext cx="488" cy="488"/>
            </a:xfrm>
            <a:custGeom>
              <a:avLst/>
              <a:gdLst>
                <a:gd name="T0" fmla="*/ 0 w 2926"/>
                <a:gd name="T1" fmla="*/ 2928 h 2928"/>
                <a:gd name="T2" fmla="*/ 805 w 2926"/>
                <a:gd name="T3" fmla="*/ 2122 h 2928"/>
                <a:gd name="T4" fmla="*/ 2925 w 2926"/>
                <a:gd name="T5" fmla="*/ 0 h 2928"/>
                <a:gd name="T6" fmla="*/ 2926 w 2926"/>
                <a:gd name="T7" fmla="*/ 0 h 2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6" h="2928">
                  <a:moveTo>
                    <a:pt x="0" y="2928"/>
                  </a:moveTo>
                  <a:lnTo>
                    <a:pt x="805" y="2122"/>
                  </a:lnTo>
                  <a:lnTo>
                    <a:pt x="2925" y="0"/>
                  </a:lnTo>
                  <a:lnTo>
                    <a:pt x="292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47" name="Freeform 87"/>
            <p:cNvSpPr>
              <a:spLocks/>
            </p:cNvSpPr>
            <p:nvPr/>
          </p:nvSpPr>
          <p:spPr bwMode="auto">
            <a:xfrm>
              <a:off x="1439" y="3647"/>
              <a:ext cx="449" cy="449"/>
            </a:xfrm>
            <a:custGeom>
              <a:avLst/>
              <a:gdLst>
                <a:gd name="T0" fmla="*/ 0 w 2694"/>
                <a:gd name="T1" fmla="*/ 2697 h 2697"/>
                <a:gd name="T2" fmla="*/ 532 w 2694"/>
                <a:gd name="T3" fmla="*/ 2164 h 2697"/>
                <a:gd name="T4" fmla="*/ 2693 w 2694"/>
                <a:gd name="T5" fmla="*/ 0 h 2697"/>
                <a:gd name="T6" fmla="*/ 2694 w 2694"/>
                <a:gd name="T7" fmla="*/ 0 h 2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4" h="2697">
                  <a:moveTo>
                    <a:pt x="0" y="2697"/>
                  </a:moveTo>
                  <a:lnTo>
                    <a:pt x="532" y="2164"/>
                  </a:lnTo>
                  <a:lnTo>
                    <a:pt x="2693" y="0"/>
                  </a:lnTo>
                  <a:lnTo>
                    <a:pt x="269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48" name="Freeform 88"/>
            <p:cNvSpPr>
              <a:spLocks/>
            </p:cNvSpPr>
            <p:nvPr/>
          </p:nvSpPr>
          <p:spPr bwMode="auto">
            <a:xfrm>
              <a:off x="1493" y="3665"/>
              <a:ext cx="410" cy="411"/>
            </a:xfrm>
            <a:custGeom>
              <a:avLst/>
              <a:gdLst>
                <a:gd name="T0" fmla="*/ 0 w 2462"/>
                <a:gd name="T1" fmla="*/ 2463 h 2463"/>
                <a:gd name="T2" fmla="*/ 260 w 2462"/>
                <a:gd name="T3" fmla="*/ 2203 h 2463"/>
                <a:gd name="T4" fmla="*/ 2461 w 2462"/>
                <a:gd name="T5" fmla="*/ 0 h 2463"/>
                <a:gd name="T6" fmla="*/ 2462 w 2462"/>
                <a:gd name="T7" fmla="*/ 0 h 2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62" h="2463">
                  <a:moveTo>
                    <a:pt x="0" y="2463"/>
                  </a:moveTo>
                  <a:lnTo>
                    <a:pt x="260" y="2203"/>
                  </a:lnTo>
                  <a:lnTo>
                    <a:pt x="2461" y="0"/>
                  </a:lnTo>
                  <a:lnTo>
                    <a:pt x="246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49" name="Freeform 89"/>
            <p:cNvSpPr>
              <a:spLocks/>
            </p:cNvSpPr>
            <p:nvPr/>
          </p:nvSpPr>
          <p:spPr bwMode="auto">
            <a:xfrm>
              <a:off x="1547" y="3684"/>
              <a:ext cx="371" cy="371"/>
            </a:xfrm>
            <a:custGeom>
              <a:avLst/>
              <a:gdLst>
                <a:gd name="T0" fmla="*/ 0 w 2225"/>
                <a:gd name="T1" fmla="*/ 2224 h 2224"/>
                <a:gd name="T2" fmla="*/ 2224 w 2225"/>
                <a:gd name="T3" fmla="*/ 0 h 2224"/>
                <a:gd name="T4" fmla="*/ 2225 w 2225"/>
                <a:gd name="T5" fmla="*/ 0 h 2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25" h="2224">
                  <a:moveTo>
                    <a:pt x="0" y="2224"/>
                  </a:moveTo>
                  <a:lnTo>
                    <a:pt x="2224" y="0"/>
                  </a:lnTo>
                  <a:lnTo>
                    <a:pt x="222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50" name="Freeform 90"/>
            <p:cNvSpPr>
              <a:spLocks/>
            </p:cNvSpPr>
            <p:nvPr/>
          </p:nvSpPr>
          <p:spPr bwMode="auto">
            <a:xfrm>
              <a:off x="1602" y="3704"/>
              <a:ext cx="330" cy="331"/>
            </a:xfrm>
            <a:custGeom>
              <a:avLst/>
              <a:gdLst>
                <a:gd name="T0" fmla="*/ 0 w 1981"/>
                <a:gd name="T1" fmla="*/ 1982 h 1982"/>
                <a:gd name="T2" fmla="*/ 1980 w 1981"/>
                <a:gd name="T3" fmla="*/ 0 h 1982"/>
                <a:gd name="T4" fmla="*/ 1981 w 1981"/>
                <a:gd name="T5" fmla="*/ 0 h 1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1" h="1982">
                  <a:moveTo>
                    <a:pt x="0" y="1982"/>
                  </a:moveTo>
                  <a:lnTo>
                    <a:pt x="1980" y="0"/>
                  </a:lnTo>
                  <a:lnTo>
                    <a:pt x="198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51" name="Freeform 91"/>
            <p:cNvSpPr>
              <a:spLocks/>
            </p:cNvSpPr>
            <p:nvPr/>
          </p:nvSpPr>
          <p:spPr bwMode="auto">
            <a:xfrm>
              <a:off x="1656" y="3725"/>
              <a:ext cx="289" cy="289"/>
            </a:xfrm>
            <a:custGeom>
              <a:avLst/>
              <a:gdLst>
                <a:gd name="T0" fmla="*/ 0 w 1735"/>
                <a:gd name="T1" fmla="*/ 1736 h 1736"/>
                <a:gd name="T2" fmla="*/ 1734 w 1735"/>
                <a:gd name="T3" fmla="*/ 0 h 1736"/>
                <a:gd name="T4" fmla="*/ 1735 w 1735"/>
                <a:gd name="T5" fmla="*/ 0 h 1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5" h="1736">
                  <a:moveTo>
                    <a:pt x="0" y="1736"/>
                  </a:moveTo>
                  <a:lnTo>
                    <a:pt x="1734" y="0"/>
                  </a:lnTo>
                  <a:lnTo>
                    <a:pt x="173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52" name="Freeform 92"/>
            <p:cNvSpPr>
              <a:spLocks/>
            </p:cNvSpPr>
            <p:nvPr/>
          </p:nvSpPr>
          <p:spPr bwMode="auto">
            <a:xfrm>
              <a:off x="1710" y="3747"/>
              <a:ext cx="248" cy="247"/>
            </a:xfrm>
            <a:custGeom>
              <a:avLst/>
              <a:gdLst>
                <a:gd name="T0" fmla="*/ 0 w 1484"/>
                <a:gd name="T1" fmla="*/ 1484 h 1484"/>
                <a:gd name="T2" fmla="*/ 1483 w 1484"/>
                <a:gd name="T3" fmla="*/ 0 h 1484"/>
                <a:gd name="T4" fmla="*/ 1484 w 1484"/>
                <a:gd name="T5" fmla="*/ 0 h 1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4" h="1484">
                  <a:moveTo>
                    <a:pt x="0" y="1484"/>
                  </a:moveTo>
                  <a:lnTo>
                    <a:pt x="1483" y="0"/>
                  </a:lnTo>
                  <a:lnTo>
                    <a:pt x="148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53" name="Freeform 93"/>
            <p:cNvSpPr>
              <a:spLocks/>
            </p:cNvSpPr>
            <p:nvPr/>
          </p:nvSpPr>
          <p:spPr bwMode="auto">
            <a:xfrm>
              <a:off x="1764" y="3769"/>
              <a:ext cx="205" cy="204"/>
            </a:xfrm>
            <a:custGeom>
              <a:avLst/>
              <a:gdLst>
                <a:gd name="T0" fmla="*/ 0 w 1225"/>
                <a:gd name="T1" fmla="*/ 1226 h 1226"/>
                <a:gd name="T2" fmla="*/ 1224 w 1225"/>
                <a:gd name="T3" fmla="*/ 0 h 1226"/>
                <a:gd name="T4" fmla="*/ 1225 w 1225"/>
                <a:gd name="T5" fmla="*/ 0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25" h="1226">
                  <a:moveTo>
                    <a:pt x="0" y="1226"/>
                  </a:moveTo>
                  <a:lnTo>
                    <a:pt x="1224" y="0"/>
                  </a:lnTo>
                  <a:lnTo>
                    <a:pt x="122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54" name="Freeform 94"/>
            <p:cNvSpPr>
              <a:spLocks/>
            </p:cNvSpPr>
            <p:nvPr/>
          </p:nvSpPr>
          <p:spPr bwMode="auto">
            <a:xfrm>
              <a:off x="1819" y="3793"/>
              <a:ext cx="160" cy="160"/>
            </a:xfrm>
            <a:custGeom>
              <a:avLst/>
              <a:gdLst>
                <a:gd name="T0" fmla="*/ 0 w 962"/>
                <a:gd name="T1" fmla="*/ 962 h 962"/>
                <a:gd name="T2" fmla="*/ 961 w 962"/>
                <a:gd name="T3" fmla="*/ 0 h 962"/>
                <a:gd name="T4" fmla="*/ 962 w 962"/>
                <a:gd name="T5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2" h="962">
                  <a:moveTo>
                    <a:pt x="0" y="962"/>
                  </a:moveTo>
                  <a:lnTo>
                    <a:pt x="961" y="0"/>
                  </a:lnTo>
                  <a:lnTo>
                    <a:pt x="96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55" name="Freeform 95"/>
            <p:cNvSpPr>
              <a:spLocks/>
            </p:cNvSpPr>
            <p:nvPr/>
          </p:nvSpPr>
          <p:spPr bwMode="auto">
            <a:xfrm>
              <a:off x="1873" y="3817"/>
              <a:ext cx="116" cy="115"/>
            </a:xfrm>
            <a:custGeom>
              <a:avLst/>
              <a:gdLst>
                <a:gd name="T0" fmla="*/ 0 w 694"/>
                <a:gd name="T1" fmla="*/ 693 h 693"/>
                <a:gd name="T2" fmla="*/ 693 w 694"/>
                <a:gd name="T3" fmla="*/ 0 h 693"/>
                <a:gd name="T4" fmla="*/ 694 w 694"/>
                <a:gd name="T5" fmla="*/ 0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4" h="693">
                  <a:moveTo>
                    <a:pt x="0" y="693"/>
                  </a:moveTo>
                  <a:lnTo>
                    <a:pt x="693" y="0"/>
                  </a:lnTo>
                  <a:lnTo>
                    <a:pt x="69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56" name="Freeform 96"/>
            <p:cNvSpPr>
              <a:spLocks/>
            </p:cNvSpPr>
            <p:nvPr/>
          </p:nvSpPr>
          <p:spPr bwMode="auto">
            <a:xfrm>
              <a:off x="1927" y="3842"/>
              <a:ext cx="71" cy="70"/>
            </a:xfrm>
            <a:custGeom>
              <a:avLst/>
              <a:gdLst>
                <a:gd name="T0" fmla="*/ 0 w 422"/>
                <a:gd name="T1" fmla="*/ 420 h 420"/>
                <a:gd name="T2" fmla="*/ 421 w 422"/>
                <a:gd name="T3" fmla="*/ 0 h 420"/>
                <a:gd name="T4" fmla="*/ 422 w 422"/>
                <a:gd name="T5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2" h="420">
                  <a:moveTo>
                    <a:pt x="0" y="420"/>
                  </a:moveTo>
                  <a:lnTo>
                    <a:pt x="421" y="0"/>
                  </a:lnTo>
                  <a:lnTo>
                    <a:pt x="42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57" name="Freeform 97"/>
            <p:cNvSpPr>
              <a:spLocks/>
            </p:cNvSpPr>
            <p:nvPr/>
          </p:nvSpPr>
          <p:spPr bwMode="auto">
            <a:xfrm>
              <a:off x="1982" y="3867"/>
              <a:ext cx="24" cy="24"/>
            </a:xfrm>
            <a:custGeom>
              <a:avLst/>
              <a:gdLst>
                <a:gd name="T0" fmla="*/ 0 w 148"/>
                <a:gd name="T1" fmla="*/ 146 h 146"/>
                <a:gd name="T2" fmla="*/ 147 w 148"/>
                <a:gd name="T3" fmla="*/ 0 h 146"/>
                <a:gd name="T4" fmla="*/ 148 w 148"/>
                <a:gd name="T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" h="146">
                  <a:moveTo>
                    <a:pt x="0" y="146"/>
                  </a:moveTo>
                  <a:lnTo>
                    <a:pt x="147" y="0"/>
                  </a:lnTo>
                  <a:lnTo>
                    <a:pt x="14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58" name="Freeform 98"/>
            <p:cNvSpPr>
              <a:spLocks/>
            </p:cNvSpPr>
            <p:nvPr/>
          </p:nvSpPr>
          <p:spPr bwMode="auto">
            <a:xfrm>
              <a:off x="1202" y="3408"/>
              <a:ext cx="112" cy="112"/>
            </a:xfrm>
            <a:custGeom>
              <a:avLst/>
              <a:gdLst>
                <a:gd name="T0" fmla="*/ 0 w 671"/>
                <a:gd name="T1" fmla="*/ 671 h 671"/>
                <a:gd name="T2" fmla="*/ 670 w 671"/>
                <a:gd name="T3" fmla="*/ 0 h 671"/>
                <a:gd name="T4" fmla="*/ 671 w 671"/>
                <a:gd name="T5" fmla="*/ 0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1" h="671">
                  <a:moveTo>
                    <a:pt x="0" y="671"/>
                  </a:moveTo>
                  <a:lnTo>
                    <a:pt x="670" y="0"/>
                  </a:lnTo>
                  <a:lnTo>
                    <a:pt x="67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59" name="Freeform 99"/>
            <p:cNvSpPr>
              <a:spLocks/>
            </p:cNvSpPr>
            <p:nvPr/>
          </p:nvSpPr>
          <p:spPr bwMode="auto">
            <a:xfrm>
              <a:off x="1313" y="3402"/>
              <a:ext cx="7" cy="6"/>
            </a:xfrm>
            <a:custGeom>
              <a:avLst/>
              <a:gdLst>
                <a:gd name="T0" fmla="*/ 0 w 36"/>
                <a:gd name="T1" fmla="*/ 34 h 34"/>
                <a:gd name="T2" fmla="*/ 35 w 36"/>
                <a:gd name="T3" fmla="*/ 0 h 34"/>
                <a:gd name="T4" fmla="*/ 36 w 36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34">
                  <a:moveTo>
                    <a:pt x="0" y="34"/>
                  </a:moveTo>
                  <a:lnTo>
                    <a:pt x="35" y="0"/>
                  </a:lnTo>
                  <a:lnTo>
                    <a:pt x="3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60" name="Freeform 100"/>
            <p:cNvSpPr>
              <a:spLocks/>
            </p:cNvSpPr>
            <p:nvPr/>
          </p:nvSpPr>
          <p:spPr bwMode="auto">
            <a:xfrm>
              <a:off x="1119" y="3433"/>
              <a:ext cx="204" cy="204"/>
            </a:xfrm>
            <a:custGeom>
              <a:avLst/>
              <a:gdLst>
                <a:gd name="T0" fmla="*/ 0 w 1223"/>
                <a:gd name="T1" fmla="*/ 1222 h 1222"/>
                <a:gd name="T2" fmla="*/ 1222 w 1223"/>
                <a:gd name="T3" fmla="*/ 0 h 1222"/>
                <a:gd name="T4" fmla="*/ 1223 w 1223"/>
                <a:gd name="T5" fmla="*/ 0 h 1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23" h="1222">
                  <a:moveTo>
                    <a:pt x="0" y="1222"/>
                  </a:moveTo>
                  <a:lnTo>
                    <a:pt x="1222" y="0"/>
                  </a:lnTo>
                  <a:lnTo>
                    <a:pt x="122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61" name="Freeform 101"/>
            <p:cNvSpPr>
              <a:spLocks/>
            </p:cNvSpPr>
            <p:nvPr/>
          </p:nvSpPr>
          <p:spPr bwMode="auto">
            <a:xfrm>
              <a:off x="1322" y="3406"/>
              <a:ext cx="28" cy="27"/>
            </a:xfrm>
            <a:custGeom>
              <a:avLst/>
              <a:gdLst>
                <a:gd name="T0" fmla="*/ 0 w 165"/>
                <a:gd name="T1" fmla="*/ 165 h 165"/>
                <a:gd name="T2" fmla="*/ 164 w 165"/>
                <a:gd name="T3" fmla="*/ 0 h 165"/>
                <a:gd name="T4" fmla="*/ 165 w 165"/>
                <a:gd name="T5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5" h="165">
                  <a:moveTo>
                    <a:pt x="0" y="165"/>
                  </a:moveTo>
                  <a:lnTo>
                    <a:pt x="164" y="0"/>
                  </a:lnTo>
                  <a:lnTo>
                    <a:pt x="16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62" name="Freeform 102"/>
            <p:cNvSpPr>
              <a:spLocks/>
            </p:cNvSpPr>
            <p:nvPr/>
          </p:nvSpPr>
          <p:spPr bwMode="auto">
            <a:xfrm>
              <a:off x="1076" y="3458"/>
              <a:ext cx="255" cy="256"/>
            </a:xfrm>
            <a:custGeom>
              <a:avLst/>
              <a:gdLst>
                <a:gd name="T0" fmla="*/ 0 w 1536"/>
                <a:gd name="T1" fmla="*/ 1536 h 1536"/>
                <a:gd name="T2" fmla="*/ 1535 w 1536"/>
                <a:gd name="T3" fmla="*/ 0 h 1536"/>
                <a:gd name="T4" fmla="*/ 1536 w 1536"/>
                <a:gd name="T5" fmla="*/ 0 h 1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6" h="1536">
                  <a:moveTo>
                    <a:pt x="0" y="1536"/>
                  </a:moveTo>
                  <a:lnTo>
                    <a:pt x="1535" y="0"/>
                  </a:lnTo>
                  <a:lnTo>
                    <a:pt x="153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63" name="Freeform 103"/>
            <p:cNvSpPr>
              <a:spLocks/>
            </p:cNvSpPr>
            <p:nvPr/>
          </p:nvSpPr>
          <p:spPr bwMode="auto">
            <a:xfrm>
              <a:off x="1331" y="3409"/>
              <a:ext cx="49" cy="49"/>
            </a:xfrm>
            <a:custGeom>
              <a:avLst/>
              <a:gdLst>
                <a:gd name="T0" fmla="*/ 0 w 293"/>
                <a:gd name="T1" fmla="*/ 292 h 292"/>
                <a:gd name="T2" fmla="*/ 292 w 293"/>
                <a:gd name="T3" fmla="*/ 0 h 292"/>
                <a:gd name="T4" fmla="*/ 293 w 293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3" h="292">
                  <a:moveTo>
                    <a:pt x="0" y="292"/>
                  </a:moveTo>
                  <a:lnTo>
                    <a:pt x="292" y="0"/>
                  </a:lnTo>
                  <a:lnTo>
                    <a:pt x="29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64" name="Freeform 104"/>
            <p:cNvSpPr>
              <a:spLocks/>
            </p:cNvSpPr>
            <p:nvPr/>
          </p:nvSpPr>
          <p:spPr bwMode="auto">
            <a:xfrm>
              <a:off x="1051" y="3483"/>
              <a:ext cx="289" cy="289"/>
            </a:xfrm>
            <a:custGeom>
              <a:avLst/>
              <a:gdLst>
                <a:gd name="T0" fmla="*/ 0 w 1735"/>
                <a:gd name="T1" fmla="*/ 1737 h 1737"/>
                <a:gd name="T2" fmla="*/ 1734 w 1735"/>
                <a:gd name="T3" fmla="*/ 0 h 1737"/>
                <a:gd name="T4" fmla="*/ 1735 w 1735"/>
                <a:gd name="T5" fmla="*/ 0 h 1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5" h="1737">
                  <a:moveTo>
                    <a:pt x="0" y="1737"/>
                  </a:moveTo>
                  <a:lnTo>
                    <a:pt x="1734" y="0"/>
                  </a:lnTo>
                  <a:lnTo>
                    <a:pt x="173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65" name="Freeform 105"/>
            <p:cNvSpPr>
              <a:spLocks/>
            </p:cNvSpPr>
            <p:nvPr/>
          </p:nvSpPr>
          <p:spPr bwMode="auto">
            <a:xfrm>
              <a:off x="1340" y="3413"/>
              <a:ext cx="70" cy="70"/>
            </a:xfrm>
            <a:custGeom>
              <a:avLst/>
              <a:gdLst>
                <a:gd name="T0" fmla="*/ 0 w 419"/>
                <a:gd name="T1" fmla="*/ 417 h 417"/>
                <a:gd name="T2" fmla="*/ 418 w 419"/>
                <a:gd name="T3" fmla="*/ 0 h 417"/>
                <a:gd name="T4" fmla="*/ 419 w 419"/>
                <a:gd name="T5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9" h="417">
                  <a:moveTo>
                    <a:pt x="0" y="417"/>
                  </a:moveTo>
                  <a:lnTo>
                    <a:pt x="418" y="0"/>
                  </a:lnTo>
                  <a:lnTo>
                    <a:pt x="41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66" name="Freeform 106"/>
            <p:cNvSpPr>
              <a:spLocks/>
            </p:cNvSpPr>
            <p:nvPr/>
          </p:nvSpPr>
          <p:spPr bwMode="auto">
            <a:xfrm>
              <a:off x="1037" y="3508"/>
              <a:ext cx="312" cy="312"/>
            </a:xfrm>
            <a:custGeom>
              <a:avLst/>
              <a:gdLst>
                <a:gd name="T0" fmla="*/ 0 w 1872"/>
                <a:gd name="T1" fmla="*/ 1872 h 1872"/>
                <a:gd name="T2" fmla="*/ 1871 w 1872"/>
                <a:gd name="T3" fmla="*/ 0 h 1872"/>
                <a:gd name="T4" fmla="*/ 1872 w 1872"/>
                <a:gd name="T5" fmla="*/ 0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72" h="1872">
                  <a:moveTo>
                    <a:pt x="0" y="1872"/>
                  </a:moveTo>
                  <a:lnTo>
                    <a:pt x="1871" y="0"/>
                  </a:lnTo>
                  <a:lnTo>
                    <a:pt x="187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67" name="Freeform 107"/>
            <p:cNvSpPr>
              <a:spLocks/>
            </p:cNvSpPr>
            <p:nvPr/>
          </p:nvSpPr>
          <p:spPr bwMode="auto">
            <a:xfrm>
              <a:off x="1349" y="3418"/>
              <a:ext cx="90" cy="90"/>
            </a:xfrm>
            <a:custGeom>
              <a:avLst/>
              <a:gdLst>
                <a:gd name="T0" fmla="*/ 0 w 541"/>
                <a:gd name="T1" fmla="*/ 541 h 541"/>
                <a:gd name="T2" fmla="*/ 540 w 541"/>
                <a:gd name="T3" fmla="*/ 0 h 541"/>
                <a:gd name="T4" fmla="*/ 541 w 541"/>
                <a:gd name="T5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1" h="541">
                  <a:moveTo>
                    <a:pt x="0" y="541"/>
                  </a:moveTo>
                  <a:lnTo>
                    <a:pt x="540" y="0"/>
                  </a:lnTo>
                  <a:lnTo>
                    <a:pt x="54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68" name="Freeform 108"/>
            <p:cNvSpPr>
              <a:spLocks/>
            </p:cNvSpPr>
            <p:nvPr/>
          </p:nvSpPr>
          <p:spPr bwMode="auto">
            <a:xfrm>
              <a:off x="1029" y="3533"/>
              <a:ext cx="329" cy="329"/>
            </a:xfrm>
            <a:custGeom>
              <a:avLst/>
              <a:gdLst>
                <a:gd name="T0" fmla="*/ 0 w 1976"/>
                <a:gd name="T1" fmla="*/ 1978 h 1978"/>
                <a:gd name="T2" fmla="*/ 1975 w 1976"/>
                <a:gd name="T3" fmla="*/ 0 h 1978"/>
                <a:gd name="T4" fmla="*/ 1976 w 1976"/>
                <a:gd name="T5" fmla="*/ 0 h 1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6" h="1978">
                  <a:moveTo>
                    <a:pt x="0" y="1978"/>
                  </a:moveTo>
                  <a:lnTo>
                    <a:pt x="1975" y="0"/>
                  </a:lnTo>
                  <a:lnTo>
                    <a:pt x="197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69" name="Freeform 109"/>
            <p:cNvSpPr>
              <a:spLocks/>
            </p:cNvSpPr>
            <p:nvPr/>
          </p:nvSpPr>
          <p:spPr bwMode="auto">
            <a:xfrm>
              <a:off x="1358" y="3423"/>
              <a:ext cx="110" cy="110"/>
            </a:xfrm>
            <a:custGeom>
              <a:avLst/>
              <a:gdLst>
                <a:gd name="T0" fmla="*/ 0 w 659"/>
                <a:gd name="T1" fmla="*/ 658 h 658"/>
                <a:gd name="T2" fmla="*/ 658 w 659"/>
                <a:gd name="T3" fmla="*/ 0 h 658"/>
                <a:gd name="T4" fmla="*/ 659 w 659"/>
                <a:gd name="T5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9" h="658">
                  <a:moveTo>
                    <a:pt x="0" y="658"/>
                  </a:moveTo>
                  <a:lnTo>
                    <a:pt x="658" y="0"/>
                  </a:lnTo>
                  <a:lnTo>
                    <a:pt x="65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70" name="Freeform 110"/>
            <p:cNvSpPr>
              <a:spLocks/>
            </p:cNvSpPr>
            <p:nvPr/>
          </p:nvSpPr>
          <p:spPr bwMode="auto">
            <a:xfrm>
              <a:off x="1024" y="3558"/>
              <a:ext cx="343" cy="343"/>
            </a:xfrm>
            <a:custGeom>
              <a:avLst/>
              <a:gdLst>
                <a:gd name="T0" fmla="*/ 0 w 2061"/>
                <a:gd name="T1" fmla="*/ 2061 h 2061"/>
                <a:gd name="T2" fmla="*/ 2060 w 2061"/>
                <a:gd name="T3" fmla="*/ 0 h 2061"/>
                <a:gd name="T4" fmla="*/ 2061 w 2061"/>
                <a:gd name="T5" fmla="*/ 0 h 20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61" h="2061">
                  <a:moveTo>
                    <a:pt x="0" y="2061"/>
                  </a:moveTo>
                  <a:lnTo>
                    <a:pt x="2060" y="0"/>
                  </a:lnTo>
                  <a:lnTo>
                    <a:pt x="206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71" name="Freeform 111"/>
            <p:cNvSpPr>
              <a:spLocks/>
            </p:cNvSpPr>
            <p:nvPr/>
          </p:nvSpPr>
          <p:spPr bwMode="auto">
            <a:xfrm>
              <a:off x="1367" y="3429"/>
              <a:ext cx="129" cy="129"/>
            </a:xfrm>
            <a:custGeom>
              <a:avLst/>
              <a:gdLst>
                <a:gd name="T0" fmla="*/ 0 w 772"/>
                <a:gd name="T1" fmla="*/ 772 h 772"/>
                <a:gd name="T2" fmla="*/ 771 w 772"/>
                <a:gd name="T3" fmla="*/ 0 h 772"/>
                <a:gd name="T4" fmla="*/ 772 w 772"/>
                <a:gd name="T5" fmla="*/ 0 h 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2" h="772">
                  <a:moveTo>
                    <a:pt x="0" y="772"/>
                  </a:moveTo>
                  <a:lnTo>
                    <a:pt x="771" y="0"/>
                  </a:lnTo>
                  <a:lnTo>
                    <a:pt x="77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72" name="Freeform 112"/>
            <p:cNvSpPr>
              <a:spLocks/>
            </p:cNvSpPr>
            <p:nvPr/>
          </p:nvSpPr>
          <p:spPr bwMode="auto">
            <a:xfrm>
              <a:off x="1021" y="3583"/>
              <a:ext cx="355" cy="355"/>
            </a:xfrm>
            <a:custGeom>
              <a:avLst/>
              <a:gdLst>
                <a:gd name="T0" fmla="*/ 0 w 2131"/>
                <a:gd name="T1" fmla="*/ 2133 h 2133"/>
                <a:gd name="T2" fmla="*/ 2130 w 2131"/>
                <a:gd name="T3" fmla="*/ 0 h 2133"/>
                <a:gd name="T4" fmla="*/ 2131 w 2131"/>
                <a:gd name="T5" fmla="*/ 0 h 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1" h="2133">
                  <a:moveTo>
                    <a:pt x="0" y="2133"/>
                  </a:moveTo>
                  <a:lnTo>
                    <a:pt x="2130" y="0"/>
                  </a:lnTo>
                  <a:lnTo>
                    <a:pt x="213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73" name="Freeform 113"/>
            <p:cNvSpPr>
              <a:spLocks/>
            </p:cNvSpPr>
            <p:nvPr/>
          </p:nvSpPr>
          <p:spPr bwMode="auto">
            <a:xfrm>
              <a:off x="1376" y="3436"/>
              <a:ext cx="147" cy="147"/>
            </a:xfrm>
            <a:custGeom>
              <a:avLst/>
              <a:gdLst>
                <a:gd name="T0" fmla="*/ 0 w 882"/>
                <a:gd name="T1" fmla="*/ 882 h 882"/>
                <a:gd name="T2" fmla="*/ 881 w 882"/>
                <a:gd name="T3" fmla="*/ 0 h 882"/>
                <a:gd name="T4" fmla="*/ 882 w 882"/>
                <a:gd name="T5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2" h="882">
                  <a:moveTo>
                    <a:pt x="0" y="882"/>
                  </a:moveTo>
                  <a:lnTo>
                    <a:pt x="881" y="0"/>
                  </a:lnTo>
                  <a:lnTo>
                    <a:pt x="88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74" name="Freeform 114"/>
            <p:cNvSpPr>
              <a:spLocks/>
            </p:cNvSpPr>
            <p:nvPr/>
          </p:nvSpPr>
          <p:spPr bwMode="auto">
            <a:xfrm>
              <a:off x="1020" y="3608"/>
              <a:ext cx="365" cy="365"/>
            </a:xfrm>
            <a:custGeom>
              <a:avLst/>
              <a:gdLst>
                <a:gd name="T0" fmla="*/ 0 w 2191"/>
                <a:gd name="T1" fmla="*/ 2190 h 2190"/>
                <a:gd name="T2" fmla="*/ 2189 w 2191"/>
                <a:gd name="T3" fmla="*/ 0 h 2190"/>
                <a:gd name="T4" fmla="*/ 2191 w 2191"/>
                <a:gd name="T5" fmla="*/ 0 h 2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1" h="2190">
                  <a:moveTo>
                    <a:pt x="0" y="2190"/>
                  </a:moveTo>
                  <a:lnTo>
                    <a:pt x="2189" y="0"/>
                  </a:lnTo>
                  <a:lnTo>
                    <a:pt x="219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75" name="Freeform 115"/>
            <p:cNvSpPr>
              <a:spLocks/>
            </p:cNvSpPr>
            <p:nvPr/>
          </p:nvSpPr>
          <p:spPr bwMode="auto">
            <a:xfrm>
              <a:off x="1385" y="3443"/>
              <a:ext cx="165" cy="165"/>
            </a:xfrm>
            <a:custGeom>
              <a:avLst/>
              <a:gdLst>
                <a:gd name="T0" fmla="*/ 0 w 990"/>
                <a:gd name="T1" fmla="*/ 990 h 990"/>
                <a:gd name="T2" fmla="*/ 989 w 990"/>
                <a:gd name="T3" fmla="*/ 0 h 990"/>
                <a:gd name="T4" fmla="*/ 990 w 990"/>
                <a:gd name="T5" fmla="*/ 0 h 9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0" h="990">
                  <a:moveTo>
                    <a:pt x="0" y="990"/>
                  </a:moveTo>
                  <a:lnTo>
                    <a:pt x="989" y="0"/>
                  </a:lnTo>
                  <a:lnTo>
                    <a:pt x="99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76" name="Freeform 116"/>
            <p:cNvSpPr>
              <a:spLocks/>
            </p:cNvSpPr>
            <p:nvPr/>
          </p:nvSpPr>
          <p:spPr bwMode="auto">
            <a:xfrm>
              <a:off x="1021" y="3633"/>
              <a:ext cx="373" cy="373"/>
            </a:xfrm>
            <a:custGeom>
              <a:avLst/>
              <a:gdLst>
                <a:gd name="T0" fmla="*/ 0 w 2238"/>
                <a:gd name="T1" fmla="*/ 2240 h 2240"/>
                <a:gd name="T2" fmla="*/ 2237 w 2238"/>
                <a:gd name="T3" fmla="*/ 0 h 2240"/>
                <a:gd name="T4" fmla="*/ 2238 w 2238"/>
                <a:gd name="T5" fmla="*/ 0 h 2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8" h="2240">
                  <a:moveTo>
                    <a:pt x="0" y="2240"/>
                  </a:moveTo>
                  <a:lnTo>
                    <a:pt x="2237" y="0"/>
                  </a:lnTo>
                  <a:lnTo>
                    <a:pt x="223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77" name="Freeform 117"/>
            <p:cNvSpPr>
              <a:spLocks/>
            </p:cNvSpPr>
            <p:nvPr/>
          </p:nvSpPr>
          <p:spPr bwMode="auto">
            <a:xfrm>
              <a:off x="1394" y="3451"/>
              <a:ext cx="182" cy="182"/>
            </a:xfrm>
            <a:custGeom>
              <a:avLst/>
              <a:gdLst>
                <a:gd name="T0" fmla="*/ 0 w 1093"/>
                <a:gd name="T1" fmla="*/ 1092 h 1092"/>
                <a:gd name="T2" fmla="*/ 1092 w 1093"/>
                <a:gd name="T3" fmla="*/ 0 h 1092"/>
                <a:gd name="T4" fmla="*/ 1093 w 1093"/>
                <a:gd name="T5" fmla="*/ 0 h 1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93" h="1092">
                  <a:moveTo>
                    <a:pt x="0" y="1092"/>
                  </a:moveTo>
                  <a:lnTo>
                    <a:pt x="1092" y="0"/>
                  </a:lnTo>
                  <a:lnTo>
                    <a:pt x="109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78" name="Freeform 118"/>
            <p:cNvSpPr>
              <a:spLocks/>
            </p:cNvSpPr>
            <p:nvPr/>
          </p:nvSpPr>
          <p:spPr bwMode="auto">
            <a:xfrm>
              <a:off x="1023" y="3658"/>
              <a:ext cx="380" cy="379"/>
            </a:xfrm>
            <a:custGeom>
              <a:avLst/>
              <a:gdLst>
                <a:gd name="T0" fmla="*/ 0 w 2276"/>
                <a:gd name="T1" fmla="*/ 2278 h 2278"/>
                <a:gd name="T2" fmla="*/ 2275 w 2276"/>
                <a:gd name="T3" fmla="*/ 0 h 2278"/>
                <a:gd name="T4" fmla="*/ 2276 w 2276"/>
                <a:gd name="T5" fmla="*/ 0 h 2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6" h="2278">
                  <a:moveTo>
                    <a:pt x="0" y="2278"/>
                  </a:moveTo>
                  <a:lnTo>
                    <a:pt x="2275" y="0"/>
                  </a:lnTo>
                  <a:lnTo>
                    <a:pt x="227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79" name="Freeform 119"/>
            <p:cNvSpPr>
              <a:spLocks/>
            </p:cNvSpPr>
            <p:nvPr/>
          </p:nvSpPr>
          <p:spPr bwMode="auto">
            <a:xfrm>
              <a:off x="1403" y="3459"/>
              <a:ext cx="198" cy="199"/>
            </a:xfrm>
            <a:custGeom>
              <a:avLst/>
              <a:gdLst>
                <a:gd name="T0" fmla="*/ 0 w 1193"/>
                <a:gd name="T1" fmla="*/ 1192 h 1192"/>
                <a:gd name="T2" fmla="*/ 1191 w 1193"/>
                <a:gd name="T3" fmla="*/ 0 h 1192"/>
                <a:gd name="T4" fmla="*/ 1193 w 1193"/>
                <a:gd name="T5" fmla="*/ 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3" h="1192">
                  <a:moveTo>
                    <a:pt x="0" y="1192"/>
                  </a:moveTo>
                  <a:lnTo>
                    <a:pt x="1191" y="0"/>
                  </a:lnTo>
                  <a:lnTo>
                    <a:pt x="119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80" name="Freeform 120"/>
            <p:cNvSpPr>
              <a:spLocks/>
            </p:cNvSpPr>
            <p:nvPr/>
          </p:nvSpPr>
          <p:spPr bwMode="auto">
            <a:xfrm>
              <a:off x="1027" y="3683"/>
              <a:ext cx="385" cy="384"/>
            </a:xfrm>
            <a:custGeom>
              <a:avLst/>
              <a:gdLst>
                <a:gd name="T0" fmla="*/ 0 w 2306"/>
                <a:gd name="T1" fmla="*/ 2307 h 2307"/>
                <a:gd name="T2" fmla="*/ 2305 w 2306"/>
                <a:gd name="T3" fmla="*/ 0 h 2307"/>
                <a:gd name="T4" fmla="*/ 2306 w 2306"/>
                <a:gd name="T5" fmla="*/ 0 h 2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06" h="2307">
                  <a:moveTo>
                    <a:pt x="0" y="2307"/>
                  </a:moveTo>
                  <a:lnTo>
                    <a:pt x="2305" y="0"/>
                  </a:lnTo>
                  <a:lnTo>
                    <a:pt x="230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81" name="Freeform 121"/>
            <p:cNvSpPr>
              <a:spLocks/>
            </p:cNvSpPr>
            <p:nvPr/>
          </p:nvSpPr>
          <p:spPr bwMode="auto">
            <a:xfrm>
              <a:off x="1411" y="3468"/>
              <a:ext cx="215" cy="215"/>
            </a:xfrm>
            <a:custGeom>
              <a:avLst/>
              <a:gdLst>
                <a:gd name="T0" fmla="*/ 0 w 1289"/>
                <a:gd name="T1" fmla="*/ 1290 h 1290"/>
                <a:gd name="T2" fmla="*/ 1288 w 1289"/>
                <a:gd name="T3" fmla="*/ 0 h 1290"/>
                <a:gd name="T4" fmla="*/ 1289 w 1289"/>
                <a:gd name="T5" fmla="*/ 0 h 1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89" h="1290">
                  <a:moveTo>
                    <a:pt x="0" y="1290"/>
                  </a:moveTo>
                  <a:lnTo>
                    <a:pt x="1288" y="0"/>
                  </a:lnTo>
                  <a:lnTo>
                    <a:pt x="128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82" name="Freeform 122"/>
            <p:cNvSpPr>
              <a:spLocks/>
            </p:cNvSpPr>
            <p:nvPr/>
          </p:nvSpPr>
          <p:spPr bwMode="auto">
            <a:xfrm>
              <a:off x="1033" y="3708"/>
              <a:ext cx="388" cy="388"/>
            </a:xfrm>
            <a:custGeom>
              <a:avLst/>
              <a:gdLst>
                <a:gd name="T0" fmla="*/ 0 w 2326"/>
                <a:gd name="T1" fmla="*/ 2327 h 2327"/>
                <a:gd name="T2" fmla="*/ 2325 w 2326"/>
                <a:gd name="T3" fmla="*/ 0 h 2327"/>
                <a:gd name="T4" fmla="*/ 2326 w 2326"/>
                <a:gd name="T5" fmla="*/ 0 h 2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6" h="2327">
                  <a:moveTo>
                    <a:pt x="0" y="2327"/>
                  </a:moveTo>
                  <a:lnTo>
                    <a:pt x="2325" y="0"/>
                  </a:lnTo>
                  <a:lnTo>
                    <a:pt x="232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83" name="Freeform 123"/>
            <p:cNvSpPr>
              <a:spLocks/>
            </p:cNvSpPr>
            <p:nvPr/>
          </p:nvSpPr>
          <p:spPr bwMode="auto">
            <a:xfrm>
              <a:off x="1420" y="3477"/>
              <a:ext cx="231" cy="231"/>
            </a:xfrm>
            <a:custGeom>
              <a:avLst/>
              <a:gdLst>
                <a:gd name="T0" fmla="*/ 0 w 1383"/>
                <a:gd name="T1" fmla="*/ 1384 h 1384"/>
                <a:gd name="T2" fmla="*/ 1382 w 1383"/>
                <a:gd name="T3" fmla="*/ 0 h 1384"/>
                <a:gd name="T4" fmla="*/ 1383 w 1383"/>
                <a:gd name="T5" fmla="*/ 0 h 1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83" h="1384">
                  <a:moveTo>
                    <a:pt x="0" y="1384"/>
                  </a:moveTo>
                  <a:lnTo>
                    <a:pt x="1382" y="0"/>
                  </a:lnTo>
                  <a:lnTo>
                    <a:pt x="138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84" name="Freeform 124"/>
            <p:cNvSpPr>
              <a:spLocks/>
            </p:cNvSpPr>
            <p:nvPr/>
          </p:nvSpPr>
          <p:spPr bwMode="auto">
            <a:xfrm>
              <a:off x="1040" y="3733"/>
              <a:ext cx="389" cy="389"/>
            </a:xfrm>
            <a:custGeom>
              <a:avLst/>
              <a:gdLst>
                <a:gd name="T0" fmla="*/ 0 w 2336"/>
                <a:gd name="T1" fmla="*/ 2337 h 2337"/>
                <a:gd name="T2" fmla="*/ 2335 w 2336"/>
                <a:gd name="T3" fmla="*/ 0 h 2337"/>
                <a:gd name="T4" fmla="*/ 2336 w 2336"/>
                <a:gd name="T5" fmla="*/ 0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36" h="2337">
                  <a:moveTo>
                    <a:pt x="0" y="2337"/>
                  </a:moveTo>
                  <a:lnTo>
                    <a:pt x="2335" y="0"/>
                  </a:lnTo>
                  <a:lnTo>
                    <a:pt x="233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85" name="Freeform 125"/>
            <p:cNvSpPr>
              <a:spLocks/>
            </p:cNvSpPr>
            <p:nvPr/>
          </p:nvSpPr>
          <p:spPr bwMode="auto">
            <a:xfrm>
              <a:off x="1429" y="3487"/>
              <a:ext cx="246" cy="246"/>
            </a:xfrm>
            <a:custGeom>
              <a:avLst/>
              <a:gdLst>
                <a:gd name="T0" fmla="*/ 0 w 1474"/>
                <a:gd name="T1" fmla="*/ 1475 h 1475"/>
                <a:gd name="T2" fmla="*/ 1473 w 1474"/>
                <a:gd name="T3" fmla="*/ 0 h 1475"/>
                <a:gd name="T4" fmla="*/ 1474 w 1474"/>
                <a:gd name="T5" fmla="*/ 0 h 1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4" h="1475">
                  <a:moveTo>
                    <a:pt x="0" y="1475"/>
                  </a:moveTo>
                  <a:lnTo>
                    <a:pt x="1473" y="0"/>
                  </a:lnTo>
                  <a:lnTo>
                    <a:pt x="147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86" name="Freeform 126"/>
            <p:cNvSpPr>
              <a:spLocks/>
            </p:cNvSpPr>
            <p:nvPr/>
          </p:nvSpPr>
          <p:spPr bwMode="auto">
            <a:xfrm>
              <a:off x="1048" y="3758"/>
              <a:ext cx="390" cy="390"/>
            </a:xfrm>
            <a:custGeom>
              <a:avLst/>
              <a:gdLst>
                <a:gd name="T0" fmla="*/ 0 w 2342"/>
                <a:gd name="T1" fmla="*/ 2342 h 2342"/>
                <a:gd name="T2" fmla="*/ 2341 w 2342"/>
                <a:gd name="T3" fmla="*/ 0 h 2342"/>
                <a:gd name="T4" fmla="*/ 2342 w 2342"/>
                <a:gd name="T5" fmla="*/ 0 h 2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2" h="2342">
                  <a:moveTo>
                    <a:pt x="0" y="2342"/>
                  </a:moveTo>
                  <a:lnTo>
                    <a:pt x="2341" y="0"/>
                  </a:lnTo>
                  <a:lnTo>
                    <a:pt x="234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87" name="Freeform 127"/>
            <p:cNvSpPr>
              <a:spLocks/>
            </p:cNvSpPr>
            <p:nvPr/>
          </p:nvSpPr>
          <p:spPr bwMode="auto">
            <a:xfrm>
              <a:off x="1438" y="3497"/>
              <a:ext cx="261" cy="261"/>
            </a:xfrm>
            <a:custGeom>
              <a:avLst/>
              <a:gdLst>
                <a:gd name="T0" fmla="*/ 0 w 1562"/>
                <a:gd name="T1" fmla="*/ 1562 h 1562"/>
                <a:gd name="T2" fmla="*/ 1561 w 1562"/>
                <a:gd name="T3" fmla="*/ 0 h 1562"/>
                <a:gd name="T4" fmla="*/ 1562 w 1562"/>
                <a:gd name="T5" fmla="*/ 0 h 1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2" h="1562">
                  <a:moveTo>
                    <a:pt x="0" y="1562"/>
                  </a:moveTo>
                  <a:lnTo>
                    <a:pt x="1561" y="0"/>
                  </a:lnTo>
                  <a:lnTo>
                    <a:pt x="156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88" name="Freeform 128"/>
            <p:cNvSpPr>
              <a:spLocks/>
            </p:cNvSpPr>
            <p:nvPr/>
          </p:nvSpPr>
          <p:spPr bwMode="auto">
            <a:xfrm>
              <a:off x="1057" y="3783"/>
              <a:ext cx="390" cy="390"/>
            </a:xfrm>
            <a:custGeom>
              <a:avLst/>
              <a:gdLst>
                <a:gd name="T0" fmla="*/ 0 w 2342"/>
                <a:gd name="T1" fmla="*/ 2344 h 2344"/>
                <a:gd name="T2" fmla="*/ 2341 w 2342"/>
                <a:gd name="T3" fmla="*/ 0 h 2344"/>
                <a:gd name="T4" fmla="*/ 2342 w 2342"/>
                <a:gd name="T5" fmla="*/ 0 h 2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2" h="2344">
                  <a:moveTo>
                    <a:pt x="0" y="2344"/>
                  </a:moveTo>
                  <a:lnTo>
                    <a:pt x="2341" y="0"/>
                  </a:lnTo>
                  <a:lnTo>
                    <a:pt x="234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89" name="Freeform 129"/>
            <p:cNvSpPr>
              <a:spLocks/>
            </p:cNvSpPr>
            <p:nvPr/>
          </p:nvSpPr>
          <p:spPr bwMode="auto">
            <a:xfrm>
              <a:off x="1447" y="3509"/>
              <a:ext cx="274" cy="274"/>
            </a:xfrm>
            <a:custGeom>
              <a:avLst/>
              <a:gdLst>
                <a:gd name="T0" fmla="*/ 0 w 1644"/>
                <a:gd name="T1" fmla="*/ 1644 h 1644"/>
                <a:gd name="T2" fmla="*/ 1643 w 1644"/>
                <a:gd name="T3" fmla="*/ 0 h 1644"/>
                <a:gd name="T4" fmla="*/ 1644 w 1644"/>
                <a:gd name="T5" fmla="*/ 0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4" h="1644">
                  <a:moveTo>
                    <a:pt x="0" y="1644"/>
                  </a:moveTo>
                  <a:lnTo>
                    <a:pt x="1643" y="0"/>
                  </a:lnTo>
                  <a:lnTo>
                    <a:pt x="164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90" name="Freeform 130"/>
            <p:cNvSpPr>
              <a:spLocks/>
            </p:cNvSpPr>
            <p:nvPr/>
          </p:nvSpPr>
          <p:spPr bwMode="auto">
            <a:xfrm>
              <a:off x="1066" y="3808"/>
              <a:ext cx="390" cy="390"/>
            </a:xfrm>
            <a:custGeom>
              <a:avLst/>
              <a:gdLst>
                <a:gd name="T0" fmla="*/ 0 w 2341"/>
                <a:gd name="T1" fmla="*/ 2342 h 2342"/>
                <a:gd name="T2" fmla="*/ 2340 w 2341"/>
                <a:gd name="T3" fmla="*/ 0 h 2342"/>
                <a:gd name="T4" fmla="*/ 2341 w 2341"/>
                <a:gd name="T5" fmla="*/ 0 h 2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1" h="2342">
                  <a:moveTo>
                    <a:pt x="0" y="2342"/>
                  </a:moveTo>
                  <a:lnTo>
                    <a:pt x="2340" y="0"/>
                  </a:lnTo>
                  <a:lnTo>
                    <a:pt x="234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91" name="Freeform 131"/>
            <p:cNvSpPr>
              <a:spLocks/>
            </p:cNvSpPr>
            <p:nvPr/>
          </p:nvSpPr>
          <p:spPr bwMode="auto">
            <a:xfrm>
              <a:off x="1456" y="3521"/>
              <a:ext cx="287" cy="287"/>
            </a:xfrm>
            <a:custGeom>
              <a:avLst/>
              <a:gdLst>
                <a:gd name="T0" fmla="*/ 0 w 1720"/>
                <a:gd name="T1" fmla="*/ 1720 h 1720"/>
                <a:gd name="T2" fmla="*/ 1719 w 1720"/>
                <a:gd name="T3" fmla="*/ 0 h 1720"/>
                <a:gd name="T4" fmla="*/ 1720 w 1720"/>
                <a:gd name="T5" fmla="*/ 0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0" h="1720">
                  <a:moveTo>
                    <a:pt x="0" y="1720"/>
                  </a:moveTo>
                  <a:lnTo>
                    <a:pt x="1719" y="0"/>
                  </a:lnTo>
                  <a:lnTo>
                    <a:pt x="172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92" name="Freeform 132"/>
            <p:cNvSpPr>
              <a:spLocks/>
            </p:cNvSpPr>
            <p:nvPr/>
          </p:nvSpPr>
          <p:spPr bwMode="auto">
            <a:xfrm>
              <a:off x="1076" y="3833"/>
              <a:ext cx="389" cy="389"/>
            </a:xfrm>
            <a:custGeom>
              <a:avLst/>
              <a:gdLst>
                <a:gd name="T0" fmla="*/ 0 w 2338"/>
                <a:gd name="T1" fmla="*/ 2338 h 2338"/>
                <a:gd name="T2" fmla="*/ 2337 w 2338"/>
                <a:gd name="T3" fmla="*/ 0 h 2338"/>
                <a:gd name="T4" fmla="*/ 2338 w 2338"/>
                <a:gd name="T5" fmla="*/ 0 h 2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38" h="2338">
                  <a:moveTo>
                    <a:pt x="0" y="2338"/>
                  </a:moveTo>
                  <a:lnTo>
                    <a:pt x="2337" y="0"/>
                  </a:lnTo>
                  <a:lnTo>
                    <a:pt x="233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93" name="Freeform 133"/>
            <p:cNvSpPr>
              <a:spLocks/>
            </p:cNvSpPr>
            <p:nvPr/>
          </p:nvSpPr>
          <p:spPr bwMode="auto">
            <a:xfrm>
              <a:off x="1465" y="3534"/>
              <a:ext cx="298" cy="299"/>
            </a:xfrm>
            <a:custGeom>
              <a:avLst/>
              <a:gdLst>
                <a:gd name="T0" fmla="*/ 0 w 1790"/>
                <a:gd name="T1" fmla="*/ 1791 h 1791"/>
                <a:gd name="T2" fmla="*/ 1789 w 1790"/>
                <a:gd name="T3" fmla="*/ 0 h 1791"/>
                <a:gd name="T4" fmla="*/ 1790 w 1790"/>
                <a:gd name="T5" fmla="*/ 0 h 1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90" h="1791">
                  <a:moveTo>
                    <a:pt x="0" y="1791"/>
                  </a:moveTo>
                  <a:lnTo>
                    <a:pt x="1789" y="0"/>
                  </a:lnTo>
                  <a:lnTo>
                    <a:pt x="179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94" name="Freeform 134"/>
            <p:cNvSpPr>
              <a:spLocks/>
            </p:cNvSpPr>
            <p:nvPr/>
          </p:nvSpPr>
          <p:spPr bwMode="auto">
            <a:xfrm>
              <a:off x="1113" y="3858"/>
              <a:ext cx="361" cy="361"/>
            </a:xfrm>
            <a:custGeom>
              <a:avLst/>
              <a:gdLst>
                <a:gd name="T0" fmla="*/ 0 w 2169"/>
                <a:gd name="T1" fmla="*/ 2169 h 2169"/>
                <a:gd name="T2" fmla="*/ 2168 w 2169"/>
                <a:gd name="T3" fmla="*/ 0 h 2169"/>
                <a:gd name="T4" fmla="*/ 2169 w 2169"/>
                <a:gd name="T5" fmla="*/ 0 h 2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9" h="2169">
                  <a:moveTo>
                    <a:pt x="0" y="2169"/>
                  </a:moveTo>
                  <a:lnTo>
                    <a:pt x="2168" y="0"/>
                  </a:lnTo>
                  <a:lnTo>
                    <a:pt x="216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95" name="Freeform 135"/>
            <p:cNvSpPr>
              <a:spLocks/>
            </p:cNvSpPr>
            <p:nvPr/>
          </p:nvSpPr>
          <p:spPr bwMode="auto">
            <a:xfrm>
              <a:off x="1474" y="3548"/>
              <a:ext cx="309" cy="310"/>
            </a:xfrm>
            <a:custGeom>
              <a:avLst/>
              <a:gdLst>
                <a:gd name="T0" fmla="*/ 0 w 1856"/>
                <a:gd name="T1" fmla="*/ 1856 h 1856"/>
                <a:gd name="T2" fmla="*/ 1855 w 1856"/>
                <a:gd name="T3" fmla="*/ 0 h 1856"/>
                <a:gd name="T4" fmla="*/ 1856 w 1856"/>
                <a:gd name="T5" fmla="*/ 0 h 1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56" h="1856">
                  <a:moveTo>
                    <a:pt x="0" y="1856"/>
                  </a:moveTo>
                  <a:lnTo>
                    <a:pt x="1855" y="0"/>
                  </a:lnTo>
                  <a:lnTo>
                    <a:pt x="185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96" name="Freeform 136"/>
            <p:cNvSpPr>
              <a:spLocks/>
            </p:cNvSpPr>
            <p:nvPr/>
          </p:nvSpPr>
          <p:spPr bwMode="auto">
            <a:xfrm>
              <a:off x="1167" y="3883"/>
              <a:ext cx="316" cy="316"/>
            </a:xfrm>
            <a:custGeom>
              <a:avLst/>
              <a:gdLst>
                <a:gd name="T0" fmla="*/ 0 w 1896"/>
                <a:gd name="T1" fmla="*/ 1897 h 1897"/>
                <a:gd name="T2" fmla="*/ 1894 w 1896"/>
                <a:gd name="T3" fmla="*/ 0 h 1897"/>
                <a:gd name="T4" fmla="*/ 1896 w 1896"/>
                <a:gd name="T5" fmla="*/ 0 h 1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96" h="1897">
                  <a:moveTo>
                    <a:pt x="0" y="1897"/>
                  </a:moveTo>
                  <a:lnTo>
                    <a:pt x="1894" y="0"/>
                  </a:lnTo>
                  <a:lnTo>
                    <a:pt x="189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97" name="Freeform 137"/>
            <p:cNvSpPr>
              <a:spLocks/>
            </p:cNvSpPr>
            <p:nvPr/>
          </p:nvSpPr>
          <p:spPr bwMode="auto">
            <a:xfrm>
              <a:off x="1483" y="3563"/>
              <a:ext cx="319" cy="320"/>
            </a:xfrm>
            <a:custGeom>
              <a:avLst/>
              <a:gdLst>
                <a:gd name="T0" fmla="*/ 0 w 1917"/>
                <a:gd name="T1" fmla="*/ 1917 h 1917"/>
                <a:gd name="T2" fmla="*/ 1916 w 1917"/>
                <a:gd name="T3" fmla="*/ 0 h 1917"/>
                <a:gd name="T4" fmla="*/ 1917 w 1917"/>
                <a:gd name="T5" fmla="*/ 0 h 1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17" h="1917">
                  <a:moveTo>
                    <a:pt x="0" y="1917"/>
                  </a:moveTo>
                  <a:lnTo>
                    <a:pt x="1916" y="0"/>
                  </a:lnTo>
                  <a:lnTo>
                    <a:pt x="191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98" name="Freeform 138"/>
            <p:cNvSpPr>
              <a:spLocks/>
            </p:cNvSpPr>
            <p:nvPr/>
          </p:nvSpPr>
          <p:spPr bwMode="auto">
            <a:xfrm>
              <a:off x="1221" y="3908"/>
              <a:ext cx="271" cy="270"/>
            </a:xfrm>
            <a:custGeom>
              <a:avLst/>
              <a:gdLst>
                <a:gd name="T0" fmla="*/ 0 w 1623"/>
                <a:gd name="T1" fmla="*/ 1624 h 1624"/>
                <a:gd name="T2" fmla="*/ 1622 w 1623"/>
                <a:gd name="T3" fmla="*/ 0 h 1624"/>
                <a:gd name="T4" fmla="*/ 1623 w 1623"/>
                <a:gd name="T5" fmla="*/ 0 h 1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3" h="1624">
                  <a:moveTo>
                    <a:pt x="0" y="1624"/>
                  </a:moveTo>
                  <a:lnTo>
                    <a:pt x="1622" y="0"/>
                  </a:lnTo>
                  <a:lnTo>
                    <a:pt x="162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699" name="Freeform 139"/>
            <p:cNvSpPr>
              <a:spLocks/>
            </p:cNvSpPr>
            <p:nvPr/>
          </p:nvSpPr>
          <p:spPr bwMode="auto">
            <a:xfrm>
              <a:off x="1492" y="3579"/>
              <a:ext cx="329" cy="329"/>
            </a:xfrm>
            <a:custGeom>
              <a:avLst/>
              <a:gdLst>
                <a:gd name="T0" fmla="*/ 0 w 1973"/>
                <a:gd name="T1" fmla="*/ 1974 h 1974"/>
                <a:gd name="T2" fmla="*/ 1972 w 1973"/>
                <a:gd name="T3" fmla="*/ 0 h 1974"/>
                <a:gd name="T4" fmla="*/ 1973 w 1973"/>
                <a:gd name="T5" fmla="*/ 0 h 1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3" h="1974">
                  <a:moveTo>
                    <a:pt x="0" y="1974"/>
                  </a:moveTo>
                  <a:lnTo>
                    <a:pt x="1972" y="0"/>
                  </a:lnTo>
                  <a:lnTo>
                    <a:pt x="197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00" name="Freeform 140"/>
            <p:cNvSpPr>
              <a:spLocks/>
            </p:cNvSpPr>
            <p:nvPr/>
          </p:nvSpPr>
          <p:spPr bwMode="auto">
            <a:xfrm>
              <a:off x="1276" y="3933"/>
              <a:ext cx="225" cy="225"/>
            </a:xfrm>
            <a:custGeom>
              <a:avLst/>
              <a:gdLst>
                <a:gd name="T0" fmla="*/ 0 w 1351"/>
                <a:gd name="T1" fmla="*/ 1352 h 1352"/>
                <a:gd name="T2" fmla="*/ 1350 w 1351"/>
                <a:gd name="T3" fmla="*/ 0 h 1352"/>
                <a:gd name="T4" fmla="*/ 1351 w 1351"/>
                <a:gd name="T5" fmla="*/ 0 h 1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51" h="1352">
                  <a:moveTo>
                    <a:pt x="0" y="1352"/>
                  </a:moveTo>
                  <a:lnTo>
                    <a:pt x="1350" y="0"/>
                  </a:lnTo>
                  <a:lnTo>
                    <a:pt x="135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01" name="Freeform 141"/>
            <p:cNvSpPr>
              <a:spLocks/>
            </p:cNvSpPr>
            <p:nvPr/>
          </p:nvSpPr>
          <p:spPr bwMode="auto">
            <a:xfrm>
              <a:off x="1501" y="3595"/>
              <a:ext cx="337" cy="338"/>
            </a:xfrm>
            <a:custGeom>
              <a:avLst/>
              <a:gdLst>
                <a:gd name="T0" fmla="*/ 0 w 2027"/>
                <a:gd name="T1" fmla="*/ 2026 h 2026"/>
                <a:gd name="T2" fmla="*/ 2026 w 2027"/>
                <a:gd name="T3" fmla="*/ 0 h 2026"/>
                <a:gd name="T4" fmla="*/ 2027 w 2027"/>
                <a:gd name="T5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27" h="2026">
                  <a:moveTo>
                    <a:pt x="0" y="2026"/>
                  </a:moveTo>
                  <a:lnTo>
                    <a:pt x="2026" y="0"/>
                  </a:lnTo>
                  <a:lnTo>
                    <a:pt x="202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02" name="Freeform 142"/>
            <p:cNvSpPr>
              <a:spLocks/>
            </p:cNvSpPr>
            <p:nvPr/>
          </p:nvSpPr>
          <p:spPr bwMode="auto">
            <a:xfrm>
              <a:off x="1330" y="3957"/>
              <a:ext cx="180" cy="180"/>
            </a:xfrm>
            <a:custGeom>
              <a:avLst/>
              <a:gdLst>
                <a:gd name="T0" fmla="*/ 0 w 1078"/>
                <a:gd name="T1" fmla="*/ 1079 h 1079"/>
                <a:gd name="T2" fmla="*/ 1077 w 1078"/>
                <a:gd name="T3" fmla="*/ 0 h 1079"/>
                <a:gd name="T4" fmla="*/ 1078 w 1078"/>
                <a:gd name="T5" fmla="*/ 0 h 1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78" h="1079">
                  <a:moveTo>
                    <a:pt x="0" y="1079"/>
                  </a:moveTo>
                  <a:lnTo>
                    <a:pt x="1077" y="0"/>
                  </a:lnTo>
                  <a:lnTo>
                    <a:pt x="107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03" name="Freeform 143"/>
            <p:cNvSpPr>
              <a:spLocks/>
            </p:cNvSpPr>
            <p:nvPr/>
          </p:nvSpPr>
          <p:spPr bwMode="auto">
            <a:xfrm>
              <a:off x="1509" y="3612"/>
              <a:ext cx="346" cy="345"/>
            </a:xfrm>
            <a:custGeom>
              <a:avLst/>
              <a:gdLst>
                <a:gd name="T0" fmla="*/ 0 w 2075"/>
                <a:gd name="T1" fmla="*/ 2075 h 2075"/>
                <a:gd name="T2" fmla="*/ 2074 w 2075"/>
                <a:gd name="T3" fmla="*/ 0 h 2075"/>
                <a:gd name="T4" fmla="*/ 2075 w 2075"/>
                <a:gd name="T5" fmla="*/ 0 h 20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" h="2075">
                  <a:moveTo>
                    <a:pt x="0" y="2075"/>
                  </a:moveTo>
                  <a:lnTo>
                    <a:pt x="2074" y="0"/>
                  </a:lnTo>
                  <a:lnTo>
                    <a:pt x="207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04" name="Freeform 144"/>
            <p:cNvSpPr>
              <a:spLocks/>
            </p:cNvSpPr>
            <p:nvPr/>
          </p:nvSpPr>
          <p:spPr bwMode="auto">
            <a:xfrm>
              <a:off x="1384" y="3983"/>
              <a:ext cx="134" cy="134"/>
            </a:xfrm>
            <a:custGeom>
              <a:avLst/>
              <a:gdLst>
                <a:gd name="T0" fmla="*/ 0 w 806"/>
                <a:gd name="T1" fmla="*/ 806 h 806"/>
                <a:gd name="T2" fmla="*/ 805 w 806"/>
                <a:gd name="T3" fmla="*/ 0 h 806"/>
                <a:gd name="T4" fmla="*/ 806 w 806"/>
                <a:gd name="T5" fmla="*/ 0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06" h="806">
                  <a:moveTo>
                    <a:pt x="0" y="806"/>
                  </a:moveTo>
                  <a:lnTo>
                    <a:pt x="805" y="0"/>
                  </a:lnTo>
                  <a:lnTo>
                    <a:pt x="80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05" name="Freeform 145"/>
            <p:cNvSpPr>
              <a:spLocks/>
            </p:cNvSpPr>
            <p:nvPr/>
          </p:nvSpPr>
          <p:spPr bwMode="auto">
            <a:xfrm>
              <a:off x="1518" y="3629"/>
              <a:ext cx="354" cy="354"/>
            </a:xfrm>
            <a:custGeom>
              <a:avLst/>
              <a:gdLst>
                <a:gd name="T0" fmla="*/ 0 w 2121"/>
                <a:gd name="T1" fmla="*/ 2122 h 2122"/>
                <a:gd name="T2" fmla="*/ 2120 w 2121"/>
                <a:gd name="T3" fmla="*/ 0 h 2122"/>
                <a:gd name="T4" fmla="*/ 2121 w 2121"/>
                <a:gd name="T5" fmla="*/ 0 h 2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21" h="2122">
                  <a:moveTo>
                    <a:pt x="0" y="2122"/>
                  </a:moveTo>
                  <a:lnTo>
                    <a:pt x="2120" y="0"/>
                  </a:lnTo>
                  <a:lnTo>
                    <a:pt x="212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06" name="Freeform 146"/>
            <p:cNvSpPr>
              <a:spLocks/>
            </p:cNvSpPr>
            <p:nvPr/>
          </p:nvSpPr>
          <p:spPr bwMode="auto">
            <a:xfrm>
              <a:off x="1439" y="4007"/>
              <a:ext cx="88" cy="89"/>
            </a:xfrm>
            <a:custGeom>
              <a:avLst/>
              <a:gdLst>
                <a:gd name="T0" fmla="*/ 0 w 533"/>
                <a:gd name="T1" fmla="*/ 533 h 533"/>
                <a:gd name="T2" fmla="*/ 532 w 533"/>
                <a:gd name="T3" fmla="*/ 0 h 533"/>
                <a:gd name="T4" fmla="*/ 533 w 533"/>
                <a:gd name="T5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3" h="533">
                  <a:moveTo>
                    <a:pt x="0" y="533"/>
                  </a:moveTo>
                  <a:lnTo>
                    <a:pt x="532" y="0"/>
                  </a:lnTo>
                  <a:lnTo>
                    <a:pt x="53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07" name="Freeform 147"/>
            <p:cNvSpPr>
              <a:spLocks/>
            </p:cNvSpPr>
            <p:nvPr/>
          </p:nvSpPr>
          <p:spPr bwMode="auto">
            <a:xfrm>
              <a:off x="1527" y="3647"/>
              <a:ext cx="361" cy="360"/>
            </a:xfrm>
            <a:custGeom>
              <a:avLst/>
              <a:gdLst>
                <a:gd name="T0" fmla="*/ 0 w 2162"/>
                <a:gd name="T1" fmla="*/ 2164 h 2164"/>
                <a:gd name="T2" fmla="*/ 2161 w 2162"/>
                <a:gd name="T3" fmla="*/ 0 h 2164"/>
                <a:gd name="T4" fmla="*/ 2162 w 2162"/>
                <a:gd name="T5" fmla="*/ 0 h 2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2" h="2164">
                  <a:moveTo>
                    <a:pt x="0" y="2164"/>
                  </a:moveTo>
                  <a:lnTo>
                    <a:pt x="2161" y="0"/>
                  </a:lnTo>
                  <a:lnTo>
                    <a:pt x="216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08" name="Freeform 148"/>
            <p:cNvSpPr>
              <a:spLocks/>
            </p:cNvSpPr>
            <p:nvPr/>
          </p:nvSpPr>
          <p:spPr bwMode="auto">
            <a:xfrm>
              <a:off x="1493" y="4033"/>
              <a:ext cx="43" cy="43"/>
            </a:xfrm>
            <a:custGeom>
              <a:avLst/>
              <a:gdLst>
                <a:gd name="T0" fmla="*/ 0 w 261"/>
                <a:gd name="T1" fmla="*/ 260 h 260"/>
                <a:gd name="T2" fmla="*/ 260 w 261"/>
                <a:gd name="T3" fmla="*/ 0 h 260"/>
                <a:gd name="T4" fmla="*/ 261 w 261"/>
                <a:gd name="T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1" h="260">
                  <a:moveTo>
                    <a:pt x="0" y="260"/>
                  </a:moveTo>
                  <a:lnTo>
                    <a:pt x="260" y="0"/>
                  </a:lnTo>
                  <a:lnTo>
                    <a:pt x="26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09" name="Freeform 149"/>
            <p:cNvSpPr>
              <a:spLocks/>
            </p:cNvSpPr>
            <p:nvPr/>
          </p:nvSpPr>
          <p:spPr bwMode="auto">
            <a:xfrm>
              <a:off x="1536" y="3665"/>
              <a:ext cx="367" cy="368"/>
            </a:xfrm>
            <a:custGeom>
              <a:avLst/>
              <a:gdLst>
                <a:gd name="T0" fmla="*/ 0 w 2202"/>
                <a:gd name="T1" fmla="*/ 2203 h 2203"/>
                <a:gd name="T2" fmla="*/ 2201 w 2202"/>
                <a:gd name="T3" fmla="*/ 0 h 2203"/>
                <a:gd name="T4" fmla="*/ 2202 w 2202"/>
                <a:gd name="T5" fmla="*/ 0 h 2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2" h="2203">
                  <a:moveTo>
                    <a:pt x="0" y="2203"/>
                  </a:moveTo>
                  <a:lnTo>
                    <a:pt x="2201" y="0"/>
                  </a:lnTo>
                  <a:lnTo>
                    <a:pt x="220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10" name="Freeform 150"/>
            <p:cNvSpPr>
              <a:spLocks/>
            </p:cNvSpPr>
            <p:nvPr/>
          </p:nvSpPr>
          <p:spPr bwMode="auto">
            <a:xfrm>
              <a:off x="1547" y="3684"/>
              <a:ext cx="371" cy="371"/>
            </a:xfrm>
            <a:custGeom>
              <a:avLst/>
              <a:gdLst>
                <a:gd name="T0" fmla="*/ 0 w 2225"/>
                <a:gd name="T1" fmla="*/ 2224 h 2224"/>
                <a:gd name="T2" fmla="*/ 2224 w 2225"/>
                <a:gd name="T3" fmla="*/ 0 h 2224"/>
                <a:gd name="T4" fmla="*/ 2225 w 2225"/>
                <a:gd name="T5" fmla="*/ 0 h 2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25" h="2224">
                  <a:moveTo>
                    <a:pt x="0" y="2224"/>
                  </a:moveTo>
                  <a:lnTo>
                    <a:pt x="2224" y="0"/>
                  </a:lnTo>
                  <a:lnTo>
                    <a:pt x="222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11" name="Freeform 151"/>
            <p:cNvSpPr>
              <a:spLocks/>
            </p:cNvSpPr>
            <p:nvPr/>
          </p:nvSpPr>
          <p:spPr bwMode="auto">
            <a:xfrm>
              <a:off x="1602" y="3704"/>
              <a:ext cx="330" cy="331"/>
            </a:xfrm>
            <a:custGeom>
              <a:avLst/>
              <a:gdLst>
                <a:gd name="T0" fmla="*/ 0 w 1981"/>
                <a:gd name="T1" fmla="*/ 1982 h 1982"/>
                <a:gd name="T2" fmla="*/ 1980 w 1981"/>
                <a:gd name="T3" fmla="*/ 0 h 1982"/>
                <a:gd name="T4" fmla="*/ 1981 w 1981"/>
                <a:gd name="T5" fmla="*/ 0 h 1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1" h="1982">
                  <a:moveTo>
                    <a:pt x="0" y="1982"/>
                  </a:moveTo>
                  <a:lnTo>
                    <a:pt x="1980" y="0"/>
                  </a:lnTo>
                  <a:lnTo>
                    <a:pt x="198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12" name="Freeform 152"/>
            <p:cNvSpPr>
              <a:spLocks/>
            </p:cNvSpPr>
            <p:nvPr/>
          </p:nvSpPr>
          <p:spPr bwMode="auto">
            <a:xfrm>
              <a:off x="1656" y="3725"/>
              <a:ext cx="289" cy="289"/>
            </a:xfrm>
            <a:custGeom>
              <a:avLst/>
              <a:gdLst>
                <a:gd name="T0" fmla="*/ 0 w 1735"/>
                <a:gd name="T1" fmla="*/ 1736 h 1736"/>
                <a:gd name="T2" fmla="*/ 1734 w 1735"/>
                <a:gd name="T3" fmla="*/ 0 h 1736"/>
                <a:gd name="T4" fmla="*/ 1735 w 1735"/>
                <a:gd name="T5" fmla="*/ 0 h 1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5" h="1736">
                  <a:moveTo>
                    <a:pt x="0" y="1736"/>
                  </a:moveTo>
                  <a:lnTo>
                    <a:pt x="1734" y="0"/>
                  </a:lnTo>
                  <a:lnTo>
                    <a:pt x="173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13" name="Freeform 153"/>
            <p:cNvSpPr>
              <a:spLocks/>
            </p:cNvSpPr>
            <p:nvPr/>
          </p:nvSpPr>
          <p:spPr bwMode="auto">
            <a:xfrm>
              <a:off x="1710" y="3747"/>
              <a:ext cx="248" cy="247"/>
            </a:xfrm>
            <a:custGeom>
              <a:avLst/>
              <a:gdLst>
                <a:gd name="T0" fmla="*/ 0 w 1484"/>
                <a:gd name="T1" fmla="*/ 1484 h 1484"/>
                <a:gd name="T2" fmla="*/ 1483 w 1484"/>
                <a:gd name="T3" fmla="*/ 0 h 1484"/>
                <a:gd name="T4" fmla="*/ 1484 w 1484"/>
                <a:gd name="T5" fmla="*/ 0 h 1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4" h="1484">
                  <a:moveTo>
                    <a:pt x="0" y="1484"/>
                  </a:moveTo>
                  <a:lnTo>
                    <a:pt x="1483" y="0"/>
                  </a:lnTo>
                  <a:lnTo>
                    <a:pt x="148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14" name="Freeform 154"/>
            <p:cNvSpPr>
              <a:spLocks/>
            </p:cNvSpPr>
            <p:nvPr/>
          </p:nvSpPr>
          <p:spPr bwMode="auto">
            <a:xfrm>
              <a:off x="1764" y="3769"/>
              <a:ext cx="205" cy="204"/>
            </a:xfrm>
            <a:custGeom>
              <a:avLst/>
              <a:gdLst>
                <a:gd name="T0" fmla="*/ 0 w 1225"/>
                <a:gd name="T1" fmla="*/ 1226 h 1226"/>
                <a:gd name="T2" fmla="*/ 1224 w 1225"/>
                <a:gd name="T3" fmla="*/ 0 h 1226"/>
                <a:gd name="T4" fmla="*/ 1225 w 1225"/>
                <a:gd name="T5" fmla="*/ 0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25" h="1226">
                  <a:moveTo>
                    <a:pt x="0" y="1226"/>
                  </a:moveTo>
                  <a:lnTo>
                    <a:pt x="1224" y="0"/>
                  </a:lnTo>
                  <a:lnTo>
                    <a:pt x="122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15" name="Freeform 155"/>
            <p:cNvSpPr>
              <a:spLocks/>
            </p:cNvSpPr>
            <p:nvPr/>
          </p:nvSpPr>
          <p:spPr bwMode="auto">
            <a:xfrm>
              <a:off x="1819" y="3793"/>
              <a:ext cx="160" cy="160"/>
            </a:xfrm>
            <a:custGeom>
              <a:avLst/>
              <a:gdLst>
                <a:gd name="T0" fmla="*/ 0 w 962"/>
                <a:gd name="T1" fmla="*/ 962 h 962"/>
                <a:gd name="T2" fmla="*/ 961 w 962"/>
                <a:gd name="T3" fmla="*/ 0 h 962"/>
                <a:gd name="T4" fmla="*/ 962 w 962"/>
                <a:gd name="T5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2" h="962">
                  <a:moveTo>
                    <a:pt x="0" y="962"/>
                  </a:moveTo>
                  <a:lnTo>
                    <a:pt x="961" y="0"/>
                  </a:lnTo>
                  <a:lnTo>
                    <a:pt x="96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16" name="Freeform 156"/>
            <p:cNvSpPr>
              <a:spLocks/>
            </p:cNvSpPr>
            <p:nvPr/>
          </p:nvSpPr>
          <p:spPr bwMode="auto">
            <a:xfrm>
              <a:off x="1873" y="3817"/>
              <a:ext cx="116" cy="115"/>
            </a:xfrm>
            <a:custGeom>
              <a:avLst/>
              <a:gdLst>
                <a:gd name="T0" fmla="*/ 0 w 694"/>
                <a:gd name="T1" fmla="*/ 693 h 693"/>
                <a:gd name="T2" fmla="*/ 693 w 694"/>
                <a:gd name="T3" fmla="*/ 0 h 693"/>
                <a:gd name="T4" fmla="*/ 694 w 694"/>
                <a:gd name="T5" fmla="*/ 0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4" h="693">
                  <a:moveTo>
                    <a:pt x="0" y="693"/>
                  </a:moveTo>
                  <a:lnTo>
                    <a:pt x="693" y="0"/>
                  </a:lnTo>
                  <a:lnTo>
                    <a:pt x="69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17" name="Freeform 157"/>
            <p:cNvSpPr>
              <a:spLocks/>
            </p:cNvSpPr>
            <p:nvPr/>
          </p:nvSpPr>
          <p:spPr bwMode="auto">
            <a:xfrm>
              <a:off x="1927" y="3842"/>
              <a:ext cx="71" cy="70"/>
            </a:xfrm>
            <a:custGeom>
              <a:avLst/>
              <a:gdLst>
                <a:gd name="T0" fmla="*/ 0 w 422"/>
                <a:gd name="T1" fmla="*/ 420 h 420"/>
                <a:gd name="T2" fmla="*/ 421 w 422"/>
                <a:gd name="T3" fmla="*/ 0 h 420"/>
                <a:gd name="T4" fmla="*/ 422 w 422"/>
                <a:gd name="T5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2" h="420">
                  <a:moveTo>
                    <a:pt x="0" y="420"/>
                  </a:moveTo>
                  <a:lnTo>
                    <a:pt x="421" y="0"/>
                  </a:lnTo>
                  <a:lnTo>
                    <a:pt x="42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18" name="Freeform 158"/>
            <p:cNvSpPr>
              <a:spLocks/>
            </p:cNvSpPr>
            <p:nvPr/>
          </p:nvSpPr>
          <p:spPr bwMode="auto">
            <a:xfrm>
              <a:off x="1982" y="3867"/>
              <a:ext cx="24" cy="24"/>
            </a:xfrm>
            <a:custGeom>
              <a:avLst/>
              <a:gdLst>
                <a:gd name="T0" fmla="*/ 0 w 148"/>
                <a:gd name="T1" fmla="*/ 146 h 146"/>
                <a:gd name="T2" fmla="*/ 147 w 148"/>
                <a:gd name="T3" fmla="*/ 0 h 146"/>
                <a:gd name="T4" fmla="*/ 148 w 148"/>
                <a:gd name="T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" h="146">
                  <a:moveTo>
                    <a:pt x="0" y="146"/>
                  </a:moveTo>
                  <a:lnTo>
                    <a:pt x="147" y="0"/>
                  </a:lnTo>
                  <a:lnTo>
                    <a:pt x="14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19" name="Freeform 159"/>
            <p:cNvSpPr>
              <a:spLocks/>
            </p:cNvSpPr>
            <p:nvPr/>
          </p:nvSpPr>
          <p:spPr bwMode="auto">
            <a:xfrm>
              <a:off x="3487" y="2482"/>
              <a:ext cx="242" cy="241"/>
            </a:xfrm>
            <a:custGeom>
              <a:avLst/>
              <a:gdLst>
                <a:gd name="T0" fmla="*/ 0 w 1450"/>
                <a:gd name="T1" fmla="*/ 1450 h 1450"/>
                <a:gd name="T2" fmla="*/ 882 w 1450"/>
                <a:gd name="T3" fmla="*/ 568 h 1450"/>
                <a:gd name="T4" fmla="*/ 1449 w 1450"/>
                <a:gd name="T5" fmla="*/ 0 h 1450"/>
                <a:gd name="T6" fmla="*/ 1450 w 1450"/>
                <a:gd name="T7" fmla="*/ 0 h 1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0" h="1450">
                  <a:moveTo>
                    <a:pt x="0" y="1450"/>
                  </a:moveTo>
                  <a:lnTo>
                    <a:pt x="882" y="568"/>
                  </a:lnTo>
                  <a:lnTo>
                    <a:pt x="1449" y="0"/>
                  </a:lnTo>
                  <a:lnTo>
                    <a:pt x="145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20" name="Freeform 160"/>
            <p:cNvSpPr>
              <a:spLocks/>
            </p:cNvSpPr>
            <p:nvPr/>
          </p:nvSpPr>
          <p:spPr bwMode="auto">
            <a:xfrm>
              <a:off x="3457" y="2610"/>
              <a:ext cx="177" cy="178"/>
            </a:xfrm>
            <a:custGeom>
              <a:avLst/>
              <a:gdLst>
                <a:gd name="T0" fmla="*/ 0 w 1063"/>
                <a:gd name="T1" fmla="*/ 1063 h 1063"/>
                <a:gd name="T2" fmla="*/ 1062 w 1063"/>
                <a:gd name="T3" fmla="*/ 0 h 1063"/>
                <a:gd name="T4" fmla="*/ 1063 w 1063"/>
                <a:gd name="T5" fmla="*/ 0 h 1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3" h="1063">
                  <a:moveTo>
                    <a:pt x="0" y="1063"/>
                  </a:moveTo>
                  <a:lnTo>
                    <a:pt x="1062" y="0"/>
                  </a:lnTo>
                  <a:lnTo>
                    <a:pt x="106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21" name="Freeform 161"/>
            <p:cNvSpPr>
              <a:spLocks/>
            </p:cNvSpPr>
            <p:nvPr/>
          </p:nvSpPr>
          <p:spPr bwMode="auto">
            <a:xfrm>
              <a:off x="3771" y="2463"/>
              <a:ext cx="10" cy="11"/>
            </a:xfrm>
            <a:custGeom>
              <a:avLst/>
              <a:gdLst>
                <a:gd name="T0" fmla="*/ 0 w 60"/>
                <a:gd name="T1" fmla="*/ 60 h 60"/>
                <a:gd name="T2" fmla="*/ 59 w 60"/>
                <a:gd name="T3" fmla="*/ 0 h 60"/>
                <a:gd name="T4" fmla="*/ 60 w 60"/>
                <a:gd name="T5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" h="60">
                  <a:moveTo>
                    <a:pt x="0" y="60"/>
                  </a:moveTo>
                  <a:lnTo>
                    <a:pt x="59" y="0"/>
                  </a:lnTo>
                  <a:lnTo>
                    <a:pt x="6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22" name="Freeform 162"/>
            <p:cNvSpPr>
              <a:spLocks/>
            </p:cNvSpPr>
            <p:nvPr/>
          </p:nvSpPr>
          <p:spPr bwMode="auto">
            <a:xfrm>
              <a:off x="3634" y="2474"/>
              <a:ext cx="137" cy="136"/>
            </a:xfrm>
            <a:custGeom>
              <a:avLst/>
              <a:gdLst>
                <a:gd name="T0" fmla="*/ 0 w 822"/>
                <a:gd name="T1" fmla="*/ 821 h 821"/>
                <a:gd name="T2" fmla="*/ 821 w 822"/>
                <a:gd name="T3" fmla="*/ 0 h 821"/>
                <a:gd name="T4" fmla="*/ 822 w 822"/>
                <a:gd name="T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2" h="821">
                  <a:moveTo>
                    <a:pt x="0" y="821"/>
                  </a:moveTo>
                  <a:lnTo>
                    <a:pt x="821" y="0"/>
                  </a:lnTo>
                  <a:lnTo>
                    <a:pt x="82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23" name="Freeform 163"/>
            <p:cNvSpPr>
              <a:spLocks/>
            </p:cNvSpPr>
            <p:nvPr/>
          </p:nvSpPr>
          <p:spPr bwMode="auto">
            <a:xfrm>
              <a:off x="3424" y="2644"/>
              <a:ext cx="210" cy="211"/>
            </a:xfrm>
            <a:custGeom>
              <a:avLst/>
              <a:gdLst>
                <a:gd name="T0" fmla="*/ 0 w 1263"/>
                <a:gd name="T1" fmla="*/ 1263 h 1263"/>
                <a:gd name="T2" fmla="*/ 1262 w 1263"/>
                <a:gd name="T3" fmla="*/ 0 h 1263"/>
                <a:gd name="T4" fmla="*/ 1263 w 1263"/>
                <a:gd name="T5" fmla="*/ 0 h 1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63" h="1263">
                  <a:moveTo>
                    <a:pt x="0" y="1263"/>
                  </a:moveTo>
                  <a:lnTo>
                    <a:pt x="1262" y="0"/>
                  </a:lnTo>
                  <a:lnTo>
                    <a:pt x="126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24" name="Freeform 164"/>
            <p:cNvSpPr>
              <a:spLocks/>
            </p:cNvSpPr>
            <p:nvPr/>
          </p:nvSpPr>
          <p:spPr bwMode="auto">
            <a:xfrm>
              <a:off x="3771" y="2480"/>
              <a:ext cx="27" cy="27"/>
            </a:xfrm>
            <a:custGeom>
              <a:avLst/>
              <a:gdLst>
                <a:gd name="T0" fmla="*/ 0 w 162"/>
                <a:gd name="T1" fmla="*/ 161 h 161"/>
                <a:gd name="T2" fmla="*/ 161 w 162"/>
                <a:gd name="T3" fmla="*/ 0 h 161"/>
                <a:gd name="T4" fmla="*/ 162 w 162"/>
                <a:gd name="T5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" h="161">
                  <a:moveTo>
                    <a:pt x="0" y="161"/>
                  </a:moveTo>
                  <a:lnTo>
                    <a:pt x="161" y="0"/>
                  </a:lnTo>
                  <a:lnTo>
                    <a:pt x="1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25" name="Freeform 165"/>
            <p:cNvSpPr>
              <a:spLocks/>
            </p:cNvSpPr>
            <p:nvPr/>
          </p:nvSpPr>
          <p:spPr bwMode="auto">
            <a:xfrm>
              <a:off x="3634" y="2507"/>
              <a:ext cx="137" cy="137"/>
            </a:xfrm>
            <a:custGeom>
              <a:avLst/>
              <a:gdLst>
                <a:gd name="T0" fmla="*/ 0 w 821"/>
                <a:gd name="T1" fmla="*/ 821 h 821"/>
                <a:gd name="T2" fmla="*/ 820 w 821"/>
                <a:gd name="T3" fmla="*/ 0 h 821"/>
                <a:gd name="T4" fmla="*/ 821 w 821"/>
                <a:gd name="T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1" h="821">
                  <a:moveTo>
                    <a:pt x="0" y="821"/>
                  </a:moveTo>
                  <a:lnTo>
                    <a:pt x="820" y="0"/>
                  </a:lnTo>
                  <a:lnTo>
                    <a:pt x="82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26" name="Freeform 166"/>
            <p:cNvSpPr>
              <a:spLocks/>
            </p:cNvSpPr>
            <p:nvPr/>
          </p:nvSpPr>
          <p:spPr bwMode="auto">
            <a:xfrm>
              <a:off x="3403" y="2678"/>
              <a:ext cx="231" cy="231"/>
            </a:xfrm>
            <a:custGeom>
              <a:avLst/>
              <a:gdLst>
                <a:gd name="T0" fmla="*/ 0 w 1386"/>
                <a:gd name="T1" fmla="*/ 1387 h 1387"/>
                <a:gd name="T2" fmla="*/ 1385 w 1386"/>
                <a:gd name="T3" fmla="*/ 0 h 1387"/>
                <a:gd name="T4" fmla="*/ 1386 w 1386"/>
                <a:gd name="T5" fmla="*/ 0 h 1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86" h="1387">
                  <a:moveTo>
                    <a:pt x="0" y="1387"/>
                  </a:moveTo>
                  <a:lnTo>
                    <a:pt x="1385" y="0"/>
                  </a:lnTo>
                  <a:lnTo>
                    <a:pt x="138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27" name="Freeform 167"/>
            <p:cNvSpPr>
              <a:spLocks/>
            </p:cNvSpPr>
            <p:nvPr/>
          </p:nvSpPr>
          <p:spPr bwMode="auto">
            <a:xfrm>
              <a:off x="3811" y="2497"/>
              <a:ext cx="4" cy="4"/>
            </a:xfrm>
            <a:custGeom>
              <a:avLst/>
              <a:gdLst>
                <a:gd name="T0" fmla="*/ 0 w 22"/>
                <a:gd name="T1" fmla="*/ 21 h 21"/>
                <a:gd name="T2" fmla="*/ 21 w 22"/>
                <a:gd name="T3" fmla="*/ 0 h 21"/>
                <a:gd name="T4" fmla="*/ 22 w 22"/>
                <a:gd name="T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21">
                  <a:moveTo>
                    <a:pt x="0" y="21"/>
                  </a:moveTo>
                  <a:lnTo>
                    <a:pt x="21" y="0"/>
                  </a:lnTo>
                  <a:lnTo>
                    <a:pt x="22" y="0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28" name="Freeform 168"/>
            <p:cNvSpPr>
              <a:spLocks/>
            </p:cNvSpPr>
            <p:nvPr/>
          </p:nvSpPr>
          <p:spPr bwMode="auto">
            <a:xfrm>
              <a:off x="3634" y="2501"/>
              <a:ext cx="177" cy="177"/>
            </a:xfrm>
            <a:custGeom>
              <a:avLst/>
              <a:gdLst>
                <a:gd name="T0" fmla="*/ 0 w 1064"/>
                <a:gd name="T1" fmla="*/ 1063 h 1063"/>
                <a:gd name="T2" fmla="*/ 820 w 1064"/>
                <a:gd name="T3" fmla="*/ 244 h 1063"/>
                <a:gd name="T4" fmla="*/ 1063 w 1064"/>
                <a:gd name="T5" fmla="*/ 0 h 1063"/>
                <a:gd name="T6" fmla="*/ 1064 w 1064"/>
                <a:gd name="T7" fmla="*/ 0 h 1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4" h="1063">
                  <a:moveTo>
                    <a:pt x="0" y="1063"/>
                  </a:moveTo>
                  <a:lnTo>
                    <a:pt x="820" y="244"/>
                  </a:lnTo>
                  <a:lnTo>
                    <a:pt x="1063" y="0"/>
                  </a:lnTo>
                  <a:lnTo>
                    <a:pt x="106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29" name="Freeform 169"/>
            <p:cNvSpPr>
              <a:spLocks/>
            </p:cNvSpPr>
            <p:nvPr/>
          </p:nvSpPr>
          <p:spPr bwMode="auto">
            <a:xfrm>
              <a:off x="3391" y="2712"/>
              <a:ext cx="243" cy="243"/>
            </a:xfrm>
            <a:custGeom>
              <a:avLst/>
              <a:gdLst>
                <a:gd name="T0" fmla="*/ 0 w 1458"/>
                <a:gd name="T1" fmla="*/ 1458 h 1458"/>
                <a:gd name="T2" fmla="*/ 1457 w 1458"/>
                <a:gd name="T3" fmla="*/ 0 h 1458"/>
                <a:gd name="T4" fmla="*/ 1458 w 1458"/>
                <a:gd name="T5" fmla="*/ 0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58" h="1458">
                  <a:moveTo>
                    <a:pt x="0" y="1458"/>
                  </a:moveTo>
                  <a:lnTo>
                    <a:pt x="1457" y="0"/>
                  </a:lnTo>
                  <a:lnTo>
                    <a:pt x="145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30" name="Freeform 170"/>
            <p:cNvSpPr>
              <a:spLocks/>
            </p:cNvSpPr>
            <p:nvPr/>
          </p:nvSpPr>
          <p:spPr bwMode="auto">
            <a:xfrm>
              <a:off x="3823" y="2514"/>
              <a:ext cx="9" cy="9"/>
            </a:xfrm>
            <a:custGeom>
              <a:avLst/>
              <a:gdLst>
                <a:gd name="T0" fmla="*/ 0 w 53"/>
                <a:gd name="T1" fmla="*/ 52 h 52"/>
                <a:gd name="T2" fmla="*/ 52 w 53"/>
                <a:gd name="T3" fmla="*/ 0 h 52"/>
                <a:gd name="T4" fmla="*/ 53 w 53"/>
                <a:gd name="T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52">
                  <a:moveTo>
                    <a:pt x="0" y="52"/>
                  </a:moveTo>
                  <a:lnTo>
                    <a:pt x="52" y="0"/>
                  </a:lnTo>
                  <a:lnTo>
                    <a:pt x="5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31" name="Freeform 171"/>
            <p:cNvSpPr>
              <a:spLocks/>
            </p:cNvSpPr>
            <p:nvPr/>
          </p:nvSpPr>
          <p:spPr bwMode="auto">
            <a:xfrm>
              <a:off x="3634" y="2523"/>
              <a:ext cx="190" cy="189"/>
            </a:xfrm>
            <a:custGeom>
              <a:avLst/>
              <a:gdLst>
                <a:gd name="T0" fmla="*/ 0 w 1136"/>
                <a:gd name="T1" fmla="*/ 1136 h 1136"/>
                <a:gd name="T2" fmla="*/ 819 w 1136"/>
                <a:gd name="T3" fmla="*/ 316 h 1136"/>
                <a:gd name="T4" fmla="*/ 1135 w 1136"/>
                <a:gd name="T5" fmla="*/ 0 h 1136"/>
                <a:gd name="T6" fmla="*/ 1136 w 1136"/>
                <a:gd name="T7" fmla="*/ 0 h 1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36" h="1136">
                  <a:moveTo>
                    <a:pt x="0" y="1136"/>
                  </a:moveTo>
                  <a:lnTo>
                    <a:pt x="819" y="316"/>
                  </a:lnTo>
                  <a:lnTo>
                    <a:pt x="1135" y="0"/>
                  </a:lnTo>
                  <a:lnTo>
                    <a:pt x="113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32" name="Freeform 172"/>
            <p:cNvSpPr>
              <a:spLocks/>
            </p:cNvSpPr>
            <p:nvPr/>
          </p:nvSpPr>
          <p:spPr bwMode="auto">
            <a:xfrm>
              <a:off x="3384" y="2746"/>
              <a:ext cx="250" cy="250"/>
            </a:xfrm>
            <a:custGeom>
              <a:avLst/>
              <a:gdLst>
                <a:gd name="T0" fmla="*/ 0 w 1501"/>
                <a:gd name="T1" fmla="*/ 1503 h 1503"/>
                <a:gd name="T2" fmla="*/ 1500 w 1501"/>
                <a:gd name="T3" fmla="*/ 0 h 1503"/>
                <a:gd name="T4" fmla="*/ 1501 w 1501"/>
                <a:gd name="T5" fmla="*/ 0 h 1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1" h="1503">
                  <a:moveTo>
                    <a:pt x="0" y="1503"/>
                  </a:moveTo>
                  <a:lnTo>
                    <a:pt x="1500" y="0"/>
                  </a:lnTo>
                  <a:lnTo>
                    <a:pt x="150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33" name="Freeform 173"/>
            <p:cNvSpPr>
              <a:spLocks/>
            </p:cNvSpPr>
            <p:nvPr/>
          </p:nvSpPr>
          <p:spPr bwMode="auto">
            <a:xfrm>
              <a:off x="3835" y="2531"/>
              <a:ext cx="14" cy="13"/>
            </a:xfrm>
            <a:custGeom>
              <a:avLst/>
              <a:gdLst>
                <a:gd name="T0" fmla="*/ 0 w 82"/>
                <a:gd name="T1" fmla="*/ 81 h 81"/>
                <a:gd name="T2" fmla="*/ 81 w 82"/>
                <a:gd name="T3" fmla="*/ 0 h 81"/>
                <a:gd name="T4" fmla="*/ 82 w 82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" h="81">
                  <a:moveTo>
                    <a:pt x="0" y="81"/>
                  </a:moveTo>
                  <a:lnTo>
                    <a:pt x="81" y="0"/>
                  </a:lnTo>
                  <a:lnTo>
                    <a:pt x="8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34" name="Freeform 174"/>
            <p:cNvSpPr>
              <a:spLocks/>
            </p:cNvSpPr>
            <p:nvPr/>
          </p:nvSpPr>
          <p:spPr bwMode="auto">
            <a:xfrm>
              <a:off x="3634" y="2544"/>
              <a:ext cx="202" cy="202"/>
            </a:xfrm>
            <a:custGeom>
              <a:avLst/>
              <a:gdLst>
                <a:gd name="T0" fmla="*/ 0 w 1209"/>
                <a:gd name="T1" fmla="*/ 1209 h 1209"/>
                <a:gd name="T2" fmla="*/ 819 w 1209"/>
                <a:gd name="T3" fmla="*/ 390 h 1209"/>
                <a:gd name="T4" fmla="*/ 1208 w 1209"/>
                <a:gd name="T5" fmla="*/ 0 h 1209"/>
                <a:gd name="T6" fmla="*/ 1209 w 1209"/>
                <a:gd name="T7" fmla="*/ 0 h 1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9" h="1209">
                  <a:moveTo>
                    <a:pt x="0" y="1209"/>
                  </a:moveTo>
                  <a:lnTo>
                    <a:pt x="819" y="390"/>
                  </a:lnTo>
                  <a:lnTo>
                    <a:pt x="1208" y="0"/>
                  </a:lnTo>
                  <a:lnTo>
                    <a:pt x="120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35" name="Freeform 175"/>
            <p:cNvSpPr>
              <a:spLocks/>
            </p:cNvSpPr>
            <p:nvPr/>
          </p:nvSpPr>
          <p:spPr bwMode="auto">
            <a:xfrm>
              <a:off x="3379" y="2780"/>
              <a:ext cx="255" cy="255"/>
            </a:xfrm>
            <a:custGeom>
              <a:avLst/>
              <a:gdLst>
                <a:gd name="T0" fmla="*/ 0 w 1530"/>
                <a:gd name="T1" fmla="*/ 1531 h 1531"/>
                <a:gd name="T2" fmla="*/ 1529 w 1530"/>
                <a:gd name="T3" fmla="*/ 0 h 1531"/>
                <a:gd name="T4" fmla="*/ 1530 w 1530"/>
                <a:gd name="T5" fmla="*/ 0 h 1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0" h="1531">
                  <a:moveTo>
                    <a:pt x="0" y="1531"/>
                  </a:moveTo>
                  <a:lnTo>
                    <a:pt x="1529" y="0"/>
                  </a:lnTo>
                  <a:lnTo>
                    <a:pt x="153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36" name="Freeform 176"/>
            <p:cNvSpPr>
              <a:spLocks/>
            </p:cNvSpPr>
            <p:nvPr/>
          </p:nvSpPr>
          <p:spPr bwMode="auto">
            <a:xfrm>
              <a:off x="3848" y="2548"/>
              <a:ext cx="18" cy="18"/>
            </a:xfrm>
            <a:custGeom>
              <a:avLst/>
              <a:gdLst>
                <a:gd name="T0" fmla="*/ 0 w 112"/>
                <a:gd name="T1" fmla="*/ 111 h 111"/>
                <a:gd name="T2" fmla="*/ 111 w 112"/>
                <a:gd name="T3" fmla="*/ 0 h 111"/>
                <a:gd name="T4" fmla="*/ 112 w 112"/>
                <a:gd name="T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2" h="111">
                  <a:moveTo>
                    <a:pt x="0" y="111"/>
                  </a:moveTo>
                  <a:lnTo>
                    <a:pt x="111" y="0"/>
                  </a:lnTo>
                  <a:lnTo>
                    <a:pt x="11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37" name="Freeform 177"/>
            <p:cNvSpPr>
              <a:spLocks/>
            </p:cNvSpPr>
            <p:nvPr/>
          </p:nvSpPr>
          <p:spPr bwMode="auto">
            <a:xfrm>
              <a:off x="3634" y="2566"/>
              <a:ext cx="214" cy="214"/>
            </a:xfrm>
            <a:custGeom>
              <a:avLst/>
              <a:gdLst>
                <a:gd name="T0" fmla="*/ 0 w 1281"/>
                <a:gd name="T1" fmla="*/ 1281 h 1281"/>
                <a:gd name="T2" fmla="*/ 819 w 1281"/>
                <a:gd name="T3" fmla="*/ 463 h 1281"/>
                <a:gd name="T4" fmla="*/ 1280 w 1281"/>
                <a:gd name="T5" fmla="*/ 0 h 1281"/>
                <a:gd name="T6" fmla="*/ 1281 w 1281"/>
                <a:gd name="T7" fmla="*/ 0 h 1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1" h="1281">
                  <a:moveTo>
                    <a:pt x="0" y="1281"/>
                  </a:moveTo>
                  <a:lnTo>
                    <a:pt x="819" y="463"/>
                  </a:lnTo>
                  <a:lnTo>
                    <a:pt x="1280" y="0"/>
                  </a:lnTo>
                  <a:lnTo>
                    <a:pt x="128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38" name="Freeform 178"/>
            <p:cNvSpPr>
              <a:spLocks/>
            </p:cNvSpPr>
            <p:nvPr/>
          </p:nvSpPr>
          <p:spPr bwMode="auto">
            <a:xfrm>
              <a:off x="3376" y="2814"/>
              <a:ext cx="258" cy="258"/>
            </a:xfrm>
            <a:custGeom>
              <a:avLst/>
              <a:gdLst>
                <a:gd name="T0" fmla="*/ 0 w 1551"/>
                <a:gd name="T1" fmla="*/ 1552 h 1552"/>
                <a:gd name="T2" fmla="*/ 1550 w 1551"/>
                <a:gd name="T3" fmla="*/ 0 h 1552"/>
                <a:gd name="T4" fmla="*/ 1551 w 1551"/>
                <a:gd name="T5" fmla="*/ 0 h 1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1" h="1552">
                  <a:moveTo>
                    <a:pt x="0" y="1552"/>
                  </a:moveTo>
                  <a:lnTo>
                    <a:pt x="1550" y="0"/>
                  </a:lnTo>
                  <a:lnTo>
                    <a:pt x="155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39" name="Freeform 179"/>
            <p:cNvSpPr>
              <a:spLocks/>
            </p:cNvSpPr>
            <p:nvPr/>
          </p:nvSpPr>
          <p:spPr bwMode="auto">
            <a:xfrm>
              <a:off x="3860" y="2565"/>
              <a:ext cx="23" cy="23"/>
            </a:xfrm>
            <a:custGeom>
              <a:avLst/>
              <a:gdLst>
                <a:gd name="T0" fmla="*/ 0 w 139"/>
                <a:gd name="T1" fmla="*/ 139 h 139"/>
                <a:gd name="T2" fmla="*/ 138 w 139"/>
                <a:gd name="T3" fmla="*/ 0 h 139"/>
                <a:gd name="T4" fmla="*/ 139 w 139"/>
                <a:gd name="T5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" h="139">
                  <a:moveTo>
                    <a:pt x="0" y="139"/>
                  </a:moveTo>
                  <a:lnTo>
                    <a:pt x="138" y="0"/>
                  </a:lnTo>
                  <a:lnTo>
                    <a:pt x="13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40" name="Freeform 180"/>
            <p:cNvSpPr>
              <a:spLocks/>
            </p:cNvSpPr>
            <p:nvPr/>
          </p:nvSpPr>
          <p:spPr bwMode="auto">
            <a:xfrm>
              <a:off x="3634" y="2588"/>
              <a:ext cx="226" cy="226"/>
            </a:xfrm>
            <a:custGeom>
              <a:avLst/>
              <a:gdLst>
                <a:gd name="T0" fmla="*/ 0 w 1354"/>
                <a:gd name="T1" fmla="*/ 1353 h 1353"/>
                <a:gd name="T2" fmla="*/ 818 w 1354"/>
                <a:gd name="T3" fmla="*/ 536 h 1353"/>
                <a:gd name="T4" fmla="*/ 1353 w 1354"/>
                <a:gd name="T5" fmla="*/ 0 h 1353"/>
                <a:gd name="T6" fmla="*/ 1354 w 1354"/>
                <a:gd name="T7" fmla="*/ 0 h 1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4" h="1353">
                  <a:moveTo>
                    <a:pt x="0" y="1353"/>
                  </a:moveTo>
                  <a:lnTo>
                    <a:pt x="818" y="536"/>
                  </a:lnTo>
                  <a:lnTo>
                    <a:pt x="1353" y="0"/>
                  </a:lnTo>
                  <a:lnTo>
                    <a:pt x="135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41" name="Freeform 181"/>
            <p:cNvSpPr>
              <a:spLocks/>
            </p:cNvSpPr>
            <p:nvPr/>
          </p:nvSpPr>
          <p:spPr bwMode="auto">
            <a:xfrm>
              <a:off x="3381" y="3098"/>
              <a:ext cx="3" cy="3"/>
            </a:xfrm>
            <a:custGeom>
              <a:avLst/>
              <a:gdLst>
                <a:gd name="T0" fmla="*/ 0 w 20"/>
                <a:gd name="T1" fmla="*/ 19 h 19"/>
                <a:gd name="T2" fmla="*/ 18 w 20"/>
                <a:gd name="T3" fmla="*/ 0 h 19"/>
                <a:gd name="T4" fmla="*/ 20 w 20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9">
                  <a:moveTo>
                    <a:pt x="0" y="19"/>
                  </a:moveTo>
                  <a:lnTo>
                    <a:pt x="18" y="0"/>
                  </a:lnTo>
                  <a:lnTo>
                    <a:pt x="2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42" name="Freeform 182"/>
            <p:cNvSpPr>
              <a:spLocks/>
            </p:cNvSpPr>
            <p:nvPr/>
          </p:nvSpPr>
          <p:spPr bwMode="auto">
            <a:xfrm>
              <a:off x="3872" y="2583"/>
              <a:ext cx="26" cy="27"/>
            </a:xfrm>
            <a:custGeom>
              <a:avLst/>
              <a:gdLst>
                <a:gd name="T0" fmla="*/ 0 w 161"/>
                <a:gd name="T1" fmla="*/ 160 h 160"/>
                <a:gd name="T2" fmla="*/ 160 w 161"/>
                <a:gd name="T3" fmla="*/ 0 h 160"/>
                <a:gd name="T4" fmla="*/ 161 w 161"/>
                <a:gd name="T5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1" h="160">
                  <a:moveTo>
                    <a:pt x="0" y="160"/>
                  </a:moveTo>
                  <a:lnTo>
                    <a:pt x="160" y="0"/>
                  </a:lnTo>
                  <a:lnTo>
                    <a:pt x="16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43" name="Freeform 183"/>
            <p:cNvSpPr>
              <a:spLocks/>
            </p:cNvSpPr>
            <p:nvPr/>
          </p:nvSpPr>
          <p:spPr bwMode="auto">
            <a:xfrm>
              <a:off x="3384" y="2848"/>
              <a:ext cx="250" cy="250"/>
            </a:xfrm>
            <a:custGeom>
              <a:avLst/>
              <a:gdLst>
                <a:gd name="T0" fmla="*/ 0 w 1504"/>
                <a:gd name="T1" fmla="*/ 1503 h 1503"/>
                <a:gd name="T2" fmla="*/ 1503 w 1504"/>
                <a:gd name="T3" fmla="*/ 0 h 1503"/>
                <a:gd name="T4" fmla="*/ 1504 w 1504"/>
                <a:gd name="T5" fmla="*/ 0 h 1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4" h="1503">
                  <a:moveTo>
                    <a:pt x="0" y="1503"/>
                  </a:moveTo>
                  <a:lnTo>
                    <a:pt x="1503" y="0"/>
                  </a:lnTo>
                  <a:lnTo>
                    <a:pt x="150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44" name="Freeform 184"/>
            <p:cNvSpPr>
              <a:spLocks/>
            </p:cNvSpPr>
            <p:nvPr/>
          </p:nvSpPr>
          <p:spPr bwMode="auto">
            <a:xfrm>
              <a:off x="3770" y="2610"/>
              <a:ext cx="102" cy="101"/>
            </a:xfrm>
            <a:custGeom>
              <a:avLst/>
              <a:gdLst>
                <a:gd name="T0" fmla="*/ 0 w 608"/>
                <a:gd name="T1" fmla="*/ 608 h 608"/>
                <a:gd name="T2" fmla="*/ 607 w 608"/>
                <a:gd name="T3" fmla="*/ 0 h 608"/>
                <a:gd name="T4" fmla="*/ 608 w 608"/>
                <a:gd name="T5" fmla="*/ 0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8" h="608">
                  <a:moveTo>
                    <a:pt x="0" y="608"/>
                  </a:moveTo>
                  <a:lnTo>
                    <a:pt x="607" y="0"/>
                  </a:lnTo>
                  <a:lnTo>
                    <a:pt x="60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45" name="Freeform 185"/>
            <p:cNvSpPr>
              <a:spLocks/>
            </p:cNvSpPr>
            <p:nvPr/>
          </p:nvSpPr>
          <p:spPr bwMode="auto">
            <a:xfrm>
              <a:off x="3634" y="2711"/>
              <a:ext cx="137" cy="137"/>
            </a:xfrm>
            <a:custGeom>
              <a:avLst/>
              <a:gdLst>
                <a:gd name="T0" fmla="*/ 0 w 819"/>
                <a:gd name="T1" fmla="*/ 819 h 819"/>
                <a:gd name="T2" fmla="*/ 818 w 819"/>
                <a:gd name="T3" fmla="*/ 0 h 819"/>
                <a:gd name="T4" fmla="*/ 819 w 819"/>
                <a:gd name="T5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9" h="819">
                  <a:moveTo>
                    <a:pt x="0" y="819"/>
                  </a:moveTo>
                  <a:lnTo>
                    <a:pt x="818" y="0"/>
                  </a:lnTo>
                  <a:lnTo>
                    <a:pt x="81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46" name="Freeform 186"/>
            <p:cNvSpPr>
              <a:spLocks/>
            </p:cNvSpPr>
            <p:nvPr/>
          </p:nvSpPr>
          <p:spPr bwMode="auto">
            <a:xfrm>
              <a:off x="3407" y="3095"/>
              <a:ext cx="14" cy="14"/>
            </a:xfrm>
            <a:custGeom>
              <a:avLst/>
              <a:gdLst>
                <a:gd name="T0" fmla="*/ 0 w 89"/>
                <a:gd name="T1" fmla="*/ 88 h 88"/>
                <a:gd name="T2" fmla="*/ 88 w 89"/>
                <a:gd name="T3" fmla="*/ 0 h 88"/>
                <a:gd name="T4" fmla="*/ 89 w 89"/>
                <a:gd name="T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88">
                  <a:moveTo>
                    <a:pt x="0" y="88"/>
                  </a:moveTo>
                  <a:lnTo>
                    <a:pt x="88" y="0"/>
                  </a:lnTo>
                  <a:lnTo>
                    <a:pt x="8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47" name="Freeform 187"/>
            <p:cNvSpPr>
              <a:spLocks/>
            </p:cNvSpPr>
            <p:nvPr/>
          </p:nvSpPr>
          <p:spPr bwMode="auto">
            <a:xfrm>
              <a:off x="3884" y="2603"/>
              <a:ext cx="29" cy="29"/>
            </a:xfrm>
            <a:custGeom>
              <a:avLst/>
              <a:gdLst>
                <a:gd name="T0" fmla="*/ 0 w 174"/>
                <a:gd name="T1" fmla="*/ 172 h 172"/>
                <a:gd name="T2" fmla="*/ 172 w 174"/>
                <a:gd name="T3" fmla="*/ 0 h 172"/>
                <a:gd name="T4" fmla="*/ 174 w 174"/>
                <a:gd name="T5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" h="172">
                  <a:moveTo>
                    <a:pt x="0" y="172"/>
                  </a:moveTo>
                  <a:lnTo>
                    <a:pt x="172" y="0"/>
                  </a:lnTo>
                  <a:lnTo>
                    <a:pt x="17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48" name="Freeform 188"/>
            <p:cNvSpPr>
              <a:spLocks/>
            </p:cNvSpPr>
            <p:nvPr/>
          </p:nvSpPr>
          <p:spPr bwMode="auto">
            <a:xfrm>
              <a:off x="3421" y="2881"/>
              <a:ext cx="213" cy="214"/>
            </a:xfrm>
            <a:custGeom>
              <a:avLst/>
              <a:gdLst>
                <a:gd name="T0" fmla="*/ 0 w 1278"/>
                <a:gd name="T1" fmla="*/ 1278 h 1278"/>
                <a:gd name="T2" fmla="*/ 1277 w 1278"/>
                <a:gd name="T3" fmla="*/ 0 h 1278"/>
                <a:gd name="T4" fmla="*/ 1278 w 1278"/>
                <a:gd name="T5" fmla="*/ 0 h 1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8" h="1278">
                  <a:moveTo>
                    <a:pt x="0" y="1278"/>
                  </a:moveTo>
                  <a:lnTo>
                    <a:pt x="1277" y="0"/>
                  </a:lnTo>
                  <a:lnTo>
                    <a:pt x="127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749" name="Freeform 189"/>
            <p:cNvSpPr>
              <a:spLocks/>
            </p:cNvSpPr>
            <p:nvPr/>
          </p:nvSpPr>
          <p:spPr bwMode="auto">
            <a:xfrm>
              <a:off x="3770" y="2632"/>
              <a:ext cx="114" cy="113"/>
            </a:xfrm>
            <a:custGeom>
              <a:avLst/>
              <a:gdLst>
                <a:gd name="T0" fmla="*/ 0 w 683"/>
                <a:gd name="T1" fmla="*/ 682 h 682"/>
                <a:gd name="T2" fmla="*/ 682 w 683"/>
                <a:gd name="T3" fmla="*/ 0 h 682"/>
                <a:gd name="T4" fmla="*/ 683 w 683"/>
                <a:gd name="T5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3" h="682">
                  <a:moveTo>
                    <a:pt x="0" y="682"/>
                  </a:moveTo>
                  <a:lnTo>
                    <a:pt x="682" y="0"/>
                  </a:lnTo>
                  <a:lnTo>
                    <a:pt x="68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7598" name="Group 190"/>
            <p:cNvGrpSpPr>
              <a:grpSpLocks/>
            </p:cNvGrpSpPr>
            <p:nvPr/>
          </p:nvGrpSpPr>
          <p:grpSpPr bwMode="auto">
            <a:xfrm>
              <a:off x="3376" y="2463"/>
              <a:ext cx="788" cy="873"/>
              <a:chOff x="3630" y="2100"/>
              <a:chExt cx="788" cy="873"/>
            </a:xfrm>
          </p:grpSpPr>
          <p:sp>
            <p:nvSpPr>
              <p:cNvPr id="66751" name="Freeform 191"/>
              <p:cNvSpPr>
                <a:spLocks/>
              </p:cNvSpPr>
              <p:nvPr/>
            </p:nvSpPr>
            <p:spPr bwMode="auto">
              <a:xfrm>
                <a:off x="3888" y="2382"/>
                <a:ext cx="136" cy="136"/>
              </a:xfrm>
              <a:custGeom>
                <a:avLst/>
                <a:gdLst>
                  <a:gd name="T0" fmla="*/ 0 w 818"/>
                  <a:gd name="T1" fmla="*/ 818 h 818"/>
                  <a:gd name="T2" fmla="*/ 816 w 818"/>
                  <a:gd name="T3" fmla="*/ 0 h 818"/>
                  <a:gd name="T4" fmla="*/ 818 w 818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8">
                    <a:moveTo>
                      <a:pt x="0" y="818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52" name="Freeform 192"/>
              <p:cNvSpPr>
                <a:spLocks/>
              </p:cNvSpPr>
              <p:nvPr/>
            </p:nvSpPr>
            <p:spPr bwMode="auto">
              <a:xfrm>
                <a:off x="3687" y="2729"/>
                <a:ext cx="25" cy="25"/>
              </a:xfrm>
              <a:custGeom>
                <a:avLst/>
                <a:gdLst>
                  <a:gd name="T0" fmla="*/ 0 w 153"/>
                  <a:gd name="T1" fmla="*/ 151 h 151"/>
                  <a:gd name="T2" fmla="*/ 152 w 153"/>
                  <a:gd name="T3" fmla="*/ 0 h 151"/>
                  <a:gd name="T4" fmla="*/ 153 w 153"/>
                  <a:gd name="T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" h="151">
                    <a:moveTo>
                      <a:pt x="0" y="151"/>
                    </a:moveTo>
                    <a:lnTo>
                      <a:pt x="152" y="0"/>
                    </a:lnTo>
                    <a:lnTo>
                      <a:pt x="15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53" name="Freeform 193"/>
              <p:cNvSpPr>
                <a:spLocks/>
              </p:cNvSpPr>
              <p:nvPr/>
            </p:nvSpPr>
            <p:spPr bwMode="auto">
              <a:xfrm>
                <a:off x="4150" y="2260"/>
                <a:ext cx="30" cy="30"/>
              </a:xfrm>
              <a:custGeom>
                <a:avLst/>
                <a:gdLst>
                  <a:gd name="T0" fmla="*/ 0 w 180"/>
                  <a:gd name="T1" fmla="*/ 180 h 180"/>
                  <a:gd name="T2" fmla="*/ 179 w 180"/>
                  <a:gd name="T3" fmla="*/ 0 h 180"/>
                  <a:gd name="T4" fmla="*/ 180 w 180"/>
                  <a:gd name="T5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0" h="180">
                    <a:moveTo>
                      <a:pt x="0" y="180"/>
                    </a:moveTo>
                    <a:lnTo>
                      <a:pt x="179" y="0"/>
                    </a:lnTo>
                    <a:lnTo>
                      <a:pt x="18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54" name="Freeform 194"/>
              <p:cNvSpPr>
                <a:spLocks/>
              </p:cNvSpPr>
              <p:nvPr/>
            </p:nvSpPr>
            <p:spPr bwMode="auto">
              <a:xfrm>
                <a:off x="3712" y="2552"/>
                <a:ext cx="176" cy="177"/>
              </a:xfrm>
              <a:custGeom>
                <a:avLst/>
                <a:gdLst>
                  <a:gd name="T0" fmla="*/ 0 w 1058"/>
                  <a:gd name="T1" fmla="*/ 1058 h 1058"/>
                  <a:gd name="T2" fmla="*/ 1057 w 1058"/>
                  <a:gd name="T3" fmla="*/ 0 h 1058"/>
                  <a:gd name="T4" fmla="*/ 1058 w 1058"/>
                  <a:gd name="T5" fmla="*/ 0 h 10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58" h="1058">
                    <a:moveTo>
                      <a:pt x="0" y="1058"/>
                    </a:moveTo>
                    <a:lnTo>
                      <a:pt x="1057" y="0"/>
                    </a:lnTo>
                    <a:lnTo>
                      <a:pt x="105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55" name="Freeform 195"/>
              <p:cNvSpPr>
                <a:spLocks/>
              </p:cNvSpPr>
              <p:nvPr/>
            </p:nvSpPr>
            <p:spPr bwMode="auto">
              <a:xfrm>
                <a:off x="4024" y="2290"/>
                <a:ext cx="126" cy="126"/>
              </a:xfrm>
              <a:custGeom>
                <a:avLst/>
                <a:gdLst>
                  <a:gd name="T0" fmla="*/ 0 w 757"/>
                  <a:gd name="T1" fmla="*/ 755 h 755"/>
                  <a:gd name="T2" fmla="*/ 756 w 757"/>
                  <a:gd name="T3" fmla="*/ 0 h 755"/>
                  <a:gd name="T4" fmla="*/ 757 w 757"/>
                  <a:gd name="T5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7" h="755">
                    <a:moveTo>
                      <a:pt x="0" y="755"/>
                    </a:moveTo>
                    <a:lnTo>
                      <a:pt x="756" y="0"/>
                    </a:lnTo>
                    <a:lnTo>
                      <a:pt x="75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56" name="Freeform 196"/>
              <p:cNvSpPr>
                <a:spLocks/>
              </p:cNvSpPr>
              <p:nvPr/>
            </p:nvSpPr>
            <p:spPr bwMode="auto">
              <a:xfrm>
                <a:off x="3888" y="2416"/>
                <a:ext cx="136" cy="136"/>
              </a:xfrm>
              <a:custGeom>
                <a:avLst/>
                <a:gdLst>
                  <a:gd name="T0" fmla="*/ 0 w 818"/>
                  <a:gd name="T1" fmla="*/ 817 h 817"/>
                  <a:gd name="T2" fmla="*/ 816 w 818"/>
                  <a:gd name="T3" fmla="*/ 0 h 817"/>
                  <a:gd name="T4" fmla="*/ 818 w 818"/>
                  <a:gd name="T5" fmla="*/ 0 h 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7">
                    <a:moveTo>
                      <a:pt x="0" y="817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57" name="Freeform 197"/>
              <p:cNvSpPr>
                <a:spLocks/>
              </p:cNvSpPr>
              <p:nvPr/>
            </p:nvSpPr>
            <p:spPr bwMode="auto">
              <a:xfrm>
                <a:off x="3713" y="2727"/>
                <a:ext cx="35" cy="35"/>
              </a:xfrm>
              <a:custGeom>
                <a:avLst/>
                <a:gdLst>
                  <a:gd name="T0" fmla="*/ 0 w 211"/>
                  <a:gd name="T1" fmla="*/ 211 h 211"/>
                  <a:gd name="T2" fmla="*/ 210 w 211"/>
                  <a:gd name="T3" fmla="*/ 0 h 211"/>
                  <a:gd name="T4" fmla="*/ 211 w 211"/>
                  <a:gd name="T5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1" h="211">
                    <a:moveTo>
                      <a:pt x="0" y="211"/>
                    </a:moveTo>
                    <a:lnTo>
                      <a:pt x="210" y="0"/>
                    </a:lnTo>
                    <a:lnTo>
                      <a:pt x="21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58" name="Freeform 198"/>
              <p:cNvSpPr>
                <a:spLocks/>
              </p:cNvSpPr>
              <p:nvPr/>
            </p:nvSpPr>
            <p:spPr bwMode="auto">
              <a:xfrm>
                <a:off x="4162" y="2282"/>
                <a:ext cx="31" cy="30"/>
              </a:xfrm>
              <a:custGeom>
                <a:avLst/>
                <a:gdLst>
                  <a:gd name="T0" fmla="*/ 0 w 182"/>
                  <a:gd name="T1" fmla="*/ 182 h 182"/>
                  <a:gd name="T2" fmla="*/ 181 w 182"/>
                  <a:gd name="T3" fmla="*/ 0 h 182"/>
                  <a:gd name="T4" fmla="*/ 182 w 182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2">
                    <a:moveTo>
                      <a:pt x="0" y="182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59" name="Freeform 199"/>
              <p:cNvSpPr>
                <a:spLocks/>
              </p:cNvSpPr>
              <p:nvPr/>
            </p:nvSpPr>
            <p:spPr bwMode="auto">
              <a:xfrm>
                <a:off x="3748" y="2586"/>
                <a:ext cx="140" cy="141"/>
              </a:xfrm>
              <a:custGeom>
                <a:avLst/>
                <a:gdLst>
                  <a:gd name="T0" fmla="*/ 0 w 843"/>
                  <a:gd name="T1" fmla="*/ 843 h 843"/>
                  <a:gd name="T2" fmla="*/ 842 w 843"/>
                  <a:gd name="T3" fmla="*/ 0 h 843"/>
                  <a:gd name="T4" fmla="*/ 843 w 843"/>
                  <a:gd name="T5" fmla="*/ 0 h 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3" h="843">
                    <a:moveTo>
                      <a:pt x="0" y="843"/>
                    </a:moveTo>
                    <a:lnTo>
                      <a:pt x="842" y="0"/>
                    </a:lnTo>
                    <a:lnTo>
                      <a:pt x="84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60" name="Freeform 200"/>
              <p:cNvSpPr>
                <a:spLocks/>
              </p:cNvSpPr>
              <p:nvPr/>
            </p:nvSpPr>
            <p:spPr bwMode="auto">
              <a:xfrm>
                <a:off x="4024" y="2312"/>
                <a:ext cx="138" cy="138"/>
              </a:xfrm>
              <a:custGeom>
                <a:avLst/>
                <a:gdLst>
                  <a:gd name="T0" fmla="*/ 0 w 830"/>
                  <a:gd name="T1" fmla="*/ 829 h 829"/>
                  <a:gd name="T2" fmla="*/ 829 w 830"/>
                  <a:gd name="T3" fmla="*/ 0 h 829"/>
                  <a:gd name="T4" fmla="*/ 830 w 830"/>
                  <a:gd name="T5" fmla="*/ 0 h 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0" h="829">
                    <a:moveTo>
                      <a:pt x="0" y="829"/>
                    </a:moveTo>
                    <a:lnTo>
                      <a:pt x="829" y="0"/>
                    </a:lnTo>
                    <a:lnTo>
                      <a:pt x="83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61" name="Freeform 201"/>
              <p:cNvSpPr>
                <a:spLocks/>
              </p:cNvSpPr>
              <p:nvPr/>
            </p:nvSpPr>
            <p:spPr bwMode="auto">
              <a:xfrm>
                <a:off x="3888" y="2450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62" name="Freeform 202"/>
              <p:cNvSpPr>
                <a:spLocks/>
              </p:cNvSpPr>
              <p:nvPr/>
            </p:nvSpPr>
            <p:spPr bwMode="auto">
              <a:xfrm>
                <a:off x="3739" y="2725"/>
                <a:ext cx="44" cy="44"/>
              </a:xfrm>
              <a:custGeom>
                <a:avLst/>
                <a:gdLst>
                  <a:gd name="T0" fmla="*/ 0 w 267"/>
                  <a:gd name="T1" fmla="*/ 266 h 266"/>
                  <a:gd name="T2" fmla="*/ 266 w 267"/>
                  <a:gd name="T3" fmla="*/ 0 h 266"/>
                  <a:gd name="T4" fmla="*/ 267 w 267"/>
                  <a:gd name="T5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7" h="266">
                    <a:moveTo>
                      <a:pt x="0" y="266"/>
                    </a:moveTo>
                    <a:lnTo>
                      <a:pt x="266" y="0"/>
                    </a:lnTo>
                    <a:lnTo>
                      <a:pt x="2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63" name="Freeform 203"/>
              <p:cNvSpPr>
                <a:spLocks/>
              </p:cNvSpPr>
              <p:nvPr/>
            </p:nvSpPr>
            <p:spPr bwMode="auto">
              <a:xfrm>
                <a:off x="4174" y="2304"/>
                <a:ext cx="31" cy="30"/>
              </a:xfrm>
              <a:custGeom>
                <a:avLst/>
                <a:gdLst>
                  <a:gd name="T0" fmla="*/ 0 w 182"/>
                  <a:gd name="T1" fmla="*/ 181 h 181"/>
                  <a:gd name="T2" fmla="*/ 181 w 182"/>
                  <a:gd name="T3" fmla="*/ 0 h 181"/>
                  <a:gd name="T4" fmla="*/ 182 w 182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1">
                    <a:moveTo>
                      <a:pt x="0" y="181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64" name="Freeform 204"/>
              <p:cNvSpPr>
                <a:spLocks/>
              </p:cNvSpPr>
              <p:nvPr/>
            </p:nvSpPr>
            <p:spPr bwMode="auto">
              <a:xfrm>
                <a:off x="3783" y="2620"/>
                <a:ext cx="105" cy="105"/>
              </a:xfrm>
              <a:custGeom>
                <a:avLst/>
                <a:gdLst>
                  <a:gd name="T0" fmla="*/ 0 w 631"/>
                  <a:gd name="T1" fmla="*/ 631 h 631"/>
                  <a:gd name="T2" fmla="*/ 630 w 631"/>
                  <a:gd name="T3" fmla="*/ 0 h 631"/>
                  <a:gd name="T4" fmla="*/ 631 w 631"/>
                  <a:gd name="T5" fmla="*/ 0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1" h="631">
                    <a:moveTo>
                      <a:pt x="0" y="631"/>
                    </a:moveTo>
                    <a:lnTo>
                      <a:pt x="630" y="0"/>
                    </a:lnTo>
                    <a:lnTo>
                      <a:pt x="63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65" name="Freeform 205"/>
              <p:cNvSpPr>
                <a:spLocks/>
              </p:cNvSpPr>
              <p:nvPr/>
            </p:nvSpPr>
            <p:spPr bwMode="auto">
              <a:xfrm>
                <a:off x="4024" y="2334"/>
                <a:ext cx="150" cy="150"/>
              </a:xfrm>
              <a:custGeom>
                <a:avLst/>
                <a:gdLst>
                  <a:gd name="T0" fmla="*/ 0 w 903"/>
                  <a:gd name="T1" fmla="*/ 902 h 902"/>
                  <a:gd name="T2" fmla="*/ 902 w 903"/>
                  <a:gd name="T3" fmla="*/ 0 h 902"/>
                  <a:gd name="T4" fmla="*/ 903 w 903"/>
                  <a:gd name="T5" fmla="*/ 0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3" h="902">
                    <a:moveTo>
                      <a:pt x="0" y="902"/>
                    </a:moveTo>
                    <a:lnTo>
                      <a:pt x="902" y="0"/>
                    </a:lnTo>
                    <a:lnTo>
                      <a:pt x="90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66" name="Freeform 206"/>
              <p:cNvSpPr>
                <a:spLocks/>
              </p:cNvSpPr>
              <p:nvPr/>
            </p:nvSpPr>
            <p:spPr bwMode="auto">
              <a:xfrm>
                <a:off x="3888" y="2484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67" name="Freeform 207"/>
              <p:cNvSpPr>
                <a:spLocks/>
              </p:cNvSpPr>
              <p:nvPr/>
            </p:nvSpPr>
            <p:spPr bwMode="auto">
              <a:xfrm>
                <a:off x="3765" y="2724"/>
                <a:ext cx="53" cy="53"/>
              </a:xfrm>
              <a:custGeom>
                <a:avLst/>
                <a:gdLst>
                  <a:gd name="T0" fmla="*/ 0 w 318"/>
                  <a:gd name="T1" fmla="*/ 317 h 317"/>
                  <a:gd name="T2" fmla="*/ 317 w 318"/>
                  <a:gd name="T3" fmla="*/ 0 h 317"/>
                  <a:gd name="T4" fmla="*/ 318 w 318"/>
                  <a:gd name="T5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8" h="317">
                    <a:moveTo>
                      <a:pt x="0" y="317"/>
                    </a:moveTo>
                    <a:lnTo>
                      <a:pt x="317" y="0"/>
                    </a:lnTo>
                    <a:lnTo>
                      <a:pt x="3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68" name="Freeform 208"/>
              <p:cNvSpPr>
                <a:spLocks/>
              </p:cNvSpPr>
              <p:nvPr/>
            </p:nvSpPr>
            <p:spPr bwMode="auto">
              <a:xfrm>
                <a:off x="4186" y="2325"/>
                <a:ext cx="31" cy="31"/>
              </a:xfrm>
              <a:custGeom>
                <a:avLst/>
                <a:gdLst>
                  <a:gd name="T0" fmla="*/ 0 w 184"/>
                  <a:gd name="T1" fmla="*/ 182 h 182"/>
                  <a:gd name="T2" fmla="*/ 183 w 184"/>
                  <a:gd name="T3" fmla="*/ 0 h 182"/>
                  <a:gd name="T4" fmla="*/ 184 w 184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2">
                    <a:moveTo>
                      <a:pt x="0" y="182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69" name="Freeform 209"/>
              <p:cNvSpPr>
                <a:spLocks/>
              </p:cNvSpPr>
              <p:nvPr/>
            </p:nvSpPr>
            <p:spPr bwMode="auto">
              <a:xfrm>
                <a:off x="3818" y="2654"/>
                <a:ext cx="70" cy="70"/>
              </a:xfrm>
              <a:custGeom>
                <a:avLst/>
                <a:gdLst>
                  <a:gd name="T0" fmla="*/ 0 w 423"/>
                  <a:gd name="T1" fmla="*/ 423 h 423"/>
                  <a:gd name="T2" fmla="*/ 422 w 423"/>
                  <a:gd name="T3" fmla="*/ 0 h 423"/>
                  <a:gd name="T4" fmla="*/ 423 w 423"/>
                  <a:gd name="T5" fmla="*/ 0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3" h="423">
                    <a:moveTo>
                      <a:pt x="0" y="423"/>
                    </a:moveTo>
                    <a:lnTo>
                      <a:pt x="422" y="0"/>
                    </a:lnTo>
                    <a:lnTo>
                      <a:pt x="42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70" name="Freeform 210"/>
              <p:cNvSpPr>
                <a:spLocks/>
              </p:cNvSpPr>
              <p:nvPr/>
            </p:nvSpPr>
            <p:spPr bwMode="auto">
              <a:xfrm>
                <a:off x="4024" y="2356"/>
                <a:ext cx="163" cy="162"/>
              </a:xfrm>
              <a:custGeom>
                <a:avLst/>
                <a:gdLst>
                  <a:gd name="T0" fmla="*/ 0 w 975"/>
                  <a:gd name="T1" fmla="*/ 976 h 976"/>
                  <a:gd name="T2" fmla="*/ 974 w 975"/>
                  <a:gd name="T3" fmla="*/ 0 h 976"/>
                  <a:gd name="T4" fmla="*/ 975 w 975"/>
                  <a:gd name="T5" fmla="*/ 0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5" h="976">
                    <a:moveTo>
                      <a:pt x="0" y="976"/>
                    </a:moveTo>
                    <a:lnTo>
                      <a:pt x="974" y="0"/>
                    </a:lnTo>
                    <a:lnTo>
                      <a:pt x="97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71" name="Freeform 211"/>
              <p:cNvSpPr>
                <a:spLocks/>
              </p:cNvSpPr>
              <p:nvPr/>
            </p:nvSpPr>
            <p:spPr bwMode="auto">
              <a:xfrm>
                <a:off x="3888" y="2518"/>
                <a:ext cx="136" cy="136"/>
              </a:xfrm>
              <a:custGeom>
                <a:avLst/>
                <a:gdLst>
                  <a:gd name="T0" fmla="*/ 0 w 816"/>
                  <a:gd name="T1" fmla="*/ 815 h 815"/>
                  <a:gd name="T2" fmla="*/ 815 w 816"/>
                  <a:gd name="T3" fmla="*/ 0 h 815"/>
                  <a:gd name="T4" fmla="*/ 816 w 816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5">
                    <a:moveTo>
                      <a:pt x="0" y="815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72" name="Freeform 212"/>
              <p:cNvSpPr>
                <a:spLocks/>
              </p:cNvSpPr>
              <p:nvPr/>
            </p:nvSpPr>
            <p:spPr bwMode="auto">
              <a:xfrm>
                <a:off x="3791" y="2724"/>
                <a:ext cx="61" cy="61"/>
              </a:xfrm>
              <a:custGeom>
                <a:avLst/>
                <a:gdLst>
                  <a:gd name="T0" fmla="*/ 0 w 366"/>
                  <a:gd name="T1" fmla="*/ 364 h 364"/>
                  <a:gd name="T2" fmla="*/ 365 w 366"/>
                  <a:gd name="T3" fmla="*/ 0 h 364"/>
                  <a:gd name="T4" fmla="*/ 366 w 366"/>
                  <a:gd name="T5" fmla="*/ 0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6" h="364">
                    <a:moveTo>
                      <a:pt x="0" y="364"/>
                    </a:moveTo>
                    <a:lnTo>
                      <a:pt x="365" y="0"/>
                    </a:lnTo>
                    <a:lnTo>
                      <a:pt x="36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73" name="Freeform 213"/>
              <p:cNvSpPr>
                <a:spLocks/>
              </p:cNvSpPr>
              <p:nvPr/>
            </p:nvSpPr>
            <p:spPr bwMode="auto">
              <a:xfrm>
                <a:off x="4198" y="2347"/>
                <a:ext cx="31" cy="30"/>
              </a:xfrm>
              <a:custGeom>
                <a:avLst/>
                <a:gdLst>
                  <a:gd name="T0" fmla="*/ 0 w 184"/>
                  <a:gd name="T1" fmla="*/ 184 h 184"/>
                  <a:gd name="T2" fmla="*/ 183 w 184"/>
                  <a:gd name="T3" fmla="*/ 0 h 184"/>
                  <a:gd name="T4" fmla="*/ 184 w 184"/>
                  <a:gd name="T5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4">
                    <a:moveTo>
                      <a:pt x="0" y="184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74" name="Freeform 214"/>
              <p:cNvSpPr>
                <a:spLocks/>
              </p:cNvSpPr>
              <p:nvPr/>
            </p:nvSpPr>
            <p:spPr bwMode="auto">
              <a:xfrm>
                <a:off x="3852" y="2688"/>
                <a:ext cx="36" cy="36"/>
              </a:xfrm>
              <a:custGeom>
                <a:avLst/>
                <a:gdLst>
                  <a:gd name="T0" fmla="*/ 0 w 219"/>
                  <a:gd name="T1" fmla="*/ 219 h 219"/>
                  <a:gd name="T2" fmla="*/ 218 w 219"/>
                  <a:gd name="T3" fmla="*/ 0 h 219"/>
                  <a:gd name="T4" fmla="*/ 219 w 219"/>
                  <a:gd name="T5" fmla="*/ 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9" h="219">
                    <a:moveTo>
                      <a:pt x="0" y="219"/>
                    </a:moveTo>
                    <a:lnTo>
                      <a:pt x="218" y="0"/>
                    </a:lnTo>
                    <a:lnTo>
                      <a:pt x="21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75" name="Freeform 215"/>
              <p:cNvSpPr>
                <a:spLocks/>
              </p:cNvSpPr>
              <p:nvPr/>
            </p:nvSpPr>
            <p:spPr bwMode="auto">
              <a:xfrm>
                <a:off x="4024" y="2377"/>
                <a:ext cx="175" cy="175"/>
              </a:xfrm>
              <a:custGeom>
                <a:avLst/>
                <a:gdLst>
                  <a:gd name="T0" fmla="*/ 0 w 1049"/>
                  <a:gd name="T1" fmla="*/ 1048 h 1048"/>
                  <a:gd name="T2" fmla="*/ 1048 w 1049"/>
                  <a:gd name="T3" fmla="*/ 0 h 1048"/>
                  <a:gd name="T4" fmla="*/ 1049 w 1049"/>
                  <a:gd name="T5" fmla="*/ 0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9" h="1048">
                    <a:moveTo>
                      <a:pt x="0" y="1048"/>
                    </a:moveTo>
                    <a:lnTo>
                      <a:pt x="1048" y="0"/>
                    </a:lnTo>
                    <a:lnTo>
                      <a:pt x="104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76" name="Freeform 216"/>
              <p:cNvSpPr>
                <a:spLocks/>
              </p:cNvSpPr>
              <p:nvPr/>
            </p:nvSpPr>
            <p:spPr bwMode="auto">
              <a:xfrm>
                <a:off x="3888" y="2552"/>
                <a:ext cx="136" cy="136"/>
              </a:xfrm>
              <a:custGeom>
                <a:avLst/>
                <a:gdLst>
                  <a:gd name="T0" fmla="*/ 0 w 815"/>
                  <a:gd name="T1" fmla="*/ 815 h 815"/>
                  <a:gd name="T2" fmla="*/ 814 w 815"/>
                  <a:gd name="T3" fmla="*/ 0 h 815"/>
                  <a:gd name="T4" fmla="*/ 815 w 815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5">
                    <a:moveTo>
                      <a:pt x="0" y="815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77" name="Freeform 217"/>
              <p:cNvSpPr>
                <a:spLocks/>
              </p:cNvSpPr>
              <p:nvPr/>
            </p:nvSpPr>
            <p:spPr bwMode="auto">
              <a:xfrm>
                <a:off x="3817" y="2724"/>
                <a:ext cx="69" cy="69"/>
              </a:xfrm>
              <a:custGeom>
                <a:avLst/>
                <a:gdLst>
                  <a:gd name="T0" fmla="*/ 0 w 411"/>
                  <a:gd name="T1" fmla="*/ 410 h 410"/>
                  <a:gd name="T2" fmla="*/ 410 w 411"/>
                  <a:gd name="T3" fmla="*/ 0 h 410"/>
                  <a:gd name="T4" fmla="*/ 411 w 411"/>
                  <a:gd name="T5" fmla="*/ 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1" h="410">
                    <a:moveTo>
                      <a:pt x="0" y="410"/>
                    </a:moveTo>
                    <a:lnTo>
                      <a:pt x="410" y="0"/>
                    </a:lnTo>
                    <a:lnTo>
                      <a:pt x="41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78" name="Freeform 218"/>
              <p:cNvSpPr>
                <a:spLocks/>
              </p:cNvSpPr>
              <p:nvPr/>
            </p:nvSpPr>
            <p:spPr bwMode="auto">
              <a:xfrm>
                <a:off x="4211" y="2368"/>
                <a:ext cx="31" cy="31"/>
              </a:xfrm>
              <a:custGeom>
                <a:avLst/>
                <a:gdLst>
                  <a:gd name="T0" fmla="*/ 0 w 187"/>
                  <a:gd name="T1" fmla="*/ 186 h 186"/>
                  <a:gd name="T2" fmla="*/ 186 w 187"/>
                  <a:gd name="T3" fmla="*/ 0 h 186"/>
                  <a:gd name="T4" fmla="*/ 187 w 187"/>
                  <a:gd name="T5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6">
                    <a:moveTo>
                      <a:pt x="0" y="186"/>
                    </a:moveTo>
                    <a:lnTo>
                      <a:pt x="186" y="0"/>
                    </a:lnTo>
                    <a:lnTo>
                      <a:pt x="18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79" name="Freeform 219"/>
              <p:cNvSpPr>
                <a:spLocks/>
              </p:cNvSpPr>
              <p:nvPr/>
            </p:nvSpPr>
            <p:spPr bwMode="auto">
              <a:xfrm>
                <a:off x="3885" y="2722"/>
                <a:ext cx="3" cy="2"/>
              </a:xfrm>
              <a:custGeom>
                <a:avLst/>
                <a:gdLst>
                  <a:gd name="T0" fmla="*/ 0 w 18"/>
                  <a:gd name="T1" fmla="*/ 17 h 17"/>
                  <a:gd name="T2" fmla="*/ 17 w 18"/>
                  <a:gd name="T3" fmla="*/ 0 h 17"/>
                  <a:gd name="T4" fmla="*/ 18 w 18"/>
                  <a:gd name="T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" h="17">
                    <a:moveTo>
                      <a:pt x="0" y="17"/>
                    </a:moveTo>
                    <a:lnTo>
                      <a:pt x="17" y="0"/>
                    </a:lnTo>
                    <a:lnTo>
                      <a:pt x="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80" name="Freeform 220"/>
              <p:cNvSpPr>
                <a:spLocks/>
              </p:cNvSpPr>
              <p:nvPr/>
            </p:nvSpPr>
            <p:spPr bwMode="auto">
              <a:xfrm>
                <a:off x="4024" y="2399"/>
                <a:ext cx="187" cy="187"/>
              </a:xfrm>
              <a:custGeom>
                <a:avLst/>
                <a:gdLst>
                  <a:gd name="T0" fmla="*/ 0 w 1121"/>
                  <a:gd name="T1" fmla="*/ 1121 h 1121"/>
                  <a:gd name="T2" fmla="*/ 1120 w 1121"/>
                  <a:gd name="T3" fmla="*/ 0 h 1121"/>
                  <a:gd name="T4" fmla="*/ 1121 w 1121"/>
                  <a:gd name="T5" fmla="*/ 0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1" h="1121">
                    <a:moveTo>
                      <a:pt x="0" y="1121"/>
                    </a:moveTo>
                    <a:lnTo>
                      <a:pt x="1120" y="0"/>
                    </a:lnTo>
                    <a:lnTo>
                      <a:pt x="112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81" name="Freeform 221"/>
              <p:cNvSpPr>
                <a:spLocks/>
              </p:cNvSpPr>
              <p:nvPr/>
            </p:nvSpPr>
            <p:spPr bwMode="auto">
              <a:xfrm>
                <a:off x="3888" y="2586"/>
                <a:ext cx="136" cy="136"/>
              </a:xfrm>
              <a:custGeom>
                <a:avLst/>
                <a:gdLst>
                  <a:gd name="T0" fmla="*/ 0 w 815"/>
                  <a:gd name="T1" fmla="*/ 814 h 814"/>
                  <a:gd name="T2" fmla="*/ 814 w 815"/>
                  <a:gd name="T3" fmla="*/ 0 h 814"/>
                  <a:gd name="T4" fmla="*/ 815 w 815"/>
                  <a:gd name="T5" fmla="*/ 0 h 8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4">
                    <a:moveTo>
                      <a:pt x="0" y="814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82" name="Freeform 222"/>
              <p:cNvSpPr>
                <a:spLocks/>
              </p:cNvSpPr>
              <p:nvPr/>
            </p:nvSpPr>
            <p:spPr bwMode="auto">
              <a:xfrm>
                <a:off x="3843" y="2756"/>
                <a:ext cx="45" cy="45"/>
              </a:xfrm>
              <a:custGeom>
                <a:avLst/>
                <a:gdLst>
                  <a:gd name="T0" fmla="*/ 0 w 270"/>
                  <a:gd name="T1" fmla="*/ 271 h 271"/>
                  <a:gd name="T2" fmla="*/ 269 w 270"/>
                  <a:gd name="T3" fmla="*/ 0 h 271"/>
                  <a:gd name="T4" fmla="*/ 270 w 270"/>
                  <a:gd name="T5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0" h="271">
                    <a:moveTo>
                      <a:pt x="0" y="271"/>
                    </a:moveTo>
                    <a:lnTo>
                      <a:pt x="269" y="0"/>
                    </a:lnTo>
                    <a:lnTo>
                      <a:pt x="27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83" name="Freeform 223"/>
              <p:cNvSpPr>
                <a:spLocks/>
              </p:cNvSpPr>
              <p:nvPr/>
            </p:nvSpPr>
            <p:spPr bwMode="auto">
              <a:xfrm>
                <a:off x="4223" y="2390"/>
                <a:ext cx="31" cy="31"/>
              </a:xfrm>
              <a:custGeom>
                <a:avLst/>
                <a:gdLst>
                  <a:gd name="T0" fmla="*/ 0 w 187"/>
                  <a:gd name="T1" fmla="*/ 185 h 185"/>
                  <a:gd name="T2" fmla="*/ 185 w 187"/>
                  <a:gd name="T3" fmla="*/ 0 h 185"/>
                  <a:gd name="T4" fmla="*/ 187 w 187"/>
                  <a:gd name="T5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5">
                    <a:moveTo>
                      <a:pt x="0" y="185"/>
                    </a:moveTo>
                    <a:lnTo>
                      <a:pt x="185" y="0"/>
                    </a:lnTo>
                    <a:lnTo>
                      <a:pt x="18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84" name="Freeform 224"/>
              <p:cNvSpPr>
                <a:spLocks/>
              </p:cNvSpPr>
              <p:nvPr/>
            </p:nvSpPr>
            <p:spPr bwMode="auto">
              <a:xfrm>
                <a:off x="3888" y="2725"/>
                <a:ext cx="31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85" name="Freeform 225"/>
              <p:cNvSpPr>
                <a:spLocks/>
              </p:cNvSpPr>
              <p:nvPr/>
            </p:nvSpPr>
            <p:spPr bwMode="auto">
              <a:xfrm>
                <a:off x="4024" y="2421"/>
                <a:ext cx="199" cy="199"/>
              </a:xfrm>
              <a:custGeom>
                <a:avLst/>
                <a:gdLst>
                  <a:gd name="T0" fmla="*/ 0 w 1195"/>
                  <a:gd name="T1" fmla="*/ 1194 h 1194"/>
                  <a:gd name="T2" fmla="*/ 1194 w 1195"/>
                  <a:gd name="T3" fmla="*/ 0 h 1194"/>
                  <a:gd name="T4" fmla="*/ 1195 w 1195"/>
                  <a:gd name="T5" fmla="*/ 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95" h="1194">
                    <a:moveTo>
                      <a:pt x="0" y="1194"/>
                    </a:moveTo>
                    <a:lnTo>
                      <a:pt x="1194" y="0"/>
                    </a:lnTo>
                    <a:lnTo>
                      <a:pt x="119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86" name="Freeform 226"/>
              <p:cNvSpPr>
                <a:spLocks/>
              </p:cNvSpPr>
              <p:nvPr/>
            </p:nvSpPr>
            <p:spPr bwMode="auto">
              <a:xfrm>
                <a:off x="3919" y="2620"/>
                <a:ext cx="105" cy="105"/>
              </a:xfrm>
              <a:custGeom>
                <a:avLst/>
                <a:gdLst>
                  <a:gd name="T0" fmla="*/ 0 w 632"/>
                  <a:gd name="T1" fmla="*/ 633 h 633"/>
                  <a:gd name="T2" fmla="*/ 631 w 632"/>
                  <a:gd name="T3" fmla="*/ 0 h 633"/>
                  <a:gd name="T4" fmla="*/ 632 w 632"/>
                  <a:gd name="T5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2" h="633">
                    <a:moveTo>
                      <a:pt x="0" y="633"/>
                    </a:moveTo>
                    <a:lnTo>
                      <a:pt x="631" y="0"/>
                    </a:lnTo>
                    <a:lnTo>
                      <a:pt x="63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87" name="Freeform 227"/>
              <p:cNvSpPr>
                <a:spLocks/>
              </p:cNvSpPr>
              <p:nvPr/>
            </p:nvSpPr>
            <p:spPr bwMode="auto">
              <a:xfrm>
                <a:off x="3869" y="2789"/>
                <a:ext cx="19" cy="19"/>
              </a:xfrm>
              <a:custGeom>
                <a:avLst/>
                <a:gdLst>
                  <a:gd name="T0" fmla="*/ 0 w 114"/>
                  <a:gd name="T1" fmla="*/ 114 h 114"/>
                  <a:gd name="T2" fmla="*/ 113 w 114"/>
                  <a:gd name="T3" fmla="*/ 0 h 114"/>
                  <a:gd name="T4" fmla="*/ 114 w 114"/>
                  <a:gd name="T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4" h="114">
                    <a:moveTo>
                      <a:pt x="0" y="114"/>
                    </a:moveTo>
                    <a:lnTo>
                      <a:pt x="113" y="0"/>
                    </a:lnTo>
                    <a:lnTo>
                      <a:pt x="11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88" name="Freeform 228"/>
              <p:cNvSpPr>
                <a:spLocks/>
              </p:cNvSpPr>
              <p:nvPr/>
            </p:nvSpPr>
            <p:spPr bwMode="auto">
              <a:xfrm>
                <a:off x="4235" y="2412"/>
                <a:ext cx="30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89" name="Freeform 229"/>
              <p:cNvSpPr>
                <a:spLocks/>
              </p:cNvSpPr>
              <p:nvPr/>
            </p:nvSpPr>
            <p:spPr bwMode="auto">
              <a:xfrm>
                <a:off x="3888" y="2727"/>
                <a:ext cx="63" cy="62"/>
              </a:xfrm>
              <a:custGeom>
                <a:avLst/>
                <a:gdLst>
                  <a:gd name="T0" fmla="*/ 0 w 379"/>
                  <a:gd name="T1" fmla="*/ 377 h 377"/>
                  <a:gd name="T2" fmla="*/ 378 w 379"/>
                  <a:gd name="T3" fmla="*/ 0 h 377"/>
                  <a:gd name="T4" fmla="*/ 379 w 379"/>
                  <a:gd name="T5" fmla="*/ 0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9" h="377">
                    <a:moveTo>
                      <a:pt x="0" y="377"/>
                    </a:moveTo>
                    <a:lnTo>
                      <a:pt x="378" y="0"/>
                    </a:lnTo>
                    <a:lnTo>
                      <a:pt x="37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90" name="Freeform 230"/>
              <p:cNvSpPr>
                <a:spLocks/>
              </p:cNvSpPr>
              <p:nvPr/>
            </p:nvSpPr>
            <p:spPr bwMode="auto">
              <a:xfrm>
                <a:off x="4024" y="2443"/>
                <a:ext cx="211" cy="211"/>
              </a:xfrm>
              <a:custGeom>
                <a:avLst/>
                <a:gdLst>
                  <a:gd name="T0" fmla="*/ 0 w 1267"/>
                  <a:gd name="T1" fmla="*/ 1268 h 1268"/>
                  <a:gd name="T2" fmla="*/ 1266 w 1267"/>
                  <a:gd name="T3" fmla="*/ 0 h 1268"/>
                  <a:gd name="T4" fmla="*/ 1267 w 1267"/>
                  <a:gd name="T5" fmla="*/ 0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7" h="1268">
                    <a:moveTo>
                      <a:pt x="0" y="1268"/>
                    </a:moveTo>
                    <a:lnTo>
                      <a:pt x="1266" y="0"/>
                    </a:lnTo>
                    <a:lnTo>
                      <a:pt x="12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91" name="Freeform 231"/>
              <p:cNvSpPr>
                <a:spLocks/>
              </p:cNvSpPr>
              <p:nvPr/>
            </p:nvSpPr>
            <p:spPr bwMode="auto">
              <a:xfrm>
                <a:off x="3951" y="2654"/>
                <a:ext cx="73" cy="73"/>
              </a:xfrm>
              <a:custGeom>
                <a:avLst/>
                <a:gdLst>
                  <a:gd name="T0" fmla="*/ 0 w 436"/>
                  <a:gd name="T1" fmla="*/ 436 h 436"/>
                  <a:gd name="T2" fmla="*/ 435 w 436"/>
                  <a:gd name="T3" fmla="*/ 0 h 436"/>
                  <a:gd name="T4" fmla="*/ 436 w 436"/>
                  <a:gd name="T5" fmla="*/ 0 h 4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6" h="436">
                    <a:moveTo>
                      <a:pt x="0" y="436"/>
                    </a:moveTo>
                    <a:lnTo>
                      <a:pt x="435" y="0"/>
                    </a:lnTo>
                    <a:lnTo>
                      <a:pt x="43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92" name="Freeform 232"/>
              <p:cNvSpPr>
                <a:spLocks/>
              </p:cNvSpPr>
              <p:nvPr/>
            </p:nvSpPr>
            <p:spPr bwMode="auto">
              <a:xfrm>
                <a:off x="3895" y="2728"/>
                <a:ext cx="88" cy="88"/>
              </a:xfrm>
              <a:custGeom>
                <a:avLst/>
                <a:gdLst>
                  <a:gd name="T0" fmla="*/ 0 w 527"/>
                  <a:gd name="T1" fmla="*/ 527 h 527"/>
                  <a:gd name="T2" fmla="*/ 526 w 527"/>
                  <a:gd name="T3" fmla="*/ 0 h 527"/>
                  <a:gd name="T4" fmla="*/ 527 w 527"/>
                  <a:gd name="T5" fmla="*/ 0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" h="527">
                    <a:moveTo>
                      <a:pt x="0" y="527"/>
                    </a:moveTo>
                    <a:lnTo>
                      <a:pt x="526" y="0"/>
                    </a:lnTo>
                    <a:lnTo>
                      <a:pt x="52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93" name="Freeform 233"/>
              <p:cNvSpPr>
                <a:spLocks/>
              </p:cNvSpPr>
              <p:nvPr/>
            </p:nvSpPr>
            <p:spPr bwMode="auto">
              <a:xfrm>
                <a:off x="4247" y="2436"/>
                <a:ext cx="29" cy="28"/>
              </a:xfrm>
              <a:custGeom>
                <a:avLst/>
                <a:gdLst>
                  <a:gd name="T0" fmla="*/ 0 w 173"/>
                  <a:gd name="T1" fmla="*/ 173 h 173"/>
                  <a:gd name="T2" fmla="*/ 172 w 173"/>
                  <a:gd name="T3" fmla="*/ 0 h 173"/>
                  <a:gd name="T4" fmla="*/ 173 w 173"/>
                  <a:gd name="T5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" h="173">
                    <a:moveTo>
                      <a:pt x="0" y="173"/>
                    </a:moveTo>
                    <a:lnTo>
                      <a:pt x="172" y="0"/>
                    </a:lnTo>
                    <a:lnTo>
                      <a:pt x="17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94" name="Freeform 234"/>
              <p:cNvSpPr>
                <a:spLocks/>
              </p:cNvSpPr>
              <p:nvPr/>
            </p:nvSpPr>
            <p:spPr bwMode="auto">
              <a:xfrm>
                <a:off x="3983" y="2464"/>
                <a:ext cx="264" cy="264"/>
              </a:xfrm>
              <a:custGeom>
                <a:avLst/>
                <a:gdLst>
                  <a:gd name="T0" fmla="*/ 0 w 1583"/>
                  <a:gd name="T1" fmla="*/ 1583 h 1583"/>
                  <a:gd name="T2" fmla="*/ 243 w 1583"/>
                  <a:gd name="T3" fmla="*/ 1340 h 1583"/>
                  <a:gd name="T4" fmla="*/ 1582 w 1583"/>
                  <a:gd name="T5" fmla="*/ 0 h 1583"/>
                  <a:gd name="T6" fmla="*/ 1583 w 1583"/>
                  <a:gd name="T7" fmla="*/ 0 h 15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83" h="1583">
                    <a:moveTo>
                      <a:pt x="0" y="1583"/>
                    </a:moveTo>
                    <a:lnTo>
                      <a:pt x="243" y="1340"/>
                    </a:lnTo>
                    <a:lnTo>
                      <a:pt x="1582" y="0"/>
                    </a:lnTo>
                    <a:lnTo>
                      <a:pt x="158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95" name="Freeform 235"/>
              <p:cNvSpPr>
                <a:spLocks/>
              </p:cNvSpPr>
              <p:nvPr/>
            </p:nvSpPr>
            <p:spPr bwMode="auto">
              <a:xfrm>
                <a:off x="3921" y="2730"/>
                <a:ext cx="94" cy="94"/>
              </a:xfrm>
              <a:custGeom>
                <a:avLst/>
                <a:gdLst>
                  <a:gd name="T0" fmla="*/ 0 w 562"/>
                  <a:gd name="T1" fmla="*/ 561 h 561"/>
                  <a:gd name="T2" fmla="*/ 560 w 562"/>
                  <a:gd name="T3" fmla="*/ 0 h 561"/>
                  <a:gd name="T4" fmla="*/ 562 w 562"/>
                  <a:gd name="T5" fmla="*/ 0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2" h="561">
                    <a:moveTo>
                      <a:pt x="0" y="561"/>
                    </a:moveTo>
                    <a:lnTo>
                      <a:pt x="560" y="0"/>
                    </a:lnTo>
                    <a:lnTo>
                      <a:pt x="56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96" name="Freeform 236"/>
              <p:cNvSpPr>
                <a:spLocks/>
              </p:cNvSpPr>
              <p:nvPr/>
            </p:nvSpPr>
            <p:spPr bwMode="auto">
              <a:xfrm>
                <a:off x="4259" y="2460"/>
                <a:ext cx="27" cy="26"/>
              </a:xfrm>
              <a:custGeom>
                <a:avLst/>
                <a:gdLst>
                  <a:gd name="T0" fmla="*/ 0 w 161"/>
                  <a:gd name="T1" fmla="*/ 160 h 160"/>
                  <a:gd name="T2" fmla="*/ 160 w 161"/>
                  <a:gd name="T3" fmla="*/ 0 h 160"/>
                  <a:gd name="T4" fmla="*/ 161 w 16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1" h="160">
                    <a:moveTo>
                      <a:pt x="0" y="160"/>
                    </a:moveTo>
                    <a:lnTo>
                      <a:pt x="160" y="0"/>
                    </a:lnTo>
                    <a:lnTo>
                      <a:pt x="16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97" name="Freeform 237"/>
              <p:cNvSpPr>
                <a:spLocks/>
              </p:cNvSpPr>
              <p:nvPr/>
            </p:nvSpPr>
            <p:spPr bwMode="auto">
              <a:xfrm>
                <a:off x="4015" y="2486"/>
                <a:ext cx="244" cy="244"/>
              </a:xfrm>
              <a:custGeom>
                <a:avLst/>
                <a:gdLst>
                  <a:gd name="T0" fmla="*/ 0 w 1467"/>
                  <a:gd name="T1" fmla="*/ 1466 h 1466"/>
                  <a:gd name="T2" fmla="*/ 52 w 1467"/>
                  <a:gd name="T3" fmla="*/ 1414 h 1466"/>
                  <a:gd name="T4" fmla="*/ 1465 w 1467"/>
                  <a:gd name="T5" fmla="*/ 0 h 1466"/>
                  <a:gd name="T6" fmla="*/ 1467 w 1467"/>
                  <a:gd name="T7" fmla="*/ 0 h 1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67" h="1466">
                    <a:moveTo>
                      <a:pt x="0" y="1466"/>
                    </a:moveTo>
                    <a:lnTo>
                      <a:pt x="52" y="1414"/>
                    </a:lnTo>
                    <a:lnTo>
                      <a:pt x="1465" y="0"/>
                    </a:lnTo>
                    <a:lnTo>
                      <a:pt x="14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98" name="Freeform 238"/>
              <p:cNvSpPr>
                <a:spLocks/>
              </p:cNvSpPr>
              <p:nvPr/>
            </p:nvSpPr>
            <p:spPr bwMode="auto">
              <a:xfrm>
                <a:off x="3947" y="2756"/>
                <a:ext cx="77" cy="76"/>
              </a:xfrm>
              <a:custGeom>
                <a:avLst/>
                <a:gdLst>
                  <a:gd name="T0" fmla="*/ 0 w 457"/>
                  <a:gd name="T1" fmla="*/ 456 h 456"/>
                  <a:gd name="T2" fmla="*/ 456 w 457"/>
                  <a:gd name="T3" fmla="*/ 0 h 456"/>
                  <a:gd name="T4" fmla="*/ 457 w 457"/>
                  <a:gd name="T5" fmla="*/ 0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7" h="456">
                    <a:moveTo>
                      <a:pt x="0" y="456"/>
                    </a:moveTo>
                    <a:lnTo>
                      <a:pt x="456" y="0"/>
                    </a:lnTo>
                    <a:lnTo>
                      <a:pt x="45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799" name="Freeform 239"/>
              <p:cNvSpPr>
                <a:spLocks/>
              </p:cNvSpPr>
              <p:nvPr/>
            </p:nvSpPr>
            <p:spPr bwMode="auto">
              <a:xfrm>
                <a:off x="4271" y="2484"/>
                <a:ext cx="25" cy="24"/>
              </a:xfrm>
              <a:custGeom>
                <a:avLst/>
                <a:gdLst>
                  <a:gd name="T0" fmla="*/ 0 w 146"/>
                  <a:gd name="T1" fmla="*/ 146 h 146"/>
                  <a:gd name="T2" fmla="*/ 145 w 146"/>
                  <a:gd name="T3" fmla="*/ 0 h 146"/>
                  <a:gd name="T4" fmla="*/ 146 w 146"/>
                  <a:gd name="T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6" h="146">
                    <a:moveTo>
                      <a:pt x="0" y="146"/>
                    </a:moveTo>
                    <a:lnTo>
                      <a:pt x="145" y="0"/>
                    </a:lnTo>
                    <a:lnTo>
                      <a:pt x="14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00" name="Freeform 240"/>
              <p:cNvSpPr>
                <a:spLocks/>
              </p:cNvSpPr>
              <p:nvPr/>
            </p:nvSpPr>
            <p:spPr bwMode="auto">
              <a:xfrm>
                <a:off x="4024" y="2508"/>
                <a:ext cx="247" cy="248"/>
              </a:xfrm>
              <a:custGeom>
                <a:avLst/>
                <a:gdLst>
                  <a:gd name="T0" fmla="*/ 0 w 1487"/>
                  <a:gd name="T1" fmla="*/ 1486 h 1486"/>
                  <a:gd name="T2" fmla="*/ 135 w 1487"/>
                  <a:gd name="T3" fmla="*/ 1351 h 1486"/>
                  <a:gd name="T4" fmla="*/ 1486 w 1487"/>
                  <a:gd name="T5" fmla="*/ 0 h 1486"/>
                  <a:gd name="T6" fmla="*/ 1487 w 1487"/>
                  <a:gd name="T7" fmla="*/ 0 h 1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7" h="1486">
                    <a:moveTo>
                      <a:pt x="0" y="1486"/>
                    </a:moveTo>
                    <a:lnTo>
                      <a:pt x="135" y="1351"/>
                    </a:lnTo>
                    <a:lnTo>
                      <a:pt x="1486" y="0"/>
                    </a:lnTo>
                    <a:lnTo>
                      <a:pt x="148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01" name="Freeform 241"/>
              <p:cNvSpPr>
                <a:spLocks/>
              </p:cNvSpPr>
              <p:nvPr/>
            </p:nvSpPr>
            <p:spPr bwMode="auto">
              <a:xfrm>
                <a:off x="3974" y="2790"/>
                <a:ext cx="50" cy="50"/>
              </a:xfrm>
              <a:custGeom>
                <a:avLst/>
                <a:gdLst>
                  <a:gd name="T0" fmla="*/ 0 w 299"/>
                  <a:gd name="T1" fmla="*/ 299 h 299"/>
                  <a:gd name="T2" fmla="*/ 298 w 299"/>
                  <a:gd name="T3" fmla="*/ 0 h 299"/>
                  <a:gd name="T4" fmla="*/ 299 w 299"/>
                  <a:gd name="T5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9" h="299">
                    <a:moveTo>
                      <a:pt x="0" y="299"/>
                    </a:moveTo>
                    <a:lnTo>
                      <a:pt x="298" y="0"/>
                    </a:lnTo>
                    <a:lnTo>
                      <a:pt x="29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02" name="Freeform 242"/>
              <p:cNvSpPr>
                <a:spLocks/>
              </p:cNvSpPr>
              <p:nvPr/>
            </p:nvSpPr>
            <p:spPr bwMode="auto">
              <a:xfrm>
                <a:off x="4283" y="2508"/>
                <a:ext cx="22" cy="22"/>
              </a:xfrm>
              <a:custGeom>
                <a:avLst/>
                <a:gdLst>
                  <a:gd name="T0" fmla="*/ 0 w 133"/>
                  <a:gd name="T1" fmla="*/ 132 h 132"/>
                  <a:gd name="T2" fmla="*/ 131 w 133"/>
                  <a:gd name="T3" fmla="*/ 0 h 132"/>
                  <a:gd name="T4" fmla="*/ 133 w 133"/>
                  <a:gd name="T5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3" h="132">
                    <a:moveTo>
                      <a:pt x="0" y="132"/>
                    </a:moveTo>
                    <a:lnTo>
                      <a:pt x="131" y="0"/>
                    </a:lnTo>
                    <a:lnTo>
                      <a:pt x="13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03" name="Freeform 243"/>
              <p:cNvSpPr>
                <a:spLocks/>
              </p:cNvSpPr>
              <p:nvPr/>
            </p:nvSpPr>
            <p:spPr bwMode="auto">
              <a:xfrm>
                <a:off x="4023" y="2530"/>
                <a:ext cx="260" cy="260"/>
              </a:xfrm>
              <a:custGeom>
                <a:avLst/>
                <a:gdLst>
                  <a:gd name="T0" fmla="*/ 0 w 1561"/>
                  <a:gd name="T1" fmla="*/ 1561 h 1561"/>
                  <a:gd name="T2" fmla="*/ 321 w 1561"/>
                  <a:gd name="T3" fmla="*/ 1240 h 1561"/>
                  <a:gd name="T4" fmla="*/ 1560 w 1561"/>
                  <a:gd name="T5" fmla="*/ 0 h 1561"/>
                  <a:gd name="T6" fmla="*/ 1561 w 1561"/>
                  <a:gd name="T7" fmla="*/ 0 h 1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61" h="1561">
                    <a:moveTo>
                      <a:pt x="0" y="1561"/>
                    </a:moveTo>
                    <a:lnTo>
                      <a:pt x="321" y="1240"/>
                    </a:lnTo>
                    <a:lnTo>
                      <a:pt x="1560" y="0"/>
                    </a:lnTo>
                    <a:lnTo>
                      <a:pt x="156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04" name="Freeform 244"/>
              <p:cNvSpPr>
                <a:spLocks/>
              </p:cNvSpPr>
              <p:nvPr/>
            </p:nvSpPr>
            <p:spPr bwMode="auto">
              <a:xfrm>
                <a:off x="4000" y="2824"/>
                <a:ext cx="24" cy="23"/>
              </a:xfrm>
              <a:custGeom>
                <a:avLst/>
                <a:gdLst>
                  <a:gd name="T0" fmla="*/ 0 w 143"/>
                  <a:gd name="T1" fmla="*/ 141 h 141"/>
                  <a:gd name="T2" fmla="*/ 142 w 143"/>
                  <a:gd name="T3" fmla="*/ 0 h 141"/>
                  <a:gd name="T4" fmla="*/ 143 w 143"/>
                  <a:gd name="T5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141">
                    <a:moveTo>
                      <a:pt x="0" y="141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05" name="Freeform 245"/>
              <p:cNvSpPr>
                <a:spLocks/>
              </p:cNvSpPr>
              <p:nvPr/>
            </p:nvSpPr>
            <p:spPr bwMode="auto">
              <a:xfrm>
                <a:off x="4295" y="2532"/>
                <a:ext cx="20" cy="19"/>
              </a:xfrm>
              <a:custGeom>
                <a:avLst/>
                <a:gdLst>
                  <a:gd name="T0" fmla="*/ 0 w 120"/>
                  <a:gd name="T1" fmla="*/ 118 h 118"/>
                  <a:gd name="T2" fmla="*/ 119 w 120"/>
                  <a:gd name="T3" fmla="*/ 0 h 118"/>
                  <a:gd name="T4" fmla="*/ 120 w 120"/>
                  <a:gd name="T5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0" h="118">
                    <a:moveTo>
                      <a:pt x="0" y="118"/>
                    </a:moveTo>
                    <a:lnTo>
                      <a:pt x="119" y="0"/>
                    </a:lnTo>
                    <a:lnTo>
                      <a:pt x="1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06" name="Freeform 246"/>
              <p:cNvSpPr>
                <a:spLocks/>
              </p:cNvSpPr>
              <p:nvPr/>
            </p:nvSpPr>
            <p:spPr bwMode="auto">
              <a:xfrm>
                <a:off x="4023" y="2551"/>
                <a:ext cx="273" cy="273"/>
              </a:xfrm>
              <a:custGeom>
                <a:avLst/>
                <a:gdLst>
                  <a:gd name="T0" fmla="*/ 0 w 1633"/>
                  <a:gd name="T1" fmla="*/ 1635 h 1635"/>
                  <a:gd name="T2" fmla="*/ 503 w 1633"/>
                  <a:gd name="T3" fmla="*/ 1131 h 1635"/>
                  <a:gd name="T4" fmla="*/ 1632 w 1633"/>
                  <a:gd name="T5" fmla="*/ 0 h 1635"/>
                  <a:gd name="T6" fmla="*/ 1633 w 1633"/>
                  <a:gd name="T7" fmla="*/ 0 h 1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33" h="1635">
                    <a:moveTo>
                      <a:pt x="0" y="1635"/>
                    </a:moveTo>
                    <a:lnTo>
                      <a:pt x="503" y="1131"/>
                    </a:lnTo>
                    <a:lnTo>
                      <a:pt x="1632" y="0"/>
                    </a:lnTo>
                    <a:lnTo>
                      <a:pt x="163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07" name="Freeform 247"/>
              <p:cNvSpPr>
                <a:spLocks/>
              </p:cNvSpPr>
              <p:nvPr/>
            </p:nvSpPr>
            <p:spPr bwMode="auto">
              <a:xfrm>
                <a:off x="4026" y="2744"/>
                <a:ext cx="111" cy="111"/>
              </a:xfrm>
              <a:custGeom>
                <a:avLst/>
                <a:gdLst>
                  <a:gd name="T0" fmla="*/ 0 w 669"/>
                  <a:gd name="T1" fmla="*/ 668 h 668"/>
                  <a:gd name="T2" fmla="*/ 667 w 669"/>
                  <a:gd name="T3" fmla="*/ 0 h 668"/>
                  <a:gd name="T4" fmla="*/ 669 w 669"/>
                  <a:gd name="T5" fmla="*/ 0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69" h="668">
                    <a:moveTo>
                      <a:pt x="0" y="668"/>
                    </a:moveTo>
                    <a:lnTo>
                      <a:pt x="667" y="0"/>
                    </a:lnTo>
                    <a:lnTo>
                      <a:pt x="66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08" name="Freeform 248"/>
              <p:cNvSpPr>
                <a:spLocks/>
              </p:cNvSpPr>
              <p:nvPr/>
            </p:nvSpPr>
            <p:spPr bwMode="auto">
              <a:xfrm>
                <a:off x="4307" y="2555"/>
                <a:ext cx="18" cy="18"/>
              </a:xfrm>
              <a:custGeom>
                <a:avLst/>
                <a:gdLst>
                  <a:gd name="T0" fmla="*/ 0 w 107"/>
                  <a:gd name="T1" fmla="*/ 106 h 106"/>
                  <a:gd name="T2" fmla="*/ 106 w 107"/>
                  <a:gd name="T3" fmla="*/ 0 h 106"/>
                  <a:gd name="T4" fmla="*/ 107 w 107"/>
                  <a:gd name="T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7" h="106">
                    <a:moveTo>
                      <a:pt x="0" y="106"/>
                    </a:moveTo>
                    <a:lnTo>
                      <a:pt x="106" y="0"/>
                    </a:lnTo>
                    <a:lnTo>
                      <a:pt x="10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09" name="Freeform 249"/>
              <p:cNvSpPr>
                <a:spLocks/>
              </p:cNvSpPr>
              <p:nvPr/>
            </p:nvSpPr>
            <p:spPr bwMode="auto">
              <a:xfrm>
                <a:off x="4137" y="2573"/>
                <a:ext cx="171" cy="171"/>
              </a:xfrm>
              <a:custGeom>
                <a:avLst/>
                <a:gdLst>
                  <a:gd name="T0" fmla="*/ 0 w 1024"/>
                  <a:gd name="T1" fmla="*/ 1024 h 1024"/>
                  <a:gd name="T2" fmla="*/ 1023 w 1024"/>
                  <a:gd name="T3" fmla="*/ 0 h 1024"/>
                  <a:gd name="T4" fmla="*/ 1024 w 1024"/>
                  <a:gd name="T5" fmla="*/ 0 h 10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24" h="1024">
                    <a:moveTo>
                      <a:pt x="0" y="1024"/>
                    </a:moveTo>
                    <a:lnTo>
                      <a:pt x="1023" y="0"/>
                    </a:lnTo>
                    <a:lnTo>
                      <a:pt x="102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10" name="Freeform 250"/>
              <p:cNvSpPr>
                <a:spLocks/>
              </p:cNvSpPr>
              <p:nvPr/>
            </p:nvSpPr>
            <p:spPr bwMode="auto">
              <a:xfrm>
                <a:off x="4052" y="2748"/>
                <a:ext cx="115" cy="115"/>
              </a:xfrm>
              <a:custGeom>
                <a:avLst/>
                <a:gdLst>
                  <a:gd name="T0" fmla="*/ 0 w 688"/>
                  <a:gd name="T1" fmla="*/ 688 h 688"/>
                  <a:gd name="T2" fmla="*/ 687 w 688"/>
                  <a:gd name="T3" fmla="*/ 0 h 688"/>
                  <a:gd name="T4" fmla="*/ 688 w 688"/>
                  <a:gd name="T5" fmla="*/ 0 h 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8" h="688">
                    <a:moveTo>
                      <a:pt x="0" y="688"/>
                    </a:moveTo>
                    <a:lnTo>
                      <a:pt x="687" y="0"/>
                    </a:lnTo>
                    <a:lnTo>
                      <a:pt x="68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11" name="Freeform 251"/>
              <p:cNvSpPr>
                <a:spLocks/>
              </p:cNvSpPr>
              <p:nvPr/>
            </p:nvSpPr>
            <p:spPr bwMode="auto">
              <a:xfrm>
                <a:off x="4320" y="2579"/>
                <a:ext cx="15" cy="16"/>
              </a:xfrm>
              <a:custGeom>
                <a:avLst/>
                <a:gdLst>
                  <a:gd name="T0" fmla="*/ 0 w 96"/>
                  <a:gd name="T1" fmla="*/ 95 h 95"/>
                  <a:gd name="T2" fmla="*/ 95 w 96"/>
                  <a:gd name="T3" fmla="*/ 0 h 95"/>
                  <a:gd name="T4" fmla="*/ 96 w 96"/>
                  <a:gd name="T5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95">
                    <a:moveTo>
                      <a:pt x="0" y="95"/>
                    </a:moveTo>
                    <a:lnTo>
                      <a:pt x="95" y="0"/>
                    </a:lnTo>
                    <a:lnTo>
                      <a:pt x="9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12" name="Freeform 252"/>
              <p:cNvSpPr>
                <a:spLocks/>
              </p:cNvSpPr>
              <p:nvPr/>
            </p:nvSpPr>
            <p:spPr bwMode="auto">
              <a:xfrm>
                <a:off x="4166" y="2595"/>
                <a:ext cx="154" cy="153"/>
              </a:xfrm>
              <a:custGeom>
                <a:avLst/>
                <a:gdLst>
                  <a:gd name="T0" fmla="*/ 0 w 920"/>
                  <a:gd name="T1" fmla="*/ 919 h 919"/>
                  <a:gd name="T2" fmla="*/ 919 w 920"/>
                  <a:gd name="T3" fmla="*/ 0 h 919"/>
                  <a:gd name="T4" fmla="*/ 920 w 920"/>
                  <a:gd name="T5" fmla="*/ 0 h 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0" h="919">
                    <a:moveTo>
                      <a:pt x="0" y="919"/>
                    </a:moveTo>
                    <a:lnTo>
                      <a:pt x="919" y="0"/>
                    </a:lnTo>
                    <a:lnTo>
                      <a:pt x="9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13" name="Freeform 253"/>
              <p:cNvSpPr>
                <a:spLocks/>
              </p:cNvSpPr>
              <p:nvPr/>
            </p:nvSpPr>
            <p:spPr bwMode="auto">
              <a:xfrm>
                <a:off x="4078" y="2753"/>
                <a:ext cx="118" cy="118"/>
              </a:xfrm>
              <a:custGeom>
                <a:avLst/>
                <a:gdLst>
                  <a:gd name="T0" fmla="*/ 0 w 706"/>
                  <a:gd name="T1" fmla="*/ 705 h 705"/>
                  <a:gd name="T2" fmla="*/ 705 w 706"/>
                  <a:gd name="T3" fmla="*/ 0 h 705"/>
                  <a:gd name="T4" fmla="*/ 706 w 706"/>
                  <a:gd name="T5" fmla="*/ 0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06" h="705">
                    <a:moveTo>
                      <a:pt x="0" y="705"/>
                    </a:moveTo>
                    <a:lnTo>
                      <a:pt x="705" y="0"/>
                    </a:lnTo>
                    <a:lnTo>
                      <a:pt x="70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14" name="Freeform 254"/>
              <p:cNvSpPr>
                <a:spLocks/>
              </p:cNvSpPr>
              <p:nvPr/>
            </p:nvSpPr>
            <p:spPr bwMode="auto">
              <a:xfrm>
                <a:off x="4332" y="2603"/>
                <a:ext cx="13" cy="14"/>
              </a:xfrm>
              <a:custGeom>
                <a:avLst/>
                <a:gdLst>
                  <a:gd name="T0" fmla="*/ 0 w 82"/>
                  <a:gd name="T1" fmla="*/ 82 h 82"/>
                  <a:gd name="T2" fmla="*/ 81 w 82"/>
                  <a:gd name="T3" fmla="*/ 0 h 82"/>
                  <a:gd name="T4" fmla="*/ 82 w 82"/>
                  <a:gd name="T5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" h="82">
                    <a:moveTo>
                      <a:pt x="0" y="82"/>
                    </a:moveTo>
                    <a:lnTo>
                      <a:pt x="81" y="0"/>
                    </a:lnTo>
                    <a:lnTo>
                      <a:pt x="8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15" name="Freeform 255"/>
              <p:cNvSpPr>
                <a:spLocks/>
              </p:cNvSpPr>
              <p:nvPr/>
            </p:nvSpPr>
            <p:spPr bwMode="auto">
              <a:xfrm>
                <a:off x="4195" y="2617"/>
                <a:ext cx="137" cy="136"/>
              </a:xfrm>
              <a:custGeom>
                <a:avLst/>
                <a:gdLst>
                  <a:gd name="T0" fmla="*/ 0 w 819"/>
                  <a:gd name="T1" fmla="*/ 818 h 818"/>
                  <a:gd name="T2" fmla="*/ 818 w 819"/>
                  <a:gd name="T3" fmla="*/ 0 h 818"/>
                  <a:gd name="T4" fmla="*/ 819 w 819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8">
                    <a:moveTo>
                      <a:pt x="0" y="818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16" name="Freeform 256"/>
              <p:cNvSpPr>
                <a:spLocks/>
              </p:cNvSpPr>
              <p:nvPr/>
            </p:nvSpPr>
            <p:spPr bwMode="auto">
              <a:xfrm>
                <a:off x="4104" y="2759"/>
                <a:ext cx="120" cy="119"/>
              </a:xfrm>
              <a:custGeom>
                <a:avLst/>
                <a:gdLst>
                  <a:gd name="T0" fmla="*/ 0 w 718"/>
                  <a:gd name="T1" fmla="*/ 718 h 718"/>
                  <a:gd name="T2" fmla="*/ 717 w 718"/>
                  <a:gd name="T3" fmla="*/ 0 h 718"/>
                  <a:gd name="T4" fmla="*/ 718 w 718"/>
                  <a:gd name="T5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8" h="718">
                    <a:moveTo>
                      <a:pt x="0" y="718"/>
                    </a:moveTo>
                    <a:lnTo>
                      <a:pt x="717" y="0"/>
                    </a:lnTo>
                    <a:lnTo>
                      <a:pt x="7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17" name="Freeform 257"/>
              <p:cNvSpPr>
                <a:spLocks/>
              </p:cNvSpPr>
              <p:nvPr/>
            </p:nvSpPr>
            <p:spPr bwMode="auto">
              <a:xfrm>
                <a:off x="4344" y="2628"/>
                <a:ext cx="11" cy="11"/>
              </a:xfrm>
              <a:custGeom>
                <a:avLst/>
                <a:gdLst>
                  <a:gd name="T0" fmla="*/ 0 w 67"/>
                  <a:gd name="T1" fmla="*/ 66 h 66"/>
                  <a:gd name="T2" fmla="*/ 66 w 67"/>
                  <a:gd name="T3" fmla="*/ 0 h 66"/>
                  <a:gd name="T4" fmla="*/ 67 w 67"/>
                  <a:gd name="T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" h="66">
                    <a:moveTo>
                      <a:pt x="0" y="66"/>
                    </a:moveTo>
                    <a:lnTo>
                      <a:pt x="66" y="0"/>
                    </a:lnTo>
                    <a:lnTo>
                      <a:pt x="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18" name="Freeform 258"/>
              <p:cNvSpPr>
                <a:spLocks/>
              </p:cNvSpPr>
              <p:nvPr/>
            </p:nvSpPr>
            <p:spPr bwMode="auto">
              <a:xfrm>
                <a:off x="4224" y="2639"/>
                <a:ext cx="120" cy="120"/>
              </a:xfrm>
              <a:custGeom>
                <a:avLst/>
                <a:gdLst>
                  <a:gd name="T0" fmla="*/ 0 w 721"/>
                  <a:gd name="T1" fmla="*/ 721 h 721"/>
                  <a:gd name="T2" fmla="*/ 720 w 721"/>
                  <a:gd name="T3" fmla="*/ 0 h 721"/>
                  <a:gd name="T4" fmla="*/ 721 w 721"/>
                  <a:gd name="T5" fmla="*/ 0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1" h="721">
                    <a:moveTo>
                      <a:pt x="0" y="721"/>
                    </a:moveTo>
                    <a:lnTo>
                      <a:pt x="720" y="0"/>
                    </a:lnTo>
                    <a:lnTo>
                      <a:pt x="72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19" name="Freeform 259"/>
              <p:cNvSpPr>
                <a:spLocks/>
              </p:cNvSpPr>
              <p:nvPr/>
            </p:nvSpPr>
            <p:spPr bwMode="auto">
              <a:xfrm>
                <a:off x="4130" y="2765"/>
                <a:ext cx="122" cy="121"/>
              </a:xfrm>
              <a:custGeom>
                <a:avLst/>
                <a:gdLst>
                  <a:gd name="T0" fmla="*/ 0 w 731"/>
                  <a:gd name="T1" fmla="*/ 731 h 731"/>
                  <a:gd name="T2" fmla="*/ 729 w 731"/>
                  <a:gd name="T3" fmla="*/ 0 h 731"/>
                  <a:gd name="T4" fmla="*/ 731 w 731"/>
                  <a:gd name="T5" fmla="*/ 0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1" h="731">
                    <a:moveTo>
                      <a:pt x="0" y="731"/>
                    </a:moveTo>
                    <a:lnTo>
                      <a:pt x="729" y="0"/>
                    </a:lnTo>
                    <a:lnTo>
                      <a:pt x="73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20" name="Freeform 260"/>
              <p:cNvSpPr>
                <a:spLocks/>
              </p:cNvSpPr>
              <p:nvPr/>
            </p:nvSpPr>
            <p:spPr bwMode="auto">
              <a:xfrm>
                <a:off x="4356" y="2652"/>
                <a:ext cx="8" cy="8"/>
              </a:xfrm>
              <a:custGeom>
                <a:avLst/>
                <a:gdLst>
                  <a:gd name="T0" fmla="*/ 0 w 49"/>
                  <a:gd name="T1" fmla="*/ 48 h 48"/>
                  <a:gd name="T2" fmla="*/ 48 w 49"/>
                  <a:gd name="T3" fmla="*/ 0 h 48"/>
                  <a:gd name="T4" fmla="*/ 49 w 49"/>
                  <a:gd name="T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" h="48">
                    <a:moveTo>
                      <a:pt x="0" y="48"/>
                    </a:moveTo>
                    <a:lnTo>
                      <a:pt x="48" y="0"/>
                    </a:lnTo>
                    <a:lnTo>
                      <a:pt x="4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21" name="Freeform 261"/>
              <p:cNvSpPr>
                <a:spLocks/>
              </p:cNvSpPr>
              <p:nvPr/>
            </p:nvSpPr>
            <p:spPr bwMode="auto">
              <a:xfrm>
                <a:off x="4252" y="2660"/>
                <a:ext cx="104" cy="105"/>
              </a:xfrm>
              <a:custGeom>
                <a:avLst/>
                <a:gdLst>
                  <a:gd name="T0" fmla="*/ 0 w 626"/>
                  <a:gd name="T1" fmla="*/ 625 h 625"/>
                  <a:gd name="T2" fmla="*/ 625 w 626"/>
                  <a:gd name="T3" fmla="*/ 0 h 625"/>
                  <a:gd name="T4" fmla="*/ 626 w 626"/>
                  <a:gd name="T5" fmla="*/ 0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26" h="625">
                    <a:moveTo>
                      <a:pt x="0" y="625"/>
                    </a:moveTo>
                    <a:lnTo>
                      <a:pt x="625" y="0"/>
                    </a:lnTo>
                    <a:lnTo>
                      <a:pt x="62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22" name="Freeform 262"/>
              <p:cNvSpPr>
                <a:spLocks/>
              </p:cNvSpPr>
              <p:nvPr/>
            </p:nvSpPr>
            <p:spPr bwMode="auto">
              <a:xfrm>
                <a:off x="4156" y="2771"/>
                <a:ext cx="123" cy="123"/>
              </a:xfrm>
              <a:custGeom>
                <a:avLst/>
                <a:gdLst>
                  <a:gd name="T0" fmla="*/ 0 w 737"/>
                  <a:gd name="T1" fmla="*/ 737 h 737"/>
                  <a:gd name="T2" fmla="*/ 736 w 737"/>
                  <a:gd name="T3" fmla="*/ 0 h 737"/>
                  <a:gd name="T4" fmla="*/ 737 w 737"/>
                  <a:gd name="T5" fmla="*/ 0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7" h="737">
                    <a:moveTo>
                      <a:pt x="0" y="737"/>
                    </a:moveTo>
                    <a:lnTo>
                      <a:pt x="736" y="0"/>
                    </a:lnTo>
                    <a:lnTo>
                      <a:pt x="73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23" name="Freeform 263"/>
              <p:cNvSpPr>
                <a:spLocks/>
              </p:cNvSpPr>
              <p:nvPr/>
            </p:nvSpPr>
            <p:spPr bwMode="auto">
              <a:xfrm>
                <a:off x="4368" y="2678"/>
                <a:ext cx="5" cy="4"/>
              </a:xfrm>
              <a:custGeom>
                <a:avLst/>
                <a:gdLst>
                  <a:gd name="T0" fmla="*/ 0 w 28"/>
                  <a:gd name="T1" fmla="*/ 27 h 27"/>
                  <a:gd name="T2" fmla="*/ 27 w 28"/>
                  <a:gd name="T3" fmla="*/ 0 h 27"/>
                  <a:gd name="T4" fmla="*/ 28 w 28"/>
                  <a:gd name="T5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7">
                    <a:moveTo>
                      <a:pt x="0" y="27"/>
                    </a:moveTo>
                    <a:lnTo>
                      <a:pt x="27" y="0"/>
                    </a:lnTo>
                    <a:lnTo>
                      <a:pt x="2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24" name="Freeform 264"/>
              <p:cNvSpPr>
                <a:spLocks/>
              </p:cNvSpPr>
              <p:nvPr/>
            </p:nvSpPr>
            <p:spPr bwMode="auto">
              <a:xfrm>
                <a:off x="4279" y="2682"/>
                <a:ext cx="89" cy="89"/>
              </a:xfrm>
              <a:custGeom>
                <a:avLst/>
                <a:gdLst>
                  <a:gd name="T0" fmla="*/ 0 w 535"/>
                  <a:gd name="T1" fmla="*/ 534 h 534"/>
                  <a:gd name="T2" fmla="*/ 534 w 535"/>
                  <a:gd name="T3" fmla="*/ 0 h 534"/>
                  <a:gd name="T4" fmla="*/ 535 w 535"/>
                  <a:gd name="T5" fmla="*/ 0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5" h="534">
                    <a:moveTo>
                      <a:pt x="0" y="534"/>
                    </a:moveTo>
                    <a:lnTo>
                      <a:pt x="534" y="0"/>
                    </a:lnTo>
                    <a:lnTo>
                      <a:pt x="53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25" name="Freeform 265"/>
              <p:cNvSpPr>
                <a:spLocks/>
              </p:cNvSpPr>
              <p:nvPr/>
            </p:nvSpPr>
            <p:spPr bwMode="auto">
              <a:xfrm>
                <a:off x="4182" y="2704"/>
                <a:ext cx="198" cy="198"/>
              </a:xfrm>
              <a:custGeom>
                <a:avLst/>
                <a:gdLst>
                  <a:gd name="T0" fmla="*/ 0 w 1187"/>
                  <a:gd name="T1" fmla="*/ 1187 h 1187"/>
                  <a:gd name="T2" fmla="*/ 741 w 1187"/>
                  <a:gd name="T3" fmla="*/ 446 h 1187"/>
                  <a:gd name="T4" fmla="*/ 1186 w 1187"/>
                  <a:gd name="T5" fmla="*/ 0 h 1187"/>
                  <a:gd name="T6" fmla="*/ 1187 w 1187"/>
                  <a:gd name="T7" fmla="*/ 0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87" h="1187">
                    <a:moveTo>
                      <a:pt x="0" y="1187"/>
                    </a:moveTo>
                    <a:lnTo>
                      <a:pt x="741" y="446"/>
                    </a:lnTo>
                    <a:lnTo>
                      <a:pt x="1186" y="0"/>
                    </a:lnTo>
                    <a:lnTo>
                      <a:pt x="118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26" name="Freeform 266"/>
              <p:cNvSpPr>
                <a:spLocks/>
              </p:cNvSpPr>
              <p:nvPr/>
            </p:nvSpPr>
            <p:spPr bwMode="auto">
              <a:xfrm>
                <a:off x="4208" y="2731"/>
                <a:ext cx="179" cy="179"/>
              </a:xfrm>
              <a:custGeom>
                <a:avLst/>
                <a:gdLst>
                  <a:gd name="T0" fmla="*/ 0 w 1069"/>
                  <a:gd name="T1" fmla="*/ 1069 h 1069"/>
                  <a:gd name="T2" fmla="*/ 742 w 1069"/>
                  <a:gd name="T3" fmla="*/ 328 h 1069"/>
                  <a:gd name="T4" fmla="*/ 1068 w 1069"/>
                  <a:gd name="T5" fmla="*/ 0 h 1069"/>
                  <a:gd name="T6" fmla="*/ 1069 w 1069"/>
                  <a:gd name="T7" fmla="*/ 0 h 10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69" h="1069">
                    <a:moveTo>
                      <a:pt x="0" y="1069"/>
                    </a:moveTo>
                    <a:lnTo>
                      <a:pt x="742" y="328"/>
                    </a:lnTo>
                    <a:lnTo>
                      <a:pt x="1068" y="0"/>
                    </a:lnTo>
                    <a:lnTo>
                      <a:pt x="106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27" name="Freeform 267"/>
              <p:cNvSpPr>
                <a:spLocks/>
              </p:cNvSpPr>
              <p:nvPr/>
            </p:nvSpPr>
            <p:spPr bwMode="auto">
              <a:xfrm>
                <a:off x="4235" y="2760"/>
                <a:ext cx="157" cy="157"/>
              </a:xfrm>
              <a:custGeom>
                <a:avLst/>
                <a:gdLst>
                  <a:gd name="T0" fmla="*/ 0 w 944"/>
                  <a:gd name="T1" fmla="*/ 944 h 944"/>
                  <a:gd name="T2" fmla="*/ 737 w 944"/>
                  <a:gd name="T3" fmla="*/ 207 h 944"/>
                  <a:gd name="T4" fmla="*/ 943 w 944"/>
                  <a:gd name="T5" fmla="*/ 0 h 944"/>
                  <a:gd name="T6" fmla="*/ 944 w 944"/>
                  <a:gd name="T7" fmla="*/ 0 h 9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4" h="944">
                    <a:moveTo>
                      <a:pt x="0" y="944"/>
                    </a:moveTo>
                    <a:lnTo>
                      <a:pt x="737" y="207"/>
                    </a:lnTo>
                    <a:lnTo>
                      <a:pt x="943" y="0"/>
                    </a:lnTo>
                    <a:lnTo>
                      <a:pt x="94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28" name="Freeform 268"/>
              <p:cNvSpPr>
                <a:spLocks/>
              </p:cNvSpPr>
              <p:nvPr/>
            </p:nvSpPr>
            <p:spPr bwMode="auto">
              <a:xfrm>
                <a:off x="4261" y="2790"/>
                <a:ext cx="135" cy="135"/>
              </a:xfrm>
              <a:custGeom>
                <a:avLst/>
                <a:gdLst>
                  <a:gd name="T0" fmla="*/ 0 w 815"/>
                  <a:gd name="T1" fmla="*/ 813 h 813"/>
                  <a:gd name="T2" fmla="*/ 728 w 815"/>
                  <a:gd name="T3" fmla="*/ 85 h 813"/>
                  <a:gd name="T4" fmla="*/ 814 w 815"/>
                  <a:gd name="T5" fmla="*/ 0 h 813"/>
                  <a:gd name="T6" fmla="*/ 815 w 815"/>
                  <a:gd name="T7" fmla="*/ 0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5" h="813">
                    <a:moveTo>
                      <a:pt x="0" y="813"/>
                    </a:moveTo>
                    <a:lnTo>
                      <a:pt x="728" y="85"/>
                    </a:ln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29" name="Freeform 269"/>
              <p:cNvSpPr>
                <a:spLocks/>
              </p:cNvSpPr>
              <p:nvPr/>
            </p:nvSpPr>
            <p:spPr bwMode="auto">
              <a:xfrm>
                <a:off x="4287" y="2820"/>
                <a:ext cx="113" cy="113"/>
              </a:xfrm>
              <a:custGeom>
                <a:avLst/>
                <a:gdLst>
                  <a:gd name="T0" fmla="*/ 0 w 679"/>
                  <a:gd name="T1" fmla="*/ 679 h 679"/>
                  <a:gd name="T2" fmla="*/ 677 w 679"/>
                  <a:gd name="T3" fmla="*/ 0 h 679"/>
                  <a:gd name="T4" fmla="*/ 679 w 679"/>
                  <a:gd name="T5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9" h="679">
                    <a:moveTo>
                      <a:pt x="0" y="679"/>
                    </a:moveTo>
                    <a:lnTo>
                      <a:pt x="677" y="0"/>
                    </a:lnTo>
                    <a:lnTo>
                      <a:pt x="67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30" name="Freeform 270"/>
              <p:cNvSpPr>
                <a:spLocks/>
              </p:cNvSpPr>
              <p:nvPr/>
            </p:nvSpPr>
            <p:spPr bwMode="auto">
              <a:xfrm>
                <a:off x="4313" y="2851"/>
                <a:ext cx="90" cy="90"/>
              </a:xfrm>
              <a:custGeom>
                <a:avLst/>
                <a:gdLst>
                  <a:gd name="T0" fmla="*/ 0 w 542"/>
                  <a:gd name="T1" fmla="*/ 540 h 540"/>
                  <a:gd name="T2" fmla="*/ 541 w 542"/>
                  <a:gd name="T3" fmla="*/ 0 h 540"/>
                  <a:gd name="T4" fmla="*/ 542 w 542"/>
                  <a:gd name="T5" fmla="*/ 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42" h="540">
                    <a:moveTo>
                      <a:pt x="0" y="540"/>
                    </a:moveTo>
                    <a:lnTo>
                      <a:pt x="541" y="0"/>
                    </a:lnTo>
                    <a:lnTo>
                      <a:pt x="54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31" name="Freeform 271"/>
              <p:cNvSpPr>
                <a:spLocks/>
              </p:cNvSpPr>
              <p:nvPr/>
            </p:nvSpPr>
            <p:spPr bwMode="auto">
              <a:xfrm>
                <a:off x="4339" y="2881"/>
                <a:ext cx="67" cy="68"/>
              </a:xfrm>
              <a:custGeom>
                <a:avLst/>
                <a:gdLst>
                  <a:gd name="T0" fmla="*/ 0 w 404"/>
                  <a:gd name="T1" fmla="*/ 403 h 403"/>
                  <a:gd name="T2" fmla="*/ 403 w 404"/>
                  <a:gd name="T3" fmla="*/ 0 h 403"/>
                  <a:gd name="T4" fmla="*/ 404 w 404"/>
                  <a:gd name="T5" fmla="*/ 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4" h="403">
                    <a:moveTo>
                      <a:pt x="0" y="403"/>
                    </a:moveTo>
                    <a:lnTo>
                      <a:pt x="403" y="0"/>
                    </a:lnTo>
                    <a:lnTo>
                      <a:pt x="40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32" name="Freeform 272"/>
              <p:cNvSpPr>
                <a:spLocks/>
              </p:cNvSpPr>
              <p:nvPr/>
            </p:nvSpPr>
            <p:spPr bwMode="auto">
              <a:xfrm>
                <a:off x="4365" y="2912"/>
                <a:ext cx="44" cy="44"/>
              </a:xfrm>
              <a:custGeom>
                <a:avLst/>
                <a:gdLst>
                  <a:gd name="T0" fmla="*/ 0 w 267"/>
                  <a:gd name="T1" fmla="*/ 268 h 268"/>
                  <a:gd name="T2" fmla="*/ 266 w 267"/>
                  <a:gd name="T3" fmla="*/ 0 h 268"/>
                  <a:gd name="T4" fmla="*/ 267 w 267"/>
                  <a:gd name="T5" fmla="*/ 0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7" h="268">
                    <a:moveTo>
                      <a:pt x="0" y="268"/>
                    </a:moveTo>
                    <a:lnTo>
                      <a:pt x="266" y="0"/>
                    </a:lnTo>
                    <a:lnTo>
                      <a:pt x="2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33" name="Freeform 273"/>
              <p:cNvSpPr>
                <a:spLocks/>
              </p:cNvSpPr>
              <p:nvPr/>
            </p:nvSpPr>
            <p:spPr bwMode="auto">
              <a:xfrm>
                <a:off x="4391" y="2942"/>
                <a:ext cx="22" cy="22"/>
              </a:xfrm>
              <a:custGeom>
                <a:avLst/>
                <a:gdLst>
                  <a:gd name="T0" fmla="*/ 0 w 134"/>
                  <a:gd name="T1" fmla="*/ 133 h 133"/>
                  <a:gd name="T2" fmla="*/ 133 w 134"/>
                  <a:gd name="T3" fmla="*/ 0 h 133"/>
                  <a:gd name="T4" fmla="*/ 134 w 134"/>
                  <a:gd name="T5" fmla="*/ 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4" h="133">
                    <a:moveTo>
                      <a:pt x="0" y="133"/>
                    </a:moveTo>
                    <a:lnTo>
                      <a:pt x="133" y="0"/>
                    </a:lnTo>
                    <a:lnTo>
                      <a:pt x="13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34" name="Freeform 274"/>
              <p:cNvSpPr>
                <a:spLocks/>
              </p:cNvSpPr>
              <p:nvPr/>
            </p:nvSpPr>
            <p:spPr bwMode="auto">
              <a:xfrm>
                <a:off x="4417" y="2972"/>
                <a:ext cx="1" cy="1"/>
              </a:xfrm>
              <a:custGeom>
                <a:avLst/>
                <a:gdLst>
                  <a:gd name="T0" fmla="*/ 0 w 3"/>
                  <a:gd name="T1" fmla="*/ 2 h 2"/>
                  <a:gd name="T2" fmla="*/ 2 w 3"/>
                  <a:gd name="T3" fmla="*/ 0 h 2"/>
                  <a:gd name="T4" fmla="*/ 3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2"/>
                    </a:moveTo>
                    <a:lnTo>
                      <a:pt x="2" y="0"/>
                    </a:lnTo>
                    <a:lnTo>
                      <a:pt x="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35" name="Freeform 275"/>
              <p:cNvSpPr>
                <a:spLocks/>
              </p:cNvSpPr>
              <p:nvPr/>
            </p:nvSpPr>
            <p:spPr bwMode="auto">
              <a:xfrm>
                <a:off x="3741" y="2213"/>
                <a:ext cx="147" cy="147"/>
              </a:xfrm>
              <a:custGeom>
                <a:avLst/>
                <a:gdLst>
                  <a:gd name="T0" fmla="*/ 0 w 883"/>
                  <a:gd name="T1" fmla="*/ 882 h 882"/>
                  <a:gd name="T2" fmla="*/ 882 w 883"/>
                  <a:gd name="T3" fmla="*/ 0 h 882"/>
                  <a:gd name="T4" fmla="*/ 883 w 883"/>
                  <a:gd name="T5" fmla="*/ 0 h 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83" h="882">
                    <a:moveTo>
                      <a:pt x="0" y="882"/>
                    </a:moveTo>
                    <a:lnTo>
                      <a:pt x="882" y="0"/>
                    </a:lnTo>
                    <a:lnTo>
                      <a:pt x="88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36" name="Freeform 276"/>
              <p:cNvSpPr>
                <a:spLocks/>
              </p:cNvSpPr>
              <p:nvPr/>
            </p:nvSpPr>
            <p:spPr bwMode="auto">
              <a:xfrm>
                <a:off x="3888" y="2119"/>
                <a:ext cx="95" cy="94"/>
              </a:xfrm>
              <a:custGeom>
                <a:avLst/>
                <a:gdLst>
                  <a:gd name="T0" fmla="*/ 0 w 568"/>
                  <a:gd name="T1" fmla="*/ 568 h 568"/>
                  <a:gd name="T2" fmla="*/ 567 w 568"/>
                  <a:gd name="T3" fmla="*/ 0 h 568"/>
                  <a:gd name="T4" fmla="*/ 568 w 568"/>
                  <a:gd name="T5" fmla="*/ 0 h 5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8" h="568">
                    <a:moveTo>
                      <a:pt x="0" y="568"/>
                    </a:moveTo>
                    <a:lnTo>
                      <a:pt x="567" y="0"/>
                    </a:lnTo>
                    <a:lnTo>
                      <a:pt x="56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37" name="Freeform 277"/>
              <p:cNvSpPr>
                <a:spLocks/>
              </p:cNvSpPr>
              <p:nvPr/>
            </p:nvSpPr>
            <p:spPr bwMode="auto">
              <a:xfrm>
                <a:off x="3711" y="2247"/>
                <a:ext cx="177" cy="178"/>
              </a:xfrm>
              <a:custGeom>
                <a:avLst/>
                <a:gdLst>
                  <a:gd name="T0" fmla="*/ 0 w 1063"/>
                  <a:gd name="T1" fmla="*/ 1063 h 1063"/>
                  <a:gd name="T2" fmla="*/ 1062 w 1063"/>
                  <a:gd name="T3" fmla="*/ 0 h 1063"/>
                  <a:gd name="T4" fmla="*/ 1063 w 1063"/>
                  <a:gd name="T5" fmla="*/ 0 h 1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63" h="1063">
                    <a:moveTo>
                      <a:pt x="0" y="1063"/>
                    </a:moveTo>
                    <a:lnTo>
                      <a:pt x="1062" y="0"/>
                    </a:lnTo>
                    <a:lnTo>
                      <a:pt x="106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38" name="Freeform 278"/>
              <p:cNvSpPr>
                <a:spLocks/>
              </p:cNvSpPr>
              <p:nvPr/>
            </p:nvSpPr>
            <p:spPr bwMode="auto">
              <a:xfrm>
                <a:off x="4025" y="2100"/>
                <a:ext cx="10" cy="11"/>
              </a:xfrm>
              <a:custGeom>
                <a:avLst/>
                <a:gdLst>
                  <a:gd name="T0" fmla="*/ 0 w 60"/>
                  <a:gd name="T1" fmla="*/ 60 h 60"/>
                  <a:gd name="T2" fmla="*/ 59 w 60"/>
                  <a:gd name="T3" fmla="*/ 0 h 60"/>
                  <a:gd name="T4" fmla="*/ 60 w 60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0" h="60">
                    <a:moveTo>
                      <a:pt x="0" y="60"/>
                    </a:moveTo>
                    <a:lnTo>
                      <a:pt x="59" y="0"/>
                    </a:lnTo>
                    <a:lnTo>
                      <a:pt x="6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39" name="Freeform 279"/>
              <p:cNvSpPr>
                <a:spLocks/>
              </p:cNvSpPr>
              <p:nvPr/>
            </p:nvSpPr>
            <p:spPr bwMode="auto">
              <a:xfrm>
                <a:off x="3888" y="2111"/>
                <a:ext cx="137" cy="136"/>
              </a:xfrm>
              <a:custGeom>
                <a:avLst/>
                <a:gdLst>
                  <a:gd name="T0" fmla="*/ 0 w 822"/>
                  <a:gd name="T1" fmla="*/ 821 h 821"/>
                  <a:gd name="T2" fmla="*/ 821 w 822"/>
                  <a:gd name="T3" fmla="*/ 0 h 821"/>
                  <a:gd name="T4" fmla="*/ 822 w 822"/>
                  <a:gd name="T5" fmla="*/ 0 h 8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2" h="821">
                    <a:moveTo>
                      <a:pt x="0" y="821"/>
                    </a:moveTo>
                    <a:lnTo>
                      <a:pt x="821" y="0"/>
                    </a:lnTo>
                    <a:lnTo>
                      <a:pt x="82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40" name="Freeform 280"/>
              <p:cNvSpPr>
                <a:spLocks/>
              </p:cNvSpPr>
              <p:nvPr/>
            </p:nvSpPr>
            <p:spPr bwMode="auto">
              <a:xfrm>
                <a:off x="3678" y="2281"/>
                <a:ext cx="210" cy="211"/>
              </a:xfrm>
              <a:custGeom>
                <a:avLst/>
                <a:gdLst>
                  <a:gd name="T0" fmla="*/ 0 w 1263"/>
                  <a:gd name="T1" fmla="*/ 1263 h 1263"/>
                  <a:gd name="T2" fmla="*/ 1262 w 1263"/>
                  <a:gd name="T3" fmla="*/ 0 h 1263"/>
                  <a:gd name="T4" fmla="*/ 1263 w 1263"/>
                  <a:gd name="T5" fmla="*/ 0 h 1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3" h="1263">
                    <a:moveTo>
                      <a:pt x="0" y="1263"/>
                    </a:moveTo>
                    <a:lnTo>
                      <a:pt x="1262" y="0"/>
                    </a:lnTo>
                    <a:lnTo>
                      <a:pt x="126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41" name="Freeform 281"/>
              <p:cNvSpPr>
                <a:spLocks/>
              </p:cNvSpPr>
              <p:nvPr/>
            </p:nvSpPr>
            <p:spPr bwMode="auto">
              <a:xfrm>
                <a:off x="4025" y="2117"/>
                <a:ext cx="27" cy="27"/>
              </a:xfrm>
              <a:custGeom>
                <a:avLst/>
                <a:gdLst>
                  <a:gd name="T0" fmla="*/ 0 w 162"/>
                  <a:gd name="T1" fmla="*/ 161 h 161"/>
                  <a:gd name="T2" fmla="*/ 161 w 162"/>
                  <a:gd name="T3" fmla="*/ 0 h 161"/>
                  <a:gd name="T4" fmla="*/ 162 w 162"/>
                  <a:gd name="T5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2" h="161">
                    <a:moveTo>
                      <a:pt x="0" y="161"/>
                    </a:moveTo>
                    <a:lnTo>
                      <a:pt x="161" y="0"/>
                    </a:lnTo>
                    <a:lnTo>
                      <a:pt x="16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42" name="Freeform 282"/>
              <p:cNvSpPr>
                <a:spLocks/>
              </p:cNvSpPr>
              <p:nvPr/>
            </p:nvSpPr>
            <p:spPr bwMode="auto">
              <a:xfrm>
                <a:off x="3888" y="2144"/>
                <a:ext cx="137" cy="137"/>
              </a:xfrm>
              <a:custGeom>
                <a:avLst/>
                <a:gdLst>
                  <a:gd name="T0" fmla="*/ 0 w 821"/>
                  <a:gd name="T1" fmla="*/ 821 h 821"/>
                  <a:gd name="T2" fmla="*/ 820 w 821"/>
                  <a:gd name="T3" fmla="*/ 0 h 821"/>
                  <a:gd name="T4" fmla="*/ 821 w 821"/>
                  <a:gd name="T5" fmla="*/ 0 h 8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1" h="821">
                    <a:moveTo>
                      <a:pt x="0" y="821"/>
                    </a:moveTo>
                    <a:lnTo>
                      <a:pt x="820" y="0"/>
                    </a:lnTo>
                    <a:lnTo>
                      <a:pt x="82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43" name="Freeform 283"/>
              <p:cNvSpPr>
                <a:spLocks/>
              </p:cNvSpPr>
              <p:nvPr/>
            </p:nvSpPr>
            <p:spPr bwMode="auto">
              <a:xfrm>
                <a:off x="3657" y="2315"/>
                <a:ext cx="231" cy="231"/>
              </a:xfrm>
              <a:custGeom>
                <a:avLst/>
                <a:gdLst>
                  <a:gd name="T0" fmla="*/ 0 w 1386"/>
                  <a:gd name="T1" fmla="*/ 1387 h 1387"/>
                  <a:gd name="T2" fmla="*/ 1385 w 1386"/>
                  <a:gd name="T3" fmla="*/ 0 h 1387"/>
                  <a:gd name="T4" fmla="*/ 1386 w 1386"/>
                  <a:gd name="T5" fmla="*/ 0 h 1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86" h="1387">
                    <a:moveTo>
                      <a:pt x="0" y="1387"/>
                    </a:moveTo>
                    <a:lnTo>
                      <a:pt x="1385" y="0"/>
                    </a:lnTo>
                    <a:lnTo>
                      <a:pt x="138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44" name="Freeform 284"/>
              <p:cNvSpPr>
                <a:spLocks/>
              </p:cNvSpPr>
              <p:nvPr/>
            </p:nvSpPr>
            <p:spPr bwMode="auto">
              <a:xfrm>
                <a:off x="4065" y="2134"/>
                <a:ext cx="4" cy="4"/>
              </a:xfrm>
              <a:custGeom>
                <a:avLst/>
                <a:gdLst>
                  <a:gd name="T0" fmla="*/ 0 w 22"/>
                  <a:gd name="T1" fmla="*/ 21 h 21"/>
                  <a:gd name="T2" fmla="*/ 21 w 22"/>
                  <a:gd name="T3" fmla="*/ 0 h 21"/>
                  <a:gd name="T4" fmla="*/ 22 w 22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" h="21">
                    <a:moveTo>
                      <a:pt x="0" y="21"/>
                    </a:moveTo>
                    <a:lnTo>
                      <a:pt x="21" y="0"/>
                    </a:lnTo>
                    <a:lnTo>
                      <a:pt x="2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45" name="Freeform 285"/>
              <p:cNvSpPr>
                <a:spLocks/>
              </p:cNvSpPr>
              <p:nvPr/>
            </p:nvSpPr>
            <p:spPr bwMode="auto">
              <a:xfrm>
                <a:off x="3888" y="2178"/>
                <a:ext cx="137" cy="137"/>
              </a:xfrm>
              <a:custGeom>
                <a:avLst/>
                <a:gdLst>
                  <a:gd name="T0" fmla="*/ 0 w 821"/>
                  <a:gd name="T1" fmla="*/ 819 h 819"/>
                  <a:gd name="T2" fmla="*/ 820 w 821"/>
                  <a:gd name="T3" fmla="*/ 0 h 819"/>
                  <a:gd name="T4" fmla="*/ 821 w 821"/>
                  <a:gd name="T5" fmla="*/ 0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1" h="819">
                    <a:moveTo>
                      <a:pt x="0" y="819"/>
                    </a:moveTo>
                    <a:lnTo>
                      <a:pt x="820" y="0"/>
                    </a:lnTo>
                    <a:lnTo>
                      <a:pt x="82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46" name="Freeform 286"/>
              <p:cNvSpPr>
                <a:spLocks/>
              </p:cNvSpPr>
              <p:nvPr/>
            </p:nvSpPr>
            <p:spPr bwMode="auto">
              <a:xfrm>
                <a:off x="4025" y="2138"/>
                <a:ext cx="40" cy="40"/>
              </a:xfrm>
              <a:custGeom>
                <a:avLst/>
                <a:gdLst>
                  <a:gd name="T0" fmla="*/ 0 w 244"/>
                  <a:gd name="T1" fmla="*/ 244 h 244"/>
                  <a:gd name="T2" fmla="*/ 243 w 244"/>
                  <a:gd name="T3" fmla="*/ 0 h 244"/>
                  <a:gd name="T4" fmla="*/ 244 w 244"/>
                  <a:gd name="T5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4" h="244">
                    <a:moveTo>
                      <a:pt x="0" y="244"/>
                    </a:moveTo>
                    <a:lnTo>
                      <a:pt x="243" y="0"/>
                    </a:lnTo>
                    <a:lnTo>
                      <a:pt x="24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47" name="Freeform 287"/>
              <p:cNvSpPr>
                <a:spLocks/>
              </p:cNvSpPr>
              <p:nvPr/>
            </p:nvSpPr>
            <p:spPr bwMode="auto">
              <a:xfrm>
                <a:off x="3645" y="2349"/>
                <a:ext cx="243" cy="243"/>
              </a:xfrm>
              <a:custGeom>
                <a:avLst/>
                <a:gdLst>
                  <a:gd name="T0" fmla="*/ 0 w 1458"/>
                  <a:gd name="T1" fmla="*/ 1458 h 1458"/>
                  <a:gd name="T2" fmla="*/ 1457 w 1458"/>
                  <a:gd name="T3" fmla="*/ 0 h 1458"/>
                  <a:gd name="T4" fmla="*/ 1458 w 1458"/>
                  <a:gd name="T5" fmla="*/ 0 h 1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58" h="1458">
                    <a:moveTo>
                      <a:pt x="0" y="1458"/>
                    </a:moveTo>
                    <a:lnTo>
                      <a:pt x="1457" y="0"/>
                    </a:lnTo>
                    <a:lnTo>
                      <a:pt x="145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48" name="Freeform 288"/>
              <p:cNvSpPr>
                <a:spLocks/>
              </p:cNvSpPr>
              <p:nvPr/>
            </p:nvSpPr>
            <p:spPr bwMode="auto">
              <a:xfrm>
                <a:off x="4077" y="2151"/>
                <a:ext cx="9" cy="9"/>
              </a:xfrm>
              <a:custGeom>
                <a:avLst/>
                <a:gdLst>
                  <a:gd name="T0" fmla="*/ 0 w 53"/>
                  <a:gd name="T1" fmla="*/ 52 h 52"/>
                  <a:gd name="T2" fmla="*/ 52 w 53"/>
                  <a:gd name="T3" fmla="*/ 0 h 52"/>
                  <a:gd name="T4" fmla="*/ 53 w 53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" h="52">
                    <a:moveTo>
                      <a:pt x="0" y="52"/>
                    </a:moveTo>
                    <a:lnTo>
                      <a:pt x="52" y="0"/>
                    </a:lnTo>
                    <a:lnTo>
                      <a:pt x="5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49" name="Freeform 289"/>
              <p:cNvSpPr>
                <a:spLocks/>
              </p:cNvSpPr>
              <p:nvPr/>
            </p:nvSpPr>
            <p:spPr bwMode="auto">
              <a:xfrm>
                <a:off x="3888" y="2212"/>
                <a:ext cx="137" cy="137"/>
              </a:xfrm>
              <a:custGeom>
                <a:avLst/>
                <a:gdLst>
                  <a:gd name="T0" fmla="*/ 0 w 820"/>
                  <a:gd name="T1" fmla="*/ 820 h 820"/>
                  <a:gd name="T2" fmla="*/ 819 w 820"/>
                  <a:gd name="T3" fmla="*/ 0 h 820"/>
                  <a:gd name="T4" fmla="*/ 820 w 820"/>
                  <a:gd name="T5" fmla="*/ 0 h 8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0" h="820">
                    <a:moveTo>
                      <a:pt x="0" y="820"/>
                    </a:moveTo>
                    <a:lnTo>
                      <a:pt x="819" y="0"/>
                    </a:lnTo>
                    <a:lnTo>
                      <a:pt x="8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50" name="Freeform 290"/>
              <p:cNvSpPr>
                <a:spLocks/>
              </p:cNvSpPr>
              <p:nvPr/>
            </p:nvSpPr>
            <p:spPr bwMode="auto">
              <a:xfrm>
                <a:off x="4025" y="2160"/>
                <a:ext cx="53" cy="52"/>
              </a:xfrm>
              <a:custGeom>
                <a:avLst/>
                <a:gdLst>
                  <a:gd name="T0" fmla="*/ 0 w 317"/>
                  <a:gd name="T1" fmla="*/ 316 h 316"/>
                  <a:gd name="T2" fmla="*/ 316 w 317"/>
                  <a:gd name="T3" fmla="*/ 0 h 316"/>
                  <a:gd name="T4" fmla="*/ 317 w 317"/>
                  <a:gd name="T5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7" h="316">
                    <a:moveTo>
                      <a:pt x="0" y="316"/>
                    </a:moveTo>
                    <a:lnTo>
                      <a:pt x="316" y="0"/>
                    </a:lnTo>
                    <a:lnTo>
                      <a:pt x="31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51" name="Freeform 291"/>
              <p:cNvSpPr>
                <a:spLocks/>
              </p:cNvSpPr>
              <p:nvPr/>
            </p:nvSpPr>
            <p:spPr bwMode="auto">
              <a:xfrm>
                <a:off x="3638" y="2383"/>
                <a:ext cx="250" cy="250"/>
              </a:xfrm>
              <a:custGeom>
                <a:avLst/>
                <a:gdLst>
                  <a:gd name="T0" fmla="*/ 0 w 1501"/>
                  <a:gd name="T1" fmla="*/ 1503 h 1503"/>
                  <a:gd name="T2" fmla="*/ 1500 w 1501"/>
                  <a:gd name="T3" fmla="*/ 0 h 1503"/>
                  <a:gd name="T4" fmla="*/ 1501 w 1501"/>
                  <a:gd name="T5" fmla="*/ 0 h 1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01" h="1503">
                    <a:moveTo>
                      <a:pt x="0" y="1503"/>
                    </a:moveTo>
                    <a:lnTo>
                      <a:pt x="1500" y="0"/>
                    </a:lnTo>
                    <a:lnTo>
                      <a:pt x="150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52" name="Freeform 292"/>
              <p:cNvSpPr>
                <a:spLocks/>
              </p:cNvSpPr>
              <p:nvPr/>
            </p:nvSpPr>
            <p:spPr bwMode="auto">
              <a:xfrm>
                <a:off x="4089" y="2168"/>
                <a:ext cx="14" cy="13"/>
              </a:xfrm>
              <a:custGeom>
                <a:avLst/>
                <a:gdLst>
                  <a:gd name="T0" fmla="*/ 0 w 82"/>
                  <a:gd name="T1" fmla="*/ 81 h 81"/>
                  <a:gd name="T2" fmla="*/ 81 w 82"/>
                  <a:gd name="T3" fmla="*/ 0 h 81"/>
                  <a:gd name="T4" fmla="*/ 82 w 82"/>
                  <a:gd name="T5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" h="81">
                    <a:moveTo>
                      <a:pt x="0" y="81"/>
                    </a:moveTo>
                    <a:lnTo>
                      <a:pt x="81" y="0"/>
                    </a:lnTo>
                    <a:lnTo>
                      <a:pt x="8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53" name="Freeform 293"/>
              <p:cNvSpPr>
                <a:spLocks/>
              </p:cNvSpPr>
              <p:nvPr/>
            </p:nvSpPr>
            <p:spPr bwMode="auto">
              <a:xfrm>
                <a:off x="3888" y="2246"/>
                <a:ext cx="137" cy="137"/>
              </a:xfrm>
              <a:custGeom>
                <a:avLst/>
                <a:gdLst>
                  <a:gd name="T0" fmla="*/ 0 w 820"/>
                  <a:gd name="T1" fmla="*/ 819 h 819"/>
                  <a:gd name="T2" fmla="*/ 819 w 820"/>
                  <a:gd name="T3" fmla="*/ 0 h 819"/>
                  <a:gd name="T4" fmla="*/ 820 w 820"/>
                  <a:gd name="T5" fmla="*/ 0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0" h="819">
                    <a:moveTo>
                      <a:pt x="0" y="819"/>
                    </a:moveTo>
                    <a:lnTo>
                      <a:pt x="819" y="0"/>
                    </a:lnTo>
                    <a:lnTo>
                      <a:pt x="8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54" name="Freeform 294"/>
              <p:cNvSpPr>
                <a:spLocks/>
              </p:cNvSpPr>
              <p:nvPr/>
            </p:nvSpPr>
            <p:spPr bwMode="auto">
              <a:xfrm>
                <a:off x="4025" y="2181"/>
                <a:ext cx="65" cy="65"/>
              </a:xfrm>
              <a:custGeom>
                <a:avLst/>
                <a:gdLst>
                  <a:gd name="T0" fmla="*/ 0 w 390"/>
                  <a:gd name="T1" fmla="*/ 390 h 390"/>
                  <a:gd name="T2" fmla="*/ 389 w 390"/>
                  <a:gd name="T3" fmla="*/ 0 h 390"/>
                  <a:gd name="T4" fmla="*/ 390 w 390"/>
                  <a:gd name="T5" fmla="*/ 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0" h="390">
                    <a:moveTo>
                      <a:pt x="0" y="390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55" name="Freeform 295"/>
              <p:cNvSpPr>
                <a:spLocks/>
              </p:cNvSpPr>
              <p:nvPr/>
            </p:nvSpPr>
            <p:spPr bwMode="auto">
              <a:xfrm>
                <a:off x="3633" y="2417"/>
                <a:ext cx="255" cy="255"/>
              </a:xfrm>
              <a:custGeom>
                <a:avLst/>
                <a:gdLst>
                  <a:gd name="T0" fmla="*/ 0 w 1530"/>
                  <a:gd name="T1" fmla="*/ 1531 h 1531"/>
                  <a:gd name="T2" fmla="*/ 1529 w 1530"/>
                  <a:gd name="T3" fmla="*/ 0 h 1531"/>
                  <a:gd name="T4" fmla="*/ 1530 w 1530"/>
                  <a:gd name="T5" fmla="*/ 0 h 15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0" h="1531">
                    <a:moveTo>
                      <a:pt x="0" y="1531"/>
                    </a:moveTo>
                    <a:lnTo>
                      <a:pt x="1529" y="0"/>
                    </a:lnTo>
                    <a:lnTo>
                      <a:pt x="153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56" name="Freeform 296"/>
              <p:cNvSpPr>
                <a:spLocks/>
              </p:cNvSpPr>
              <p:nvPr/>
            </p:nvSpPr>
            <p:spPr bwMode="auto">
              <a:xfrm>
                <a:off x="4102" y="2185"/>
                <a:ext cx="18" cy="18"/>
              </a:xfrm>
              <a:custGeom>
                <a:avLst/>
                <a:gdLst>
                  <a:gd name="T0" fmla="*/ 0 w 112"/>
                  <a:gd name="T1" fmla="*/ 111 h 111"/>
                  <a:gd name="T2" fmla="*/ 111 w 112"/>
                  <a:gd name="T3" fmla="*/ 0 h 111"/>
                  <a:gd name="T4" fmla="*/ 112 w 112"/>
                  <a:gd name="T5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" h="111">
                    <a:moveTo>
                      <a:pt x="0" y="111"/>
                    </a:moveTo>
                    <a:lnTo>
                      <a:pt x="111" y="0"/>
                    </a:lnTo>
                    <a:lnTo>
                      <a:pt x="11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57" name="Freeform 297"/>
              <p:cNvSpPr>
                <a:spLocks/>
              </p:cNvSpPr>
              <p:nvPr/>
            </p:nvSpPr>
            <p:spPr bwMode="auto">
              <a:xfrm>
                <a:off x="3888" y="2280"/>
                <a:ext cx="137" cy="137"/>
              </a:xfrm>
              <a:custGeom>
                <a:avLst/>
                <a:gdLst>
                  <a:gd name="T0" fmla="*/ 0 w 820"/>
                  <a:gd name="T1" fmla="*/ 818 h 818"/>
                  <a:gd name="T2" fmla="*/ 819 w 820"/>
                  <a:gd name="T3" fmla="*/ 0 h 818"/>
                  <a:gd name="T4" fmla="*/ 820 w 820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0" h="818">
                    <a:moveTo>
                      <a:pt x="0" y="818"/>
                    </a:moveTo>
                    <a:lnTo>
                      <a:pt x="819" y="0"/>
                    </a:lnTo>
                    <a:lnTo>
                      <a:pt x="8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58" name="Freeform 298"/>
              <p:cNvSpPr>
                <a:spLocks/>
              </p:cNvSpPr>
              <p:nvPr/>
            </p:nvSpPr>
            <p:spPr bwMode="auto">
              <a:xfrm>
                <a:off x="4025" y="2203"/>
                <a:ext cx="77" cy="77"/>
              </a:xfrm>
              <a:custGeom>
                <a:avLst/>
                <a:gdLst>
                  <a:gd name="T0" fmla="*/ 0 w 462"/>
                  <a:gd name="T1" fmla="*/ 463 h 463"/>
                  <a:gd name="T2" fmla="*/ 461 w 462"/>
                  <a:gd name="T3" fmla="*/ 0 h 463"/>
                  <a:gd name="T4" fmla="*/ 462 w 462"/>
                  <a:gd name="T5" fmla="*/ 0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2" h="463">
                    <a:moveTo>
                      <a:pt x="0" y="463"/>
                    </a:moveTo>
                    <a:lnTo>
                      <a:pt x="461" y="0"/>
                    </a:lnTo>
                    <a:lnTo>
                      <a:pt x="46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59" name="Freeform 299"/>
              <p:cNvSpPr>
                <a:spLocks/>
              </p:cNvSpPr>
              <p:nvPr/>
            </p:nvSpPr>
            <p:spPr bwMode="auto">
              <a:xfrm>
                <a:off x="3630" y="2451"/>
                <a:ext cx="258" cy="258"/>
              </a:xfrm>
              <a:custGeom>
                <a:avLst/>
                <a:gdLst>
                  <a:gd name="T0" fmla="*/ 0 w 1551"/>
                  <a:gd name="T1" fmla="*/ 1552 h 1552"/>
                  <a:gd name="T2" fmla="*/ 1550 w 1551"/>
                  <a:gd name="T3" fmla="*/ 0 h 1552"/>
                  <a:gd name="T4" fmla="*/ 1551 w 1551"/>
                  <a:gd name="T5" fmla="*/ 0 h 1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51" h="1552">
                    <a:moveTo>
                      <a:pt x="0" y="1552"/>
                    </a:moveTo>
                    <a:lnTo>
                      <a:pt x="1550" y="0"/>
                    </a:lnTo>
                    <a:lnTo>
                      <a:pt x="155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60" name="Freeform 300"/>
              <p:cNvSpPr>
                <a:spLocks/>
              </p:cNvSpPr>
              <p:nvPr/>
            </p:nvSpPr>
            <p:spPr bwMode="auto">
              <a:xfrm>
                <a:off x="4114" y="2202"/>
                <a:ext cx="23" cy="23"/>
              </a:xfrm>
              <a:custGeom>
                <a:avLst/>
                <a:gdLst>
                  <a:gd name="T0" fmla="*/ 0 w 139"/>
                  <a:gd name="T1" fmla="*/ 139 h 139"/>
                  <a:gd name="T2" fmla="*/ 138 w 139"/>
                  <a:gd name="T3" fmla="*/ 0 h 139"/>
                  <a:gd name="T4" fmla="*/ 139 w 139"/>
                  <a:gd name="T5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9" h="139">
                    <a:moveTo>
                      <a:pt x="0" y="139"/>
                    </a:moveTo>
                    <a:lnTo>
                      <a:pt x="138" y="0"/>
                    </a:lnTo>
                    <a:lnTo>
                      <a:pt x="13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61" name="Freeform 301"/>
              <p:cNvSpPr>
                <a:spLocks/>
              </p:cNvSpPr>
              <p:nvPr/>
            </p:nvSpPr>
            <p:spPr bwMode="auto">
              <a:xfrm>
                <a:off x="3888" y="2314"/>
                <a:ext cx="137" cy="137"/>
              </a:xfrm>
              <a:custGeom>
                <a:avLst/>
                <a:gdLst>
                  <a:gd name="T0" fmla="*/ 0 w 819"/>
                  <a:gd name="T1" fmla="*/ 817 h 817"/>
                  <a:gd name="T2" fmla="*/ 818 w 819"/>
                  <a:gd name="T3" fmla="*/ 0 h 817"/>
                  <a:gd name="T4" fmla="*/ 819 w 819"/>
                  <a:gd name="T5" fmla="*/ 0 h 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7">
                    <a:moveTo>
                      <a:pt x="0" y="817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62" name="Freeform 302"/>
              <p:cNvSpPr>
                <a:spLocks/>
              </p:cNvSpPr>
              <p:nvPr/>
            </p:nvSpPr>
            <p:spPr bwMode="auto">
              <a:xfrm>
                <a:off x="4024" y="2225"/>
                <a:ext cx="90" cy="89"/>
              </a:xfrm>
              <a:custGeom>
                <a:avLst/>
                <a:gdLst>
                  <a:gd name="T0" fmla="*/ 0 w 536"/>
                  <a:gd name="T1" fmla="*/ 536 h 536"/>
                  <a:gd name="T2" fmla="*/ 535 w 536"/>
                  <a:gd name="T3" fmla="*/ 0 h 536"/>
                  <a:gd name="T4" fmla="*/ 536 w 536"/>
                  <a:gd name="T5" fmla="*/ 0 h 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6" h="536">
                    <a:moveTo>
                      <a:pt x="0" y="536"/>
                    </a:moveTo>
                    <a:lnTo>
                      <a:pt x="535" y="0"/>
                    </a:lnTo>
                    <a:lnTo>
                      <a:pt x="53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63" name="Freeform 303"/>
              <p:cNvSpPr>
                <a:spLocks/>
              </p:cNvSpPr>
              <p:nvPr/>
            </p:nvSpPr>
            <p:spPr bwMode="auto">
              <a:xfrm>
                <a:off x="3635" y="2735"/>
                <a:ext cx="3" cy="3"/>
              </a:xfrm>
              <a:custGeom>
                <a:avLst/>
                <a:gdLst>
                  <a:gd name="T0" fmla="*/ 0 w 20"/>
                  <a:gd name="T1" fmla="*/ 19 h 19"/>
                  <a:gd name="T2" fmla="*/ 18 w 20"/>
                  <a:gd name="T3" fmla="*/ 0 h 19"/>
                  <a:gd name="T4" fmla="*/ 20 w 20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" h="19">
                    <a:moveTo>
                      <a:pt x="0" y="19"/>
                    </a:moveTo>
                    <a:lnTo>
                      <a:pt x="18" y="0"/>
                    </a:lnTo>
                    <a:lnTo>
                      <a:pt x="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64" name="Freeform 304"/>
              <p:cNvSpPr>
                <a:spLocks/>
              </p:cNvSpPr>
              <p:nvPr/>
            </p:nvSpPr>
            <p:spPr bwMode="auto">
              <a:xfrm>
                <a:off x="4126" y="2220"/>
                <a:ext cx="26" cy="27"/>
              </a:xfrm>
              <a:custGeom>
                <a:avLst/>
                <a:gdLst>
                  <a:gd name="T0" fmla="*/ 0 w 161"/>
                  <a:gd name="T1" fmla="*/ 160 h 160"/>
                  <a:gd name="T2" fmla="*/ 160 w 161"/>
                  <a:gd name="T3" fmla="*/ 0 h 160"/>
                  <a:gd name="T4" fmla="*/ 161 w 16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1" h="160">
                    <a:moveTo>
                      <a:pt x="0" y="160"/>
                    </a:moveTo>
                    <a:lnTo>
                      <a:pt x="160" y="0"/>
                    </a:lnTo>
                    <a:lnTo>
                      <a:pt x="16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65" name="Freeform 305"/>
              <p:cNvSpPr>
                <a:spLocks/>
              </p:cNvSpPr>
              <p:nvPr/>
            </p:nvSpPr>
            <p:spPr bwMode="auto">
              <a:xfrm>
                <a:off x="3638" y="2485"/>
                <a:ext cx="250" cy="250"/>
              </a:xfrm>
              <a:custGeom>
                <a:avLst/>
                <a:gdLst>
                  <a:gd name="T0" fmla="*/ 0 w 1504"/>
                  <a:gd name="T1" fmla="*/ 1503 h 1503"/>
                  <a:gd name="T2" fmla="*/ 1503 w 1504"/>
                  <a:gd name="T3" fmla="*/ 0 h 1503"/>
                  <a:gd name="T4" fmla="*/ 1504 w 1504"/>
                  <a:gd name="T5" fmla="*/ 0 h 1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04" h="1503">
                    <a:moveTo>
                      <a:pt x="0" y="1503"/>
                    </a:moveTo>
                    <a:lnTo>
                      <a:pt x="1503" y="0"/>
                    </a:lnTo>
                    <a:lnTo>
                      <a:pt x="150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66" name="Freeform 306"/>
              <p:cNvSpPr>
                <a:spLocks/>
              </p:cNvSpPr>
              <p:nvPr/>
            </p:nvSpPr>
            <p:spPr bwMode="auto">
              <a:xfrm>
                <a:off x="4024" y="2247"/>
                <a:ext cx="102" cy="101"/>
              </a:xfrm>
              <a:custGeom>
                <a:avLst/>
                <a:gdLst>
                  <a:gd name="T0" fmla="*/ 0 w 608"/>
                  <a:gd name="T1" fmla="*/ 608 h 608"/>
                  <a:gd name="T2" fmla="*/ 607 w 608"/>
                  <a:gd name="T3" fmla="*/ 0 h 608"/>
                  <a:gd name="T4" fmla="*/ 608 w 608"/>
                  <a:gd name="T5" fmla="*/ 0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08" h="608">
                    <a:moveTo>
                      <a:pt x="0" y="608"/>
                    </a:moveTo>
                    <a:lnTo>
                      <a:pt x="607" y="0"/>
                    </a:lnTo>
                    <a:lnTo>
                      <a:pt x="60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67" name="Freeform 307"/>
              <p:cNvSpPr>
                <a:spLocks/>
              </p:cNvSpPr>
              <p:nvPr/>
            </p:nvSpPr>
            <p:spPr bwMode="auto">
              <a:xfrm>
                <a:off x="3888" y="2348"/>
                <a:ext cx="137" cy="137"/>
              </a:xfrm>
              <a:custGeom>
                <a:avLst/>
                <a:gdLst>
                  <a:gd name="T0" fmla="*/ 0 w 819"/>
                  <a:gd name="T1" fmla="*/ 819 h 819"/>
                  <a:gd name="T2" fmla="*/ 818 w 819"/>
                  <a:gd name="T3" fmla="*/ 0 h 819"/>
                  <a:gd name="T4" fmla="*/ 819 w 819"/>
                  <a:gd name="T5" fmla="*/ 0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9">
                    <a:moveTo>
                      <a:pt x="0" y="819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68" name="Freeform 308"/>
              <p:cNvSpPr>
                <a:spLocks/>
              </p:cNvSpPr>
              <p:nvPr/>
            </p:nvSpPr>
            <p:spPr bwMode="auto">
              <a:xfrm>
                <a:off x="3661" y="2732"/>
                <a:ext cx="14" cy="14"/>
              </a:xfrm>
              <a:custGeom>
                <a:avLst/>
                <a:gdLst>
                  <a:gd name="T0" fmla="*/ 0 w 89"/>
                  <a:gd name="T1" fmla="*/ 88 h 88"/>
                  <a:gd name="T2" fmla="*/ 88 w 89"/>
                  <a:gd name="T3" fmla="*/ 0 h 88"/>
                  <a:gd name="T4" fmla="*/ 89 w 89"/>
                  <a:gd name="T5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9" h="88">
                    <a:moveTo>
                      <a:pt x="0" y="88"/>
                    </a:moveTo>
                    <a:lnTo>
                      <a:pt x="88" y="0"/>
                    </a:lnTo>
                    <a:lnTo>
                      <a:pt x="8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69" name="Freeform 309"/>
              <p:cNvSpPr>
                <a:spLocks/>
              </p:cNvSpPr>
              <p:nvPr/>
            </p:nvSpPr>
            <p:spPr bwMode="auto">
              <a:xfrm>
                <a:off x="4138" y="2240"/>
                <a:ext cx="29" cy="29"/>
              </a:xfrm>
              <a:custGeom>
                <a:avLst/>
                <a:gdLst>
                  <a:gd name="T0" fmla="*/ 0 w 174"/>
                  <a:gd name="T1" fmla="*/ 172 h 172"/>
                  <a:gd name="T2" fmla="*/ 172 w 174"/>
                  <a:gd name="T3" fmla="*/ 0 h 172"/>
                  <a:gd name="T4" fmla="*/ 174 w 174"/>
                  <a:gd name="T5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4" h="172">
                    <a:moveTo>
                      <a:pt x="0" y="172"/>
                    </a:moveTo>
                    <a:lnTo>
                      <a:pt x="172" y="0"/>
                    </a:lnTo>
                    <a:lnTo>
                      <a:pt x="17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70" name="Freeform 310"/>
              <p:cNvSpPr>
                <a:spLocks/>
              </p:cNvSpPr>
              <p:nvPr/>
            </p:nvSpPr>
            <p:spPr bwMode="auto">
              <a:xfrm>
                <a:off x="3675" y="2518"/>
                <a:ext cx="213" cy="214"/>
              </a:xfrm>
              <a:custGeom>
                <a:avLst/>
                <a:gdLst>
                  <a:gd name="T0" fmla="*/ 0 w 1278"/>
                  <a:gd name="T1" fmla="*/ 1278 h 1278"/>
                  <a:gd name="T2" fmla="*/ 1277 w 1278"/>
                  <a:gd name="T3" fmla="*/ 0 h 1278"/>
                  <a:gd name="T4" fmla="*/ 1278 w 1278"/>
                  <a:gd name="T5" fmla="*/ 0 h 1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78" h="1278">
                    <a:moveTo>
                      <a:pt x="0" y="1278"/>
                    </a:moveTo>
                    <a:lnTo>
                      <a:pt x="1277" y="0"/>
                    </a:lnTo>
                    <a:lnTo>
                      <a:pt x="127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71" name="Freeform 311"/>
              <p:cNvSpPr>
                <a:spLocks/>
              </p:cNvSpPr>
              <p:nvPr/>
            </p:nvSpPr>
            <p:spPr bwMode="auto">
              <a:xfrm>
                <a:off x="4024" y="2269"/>
                <a:ext cx="114" cy="113"/>
              </a:xfrm>
              <a:custGeom>
                <a:avLst/>
                <a:gdLst>
                  <a:gd name="T0" fmla="*/ 0 w 683"/>
                  <a:gd name="T1" fmla="*/ 682 h 682"/>
                  <a:gd name="T2" fmla="*/ 682 w 683"/>
                  <a:gd name="T3" fmla="*/ 0 h 682"/>
                  <a:gd name="T4" fmla="*/ 683 w 683"/>
                  <a:gd name="T5" fmla="*/ 0 h 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3" h="682">
                    <a:moveTo>
                      <a:pt x="0" y="682"/>
                    </a:moveTo>
                    <a:lnTo>
                      <a:pt x="682" y="0"/>
                    </a:lnTo>
                    <a:lnTo>
                      <a:pt x="68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72" name="Freeform 312"/>
              <p:cNvSpPr>
                <a:spLocks/>
              </p:cNvSpPr>
              <p:nvPr/>
            </p:nvSpPr>
            <p:spPr bwMode="auto">
              <a:xfrm>
                <a:off x="3888" y="2382"/>
                <a:ext cx="136" cy="136"/>
              </a:xfrm>
              <a:custGeom>
                <a:avLst/>
                <a:gdLst>
                  <a:gd name="T0" fmla="*/ 0 w 818"/>
                  <a:gd name="T1" fmla="*/ 818 h 818"/>
                  <a:gd name="T2" fmla="*/ 816 w 818"/>
                  <a:gd name="T3" fmla="*/ 0 h 818"/>
                  <a:gd name="T4" fmla="*/ 818 w 818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8">
                    <a:moveTo>
                      <a:pt x="0" y="818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73" name="Freeform 313"/>
              <p:cNvSpPr>
                <a:spLocks/>
              </p:cNvSpPr>
              <p:nvPr/>
            </p:nvSpPr>
            <p:spPr bwMode="auto">
              <a:xfrm>
                <a:off x="3687" y="2729"/>
                <a:ext cx="25" cy="25"/>
              </a:xfrm>
              <a:custGeom>
                <a:avLst/>
                <a:gdLst>
                  <a:gd name="T0" fmla="*/ 0 w 153"/>
                  <a:gd name="T1" fmla="*/ 151 h 151"/>
                  <a:gd name="T2" fmla="*/ 152 w 153"/>
                  <a:gd name="T3" fmla="*/ 0 h 151"/>
                  <a:gd name="T4" fmla="*/ 153 w 153"/>
                  <a:gd name="T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" h="151">
                    <a:moveTo>
                      <a:pt x="0" y="151"/>
                    </a:moveTo>
                    <a:lnTo>
                      <a:pt x="152" y="0"/>
                    </a:lnTo>
                    <a:lnTo>
                      <a:pt x="15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74" name="Freeform 314"/>
              <p:cNvSpPr>
                <a:spLocks/>
              </p:cNvSpPr>
              <p:nvPr/>
            </p:nvSpPr>
            <p:spPr bwMode="auto">
              <a:xfrm>
                <a:off x="4150" y="2260"/>
                <a:ext cx="30" cy="30"/>
              </a:xfrm>
              <a:custGeom>
                <a:avLst/>
                <a:gdLst>
                  <a:gd name="T0" fmla="*/ 0 w 180"/>
                  <a:gd name="T1" fmla="*/ 180 h 180"/>
                  <a:gd name="T2" fmla="*/ 179 w 180"/>
                  <a:gd name="T3" fmla="*/ 0 h 180"/>
                  <a:gd name="T4" fmla="*/ 180 w 180"/>
                  <a:gd name="T5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0" h="180">
                    <a:moveTo>
                      <a:pt x="0" y="180"/>
                    </a:moveTo>
                    <a:lnTo>
                      <a:pt x="179" y="0"/>
                    </a:lnTo>
                    <a:lnTo>
                      <a:pt x="18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75" name="Freeform 315"/>
              <p:cNvSpPr>
                <a:spLocks/>
              </p:cNvSpPr>
              <p:nvPr/>
            </p:nvSpPr>
            <p:spPr bwMode="auto">
              <a:xfrm>
                <a:off x="3712" y="2552"/>
                <a:ext cx="176" cy="177"/>
              </a:xfrm>
              <a:custGeom>
                <a:avLst/>
                <a:gdLst>
                  <a:gd name="T0" fmla="*/ 0 w 1058"/>
                  <a:gd name="T1" fmla="*/ 1058 h 1058"/>
                  <a:gd name="T2" fmla="*/ 1057 w 1058"/>
                  <a:gd name="T3" fmla="*/ 0 h 1058"/>
                  <a:gd name="T4" fmla="*/ 1058 w 1058"/>
                  <a:gd name="T5" fmla="*/ 0 h 10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58" h="1058">
                    <a:moveTo>
                      <a:pt x="0" y="1058"/>
                    </a:moveTo>
                    <a:lnTo>
                      <a:pt x="1057" y="0"/>
                    </a:lnTo>
                    <a:lnTo>
                      <a:pt x="105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76" name="Freeform 316"/>
              <p:cNvSpPr>
                <a:spLocks/>
              </p:cNvSpPr>
              <p:nvPr/>
            </p:nvSpPr>
            <p:spPr bwMode="auto">
              <a:xfrm>
                <a:off x="4024" y="2290"/>
                <a:ext cx="126" cy="126"/>
              </a:xfrm>
              <a:custGeom>
                <a:avLst/>
                <a:gdLst>
                  <a:gd name="T0" fmla="*/ 0 w 757"/>
                  <a:gd name="T1" fmla="*/ 755 h 755"/>
                  <a:gd name="T2" fmla="*/ 756 w 757"/>
                  <a:gd name="T3" fmla="*/ 0 h 755"/>
                  <a:gd name="T4" fmla="*/ 757 w 757"/>
                  <a:gd name="T5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7" h="755">
                    <a:moveTo>
                      <a:pt x="0" y="755"/>
                    </a:moveTo>
                    <a:lnTo>
                      <a:pt x="756" y="0"/>
                    </a:lnTo>
                    <a:lnTo>
                      <a:pt x="75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77" name="Freeform 317"/>
              <p:cNvSpPr>
                <a:spLocks/>
              </p:cNvSpPr>
              <p:nvPr/>
            </p:nvSpPr>
            <p:spPr bwMode="auto">
              <a:xfrm>
                <a:off x="3888" y="2416"/>
                <a:ext cx="136" cy="136"/>
              </a:xfrm>
              <a:custGeom>
                <a:avLst/>
                <a:gdLst>
                  <a:gd name="T0" fmla="*/ 0 w 818"/>
                  <a:gd name="T1" fmla="*/ 817 h 817"/>
                  <a:gd name="T2" fmla="*/ 816 w 818"/>
                  <a:gd name="T3" fmla="*/ 0 h 817"/>
                  <a:gd name="T4" fmla="*/ 818 w 818"/>
                  <a:gd name="T5" fmla="*/ 0 h 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7">
                    <a:moveTo>
                      <a:pt x="0" y="817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78" name="Freeform 318"/>
              <p:cNvSpPr>
                <a:spLocks/>
              </p:cNvSpPr>
              <p:nvPr/>
            </p:nvSpPr>
            <p:spPr bwMode="auto">
              <a:xfrm>
                <a:off x="3713" y="2727"/>
                <a:ext cx="35" cy="35"/>
              </a:xfrm>
              <a:custGeom>
                <a:avLst/>
                <a:gdLst>
                  <a:gd name="T0" fmla="*/ 0 w 211"/>
                  <a:gd name="T1" fmla="*/ 211 h 211"/>
                  <a:gd name="T2" fmla="*/ 210 w 211"/>
                  <a:gd name="T3" fmla="*/ 0 h 211"/>
                  <a:gd name="T4" fmla="*/ 211 w 211"/>
                  <a:gd name="T5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1" h="211">
                    <a:moveTo>
                      <a:pt x="0" y="211"/>
                    </a:moveTo>
                    <a:lnTo>
                      <a:pt x="210" y="0"/>
                    </a:lnTo>
                    <a:lnTo>
                      <a:pt x="21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79" name="Freeform 319"/>
              <p:cNvSpPr>
                <a:spLocks/>
              </p:cNvSpPr>
              <p:nvPr/>
            </p:nvSpPr>
            <p:spPr bwMode="auto">
              <a:xfrm>
                <a:off x="4162" y="2282"/>
                <a:ext cx="31" cy="30"/>
              </a:xfrm>
              <a:custGeom>
                <a:avLst/>
                <a:gdLst>
                  <a:gd name="T0" fmla="*/ 0 w 182"/>
                  <a:gd name="T1" fmla="*/ 182 h 182"/>
                  <a:gd name="T2" fmla="*/ 181 w 182"/>
                  <a:gd name="T3" fmla="*/ 0 h 182"/>
                  <a:gd name="T4" fmla="*/ 182 w 182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2">
                    <a:moveTo>
                      <a:pt x="0" y="182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80" name="Freeform 320"/>
              <p:cNvSpPr>
                <a:spLocks/>
              </p:cNvSpPr>
              <p:nvPr/>
            </p:nvSpPr>
            <p:spPr bwMode="auto">
              <a:xfrm>
                <a:off x="3748" y="2586"/>
                <a:ext cx="140" cy="141"/>
              </a:xfrm>
              <a:custGeom>
                <a:avLst/>
                <a:gdLst>
                  <a:gd name="T0" fmla="*/ 0 w 843"/>
                  <a:gd name="T1" fmla="*/ 843 h 843"/>
                  <a:gd name="T2" fmla="*/ 842 w 843"/>
                  <a:gd name="T3" fmla="*/ 0 h 843"/>
                  <a:gd name="T4" fmla="*/ 843 w 843"/>
                  <a:gd name="T5" fmla="*/ 0 h 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3" h="843">
                    <a:moveTo>
                      <a:pt x="0" y="843"/>
                    </a:moveTo>
                    <a:lnTo>
                      <a:pt x="842" y="0"/>
                    </a:lnTo>
                    <a:lnTo>
                      <a:pt x="84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81" name="Freeform 321"/>
              <p:cNvSpPr>
                <a:spLocks/>
              </p:cNvSpPr>
              <p:nvPr/>
            </p:nvSpPr>
            <p:spPr bwMode="auto">
              <a:xfrm>
                <a:off x="4024" y="2312"/>
                <a:ext cx="138" cy="138"/>
              </a:xfrm>
              <a:custGeom>
                <a:avLst/>
                <a:gdLst>
                  <a:gd name="T0" fmla="*/ 0 w 830"/>
                  <a:gd name="T1" fmla="*/ 829 h 829"/>
                  <a:gd name="T2" fmla="*/ 829 w 830"/>
                  <a:gd name="T3" fmla="*/ 0 h 829"/>
                  <a:gd name="T4" fmla="*/ 830 w 830"/>
                  <a:gd name="T5" fmla="*/ 0 h 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0" h="829">
                    <a:moveTo>
                      <a:pt x="0" y="829"/>
                    </a:moveTo>
                    <a:lnTo>
                      <a:pt x="829" y="0"/>
                    </a:lnTo>
                    <a:lnTo>
                      <a:pt x="83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82" name="Freeform 322"/>
              <p:cNvSpPr>
                <a:spLocks/>
              </p:cNvSpPr>
              <p:nvPr/>
            </p:nvSpPr>
            <p:spPr bwMode="auto">
              <a:xfrm>
                <a:off x="3888" y="2450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83" name="Freeform 323"/>
              <p:cNvSpPr>
                <a:spLocks/>
              </p:cNvSpPr>
              <p:nvPr/>
            </p:nvSpPr>
            <p:spPr bwMode="auto">
              <a:xfrm>
                <a:off x="3739" y="2725"/>
                <a:ext cx="44" cy="44"/>
              </a:xfrm>
              <a:custGeom>
                <a:avLst/>
                <a:gdLst>
                  <a:gd name="T0" fmla="*/ 0 w 267"/>
                  <a:gd name="T1" fmla="*/ 266 h 266"/>
                  <a:gd name="T2" fmla="*/ 266 w 267"/>
                  <a:gd name="T3" fmla="*/ 0 h 266"/>
                  <a:gd name="T4" fmla="*/ 267 w 267"/>
                  <a:gd name="T5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7" h="266">
                    <a:moveTo>
                      <a:pt x="0" y="266"/>
                    </a:moveTo>
                    <a:lnTo>
                      <a:pt x="266" y="0"/>
                    </a:lnTo>
                    <a:lnTo>
                      <a:pt x="2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84" name="Freeform 324"/>
              <p:cNvSpPr>
                <a:spLocks/>
              </p:cNvSpPr>
              <p:nvPr/>
            </p:nvSpPr>
            <p:spPr bwMode="auto">
              <a:xfrm>
                <a:off x="4174" y="2304"/>
                <a:ext cx="31" cy="30"/>
              </a:xfrm>
              <a:custGeom>
                <a:avLst/>
                <a:gdLst>
                  <a:gd name="T0" fmla="*/ 0 w 182"/>
                  <a:gd name="T1" fmla="*/ 181 h 181"/>
                  <a:gd name="T2" fmla="*/ 181 w 182"/>
                  <a:gd name="T3" fmla="*/ 0 h 181"/>
                  <a:gd name="T4" fmla="*/ 182 w 182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1">
                    <a:moveTo>
                      <a:pt x="0" y="181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85" name="Freeform 325"/>
              <p:cNvSpPr>
                <a:spLocks/>
              </p:cNvSpPr>
              <p:nvPr/>
            </p:nvSpPr>
            <p:spPr bwMode="auto">
              <a:xfrm>
                <a:off x="3783" y="2620"/>
                <a:ext cx="105" cy="105"/>
              </a:xfrm>
              <a:custGeom>
                <a:avLst/>
                <a:gdLst>
                  <a:gd name="T0" fmla="*/ 0 w 631"/>
                  <a:gd name="T1" fmla="*/ 631 h 631"/>
                  <a:gd name="T2" fmla="*/ 630 w 631"/>
                  <a:gd name="T3" fmla="*/ 0 h 631"/>
                  <a:gd name="T4" fmla="*/ 631 w 631"/>
                  <a:gd name="T5" fmla="*/ 0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1" h="631">
                    <a:moveTo>
                      <a:pt x="0" y="631"/>
                    </a:moveTo>
                    <a:lnTo>
                      <a:pt x="630" y="0"/>
                    </a:lnTo>
                    <a:lnTo>
                      <a:pt x="63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86" name="Freeform 326"/>
              <p:cNvSpPr>
                <a:spLocks/>
              </p:cNvSpPr>
              <p:nvPr/>
            </p:nvSpPr>
            <p:spPr bwMode="auto">
              <a:xfrm>
                <a:off x="4024" y="2334"/>
                <a:ext cx="150" cy="150"/>
              </a:xfrm>
              <a:custGeom>
                <a:avLst/>
                <a:gdLst>
                  <a:gd name="T0" fmla="*/ 0 w 903"/>
                  <a:gd name="T1" fmla="*/ 902 h 902"/>
                  <a:gd name="T2" fmla="*/ 902 w 903"/>
                  <a:gd name="T3" fmla="*/ 0 h 902"/>
                  <a:gd name="T4" fmla="*/ 903 w 903"/>
                  <a:gd name="T5" fmla="*/ 0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3" h="902">
                    <a:moveTo>
                      <a:pt x="0" y="902"/>
                    </a:moveTo>
                    <a:lnTo>
                      <a:pt x="902" y="0"/>
                    </a:lnTo>
                    <a:lnTo>
                      <a:pt x="90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87" name="Freeform 327"/>
              <p:cNvSpPr>
                <a:spLocks/>
              </p:cNvSpPr>
              <p:nvPr/>
            </p:nvSpPr>
            <p:spPr bwMode="auto">
              <a:xfrm>
                <a:off x="3888" y="2484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88" name="Freeform 328"/>
              <p:cNvSpPr>
                <a:spLocks/>
              </p:cNvSpPr>
              <p:nvPr/>
            </p:nvSpPr>
            <p:spPr bwMode="auto">
              <a:xfrm>
                <a:off x="3765" y="2724"/>
                <a:ext cx="53" cy="53"/>
              </a:xfrm>
              <a:custGeom>
                <a:avLst/>
                <a:gdLst>
                  <a:gd name="T0" fmla="*/ 0 w 318"/>
                  <a:gd name="T1" fmla="*/ 317 h 317"/>
                  <a:gd name="T2" fmla="*/ 317 w 318"/>
                  <a:gd name="T3" fmla="*/ 0 h 317"/>
                  <a:gd name="T4" fmla="*/ 318 w 318"/>
                  <a:gd name="T5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8" h="317">
                    <a:moveTo>
                      <a:pt x="0" y="317"/>
                    </a:moveTo>
                    <a:lnTo>
                      <a:pt x="317" y="0"/>
                    </a:lnTo>
                    <a:lnTo>
                      <a:pt x="3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89" name="Freeform 329"/>
              <p:cNvSpPr>
                <a:spLocks/>
              </p:cNvSpPr>
              <p:nvPr/>
            </p:nvSpPr>
            <p:spPr bwMode="auto">
              <a:xfrm>
                <a:off x="4186" y="2325"/>
                <a:ext cx="31" cy="31"/>
              </a:xfrm>
              <a:custGeom>
                <a:avLst/>
                <a:gdLst>
                  <a:gd name="T0" fmla="*/ 0 w 184"/>
                  <a:gd name="T1" fmla="*/ 182 h 182"/>
                  <a:gd name="T2" fmla="*/ 183 w 184"/>
                  <a:gd name="T3" fmla="*/ 0 h 182"/>
                  <a:gd name="T4" fmla="*/ 184 w 184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2">
                    <a:moveTo>
                      <a:pt x="0" y="182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90" name="Freeform 330"/>
              <p:cNvSpPr>
                <a:spLocks/>
              </p:cNvSpPr>
              <p:nvPr/>
            </p:nvSpPr>
            <p:spPr bwMode="auto">
              <a:xfrm>
                <a:off x="3818" y="2654"/>
                <a:ext cx="70" cy="70"/>
              </a:xfrm>
              <a:custGeom>
                <a:avLst/>
                <a:gdLst>
                  <a:gd name="T0" fmla="*/ 0 w 423"/>
                  <a:gd name="T1" fmla="*/ 423 h 423"/>
                  <a:gd name="T2" fmla="*/ 422 w 423"/>
                  <a:gd name="T3" fmla="*/ 0 h 423"/>
                  <a:gd name="T4" fmla="*/ 423 w 423"/>
                  <a:gd name="T5" fmla="*/ 0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3" h="423">
                    <a:moveTo>
                      <a:pt x="0" y="423"/>
                    </a:moveTo>
                    <a:lnTo>
                      <a:pt x="422" y="0"/>
                    </a:lnTo>
                    <a:lnTo>
                      <a:pt x="42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91" name="Freeform 331"/>
              <p:cNvSpPr>
                <a:spLocks/>
              </p:cNvSpPr>
              <p:nvPr/>
            </p:nvSpPr>
            <p:spPr bwMode="auto">
              <a:xfrm>
                <a:off x="4024" y="2356"/>
                <a:ext cx="163" cy="162"/>
              </a:xfrm>
              <a:custGeom>
                <a:avLst/>
                <a:gdLst>
                  <a:gd name="T0" fmla="*/ 0 w 975"/>
                  <a:gd name="T1" fmla="*/ 976 h 976"/>
                  <a:gd name="T2" fmla="*/ 974 w 975"/>
                  <a:gd name="T3" fmla="*/ 0 h 976"/>
                  <a:gd name="T4" fmla="*/ 975 w 975"/>
                  <a:gd name="T5" fmla="*/ 0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5" h="976">
                    <a:moveTo>
                      <a:pt x="0" y="976"/>
                    </a:moveTo>
                    <a:lnTo>
                      <a:pt x="974" y="0"/>
                    </a:lnTo>
                    <a:lnTo>
                      <a:pt x="97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92" name="Freeform 332"/>
              <p:cNvSpPr>
                <a:spLocks/>
              </p:cNvSpPr>
              <p:nvPr/>
            </p:nvSpPr>
            <p:spPr bwMode="auto">
              <a:xfrm>
                <a:off x="3888" y="2518"/>
                <a:ext cx="136" cy="136"/>
              </a:xfrm>
              <a:custGeom>
                <a:avLst/>
                <a:gdLst>
                  <a:gd name="T0" fmla="*/ 0 w 816"/>
                  <a:gd name="T1" fmla="*/ 815 h 815"/>
                  <a:gd name="T2" fmla="*/ 815 w 816"/>
                  <a:gd name="T3" fmla="*/ 0 h 815"/>
                  <a:gd name="T4" fmla="*/ 816 w 816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5">
                    <a:moveTo>
                      <a:pt x="0" y="815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93" name="Freeform 333"/>
              <p:cNvSpPr>
                <a:spLocks/>
              </p:cNvSpPr>
              <p:nvPr/>
            </p:nvSpPr>
            <p:spPr bwMode="auto">
              <a:xfrm>
                <a:off x="3791" y="2724"/>
                <a:ext cx="61" cy="61"/>
              </a:xfrm>
              <a:custGeom>
                <a:avLst/>
                <a:gdLst>
                  <a:gd name="T0" fmla="*/ 0 w 366"/>
                  <a:gd name="T1" fmla="*/ 364 h 364"/>
                  <a:gd name="T2" fmla="*/ 365 w 366"/>
                  <a:gd name="T3" fmla="*/ 0 h 364"/>
                  <a:gd name="T4" fmla="*/ 366 w 366"/>
                  <a:gd name="T5" fmla="*/ 0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6" h="364">
                    <a:moveTo>
                      <a:pt x="0" y="364"/>
                    </a:moveTo>
                    <a:lnTo>
                      <a:pt x="365" y="0"/>
                    </a:lnTo>
                    <a:lnTo>
                      <a:pt x="36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94" name="Freeform 334"/>
              <p:cNvSpPr>
                <a:spLocks/>
              </p:cNvSpPr>
              <p:nvPr/>
            </p:nvSpPr>
            <p:spPr bwMode="auto">
              <a:xfrm>
                <a:off x="4198" y="2347"/>
                <a:ext cx="31" cy="30"/>
              </a:xfrm>
              <a:custGeom>
                <a:avLst/>
                <a:gdLst>
                  <a:gd name="T0" fmla="*/ 0 w 184"/>
                  <a:gd name="T1" fmla="*/ 184 h 184"/>
                  <a:gd name="T2" fmla="*/ 183 w 184"/>
                  <a:gd name="T3" fmla="*/ 0 h 184"/>
                  <a:gd name="T4" fmla="*/ 184 w 184"/>
                  <a:gd name="T5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4">
                    <a:moveTo>
                      <a:pt x="0" y="184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95" name="Freeform 335"/>
              <p:cNvSpPr>
                <a:spLocks/>
              </p:cNvSpPr>
              <p:nvPr/>
            </p:nvSpPr>
            <p:spPr bwMode="auto">
              <a:xfrm>
                <a:off x="3852" y="2688"/>
                <a:ext cx="36" cy="36"/>
              </a:xfrm>
              <a:custGeom>
                <a:avLst/>
                <a:gdLst>
                  <a:gd name="T0" fmla="*/ 0 w 219"/>
                  <a:gd name="T1" fmla="*/ 219 h 219"/>
                  <a:gd name="T2" fmla="*/ 218 w 219"/>
                  <a:gd name="T3" fmla="*/ 0 h 219"/>
                  <a:gd name="T4" fmla="*/ 219 w 219"/>
                  <a:gd name="T5" fmla="*/ 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9" h="219">
                    <a:moveTo>
                      <a:pt x="0" y="219"/>
                    </a:moveTo>
                    <a:lnTo>
                      <a:pt x="218" y="0"/>
                    </a:lnTo>
                    <a:lnTo>
                      <a:pt x="21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96" name="Freeform 336"/>
              <p:cNvSpPr>
                <a:spLocks/>
              </p:cNvSpPr>
              <p:nvPr/>
            </p:nvSpPr>
            <p:spPr bwMode="auto">
              <a:xfrm>
                <a:off x="4024" y="2377"/>
                <a:ext cx="175" cy="175"/>
              </a:xfrm>
              <a:custGeom>
                <a:avLst/>
                <a:gdLst>
                  <a:gd name="T0" fmla="*/ 0 w 1049"/>
                  <a:gd name="T1" fmla="*/ 1048 h 1048"/>
                  <a:gd name="T2" fmla="*/ 1048 w 1049"/>
                  <a:gd name="T3" fmla="*/ 0 h 1048"/>
                  <a:gd name="T4" fmla="*/ 1049 w 1049"/>
                  <a:gd name="T5" fmla="*/ 0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9" h="1048">
                    <a:moveTo>
                      <a:pt x="0" y="1048"/>
                    </a:moveTo>
                    <a:lnTo>
                      <a:pt x="1048" y="0"/>
                    </a:lnTo>
                    <a:lnTo>
                      <a:pt x="104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97" name="Freeform 337"/>
              <p:cNvSpPr>
                <a:spLocks/>
              </p:cNvSpPr>
              <p:nvPr/>
            </p:nvSpPr>
            <p:spPr bwMode="auto">
              <a:xfrm>
                <a:off x="3888" y="2552"/>
                <a:ext cx="136" cy="136"/>
              </a:xfrm>
              <a:custGeom>
                <a:avLst/>
                <a:gdLst>
                  <a:gd name="T0" fmla="*/ 0 w 815"/>
                  <a:gd name="T1" fmla="*/ 815 h 815"/>
                  <a:gd name="T2" fmla="*/ 814 w 815"/>
                  <a:gd name="T3" fmla="*/ 0 h 815"/>
                  <a:gd name="T4" fmla="*/ 815 w 815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5">
                    <a:moveTo>
                      <a:pt x="0" y="815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98" name="Freeform 338"/>
              <p:cNvSpPr>
                <a:spLocks/>
              </p:cNvSpPr>
              <p:nvPr/>
            </p:nvSpPr>
            <p:spPr bwMode="auto">
              <a:xfrm>
                <a:off x="3817" y="2724"/>
                <a:ext cx="69" cy="69"/>
              </a:xfrm>
              <a:custGeom>
                <a:avLst/>
                <a:gdLst>
                  <a:gd name="T0" fmla="*/ 0 w 411"/>
                  <a:gd name="T1" fmla="*/ 410 h 410"/>
                  <a:gd name="T2" fmla="*/ 410 w 411"/>
                  <a:gd name="T3" fmla="*/ 0 h 410"/>
                  <a:gd name="T4" fmla="*/ 411 w 411"/>
                  <a:gd name="T5" fmla="*/ 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1" h="410">
                    <a:moveTo>
                      <a:pt x="0" y="410"/>
                    </a:moveTo>
                    <a:lnTo>
                      <a:pt x="410" y="0"/>
                    </a:lnTo>
                    <a:lnTo>
                      <a:pt x="41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99" name="Freeform 339"/>
              <p:cNvSpPr>
                <a:spLocks/>
              </p:cNvSpPr>
              <p:nvPr/>
            </p:nvSpPr>
            <p:spPr bwMode="auto">
              <a:xfrm>
                <a:off x="4211" y="2368"/>
                <a:ext cx="31" cy="31"/>
              </a:xfrm>
              <a:custGeom>
                <a:avLst/>
                <a:gdLst>
                  <a:gd name="T0" fmla="*/ 0 w 187"/>
                  <a:gd name="T1" fmla="*/ 186 h 186"/>
                  <a:gd name="T2" fmla="*/ 186 w 187"/>
                  <a:gd name="T3" fmla="*/ 0 h 186"/>
                  <a:gd name="T4" fmla="*/ 187 w 187"/>
                  <a:gd name="T5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6">
                    <a:moveTo>
                      <a:pt x="0" y="186"/>
                    </a:moveTo>
                    <a:lnTo>
                      <a:pt x="186" y="0"/>
                    </a:lnTo>
                    <a:lnTo>
                      <a:pt x="18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00" name="Freeform 340"/>
              <p:cNvSpPr>
                <a:spLocks/>
              </p:cNvSpPr>
              <p:nvPr/>
            </p:nvSpPr>
            <p:spPr bwMode="auto">
              <a:xfrm>
                <a:off x="3885" y="2722"/>
                <a:ext cx="3" cy="2"/>
              </a:xfrm>
              <a:custGeom>
                <a:avLst/>
                <a:gdLst>
                  <a:gd name="T0" fmla="*/ 0 w 18"/>
                  <a:gd name="T1" fmla="*/ 17 h 17"/>
                  <a:gd name="T2" fmla="*/ 17 w 18"/>
                  <a:gd name="T3" fmla="*/ 0 h 17"/>
                  <a:gd name="T4" fmla="*/ 18 w 18"/>
                  <a:gd name="T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" h="17">
                    <a:moveTo>
                      <a:pt x="0" y="17"/>
                    </a:moveTo>
                    <a:lnTo>
                      <a:pt x="17" y="0"/>
                    </a:lnTo>
                    <a:lnTo>
                      <a:pt x="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01" name="Freeform 341"/>
              <p:cNvSpPr>
                <a:spLocks/>
              </p:cNvSpPr>
              <p:nvPr/>
            </p:nvSpPr>
            <p:spPr bwMode="auto">
              <a:xfrm>
                <a:off x="4024" y="2399"/>
                <a:ext cx="187" cy="187"/>
              </a:xfrm>
              <a:custGeom>
                <a:avLst/>
                <a:gdLst>
                  <a:gd name="T0" fmla="*/ 0 w 1121"/>
                  <a:gd name="T1" fmla="*/ 1121 h 1121"/>
                  <a:gd name="T2" fmla="*/ 1120 w 1121"/>
                  <a:gd name="T3" fmla="*/ 0 h 1121"/>
                  <a:gd name="T4" fmla="*/ 1121 w 1121"/>
                  <a:gd name="T5" fmla="*/ 0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1" h="1121">
                    <a:moveTo>
                      <a:pt x="0" y="1121"/>
                    </a:moveTo>
                    <a:lnTo>
                      <a:pt x="1120" y="0"/>
                    </a:lnTo>
                    <a:lnTo>
                      <a:pt x="112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02" name="Freeform 342"/>
              <p:cNvSpPr>
                <a:spLocks/>
              </p:cNvSpPr>
              <p:nvPr/>
            </p:nvSpPr>
            <p:spPr bwMode="auto">
              <a:xfrm>
                <a:off x="3888" y="2586"/>
                <a:ext cx="136" cy="136"/>
              </a:xfrm>
              <a:custGeom>
                <a:avLst/>
                <a:gdLst>
                  <a:gd name="T0" fmla="*/ 0 w 815"/>
                  <a:gd name="T1" fmla="*/ 814 h 814"/>
                  <a:gd name="T2" fmla="*/ 814 w 815"/>
                  <a:gd name="T3" fmla="*/ 0 h 814"/>
                  <a:gd name="T4" fmla="*/ 815 w 815"/>
                  <a:gd name="T5" fmla="*/ 0 h 8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4">
                    <a:moveTo>
                      <a:pt x="0" y="814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03" name="Freeform 343"/>
              <p:cNvSpPr>
                <a:spLocks/>
              </p:cNvSpPr>
              <p:nvPr/>
            </p:nvSpPr>
            <p:spPr bwMode="auto">
              <a:xfrm>
                <a:off x="3843" y="2756"/>
                <a:ext cx="45" cy="45"/>
              </a:xfrm>
              <a:custGeom>
                <a:avLst/>
                <a:gdLst>
                  <a:gd name="T0" fmla="*/ 0 w 270"/>
                  <a:gd name="T1" fmla="*/ 271 h 271"/>
                  <a:gd name="T2" fmla="*/ 269 w 270"/>
                  <a:gd name="T3" fmla="*/ 0 h 271"/>
                  <a:gd name="T4" fmla="*/ 270 w 270"/>
                  <a:gd name="T5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0" h="271">
                    <a:moveTo>
                      <a:pt x="0" y="271"/>
                    </a:moveTo>
                    <a:lnTo>
                      <a:pt x="269" y="0"/>
                    </a:lnTo>
                    <a:lnTo>
                      <a:pt x="27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04" name="Freeform 344"/>
              <p:cNvSpPr>
                <a:spLocks/>
              </p:cNvSpPr>
              <p:nvPr/>
            </p:nvSpPr>
            <p:spPr bwMode="auto">
              <a:xfrm>
                <a:off x="4223" y="2390"/>
                <a:ext cx="31" cy="31"/>
              </a:xfrm>
              <a:custGeom>
                <a:avLst/>
                <a:gdLst>
                  <a:gd name="T0" fmla="*/ 0 w 187"/>
                  <a:gd name="T1" fmla="*/ 185 h 185"/>
                  <a:gd name="T2" fmla="*/ 185 w 187"/>
                  <a:gd name="T3" fmla="*/ 0 h 185"/>
                  <a:gd name="T4" fmla="*/ 187 w 187"/>
                  <a:gd name="T5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5">
                    <a:moveTo>
                      <a:pt x="0" y="185"/>
                    </a:moveTo>
                    <a:lnTo>
                      <a:pt x="185" y="0"/>
                    </a:lnTo>
                    <a:lnTo>
                      <a:pt x="18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05" name="Freeform 345"/>
              <p:cNvSpPr>
                <a:spLocks/>
              </p:cNvSpPr>
              <p:nvPr/>
            </p:nvSpPr>
            <p:spPr bwMode="auto">
              <a:xfrm>
                <a:off x="3888" y="2725"/>
                <a:ext cx="31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06" name="Freeform 346"/>
              <p:cNvSpPr>
                <a:spLocks/>
              </p:cNvSpPr>
              <p:nvPr/>
            </p:nvSpPr>
            <p:spPr bwMode="auto">
              <a:xfrm>
                <a:off x="4024" y="2421"/>
                <a:ext cx="199" cy="199"/>
              </a:xfrm>
              <a:custGeom>
                <a:avLst/>
                <a:gdLst>
                  <a:gd name="T0" fmla="*/ 0 w 1195"/>
                  <a:gd name="T1" fmla="*/ 1194 h 1194"/>
                  <a:gd name="T2" fmla="*/ 1194 w 1195"/>
                  <a:gd name="T3" fmla="*/ 0 h 1194"/>
                  <a:gd name="T4" fmla="*/ 1195 w 1195"/>
                  <a:gd name="T5" fmla="*/ 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95" h="1194">
                    <a:moveTo>
                      <a:pt x="0" y="1194"/>
                    </a:moveTo>
                    <a:lnTo>
                      <a:pt x="1194" y="0"/>
                    </a:lnTo>
                    <a:lnTo>
                      <a:pt x="119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07" name="Freeform 347"/>
              <p:cNvSpPr>
                <a:spLocks/>
              </p:cNvSpPr>
              <p:nvPr/>
            </p:nvSpPr>
            <p:spPr bwMode="auto">
              <a:xfrm>
                <a:off x="3919" y="2620"/>
                <a:ext cx="105" cy="105"/>
              </a:xfrm>
              <a:custGeom>
                <a:avLst/>
                <a:gdLst>
                  <a:gd name="T0" fmla="*/ 0 w 632"/>
                  <a:gd name="T1" fmla="*/ 633 h 633"/>
                  <a:gd name="T2" fmla="*/ 631 w 632"/>
                  <a:gd name="T3" fmla="*/ 0 h 633"/>
                  <a:gd name="T4" fmla="*/ 632 w 632"/>
                  <a:gd name="T5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2" h="633">
                    <a:moveTo>
                      <a:pt x="0" y="633"/>
                    </a:moveTo>
                    <a:lnTo>
                      <a:pt x="631" y="0"/>
                    </a:lnTo>
                    <a:lnTo>
                      <a:pt x="63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08" name="Freeform 348"/>
              <p:cNvSpPr>
                <a:spLocks/>
              </p:cNvSpPr>
              <p:nvPr/>
            </p:nvSpPr>
            <p:spPr bwMode="auto">
              <a:xfrm>
                <a:off x="3869" y="2789"/>
                <a:ext cx="19" cy="19"/>
              </a:xfrm>
              <a:custGeom>
                <a:avLst/>
                <a:gdLst>
                  <a:gd name="T0" fmla="*/ 0 w 114"/>
                  <a:gd name="T1" fmla="*/ 114 h 114"/>
                  <a:gd name="T2" fmla="*/ 113 w 114"/>
                  <a:gd name="T3" fmla="*/ 0 h 114"/>
                  <a:gd name="T4" fmla="*/ 114 w 114"/>
                  <a:gd name="T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4" h="114">
                    <a:moveTo>
                      <a:pt x="0" y="114"/>
                    </a:moveTo>
                    <a:lnTo>
                      <a:pt x="113" y="0"/>
                    </a:lnTo>
                    <a:lnTo>
                      <a:pt x="11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09" name="Freeform 349"/>
              <p:cNvSpPr>
                <a:spLocks/>
              </p:cNvSpPr>
              <p:nvPr/>
            </p:nvSpPr>
            <p:spPr bwMode="auto">
              <a:xfrm>
                <a:off x="4235" y="2412"/>
                <a:ext cx="30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10" name="Freeform 350"/>
              <p:cNvSpPr>
                <a:spLocks/>
              </p:cNvSpPr>
              <p:nvPr/>
            </p:nvSpPr>
            <p:spPr bwMode="auto">
              <a:xfrm>
                <a:off x="3888" y="2727"/>
                <a:ext cx="63" cy="62"/>
              </a:xfrm>
              <a:custGeom>
                <a:avLst/>
                <a:gdLst>
                  <a:gd name="T0" fmla="*/ 0 w 379"/>
                  <a:gd name="T1" fmla="*/ 377 h 377"/>
                  <a:gd name="T2" fmla="*/ 378 w 379"/>
                  <a:gd name="T3" fmla="*/ 0 h 377"/>
                  <a:gd name="T4" fmla="*/ 379 w 379"/>
                  <a:gd name="T5" fmla="*/ 0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9" h="377">
                    <a:moveTo>
                      <a:pt x="0" y="377"/>
                    </a:moveTo>
                    <a:lnTo>
                      <a:pt x="378" y="0"/>
                    </a:lnTo>
                    <a:lnTo>
                      <a:pt x="37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11" name="Freeform 351"/>
              <p:cNvSpPr>
                <a:spLocks/>
              </p:cNvSpPr>
              <p:nvPr/>
            </p:nvSpPr>
            <p:spPr bwMode="auto">
              <a:xfrm>
                <a:off x="4024" y="2443"/>
                <a:ext cx="211" cy="211"/>
              </a:xfrm>
              <a:custGeom>
                <a:avLst/>
                <a:gdLst>
                  <a:gd name="T0" fmla="*/ 0 w 1267"/>
                  <a:gd name="T1" fmla="*/ 1268 h 1268"/>
                  <a:gd name="T2" fmla="*/ 1266 w 1267"/>
                  <a:gd name="T3" fmla="*/ 0 h 1268"/>
                  <a:gd name="T4" fmla="*/ 1267 w 1267"/>
                  <a:gd name="T5" fmla="*/ 0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7" h="1268">
                    <a:moveTo>
                      <a:pt x="0" y="1268"/>
                    </a:moveTo>
                    <a:lnTo>
                      <a:pt x="1266" y="0"/>
                    </a:lnTo>
                    <a:lnTo>
                      <a:pt x="12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12" name="Freeform 352"/>
              <p:cNvSpPr>
                <a:spLocks/>
              </p:cNvSpPr>
              <p:nvPr/>
            </p:nvSpPr>
            <p:spPr bwMode="auto">
              <a:xfrm>
                <a:off x="3951" y="2654"/>
                <a:ext cx="73" cy="73"/>
              </a:xfrm>
              <a:custGeom>
                <a:avLst/>
                <a:gdLst>
                  <a:gd name="T0" fmla="*/ 0 w 436"/>
                  <a:gd name="T1" fmla="*/ 436 h 436"/>
                  <a:gd name="T2" fmla="*/ 435 w 436"/>
                  <a:gd name="T3" fmla="*/ 0 h 436"/>
                  <a:gd name="T4" fmla="*/ 436 w 436"/>
                  <a:gd name="T5" fmla="*/ 0 h 4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6" h="436">
                    <a:moveTo>
                      <a:pt x="0" y="436"/>
                    </a:moveTo>
                    <a:lnTo>
                      <a:pt x="435" y="0"/>
                    </a:lnTo>
                    <a:lnTo>
                      <a:pt x="43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13" name="Freeform 353"/>
              <p:cNvSpPr>
                <a:spLocks/>
              </p:cNvSpPr>
              <p:nvPr/>
            </p:nvSpPr>
            <p:spPr bwMode="auto">
              <a:xfrm>
                <a:off x="3895" y="2728"/>
                <a:ext cx="88" cy="88"/>
              </a:xfrm>
              <a:custGeom>
                <a:avLst/>
                <a:gdLst>
                  <a:gd name="T0" fmla="*/ 0 w 527"/>
                  <a:gd name="T1" fmla="*/ 527 h 527"/>
                  <a:gd name="T2" fmla="*/ 526 w 527"/>
                  <a:gd name="T3" fmla="*/ 0 h 527"/>
                  <a:gd name="T4" fmla="*/ 527 w 527"/>
                  <a:gd name="T5" fmla="*/ 0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" h="527">
                    <a:moveTo>
                      <a:pt x="0" y="527"/>
                    </a:moveTo>
                    <a:lnTo>
                      <a:pt x="526" y="0"/>
                    </a:lnTo>
                    <a:lnTo>
                      <a:pt x="52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14" name="Freeform 354"/>
              <p:cNvSpPr>
                <a:spLocks/>
              </p:cNvSpPr>
              <p:nvPr/>
            </p:nvSpPr>
            <p:spPr bwMode="auto">
              <a:xfrm>
                <a:off x="4247" y="2436"/>
                <a:ext cx="29" cy="28"/>
              </a:xfrm>
              <a:custGeom>
                <a:avLst/>
                <a:gdLst>
                  <a:gd name="T0" fmla="*/ 0 w 173"/>
                  <a:gd name="T1" fmla="*/ 173 h 173"/>
                  <a:gd name="T2" fmla="*/ 172 w 173"/>
                  <a:gd name="T3" fmla="*/ 0 h 173"/>
                  <a:gd name="T4" fmla="*/ 173 w 173"/>
                  <a:gd name="T5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" h="173">
                    <a:moveTo>
                      <a:pt x="0" y="173"/>
                    </a:moveTo>
                    <a:lnTo>
                      <a:pt x="172" y="0"/>
                    </a:lnTo>
                    <a:lnTo>
                      <a:pt x="17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15" name="Freeform 355"/>
              <p:cNvSpPr>
                <a:spLocks/>
              </p:cNvSpPr>
              <p:nvPr/>
            </p:nvSpPr>
            <p:spPr bwMode="auto">
              <a:xfrm>
                <a:off x="3983" y="2688"/>
                <a:ext cx="41" cy="40"/>
              </a:xfrm>
              <a:custGeom>
                <a:avLst/>
                <a:gdLst>
                  <a:gd name="T0" fmla="*/ 0 w 244"/>
                  <a:gd name="T1" fmla="*/ 243 h 243"/>
                  <a:gd name="T2" fmla="*/ 243 w 244"/>
                  <a:gd name="T3" fmla="*/ 0 h 243"/>
                  <a:gd name="T4" fmla="*/ 244 w 244"/>
                  <a:gd name="T5" fmla="*/ 0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4" h="243">
                    <a:moveTo>
                      <a:pt x="0" y="243"/>
                    </a:moveTo>
                    <a:lnTo>
                      <a:pt x="243" y="0"/>
                    </a:lnTo>
                    <a:lnTo>
                      <a:pt x="24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16" name="Freeform 356"/>
              <p:cNvSpPr>
                <a:spLocks/>
              </p:cNvSpPr>
              <p:nvPr/>
            </p:nvSpPr>
            <p:spPr bwMode="auto">
              <a:xfrm>
                <a:off x="4024" y="2464"/>
                <a:ext cx="223" cy="224"/>
              </a:xfrm>
              <a:custGeom>
                <a:avLst/>
                <a:gdLst>
                  <a:gd name="T0" fmla="*/ 0 w 1340"/>
                  <a:gd name="T1" fmla="*/ 1340 h 1340"/>
                  <a:gd name="T2" fmla="*/ 1339 w 1340"/>
                  <a:gd name="T3" fmla="*/ 0 h 1340"/>
                  <a:gd name="T4" fmla="*/ 1340 w 1340"/>
                  <a:gd name="T5" fmla="*/ 0 h 1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40" h="1340">
                    <a:moveTo>
                      <a:pt x="0" y="1340"/>
                    </a:moveTo>
                    <a:lnTo>
                      <a:pt x="1339" y="0"/>
                    </a:lnTo>
                    <a:lnTo>
                      <a:pt x="134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17" name="Freeform 357"/>
              <p:cNvSpPr>
                <a:spLocks/>
              </p:cNvSpPr>
              <p:nvPr/>
            </p:nvSpPr>
            <p:spPr bwMode="auto">
              <a:xfrm>
                <a:off x="3921" y="2730"/>
                <a:ext cx="94" cy="94"/>
              </a:xfrm>
              <a:custGeom>
                <a:avLst/>
                <a:gdLst>
                  <a:gd name="T0" fmla="*/ 0 w 562"/>
                  <a:gd name="T1" fmla="*/ 561 h 561"/>
                  <a:gd name="T2" fmla="*/ 560 w 562"/>
                  <a:gd name="T3" fmla="*/ 0 h 561"/>
                  <a:gd name="T4" fmla="*/ 562 w 562"/>
                  <a:gd name="T5" fmla="*/ 0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2" h="561">
                    <a:moveTo>
                      <a:pt x="0" y="561"/>
                    </a:moveTo>
                    <a:lnTo>
                      <a:pt x="560" y="0"/>
                    </a:lnTo>
                    <a:lnTo>
                      <a:pt x="56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18" name="Freeform 358"/>
              <p:cNvSpPr>
                <a:spLocks/>
              </p:cNvSpPr>
              <p:nvPr/>
            </p:nvSpPr>
            <p:spPr bwMode="auto">
              <a:xfrm>
                <a:off x="4259" y="2460"/>
                <a:ext cx="27" cy="26"/>
              </a:xfrm>
              <a:custGeom>
                <a:avLst/>
                <a:gdLst>
                  <a:gd name="T0" fmla="*/ 0 w 161"/>
                  <a:gd name="T1" fmla="*/ 160 h 160"/>
                  <a:gd name="T2" fmla="*/ 160 w 161"/>
                  <a:gd name="T3" fmla="*/ 0 h 160"/>
                  <a:gd name="T4" fmla="*/ 161 w 16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1" h="160">
                    <a:moveTo>
                      <a:pt x="0" y="160"/>
                    </a:moveTo>
                    <a:lnTo>
                      <a:pt x="160" y="0"/>
                    </a:lnTo>
                    <a:lnTo>
                      <a:pt x="16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19" name="Freeform 359"/>
              <p:cNvSpPr>
                <a:spLocks/>
              </p:cNvSpPr>
              <p:nvPr/>
            </p:nvSpPr>
            <p:spPr bwMode="auto">
              <a:xfrm>
                <a:off x="4015" y="2722"/>
                <a:ext cx="9" cy="8"/>
              </a:xfrm>
              <a:custGeom>
                <a:avLst/>
                <a:gdLst>
                  <a:gd name="T0" fmla="*/ 0 w 53"/>
                  <a:gd name="T1" fmla="*/ 52 h 52"/>
                  <a:gd name="T2" fmla="*/ 52 w 53"/>
                  <a:gd name="T3" fmla="*/ 0 h 52"/>
                  <a:gd name="T4" fmla="*/ 53 w 53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" h="52">
                    <a:moveTo>
                      <a:pt x="0" y="52"/>
                    </a:moveTo>
                    <a:lnTo>
                      <a:pt x="52" y="0"/>
                    </a:lnTo>
                    <a:lnTo>
                      <a:pt x="5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20" name="Freeform 360"/>
              <p:cNvSpPr>
                <a:spLocks/>
              </p:cNvSpPr>
              <p:nvPr/>
            </p:nvSpPr>
            <p:spPr bwMode="auto">
              <a:xfrm>
                <a:off x="4024" y="2486"/>
                <a:ext cx="235" cy="236"/>
              </a:xfrm>
              <a:custGeom>
                <a:avLst/>
                <a:gdLst>
                  <a:gd name="T0" fmla="*/ 0 w 1415"/>
                  <a:gd name="T1" fmla="*/ 1414 h 1414"/>
                  <a:gd name="T2" fmla="*/ 1413 w 1415"/>
                  <a:gd name="T3" fmla="*/ 0 h 1414"/>
                  <a:gd name="T4" fmla="*/ 1415 w 1415"/>
                  <a:gd name="T5" fmla="*/ 0 h 1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15" h="1414">
                    <a:moveTo>
                      <a:pt x="0" y="1414"/>
                    </a:moveTo>
                    <a:lnTo>
                      <a:pt x="1413" y="0"/>
                    </a:lnTo>
                    <a:lnTo>
                      <a:pt x="141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21" name="Freeform 361"/>
              <p:cNvSpPr>
                <a:spLocks/>
              </p:cNvSpPr>
              <p:nvPr/>
            </p:nvSpPr>
            <p:spPr bwMode="auto">
              <a:xfrm>
                <a:off x="3947" y="2756"/>
                <a:ext cx="77" cy="76"/>
              </a:xfrm>
              <a:custGeom>
                <a:avLst/>
                <a:gdLst>
                  <a:gd name="T0" fmla="*/ 0 w 457"/>
                  <a:gd name="T1" fmla="*/ 456 h 456"/>
                  <a:gd name="T2" fmla="*/ 456 w 457"/>
                  <a:gd name="T3" fmla="*/ 0 h 456"/>
                  <a:gd name="T4" fmla="*/ 457 w 457"/>
                  <a:gd name="T5" fmla="*/ 0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7" h="456">
                    <a:moveTo>
                      <a:pt x="0" y="456"/>
                    </a:moveTo>
                    <a:lnTo>
                      <a:pt x="456" y="0"/>
                    </a:lnTo>
                    <a:lnTo>
                      <a:pt x="45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22" name="Freeform 362"/>
              <p:cNvSpPr>
                <a:spLocks/>
              </p:cNvSpPr>
              <p:nvPr/>
            </p:nvSpPr>
            <p:spPr bwMode="auto">
              <a:xfrm>
                <a:off x="4271" y="2484"/>
                <a:ext cx="25" cy="24"/>
              </a:xfrm>
              <a:custGeom>
                <a:avLst/>
                <a:gdLst>
                  <a:gd name="T0" fmla="*/ 0 w 146"/>
                  <a:gd name="T1" fmla="*/ 146 h 146"/>
                  <a:gd name="T2" fmla="*/ 145 w 146"/>
                  <a:gd name="T3" fmla="*/ 0 h 146"/>
                  <a:gd name="T4" fmla="*/ 146 w 146"/>
                  <a:gd name="T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6" h="146">
                    <a:moveTo>
                      <a:pt x="0" y="146"/>
                    </a:moveTo>
                    <a:lnTo>
                      <a:pt x="145" y="0"/>
                    </a:lnTo>
                    <a:lnTo>
                      <a:pt x="14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23" name="Freeform 363"/>
              <p:cNvSpPr>
                <a:spLocks/>
              </p:cNvSpPr>
              <p:nvPr/>
            </p:nvSpPr>
            <p:spPr bwMode="auto">
              <a:xfrm>
                <a:off x="4024" y="2733"/>
                <a:ext cx="22" cy="23"/>
              </a:xfrm>
              <a:custGeom>
                <a:avLst/>
                <a:gdLst>
                  <a:gd name="T0" fmla="*/ 0 w 136"/>
                  <a:gd name="T1" fmla="*/ 135 h 135"/>
                  <a:gd name="T2" fmla="*/ 135 w 136"/>
                  <a:gd name="T3" fmla="*/ 0 h 135"/>
                  <a:gd name="T4" fmla="*/ 136 w 136"/>
                  <a:gd name="T5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6" h="135">
                    <a:moveTo>
                      <a:pt x="0" y="135"/>
                    </a:moveTo>
                    <a:lnTo>
                      <a:pt x="135" y="0"/>
                    </a:lnTo>
                    <a:lnTo>
                      <a:pt x="13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24" name="Freeform 364"/>
              <p:cNvSpPr>
                <a:spLocks/>
              </p:cNvSpPr>
              <p:nvPr/>
            </p:nvSpPr>
            <p:spPr bwMode="auto">
              <a:xfrm>
                <a:off x="4046" y="2508"/>
                <a:ext cx="225" cy="225"/>
              </a:xfrm>
              <a:custGeom>
                <a:avLst/>
                <a:gdLst>
                  <a:gd name="T0" fmla="*/ 0 w 1352"/>
                  <a:gd name="T1" fmla="*/ 1351 h 1351"/>
                  <a:gd name="T2" fmla="*/ 1351 w 1352"/>
                  <a:gd name="T3" fmla="*/ 0 h 1351"/>
                  <a:gd name="T4" fmla="*/ 1352 w 1352"/>
                  <a:gd name="T5" fmla="*/ 0 h 1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52" h="1351">
                    <a:moveTo>
                      <a:pt x="0" y="1351"/>
                    </a:moveTo>
                    <a:lnTo>
                      <a:pt x="1351" y="0"/>
                    </a:lnTo>
                    <a:lnTo>
                      <a:pt x="135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25" name="Freeform 365"/>
              <p:cNvSpPr>
                <a:spLocks/>
              </p:cNvSpPr>
              <p:nvPr/>
            </p:nvSpPr>
            <p:spPr bwMode="auto">
              <a:xfrm>
                <a:off x="3974" y="2790"/>
                <a:ext cx="50" cy="50"/>
              </a:xfrm>
              <a:custGeom>
                <a:avLst/>
                <a:gdLst>
                  <a:gd name="T0" fmla="*/ 0 w 299"/>
                  <a:gd name="T1" fmla="*/ 299 h 299"/>
                  <a:gd name="T2" fmla="*/ 298 w 299"/>
                  <a:gd name="T3" fmla="*/ 0 h 299"/>
                  <a:gd name="T4" fmla="*/ 299 w 299"/>
                  <a:gd name="T5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9" h="299">
                    <a:moveTo>
                      <a:pt x="0" y="299"/>
                    </a:moveTo>
                    <a:lnTo>
                      <a:pt x="298" y="0"/>
                    </a:lnTo>
                    <a:lnTo>
                      <a:pt x="29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26" name="Freeform 366"/>
              <p:cNvSpPr>
                <a:spLocks/>
              </p:cNvSpPr>
              <p:nvPr/>
            </p:nvSpPr>
            <p:spPr bwMode="auto">
              <a:xfrm>
                <a:off x="4283" y="2508"/>
                <a:ext cx="22" cy="22"/>
              </a:xfrm>
              <a:custGeom>
                <a:avLst/>
                <a:gdLst>
                  <a:gd name="T0" fmla="*/ 0 w 133"/>
                  <a:gd name="T1" fmla="*/ 132 h 132"/>
                  <a:gd name="T2" fmla="*/ 131 w 133"/>
                  <a:gd name="T3" fmla="*/ 0 h 132"/>
                  <a:gd name="T4" fmla="*/ 133 w 133"/>
                  <a:gd name="T5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3" h="132">
                    <a:moveTo>
                      <a:pt x="0" y="132"/>
                    </a:moveTo>
                    <a:lnTo>
                      <a:pt x="131" y="0"/>
                    </a:lnTo>
                    <a:lnTo>
                      <a:pt x="13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27" name="Freeform 367"/>
              <p:cNvSpPr>
                <a:spLocks/>
              </p:cNvSpPr>
              <p:nvPr/>
            </p:nvSpPr>
            <p:spPr bwMode="auto">
              <a:xfrm>
                <a:off x="4023" y="2736"/>
                <a:ext cx="54" cy="54"/>
              </a:xfrm>
              <a:custGeom>
                <a:avLst/>
                <a:gdLst>
                  <a:gd name="T0" fmla="*/ 0 w 322"/>
                  <a:gd name="T1" fmla="*/ 321 h 321"/>
                  <a:gd name="T2" fmla="*/ 321 w 322"/>
                  <a:gd name="T3" fmla="*/ 0 h 321"/>
                  <a:gd name="T4" fmla="*/ 322 w 322"/>
                  <a:gd name="T5" fmla="*/ 0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2" h="321">
                    <a:moveTo>
                      <a:pt x="0" y="321"/>
                    </a:moveTo>
                    <a:lnTo>
                      <a:pt x="321" y="0"/>
                    </a:lnTo>
                    <a:lnTo>
                      <a:pt x="32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28" name="Freeform 368"/>
              <p:cNvSpPr>
                <a:spLocks/>
              </p:cNvSpPr>
              <p:nvPr/>
            </p:nvSpPr>
            <p:spPr bwMode="auto">
              <a:xfrm>
                <a:off x="4077" y="2530"/>
                <a:ext cx="206" cy="206"/>
              </a:xfrm>
              <a:custGeom>
                <a:avLst/>
                <a:gdLst>
                  <a:gd name="T0" fmla="*/ 0 w 1240"/>
                  <a:gd name="T1" fmla="*/ 1240 h 1240"/>
                  <a:gd name="T2" fmla="*/ 1239 w 1240"/>
                  <a:gd name="T3" fmla="*/ 0 h 1240"/>
                  <a:gd name="T4" fmla="*/ 1240 w 1240"/>
                  <a:gd name="T5" fmla="*/ 0 h 1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40" h="1240">
                    <a:moveTo>
                      <a:pt x="0" y="1240"/>
                    </a:moveTo>
                    <a:lnTo>
                      <a:pt x="1239" y="0"/>
                    </a:lnTo>
                    <a:lnTo>
                      <a:pt x="124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29" name="Freeform 369"/>
              <p:cNvSpPr>
                <a:spLocks/>
              </p:cNvSpPr>
              <p:nvPr/>
            </p:nvSpPr>
            <p:spPr bwMode="auto">
              <a:xfrm>
                <a:off x="4000" y="2824"/>
                <a:ext cx="24" cy="23"/>
              </a:xfrm>
              <a:custGeom>
                <a:avLst/>
                <a:gdLst>
                  <a:gd name="T0" fmla="*/ 0 w 143"/>
                  <a:gd name="T1" fmla="*/ 141 h 141"/>
                  <a:gd name="T2" fmla="*/ 142 w 143"/>
                  <a:gd name="T3" fmla="*/ 0 h 141"/>
                  <a:gd name="T4" fmla="*/ 143 w 143"/>
                  <a:gd name="T5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141">
                    <a:moveTo>
                      <a:pt x="0" y="141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30" name="Freeform 370"/>
              <p:cNvSpPr>
                <a:spLocks/>
              </p:cNvSpPr>
              <p:nvPr/>
            </p:nvSpPr>
            <p:spPr bwMode="auto">
              <a:xfrm>
                <a:off x="4295" y="2532"/>
                <a:ext cx="20" cy="19"/>
              </a:xfrm>
              <a:custGeom>
                <a:avLst/>
                <a:gdLst>
                  <a:gd name="T0" fmla="*/ 0 w 120"/>
                  <a:gd name="T1" fmla="*/ 118 h 118"/>
                  <a:gd name="T2" fmla="*/ 119 w 120"/>
                  <a:gd name="T3" fmla="*/ 0 h 118"/>
                  <a:gd name="T4" fmla="*/ 120 w 120"/>
                  <a:gd name="T5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0" h="118">
                    <a:moveTo>
                      <a:pt x="0" y="118"/>
                    </a:moveTo>
                    <a:lnTo>
                      <a:pt x="119" y="0"/>
                    </a:lnTo>
                    <a:lnTo>
                      <a:pt x="1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31" name="Freeform 371"/>
              <p:cNvSpPr>
                <a:spLocks/>
              </p:cNvSpPr>
              <p:nvPr/>
            </p:nvSpPr>
            <p:spPr bwMode="auto">
              <a:xfrm>
                <a:off x="4023" y="2740"/>
                <a:ext cx="84" cy="84"/>
              </a:xfrm>
              <a:custGeom>
                <a:avLst/>
                <a:gdLst>
                  <a:gd name="T0" fmla="*/ 0 w 504"/>
                  <a:gd name="T1" fmla="*/ 504 h 504"/>
                  <a:gd name="T2" fmla="*/ 503 w 504"/>
                  <a:gd name="T3" fmla="*/ 0 h 504"/>
                  <a:gd name="T4" fmla="*/ 504 w 504"/>
                  <a:gd name="T5" fmla="*/ 0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4" h="504">
                    <a:moveTo>
                      <a:pt x="0" y="504"/>
                    </a:moveTo>
                    <a:lnTo>
                      <a:pt x="503" y="0"/>
                    </a:lnTo>
                    <a:lnTo>
                      <a:pt x="50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32" name="Freeform 372"/>
              <p:cNvSpPr>
                <a:spLocks/>
              </p:cNvSpPr>
              <p:nvPr/>
            </p:nvSpPr>
            <p:spPr bwMode="auto">
              <a:xfrm>
                <a:off x="4107" y="2551"/>
                <a:ext cx="189" cy="189"/>
              </a:xfrm>
              <a:custGeom>
                <a:avLst/>
                <a:gdLst>
                  <a:gd name="T0" fmla="*/ 0 w 1130"/>
                  <a:gd name="T1" fmla="*/ 1131 h 1131"/>
                  <a:gd name="T2" fmla="*/ 1129 w 1130"/>
                  <a:gd name="T3" fmla="*/ 0 h 1131"/>
                  <a:gd name="T4" fmla="*/ 1130 w 1130"/>
                  <a:gd name="T5" fmla="*/ 0 h 1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30" h="1131">
                    <a:moveTo>
                      <a:pt x="0" y="1131"/>
                    </a:moveTo>
                    <a:lnTo>
                      <a:pt x="1129" y="0"/>
                    </a:lnTo>
                    <a:lnTo>
                      <a:pt x="113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33" name="Freeform 373"/>
              <p:cNvSpPr>
                <a:spLocks/>
              </p:cNvSpPr>
              <p:nvPr/>
            </p:nvSpPr>
            <p:spPr bwMode="auto">
              <a:xfrm>
                <a:off x="4026" y="2744"/>
                <a:ext cx="111" cy="111"/>
              </a:xfrm>
              <a:custGeom>
                <a:avLst/>
                <a:gdLst>
                  <a:gd name="T0" fmla="*/ 0 w 669"/>
                  <a:gd name="T1" fmla="*/ 668 h 668"/>
                  <a:gd name="T2" fmla="*/ 667 w 669"/>
                  <a:gd name="T3" fmla="*/ 0 h 668"/>
                  <a:gd name="T4" fmla="*/ 669 w 669"/>
                  <a:gd name="T5" fmla="*/ 0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69" h="668">
                    <a:moveTo>
                      <a:pt x="0" y="668"/>
                    </a:moveTo>
                    <a:lnTo>
                      <a:pt x="667" y="0"/>
                    </a:lnTo>
                    <a:lnTo>
                      <a:pt x="66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34" name="Freeform 374"/>
              <p:cNvSpPr>
                <a:spLocks/>
              </p:cNvSpPr>
              <p:nvPr/>
            </p:nvSpPr>
            <p:spPr bwMode="auto">
              <a:xfrm>
                <a:off x="4307" y="2555"/>
                <a:ext cx="18" cy="18"/>
              </a:xfrm>
              <a:custGeom>
                <a:avLst/>
                <a:gdLst>
                  <a:gd name="T0" fmla="*/ 0 w 107"/>
                  <a:gd name="T1" fmla="*/ 106 h 106"/>
                  <a:gd name="T2" fmla="*/ 106 w 107"/>
                  <a:gd name="T3" fmla="*/ 0 h 106"/>
                  <a:gd name="T4" fmla="*/ 107 w 107"/>
                  <a:gd name="T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7" h="106">
                    <a:moveTo>
                      <a:pt x="0" y="106"/>
                    </a:moveTo>
                    <a:lnTo>
                      <a:pt x="106" y="0"/>
                    </a:lnTo>
                    <a:lnTo>
                      <a:pt x="10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35" name="Freeform 375"/>
              <p:cNvSpPr>
                <a:spLocks/>
              </p:cNvSpPr>
              <p:nvPr/>
            </p:nvSpPr>
            <p:spPr bwMode="auto">
              <a:xfrm>
                <a:off x="4137" y="2573"/>
                <a:ext cx="171" cy="171"/>
              </a:xfrm>
              <a:custGeom>
                <a:avLst/>
                <a:gdLst>
                  <a:gd name="T0" fmla="*/ 0 w 1024"/>
                  <a:gd name="T1" fmla="*/ 1024 h 1024"/>
                  <a:gd name="T2" fmla="*/ 1023 w 1024"/>
                  <a:gd name="T3" fmla="*/ 0 h 1024"/>
                  <a:gd name="T4" fmla="*/ 1024 w 1024"/>
                  <a:gd name="T5" fmla="*/ 0 h 10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24" h="1024">
                    <a:moveTo>
                      <a:pt x="0" y="1024"/>
                    </a:moveTo>
                    <a:lnTo>
                      <a:pt x="1023" y="0"/>
                    </a:lnTo>
                    <a:lnTo>
                      <a:pt x="102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36" name="Freeform 376"/>
              <p:cNvSpPr>
                <a:spLocks/>
              </p:cNvSpPr>
              <p:nvPr/>
            </p:nvSpPr>
            <p:spPr bwMode="auto">
              <a:xfrm>
                <a:off x="4052" y="2748"/>
                <a:ext cx="115" cy="115"/>
              </a:xfrm>
              <a:custGeom>
                <a:avLst/>
                <a:gdLst>
                  <a:gd name="T0" fmla="*/ 0 w 688"/>
                  <a:gd name="T1" fmla="*/ 688 h 688"/>
                  <a:gd name="T2" fmla="*/ 687 w 688"/>
                  <a:gd name="T3" fmla="*/ 0 h 688"/>
                  <a:gd name="T4" fmla="*/ 688 w 688"/>
                  <a:gd name="T5" fmla="*/ 0 h 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8" h="688">
                    <a:moveTo>
                      <a:pt x="0" y="688"/>
                    </a:moveTo>
                    <a:lnTo>
                      <a:pt x="687" y="0"/>
                    </a:lnTo>
                    <a:lnTo>
                      <a:pt x="68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37" name="Freeform 377"/>
              <p:cNvSpPr>
                <a:spLocks/>
              </p:cNvSpPr>
              <p:nvPr/>
            </p:nvSpPr>
            <p:spPr bwMode="auto">
              <a:xfrm>
                <a:off x="4320" y="2579"/>
                <a:ext cx="15" cy="16"/>
              </a:xfrm>
              <a:custGeom>
                <a:avLst/>
                <a:gdLst>
                  <a:gd name="T0" fmla="*/ 0 w 96"/>
                  <a:gd name="T1" fmla="*/ 95 h 95"/>
                  <a:gd name="T2" fmla="*/ 95 w 96"/>
                  <a:gd name="T3" fmla="*/ 0 h 95"/>
                  <a:gd name="T4" fmla="*/ 96 w 96"/>
                  <a:gd name="T5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95">
                    <a:moveTo>
                      <a:pt x="0" y="95"/>
                    </a:moveTo>
                    <a:lnTo>
                      <a:pt x="95" y="0"/>
                    </a:lnTo>
                    <a:lnTo>
                      <a:pt x="9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38" name="Freeform 378"/>
              <p:cNvSpPr>
                <a:spLocks/>
              </p:cNvSpPr>
              <p:nvPr/>
            </p:nvSpPr>
            <p:spPr bwMode="auto">
              <a:xfrm>
                <a:off x="4166" y="2595"/>
                <a:ext cx="154" cy="153"/>
              </a:xfrm>
              <a:custGeom>
                <a:avLst/>
                <a:gdLst>
                  <a:gd name="T0" fmla="*/ 0 w 920"/>
                  <a:gd name="T1" fmla="*/ 919 h 919"/>
                  <a:gd name="T2" fmla="*/ 919 w 920"/>
                  <a:gd name="T3" fmla="*/ 0 h 919"/>
                  <a:gd name="T4" fmla="*/ 920 w 920"/>
                  <a:gd name="T5" fmla="*/ 0 h 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0" h="919">
                    <a:moveTo>
                      <a:pt x="0" y="919"/>
                    </a:moveTo>
                    <a:lnTo>
                      <a:pt x="919" y="0"/>
                    </a:lnTo>
                    <a:lnTo>
                      <a:pt x="9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39" name="Freeform 379"/>
              <p:cNvSpPr>
                <a:spLocks/>
              </p:cNvSpPr>
              <p:nvPr/>
            </p:nvSpPr>
            <p:spPr bwMode="auto">
              <a:xfrm>
                <a:off x="4078" y="2753"/>
                <a:ext cx="118" cy="118"/>
              </a:xfrm>
              <a:custGeom>
                <a:avLst/>
                <a:gdLst>
                  <a:gd name="T0" fmla="*/ 0 w 706"/>
                  <a:gd name="T1" fmla="*/ 705 h 705"/>
                  <a:gd name="T2" fmla="*/ 705 w 706"/>
                  <a:gd name="T3" fmla="*/ 0 h 705"/>
                  <a:gd name="T4" fmla="*/ 706 w 706"/>
                  <a:gd name="T5" fmla="*/ 0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06" h="705">
                    <a:moveTo>
                      <a:pt x="0" y="705"/>
                    </a:moveTo>
                    <a:lnTo>
                      <a:pt x="705" y="0"/>
                    </a:lnTo>
                    <a:lnTo>
                      <a:pt x="70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40" name="Freeform 380"/>
              <p:cNvSpPr>
                <a:spLocks/>
              </p:cNvSpPr>
              <p:nvPr/>
            </p:nvSpPr>
            <p:spPr bwMode="auto">
              <a:xfrm>
                <a:off x="4332" y="2603"/>
                <a:ext cx="13" cy="14"/>
              </a:xfrm>
              <a:custGeom>
                <a:avLst/>
                <a:gdLst>
                  <a:gd name="T0" fmla="*/ 0 w 82"/>
                  <a:gd name="T1" fmla="*/ 82 h 82"/>
                  <a:gd name="T2" fmla="*/ 81 w 82"/>
                  <a:gd name="T3" fmla="*/ 0 h 82"/>
                  <a:gd name="T4" fmla="*/ 82 w 82"/>
                  <a:gd name="T5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" h="82">
                    <a:moveTo>
                      <a:pt x="0" y="82"/>
                    </a:moveTo>
                    <a:lnTo>
                      <a:pt x="81" y="0"/>
                    </a:lnTo>
                    <a:lnTo>
                      <a:pt x="8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41" name="Freeform 381"/>
              <p:cNvSpPr>
                <a:spLocks/>
              </p:cNvSpPr>
              <p:nvPr/>
            </p:nvSpPr>
            <p:spPr bwMode="auto">
              <a:xfrm>
                <a:off x="4195" y="2617"/>
                <a:ext cx="137" cy="136"/>
              </a:xfrm>
              <a:custGeom>
                <a:avLst/>
                <a:gdLst>
                  <a:gd name="T0" fmla="*/ 0 w 819"/>
                  <a:gd name="T1" fmla="*/ 818 h 818"/>
                  <a:gd name="T2" fmla="*/ 818 w 819"/>
                  <a:gd name="T3" fmla="*/ 0 h 818"/>
                  <a:gd name="T4" fmla="*/ 819 w 819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8">
                    <a:moveTo>
                      <a:pt x="0" y="818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42" name="Freeform 382"/>
              <p:cNvSpPr>
                <a:spLocks/>
              </p:cNvSpPr>
              <p:nvPr/>
            </p:nvSpPr>
            <p:spPr bwMode="auto">
              <a:xfrm>
                <a:off x="4104" y="2759"/>
                <a:ext cx="120" cy="119"/>
              </a:xfrm>
              <a:custGeom>
                <a:avLst/>
                <a:gdLst>
                  <a:gd name="T0" fmla="*/ 0 w 718"/>
                  <a:gd name="T1" fmla="*/ 718 h 718"/>
                  <a:gd name="T2" fmla="*/ 717 w 718"/>
                  <a:gd name="T3" fmla="*/ 0 h 718"/>
                  <a:gd name="T4" fmla="*/ 718 w 718"/>
                  <a:gd name="T5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8" h="718">
                    <a:moveTo>
                      <a:pt x="0" y="718"/>
                    </a:moveTo>
                    <a:lnTo>
                      <a:pt x="717" y="0"/>
                    </a:lnTo>
                    <a:lnTo>
                      <a:pt x="7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43" name="Freeform 383"/>
              <p:cNvSpPr>
                <a:spLocks/>
              </p:cNvSpPr>
              <p:nvPr/>
            </p:nvSpPr>
            <p:spPr bwMode="auto">
              <a:xfrm>
                <a:off x="4344" y="2628"/>
                <a:ext cx="11" cy="11"/>
              </a:xfrm>
              <a:custGeom>
                <a:avLst/>
                <a:gdLst>
                  <a:gd name="T0" fmla="*/ 0 w 67"/>
                  <a:gd name="T1" fmla="*/ 66 h 66"/>
                  <a:gd name="T2" fmla="*/ 66 w 67"/>
                  <a:gd name="T3" fmla="*/ 0 h 66"/>
                  <a:gd name="T4" fmla="*/ 67 w 67"/>
                  <a:gd name="T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" h="66">
                    <a:moveTo>
                      <a:pt x="0" y="66"/>
                    </a:moveTo>
                    <a:lnTo>
                      <a:pt x="66" y="0"/>
                    </a:lnTo>
                    <a:lnTo>
                      <a:pt x="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44" name="Freeform 384"/>
              <p:cNvSpPr>
                <a:spLocks/>
              </p:cNvSpPr>
              <p:nvPr/>
            </p:nvSpPr>
            <p:spPr bwMode="auto">
              <a:xfrm>
                <a:off x="4224" y="2639"/>
                <a:ext cx="120" cy="120"/>
              </a:xfrm>
              <a:custGeom>
                <a:avLst/>
                <a:gdLst>
                  <a:gd name="T0" fmla="*/ 0 w 721"/>
                  <a:gd name="T1" fmla="*/ 721 h 721"/>
                  <a:gd name="T2" fmla="*/ 720 w 721"/>
                  <a:gd name="T3" fmla="*/ 0 h 721"/>
                  <a:gd name="T4" fmla="*/ 721 w 721"/>
                  <a:gd name="T5" fmla="*/ 0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1" h="721">
                    <a:moveTo>
                      <a:pt x="0" y="721"/>
                    </a:moveTo>
                    <a:lnTo>
                      <a:pt x="720" y="0"/>
                    </a:lnTo>
                    <a:lnTo>
                      <a:pt x="72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45" name="Freeform 385"/>
              <p:cNvSpPr>
                <a:spLocks/>
              </p:cNvSpPr>
              <p:nvPr/>
            </p:nvSpPr>
            <p:spPr bwMode="auto">
              <a:xfrm>
                <a:off x="4130" y="2765"/>
                <a:ext cx="122" cy="121"/>
              </a:xfrm>
              <a:custGeom>
                <a:avLst/>
                <a:gdLst>
                  <a:gd name="T0" fmla="*/ 0 w 731"/>
                  <a:gd name="T1" fmla="*/ 731 h 731"/>
                  <a:gd name="T2" fmla="*/ 729 w 731"/>
                  <a:gd name="T3" fmla="*/ 0 h 731"/>
                  <a:gd name="T4" fmla="*/ 731 w 731"/>
                  <a:gd name="T5" fmla="*/ 0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1" h="731">
                    <a:moveTo>
                      <a:pt x="0" y="731"/>
                    </a:moveTo>
                    <a:lnTo>
                      <a:pt x="729" y="0"/>
                    </a:lnTo>
                    <a:lnTo>
                      <a:pt x="73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46" name="Freeform 386"/>
              <p:cNvSpPr>
                <a:spLocks/>
              </p:cNvSpPr>
              <p:nvPr/>
            </p:nvSpPr>
            <p:spPr bwMode="auto">
              <a:xfrm>
                <a:off x="4356" y="2652"/>
                <a:ext cx="8" cy="8"/>
              </a:xfrm>
              <a:custGeom>
                <a:avLst/>
                <a:gdLst>
                  <a:gd name="T0" fmla="*/ 0 w 49"/>
                  <a:gd name="T1" fmla="*/ 48 h 48"/>
                  <a:gd name="T2" fmla="*/ 48 w 49"/>
                  <a:gd name="T3" fmla="*/ 0 h 48"/>
                  <a:gd name="T4" fmla="*/ 49 w 49"/>
                  <a:gd name="T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" h="48">
                    <a:moveTo>
                      <a:pt x="0" y="48"/>
                    </a:moveTo>
                    <a:lnTo>
                      <a:pt x="48" y="0"/>
                    </a:lnTo>
                    <a:lnTo>
                      <a:pt x="4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47" name="Freeform 387"/>
              <p:cNvSpPr>
                <a:spLocks/>
              </p:cNvSpPr>
              <p:nvPr/>
            </p:nvSpPr>
            <p:spPr bwMode="auto">
              <a:xfrm>
                <a:off x="4252" y="2660"/>
                <a:ext cx="104" cy="105"/>
              </a:xfrm>
              <a:custGeom>
                <a:avLst/>
                <a:gdLst>
                  <a:gd name="T0" fmla="*/ 0 w 626"/>
                  <a:gd name="T1" fmla="*/ 625 h 625"/>
                  <a:gd name="T2" fmla="*/ 625 w 626"/>
                  <a:gd name="T3" fmla="*/ 0 h 625"/>
                  <a:gd name="T4" fmla="*/ 626 w 626"/>
                  <a:gd name="T5" fmla="*/ 0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26" h="625">
                    <a:moveTo>
                      <a:pt x="0" y="625"/>
                    </a:moveTo>
                    <a:lnTo>
                      <a:pt x="625" y="0"/>
                    </a:lnTo>
                    <a:lnTo>
                      <a:pt x="62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48" name="Freeform 388"/>
              <p:cNvSpPr>
                <a:spLocks/>
              </p:cNvSpPr>
              <p:nvPr/>
            </p:nvSpPr>
            <p:spPr bwMode="auto">
              <a:xfrm>
                <a:off x="4156" y="2771"/>
                <a:ext cx="123" cy="123"/>
              </a:xfrm>
              <a:custGeom>
                <a:avLst/>
                <a:gdLst>
                  <a:gd name="T0" fmla="*/ 0 w 737"/>
                  <a:gd name="T1" fmla="*/ 737 h 737"/>
                  <a:gd name="T2" fmla="*/ 736 w 737"/>
                  <a:gd name="T3" fmla="*/ 0 h 737"/>
                  <a:gd name="T4" fmla="*/ 737 w 737"/>
                  <a:gd name="T5" fmla="*/ 0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7" h="737">
                    <a:moveTo>
                      <a:pt x="0" y="737"/>
                    </a:moveTo>
                    <a:lnTo>
                      <a:pt x="736" y="0"/>
                    </a:lnTo>
                    <a:lnTo>
                      <a:pt x="73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49" name="Freeform 389"/>
              <p:cNvSpPr>
                <a:spLocks/>
              </p:cNvSpPr>
              <p:nvPr/>
            </p:nvSpPr>
            <p:spPr bwMode="auto">
              <a:xfrm>
                <a:off x="4368" y="2678"/>
                <a:ext cx="5" cy="4"/>
              </a:xfrm>
              <a:custGeom>
                <a:avLst/>
                <a:gdLst>
                  <a:gd name="T0" fmla="*/ 0 w 28"/>
                  <a:gd name="T1" fmla="*/ 27 h 27"/>
                  <a:gd name="T2" fmla="*/ 27 w 28"/>
                  <a:gd name="T3" fmla="*/ 0 h 27"/>
                  <a:gd name="T4" fmla="*/ 28 w 28"/>
                  <a:gd name="T5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7">
                    <a:moveTo>
                      <a:pt x="0" y="27"/>
                    </a:moveTo>
                    <a:lnTo>
                      <a:pt x="27" y="0"/>
                    </a:lnTo>
                    <a:lnTo>
                      <a:pt x="2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50" name="Freeform 390"/>
              <p:cNvSpPr>
                <a:spLocks/>
              </p:cNvSpPr>
              <p:nvPr/>
            </p:nvSpPr>
            <p:spPr bwMode="auto">
              <a:xfrm>
                <a:off x="4279" y="2682"/>
                <a:ext cx="89" cy="89"/>
              </a:xfrm>
              <a:custGeom>
                <a:avLst/>
                <a:gdLst>
                  <a:gd name="T0" fmla="*/ 0 w 535"/>
                  <a:gd name="T1" fmla="*/ 534 h 534"/>
                  <a:gd name="T2" fmla="*/ 534 w 535"/>
                  <a:gd name="T3" fmla="*/ 0 h 534"/>
                  <a:gd name="T4" fmla="*/ 535 w 535"/>
                  <a:gd name="T5" fmla="*/ 0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5" h="534">
                    <a:moveTo>
                      <a:pt x="0" y="534"/>
                    </a:moveTo>
                    <a:lnTo>
                      <a:pt x="534" y="0"/>
                    </a:lnTo>
                    <a:lnTo>
                      <a:pt x="53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66951" name="Freeform 391"/>
            <p:cNvSpPr>
              <a:spLocks/>
            </p:cNvSpPr>
            <p:nvPr/>
          </p:nvSpPr>
          <p:spPr bwMode="auto">
            <a:xfrm>
              <a:off x="3928" y="3141"/>
              <a:ext cx="124" cy="124"/>
            </a:xfrm>
            <a:custGeom>
              <a:avLst/>
              <a:gdLst>
                <a:gd name="T0" fmla="*/ 0 w 742"/>
                <a:gd name="T1" fmla="*/ 741 h 741"/>
                <a:gd name="T2" fmla="*/ 741 w 742"/>
                <a:gd name="T3" fmla="*/ 0 h 741"/>
                <a:gd name="T4" fmla="*/ 742 w 742"/>
                <a:gd name="T5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2" h="741">
                  <a:moveTo>
                    <a:pt x="0" y="741"/>
                  </a:moveTo>
                  <a:lnTo>
                    <a:pt x="741" y="0"/>
                  </a:lnTo>
                  <a:lnTo>
                    <a:pt x="74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52" name="Freeform 392"/>
            <p:cNvSpPr>
              <a:spLocks/>
            </p:cNvSpPr>
            <p:nvPr/>
          </p:nvSpPr>
          <p:spPr bwMode="auto">
            <a:xfrm>
              <a:off x="4052" y="3067"/>
              <a:ext cx="74" cy="74"/>
            </a:xfrm>
            <a:custGeom>
              <a:avLst/>
              <a:gdLst>
                <a:gd name="T0" fmla="*/ 0 w 446"/>
                <a:gd name="T1" fmla="*/ 446 h 446"/>
                <a:gd name="T2" fmla="*/ 445 w 446"/>
                <a:gd name="T3" fmla="*/ 0 h 446"/>
                <a:gd name="T4" fmla="*/ 446 w 446"/>
                <a:gd name="T5" fmla="*/ 0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6" h="446">
                  <a:moveTo>
                    <a:pt x="0" y="446"/>
                  </a:moveTo>
                  <a:lnTo>
                    <a:pt x="445" y="0"/>
                  </a:lnTo>
                  <a:lnTo>
                    <a:pt x="44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53" name="Freeform 393"/>
            <p:cNvSpPr>
              <a:spLocks/>
            </p:cNvSpPr>
            <p:nvPr/>
          </p:nvSpPr>
          <p:spPr bwMode="auto">
            <a:xfrm>
              <a:off x="3954" y="3149"/>
              <a:ext cx="124" cy="124"/>
            </a:xfrm>
            <a:custGeom>
              <a:avLst/>
              <a:gdLst>
                <a:gd name="T0" fmla="*/ 0 w 743"/>
                <a:gd name="T1" fmla="*/ 741 h 741"/>
                <a:gd name="T2" fmla="*/ 742 w 743"/>
                <a:gd name="T3" fmla="*/ 0 h 741"/>
                <a:gd name="T4" fmla="*/ 743 w 743"/>
                <a:gd name="T5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3" h="741">
                  <a:moveTo>
                    <a:pt x="0" y="741"/>
                  </a:moveTo>
                  <a:lnTo>
                    <a:pt x="742" y="0"/>
                  </a:lnTo>
                  <a:lnTo>
                    <a:pt x="74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54" name="Freeform 394"/>
            <p:cNvSpPr>
              <a:spLocks/>
            </p:cNvSpPr>
            <p:nvPr/>
          </p:nvSpPr>
          <p:spPr bwMode="auto">
            <a:xfrm>
              <a:off x="4078" y="3094"/>
              <a:ext cx="55" cy="55"/>
            </a:xfrm>
            <a:custGeom>
              <a:avLst/>
              <a:gdLst>
                <a:gd name="T0" fmla="*/ 0 w 327"/>
                <a:gd name="T1" fmla="*/ 328 h 328"/>
                <a:gd name="T2" fmla="*/ 326 w 327"/>
                <a:gd name="T3" fmla="*/ 0 h 328"/>
                <a:gd name="T4" fmla="*/ 327 w 327"/>
                <a:gd name="T5" fmla="*/ 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7" h="328">
                  <a:moveTo>
                    <a:pt x="0" y="328"/>
                  </a:moveTo>
                  <a:lnTo>
                    <a:pt x="326" y="0"/>
                  </a:lnTo>
                  <a:lnTo>
                    <a:pt x="32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55" name="Freeform 395"/>
            <p:cNvSpPr>
              <a:spLocks/>
            </p:cNvSpPr>
            <p:nvPr/>
          </p:nvSpPr>
          <p:spPr bwMode="auto">
            <a:xfrm>
              <a:off x="3981" y="3158"/>
              <a:ext cx="122" cy="122"/>
            </a:xfrm>
            <a:custGeom>
              <a:avLst/>
              <a:gdLst>
                <a:gd name="T0" fmla="*/ 0 w 738"/>
                <a:gd name="T1" fmla="*/ 737 h 737"/>
                <a:gd name="T2" fmla="*/ 737 w 738"/>
                <a:gd name="T3" fmla="*/ 0 h 737"/>
                <a:gd name="T4" fmla="*/ 738 w 738"/>
                <a:gd name="T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38" h="737">
                  <a:moveTo>
                    <a:pt x="0" y="737"/>
                  </a:moveTo>
                  <a:lnTo>
                    <a:pt x="737" y="0"/>
                  </a:lnTo>
                  <a:lnTo>
                    <a:pt x="73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56" name="Freeform 396"/>
            <p:cNvSpPr>
              <a:spLocks/>
            </p:cNvSpPr>
            <p:nvPr/>
          </p:nvSpPr>
          <p:spPr bwMode="auto">
            <a:xfrm>
              <a:off x="4103" y="3123"/>
              <a:ext cx="35" cy="35"/>
            </a:xfrm>
            <a:custGeom>
              <a:avLst/>
              <a:gdLst>
                <a:gd name="T0" fmla="*/ 0 w 207"/>
                <a:gd name="T1" fmla="*/ 207 h 207"/>
                <a:gd name="T2" fmla="*/ 206 w 207"/>
                <a:gd name="T3" fmla="*/ 0 h 207"/>
                <a:gd name="T4" fmla="*/ 207 w 207"/>
                <a:gd name="T5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" h="207">
                  <a:moveTo>
                    <a:pt x="0" y="207"/>
                  </a:moveTo>
                  <a:lnTo>
                    <a:pt x="206" y="0"/>
                  </a:lnTo>
                  <a:lnTo>
                    <a:pt x="20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57" name="Freeform 397"/>
            <p:cNvSpPr>
              <a:spLocks/>
            </p:cNvSpPr>
            <p:nvPr/>
          </p:nvSpPr>
          <p:spPr bwMode="auto">
            <a:xfrm>
              <a:off x="4007" y="3167"/>
              <a:ext cx="121" cy="121"/>
            </a:xfrm>
            <a:custGeom>
              <a:avLst/>
              <a:gdLst>
                <a:gd name="T0" fmla="*/ 0 w 729"/>
                <a:gd name="T1" fmla="*/ 728 h 728"/>
                <a:gd name="T2" fmla="*/ 728 w 729"/>
                <a:gd name="T3" fmla="*/ 0 h 728"/>
                <a:gd name="T4" fmla="*/ 729 w 729"/>
                <a:gd name="T5" fmla="*/ 0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9" h="728">
                  <a:moveTo>
                    <a:pt x="0" y="728"/>
                  </a:moveTo>
                  <a:lnTo>
                    <a:pt x="728" y="0"/>
                  </a:lnTo>
                  <a:lnTo>
                    <a:pt x="72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58" name="Freeform 398"/>
            <p:cNvSpPr>
              <a:spLocks/>
            </p:cNvSpPr>
            <p:nvPr/>
          </p:nvSpPr>
          <p:spPr bwMode="auto">
            <a:xfrm>
              <a:off x="4128" y="3153"/>
              <a:ext cx="14" cy="14"/>
            </a:xfrm>
            <a:custGeom>
              <a:avLst/>
              <a:gdLst>
                <a:gd name="T0" fmla="*/ 0 w 87"/>
                <a:gd name="T1" fmla="*/ 85 h 85"/>
                <a:gd name="T2" fmla="*/ 86 w 87"/>
                <a:gd name="T3" fmla="*/ 0 h 85"/>
                <a:gd name="T4" fmla="*/ 87 w 8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7" h="85">
                  <a:moveTo>
                    <a:pt x="0" y="85"/>
                  </a:moveTo>
                  <a:lnTo>
                    <a:pt x="86" y="0"/>
                  </a:lnTo>
                  <a:lnTo>
                    <a:pt x="8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59" name="Freeform 399"/>
            <p:cNvSpPr>
              <a:spLocks/>
            </p:cNvSpPr>
            <p:nvPr/>
          </p:nvSpPr>
          <p:spPr bwMode="auto">
            <a:xfrm>
              <a:off x="4033" y="3183"/>
              <a:ext cx="113" cy="113"/>
            </a:xfrm>
            <a:custGeom>
              <a:avLst/>
              <a:gdLst>
                <a:gd name="T0" fmla="*/ 0 w 679"/>
                <a:gd name="T1" fmla="*/ 679 h 679"/>
                <a:gd name="T2" fmla="*/ 677 w 679"/>
                <a:gd name="T3" fmla="*/ 0 h 679"/>
                <a:gd name="T4" fmla="*/ 679 w 679"/>
                <a:gd name="T5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9" h="679">
                  <a:moveTo>
                    <a:pt x="0" y="679"/>
                  </a:moveTo>
                  <a:lnTo>
                    <a:pt x="677" y="0"/>
                  </a:lnTo>
                  <a:lnTo>
                    <a:pt x="67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60" name="Freeform 400"/>
            <p:cNvSpPr>
              <a:spLocks/>
            </p:cNvSpPr>
            <p:nvPr/>
          </p:nvSpPr>
          <p:spPr bwMode="auto">
            <a:xfrm>
              <a:off x="4059" y="3214"/>
              <a:ext cx="90" cy="90"/>
            </a:xfrm>
            <a:custGeom>
              <a:avLst/>
              <a:gdLst>
                <a:gd name="T0" fmla="*/ 0 w 542"/>
                <a:gd name="T1" fmla="*/ 540 h 540"/>
                <a:gd name="T2" fmla="*/ 541 w 542"/>
                <a:gd name="T3" fmla="*/ 0 h 540"/>
                <a:gd name="T4" fmla="*/ 542 w 542"/>
                <a:gd name="T5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2" h="540">
                  <a:moveTo>
                    <a:pt x="0" y="540"/>
                  </a:moveTo>
                  <a:lnTo>
                    <a:pt x="541" y="0"/>
                  </a:lnTo>
                  <a:lnTo>
                    <a:pt x="54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61" name="Freeform 401"/>
            <p:cNvSpPr>
              <a:spLocks/>
            </p:cNvSpPr>
            <p:nvPr/>
          </p:nvSpPr>
          <p:spPr bwMode="auto">
            <a:xfrm>
              <a:off x="4085" y="3244"/>
              <a:ext cx="67" cy="68"/>
            </a:xfrm>
            <a:custGeom>
              <a:avLst/>
              <a:gdLst>
                <a:gd name="T0" fmla="*/ 0 w 404"/>
                <a:gd name="T1" fmla="*/ 403 h 403"/>
                <a:gd name="T2" fmla="*/ 403 w 404"/>
                <a:gd name="T3" fmla="*/ 0 h 403"/>
                <a:gd name="T4" fmla="*/ 404 w 404"/>
                <a:gd name="T5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4" h="403">
                  <a:moveTo>
                    <a:pt x="0" y="403"/>
                  </a:moveTo>
                  <a:lnTo>
                    <a:pt x="403" y="0"/>
                  </a:lnTo>
                  <a:lnTo>
                    <a:pt x="40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62" name="Freeform 402"/>
            <p:cNvSpPr>
              <a:spLocks/>
            </p:cNvSpPr>
            <p:nvPr/>
          </p:nvSpPr>
          <p:spPr bwMode="auto">
            <a:xfrm>
              <a:off x="4111" y="3275"/>
              <a:ext cx="44" cy="44"/>
            </a:xfrm>
            <a:custGeom>
              <a:avLst/>
              <a:gdLst>
                <a:gd name="T0" fmla="*/ 0 w 267"/>
                <a:gd name="T1" fmla="*/ 268 h 268"/>
                <a:gd name="T2" fmla="*/ 266 w 267"/>
                <a:gd name="T3" fmla="*/ 0 h 268"/>
                <a:gd name="T4" fmla="*/ 267 w 267"/>
                <a:gd name="T5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7" h="268">
                  <a:moveTo>
                    <a:pt x="0" y="268"/>
                  </a:moveTo>
                  <a:lnTo>
                    <a:pt x="266" y="0"/>
                  </a:lnTo>
                  <a:lnTo>
                    <a:pt x="26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63" name="Freeform 403"/>
            <p:cNvSpPr>
              <a:spLocks/>
            </p:cNvSpPr>
            <p:nvPr/>
          </p:nvSpPr>
          <p:spPr bwMode="auto">
            <a:xfrm>
              <a:off x="4137" y="3305"/>
              <a:ext cx="22" cy="22"/>
            </a:xfrm>
            <a:custGeom>
              <a:avLst/>
              <a:gdLst>
                <a:gd name="T0" fmla="*/ 0 w 134"/>
                <a:gd name="T1" fmla="*/ 133 h 133"/>
                <a:gd name="T2" fmla="*/ 133 w 134"/>
                <a:gd name="T3" fmla="*/ 0 h 133"/>
                <a:gd name="T4" fmla="*/ 134 w 134"/>
                <a:gd name="T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33">
                  <a:moveTo>
                    <a:pt x="0" y="133"/>
                  </a:moveTo>
                  <a:lnTo>
                    <a:pt x="133" y="0"/>
                  </a:lnTo>
                  <a:lnTo>
                    <a:pt x="13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64" name="Freeform 404"/>
            <p:cNvSpPr>
              <a:spLocks/>
            </p:cNvSpPr>
            <p:nvPr/>
          </p:nvSpPr>
          <p:spPr bwMode="auto">
            <a:xfrm>
              <a:off x="4163" y="3335"/>
              <a:ext cx="1" cy="1"/>
            </a:xfrm>
            <a:custGeom>
              <a:avLst/>
              <a:gdLst>
                <a:gd name="T0" fmla="*/ 0 w 3"/>
                <a:gd name="T1" fmla="*/ 2 h 2"/>
                <a:gd name="T2" fmla="*/ 2 w 3"/>
                <a:gd name="T3" fmla="*/ 0 h 2"/>
                <a:gd name="T4" fmla="*/ 3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65" name="Freeform 405"/>
            <p:cNvSpPr>
              <a:spLocks/>
            </p:cNvSpPr>
            <p:nvPr/>
          </p:nvSpPr>
          <p:spPr bwMode="auto">
            <a:xfrm>
              <a:off x="3046" y="3227"/>
              <a:ext cx="1180" cy="181"/>
            </a:xfrm>
            <a:custGeom>
              <a:avLst/>
              <a:gdLst>
                <a:gd name="T0" fmla="*/ 0 w 7811"/>
                <a:gd name="T1" fmla="*/ 0 h 1154"/>
                <a:gd name="T2" fmla="*/ 63 w 7811"/>
                <a:gd name="T3" fmla="*/ 197 h 1154"/>
                <a:gd name="T4" fmla="*/ 255 w 7811"/>
                <a:gd name="T5" fmla="*/ 389 h 1154"/>
                <a:gd name="T6" fmla="*/ 572 w 7811"/>
                <a:gd name="T7" fmla="*/ 571 h 1154"/>
                <a:gd name="T8" fmla="*/ 1003 w 7811"/>
                <a:gd name="T9" fmla="*/ 738 h 1154"/>
                <a:gd name="T10" fmla="*/ 1532 w 7811"/>
                <a:gd name="T11" fmla="*/ 882 h 1154"/>
                <a:gd name="T12" fmla="*/ 2142 w 7811"/>
                <a:gd name="T13" fmla="*/ 999 h 1154"/>
                <a:gd name="T14" fmla="*/ 2813 w 7811"/>
                <a:gd name="T15" fmla="*/ 1086 h 1154"/>
                <a:gd name="T16" fmla="*/ 3521 w 7811"/>
                <a:gd name="T17" fmla="*/ 1138 h 1154"/>
                <a:gd name="T18" fmla="*/ 4241 w 7811"/>
                <a:gd name="T19" fmla="*/ 1154 h 1154"/>
                <a:gd name="T20" fmla="*/ 4950 w 7811"/>
                <a:gd name="T21" fmla="*/ 1136 h 1154"/>
                <a:gd name="T22" fmla="*/ 5623 w 7811"/>
                <a:gd name="T23" fmla="*/ 1080 h 1154"/>
                <a:gd name="T24" fmla="*/ 6238 w 7811"/>
                <a:gd name="T25" fmla="*/ 992 h 1154"/>
                <a:gd name="T26" fmla="*/ 6774 w 7811"/>
                <a:gd name="T27" fmla="*/ 874 h 1154"/>
                <a:gd name="T28" fmla="*/ 7212 w 7811"/>
                <a:gd name="T29" fmla="*/ 728 h 1154"/>
                <a:gd name="T30" fmla="*/ 7537 w 7811"/>
                <a:gd name="T31" fmla="*/ 560 h 1154"/>
                <a:gd name="T32" fmla="*/ 7739 w 7811"/>
                <a:gd name="T33" fmla="*/ 377 h 1154"/>
                <a:gd name="T34" fmla="*/ 7810 w 7811"/>
                <a:gd name="T35" fmla="*/ 183 h 1154"/>
                <a:gd name="T36" fmla="*/ 7811 w 7811"/>
                <a:gd name="T37" fmla="*/ 183 h 1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811" h="1154">
                  <a:moveTo>
                    <a:pt x="0" y="0"/>
                  </a:moveTo>
                  <a:lnTo>
                    <a:pt x="63" y="197"/>
                  </a:lnTo>
                  <a:lnTo>
                    <a:pt x="255" y="389"/>
                  </a:lnTo>
                  <a:lnTo>
                    <a:pt x="572" y="571"/>
                  </a:lnTo>
                  <a:lnTo>
                    <a:pt x="1003" y="738"/>
                  </a:lnTo>
                  <a:lnTo>
                    <a:pt x="1532" y="882"/>
                  </a:lnTo>
                  <a:lnTo>
                    <a:pt x="2142" y="999"/>
                  </a:lnTo>
                  <a:lnTo>
                    <a:pt x="2813" y="1086"/>
                  </a:lnTo>
                  <a:lnTo>
                    <a:pt x="3521" y="1138"/>
                  </a:lnTo>
                  <a:lnTo>
                    <a:pt x="4241" y="1154"/>
                  </a:lnTo>
                  <a:lnTo>
                    <a:pt x="4950" y="1136"/>
                  </a:lnTo>
                  <a:lnTo>
                    <a:pt x="5623" y="1080"/>
                  </a:lnTo>
                  <a:lnTo>
                    <a:pt x="6238" y="992"/>
                  </a:lnTo>
                  <a:lnTo>
                    <a:pt x="6774" y="874"/>
                  </a:lnTo>
                  <a:lnTo>
                    <a:pt x="7212" y="728"/>
                  </a:lnTo>
                  <a:lnTo>
                    <a:pt x="7537" y="560"/>
                  </a:lnTo>
                  <a:lnTo>
                    <a:pt x="7739" y="377"/>
                  </a:lnTo>
                  <a:lnTo>
                    <a:pt x="7810" y="183"/>
                  </a:lnTo>
                  <a:lnTo>
                    <a:pt x="7811" y="18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66" name="Arc 406"/>
            <p:cNvSpPr>
              <a:spLocks/>
            </p:cNvSpPr>
            <p:nvPr/>
          </p:nvSpPr>
          <p:spPr bwMode="auto">
            <a:xfrm rot="-11324769">
              <a:off x="3552" y="2351"/>
              <a:ext cx="80" cy="8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67" name="Line 407"/>
            <p:cNvSpPr>
              <a:spLocks noChangeShapeType="1"/>
            </p:cNvSpPr>
            <p:nvPr/>
          </p:nvSpPr>
          <p:spPr bwMode="auto">
            <a:xfrm flipH="1">
              <a:off x="3781" y="2057"/>
              <a:ext cx="252" cy="1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68" name="Line 408"/>
            <p:cNvSpPr>
              <a:spLocks noChangeShapeType="1"/>
            </p:cNvSpPr>
            <p:nvPr/>
          </p:nvSpPr>
          <p:spPr bwMode="auto">
            <a:xfrm>
              <a:off x="4033" y="2057"/>
              <a:ext cx="2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617" name="Text Box 409"/>
            <p:cNvSpPr txBox="1">
              <a:spLocks noChangeArrowheads="1"/>
            </p:cNvSpPr>
            <p:nvPr/>
          </p:nvSpPr>
          <p:spPr bwMode="auto">
            <a:xfrm>
              <a:off x="4208" y="1752"/>
              <a:ext cx="985" cy="5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l-GR" altLang="en-US" sz="3600">
                  <a:solidFill>
                    <a:schemeClr val="tx2"/>
                  </a:solidFill>
                  <a:cs typeface="Times New Roman" panose="02020603050405020304" pitchFamily="18" charset="0"/>
                </a:rPr>
                <a:t>α</a:t>
              </a:r>
              <a:r>
                <a:rPr lang="en-US" altLang="en-US" sz="3600">
                  <a:solidFill>
                    <a:schemeClr val="tx2"/>
                  </a:solidFill>
                </a:rPr>
                <a:t> = 0</a:t>
              </a:r>
              <a:endParaRPr lang="el-GR" altLang="en-US" sz="3600">
                <a:solidFill>
                  <a:schemeClr val="tx2"/>
                </a:solidFill>
              </a:endParaRPr>
            </a:p>
          </p:txBody>
        </p:sp>
        <p:sp>
          <p:nvSpPr>
            <p:cNvPr id="17618" name="Text Box 410"/>
            <p:cNvSpPr txBox="1">
              <a:spLocks noChangeArrowheads="1"/>
            </p:cNvSpPr>
            <p:nvPr/>
          </p:nvSpPr>
          <p:spPr bwMode="auto">
            <a:xfrm>
              <a:off x="3399" y="2297"/>
              <a:ext cx="313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l-GR" altLang="en-US" sz="2000">
                  <a:solidFill>
                    <a:schemeClr val="tx2"/>
                  </a:solidFill>
                </a:rPr>
                <a:t>θ</a:t>
              </a:r>
            </a:p>
          </p:txBody>
        </p:sp>
        <p:sp>
          <p:nvSpPr>
            <p:cNvPr id="66971" name="Freeform 411"/>
            <p:cNvSpPr>
              <a:spLocks/>
            </p:cNvSpPr>
            <p:nvPr/>
          </p:nvSpPr>
          <p:spPr bwMode="auto">
            <a:xfrm>
              <a:off x="3379" y="1797"/>
              <a:ext cx="796" cy="2210"/>
            </a:xfrm>
            <a:custGeom>
              <a:avLst/>
              <a:gdLst>
                <a:gd name="T0" fmla="*/ 72 w 3060"/>
                <a:gd name="T1" fmla="*/ 8172 h 11412"/>
                <a:gd name="T2" fmla="*/ 3060 w 3060"/>
                <a:gd name="T3" fmla="*/ 11412 h 11412"/>
                <a:gd name="T4" fmla="*/ 3060 w 3060"/>
                <a:gd name="T5" fmla="*/ 2628 h 11412"/>
                <a:gd name="T6" fmla="*/ 0 w 3060"/>
                <a:gd name="T7" fmla="*/ 0 h 11412"/>
                <a:gd name="T8" fmla="*/ 72 w 3060"/>
                <a:gd name="T9" fmla="*/ 8172 h 11412"/>
                <a:gd name="T10" fmla="*/ 74 w 3060"/>
                <a:gd name="T11" fmla="*/ 8172 h 11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60" h="11412">
                  <a:moveTo>
                    <a:pt x="72" y="8172"/>
                  </a:moveTo>
                  <a:lnTo>
                    <a:pt x="3060" y="11412"/>
                  </a:lnTo>
                  <a:lnTo>
                    <a:pt x="3060" y="2628"/>
                  </a:lnTo>
                  <a:lnTo>
                    <a:pt x="0" y="0"/>
                  </a:lnTo>
                  <a:lnTo>
                    <a:pt x="72" y="8172"/>
                  </a:lnTo>
                  <a:lnTo>
                    <a:pt x="74" y="8172"/>
                  </a:lnTo>
                </a:path>
              </a:pathLst>
            </a:custGeom>
            <a:solidFill>
              <a:srgbClr val="CCFFFF"/>
            </a:solidFill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72" name="Freeform 412"/>
            <p:cNvSpPr>
              <a:spLocks/>
            </p:cNvSpPr>
            <p:nvPr/>
          </p:nvSpPr>
          <p:spPr bwMode="auto">
            <a:xfrm>
              <a:off x="3052" y="3087"/>
              <a:ext cx="1183" cy="323"/>
            </a:xfrm>
            <a:custGeom>
              <a:avLst/>
              <a:gdLst>
                <a:gd name="T0" fmla="*/ 7099 w 7100"/>
                <a:gd name="T1" fmla="*/ 1050 h 1933"/>
                <a:gd name="T2" fmla="*/ 7038 w 7100"/>
                <a:gd name="T3" fmla="*/ 865 h 1933"/>
                <a:gd name="T4" fmla="*/ 6853 w 7100"/>
                <a:gd name="T5" fmla="*/ 685 h 1933"/>
                <a:gd name="T6" fmla="*/ 6546 w 7100"/>
                <a:gd name="T7" fmla="*/ 515 h 1933"/>
                <a:gd name="T8" fmla="*/ 6132 w 7100"/>
                <a:gd name="T9" fmla="*/ 361 h 1933"/>
                <a:gd name="T10" fmla="*/ 5624 w 7100"/>
                <a:gd name="T11" fmla="*/ 229 h 1933"/>
                <a:gd name="T12" fmla="*/ 5040 w 7100"/>
                <a:gd name="T13" fmla="*/ 124 h 1933"/>
                <a:gd name="T14" fmla="*/ 4403 w 7100"/>
                <a:gd name="T15" fmla="*/ 49 h 1933"/>
                <a:gd name="T16" fmla="*/ 3735 w 7100"/>
                <a:gd name="T17" fmla="*/ 7 h 1933"/>
                <a:gd name="T18" fmla="*/ 3059 w 7100"/>
                <a:gd name="T19" fmla="*/ 0 h 1933"/>
                <a:gd name="T20" fmla="*/ 2400 w 7100"/>
                <a:gd name="T21" fmla="*/ 27 h 1933"/>
                <a:gd name="T22" fmla="*/ 1784 w 7100"/>
                <a:gd name="T23" fmla="*/ 90 h 1933"/>
                <a:gd name="T24" fmla="*/ 1231 w 7100"/>
                <a:gd name="T25" fmla="*/ 183 h 1933"/>
                <a:gd name="T26" fmla="*/ 761 w 7100"/>
                <a:gd name="T27" fmla="*/ 304 h 1933"/>
                <a:gd name="T28" fmla="*/ 391 w 7100"/>
                <a:gd name="T29" fmla="*/ 450 h 1933"/>
                <a:gd name="T30" fmla="*/ 136 w 7100"/>
                <a:gd name="T31" fmla="*/ 615 h 1933"/>
                <a:gd name="T32" fmla="*/ 4 w 7100"/>
                <a:gd name="T33" fmla="*/ 792 h 1933"/>
                <a:gd name="T34" fmla="*/ 0 w 7100"/>
                <a:gd name="T35" fmla="*/ 975 h 1933"/>
                <a:gd name="T36" fmla="*/ 124 w 7100"/>
                <a:gd name="T37" fmla="*/ 1157 h 1933"/>
                <a:gd name="T38" fmla="*/ 371 w 7100"/>
                <a:gd name="T39" fmla="*/ 1334 h 1933"/>
                <a:gd name="T40" fmla="*/ 733 w 7100"/>
                <a:gd name="T41" fmla="*/ 1497 h 1933"/>
                <a:gd name="T42" fmla="*/ 1197 w 7100"/>
                <a:gd name="T43" fmla="*/ 1641 h 1933"/>
                <a:gd name="T44" fmla="*/ 1744 w 7100"/>
                <a:gd name="T45" fmla="*/ 1759 h 1933"/>
                <a:gd name="T46" fmla="*/ 2357 w 7100"/>
                <a:gd name="T47" fmla="*/ 1851 h 1933"/>
                <a:gd name="T48" fmla="*/ 3014 w 7100"/>
                <a:gd name="T49" fmla="*/ 1909 h 1933"/>
                <a:gd name="T50" fmla="*/ 3688 w 7100"/>
                <a:gd name="T51" fmla="*/ 1933 h 1933"/>
                <a:gd name="T52" fmla="*/ 4359 w 7100"/>
                <a:gd name="T53" fmla="*/ 1923 h 1933"/>
                <a:gd name="T54" fmla="*/ 4998 w 7100"/>
                <a:gd name="T55" fmla="*/ 1878 h 1933"/>
                <a:gd name="T56" fmla="*/ 5586 w 7100"/>
                <a:gd name="T57" fmla="*/ 1800 h 1933"/>
                <a:gd name="T58" fmla="*/ 6101 w 7100"/>
                <a:gd name="T59" fmla="*/ 1692 h 1933"/>
                <a:gd name="T60" fmla="*/ 6522 w 7100"/>
                <a:gd name="T61" fmla="*/ 1558 h 1933"/>
                <a:gd name="T62" fmla="*/ 6835 w 7100"/>
                <a:gd name="T63" fmla="*/ 1402 h 1933"/>
                <a:gd name="T64" fmla="*/ 7030 w 7100"/>
                <a:gd name="T65" fmla="*/ 1231 h 1933"/>
                <a:gd name="T66" fmla="*/ 7099 w 7100"/>
                <a:gd name="T67" fmla="*/ 1050 h 1933"/>
                <a:gd name="T68" fmla="*/ 7100 w 7100"/>
                <a:gd name="T69" fmla="*/ 1050 h 1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100" h="1933">
                  <a:moveTo>
                    <a:pt x="7099" y="1050"/>
                  </a:moveTo>
                  <a:lnTo>
                    <a:pt x="7038" y="865"/>
                  </a:lnTo>
                  <a:lnTo>
                    <a:pt x="6853" y="685"/>
                  </a:lnTo>
                  <a:lnTo>
                    <a:pt x="6546" y="515"/>
                  </a:lnTo>
                  <a:lnTo>
                    <a:pt x="6132" y="361"/>
                  </a:lnTo>
                  <a:lnTo>
                    <a:pt x="5624" y="229"/>
                  </a:lnTo>
                  <a:lnTo>
                    <a:pt x="5040" y="124"/>
                  </a:lnTo>
                  <a:lnTo>
                    <a:pt x="4403" y="49"/>
                  </a:lnTo>
                  <a:lnTo>
                    <a:pt x="3735" y="7"/>
                  </a:lnTo>
                  <a:lnTo>
                    <a:pt x="3059" y="0"/>
                  </a:lnTo>
                  <a:lnTo>
                    <a:pt x="2400" y="27"/>
                  </a:lnTo>
                  <a:lnTo>
                    <a:pt x="1784" y="90"/>
                  </a:lnTo>
                  <a:lnTo>
                    <a:pt x="1231" y="183"/>
                  </a:lnTo>
                  <a:lnTo>
                    <a:pt x="761" y="304"/>
                  </a:lnTo>
                  <a:lnTo>
                    <a:pt x="391" y="450"/>
                  </a:lnTo>
                  <a:lnTo>
                    <a:pt x="136" y="615"/>
                  </a:lnTo>
                  <a:lnTo>
                    <a:pt x="4" y="792"/>
                  </a:lnTo>
                  <a:lnTo>
                    <a:pt x="0" y="975"/>
                  </a:lnTo>
                  <a:lnTo>
                    <a:pt x="124" y="1157"/>
                  </a:lnTo>
                  <a:lnTo>
                    <a:pt x="371" y="1334"/>
                  </a:lnTo>
                  <a:lnTo>
                    <a:pt x="733" y="1497"/>
                  </a:lnTo>
                  <a:lnTo>
                    <a:pt x="1197" y="1641"/>
                  </a:lnTo>
                  <a:lnTo>
                    <a:pt x="1744" y="1759"/>
                  </a:lnTo>
                  <a:lnTo>
                    <a:pt x="2357" y="1851"/>
                  </a:lnTo>
                  <a:lnTo>
                    <a:pt x="3014" y="1909"/>
                  </a:lnTo>
                  <a:lnTo>
                    <a:pt x="3688" y="1933"/>
                  </a:lnTo>
                  <a:lnTo>
                    <a:pt x="4359" y="1923"/>
                  </a:lnTo>
                  <a:lnTo>
                    <a:pt x="4998" y="1878"/>
                  </a:lnTo>
                  <a:lnTo>
                    <a:pt x="5586" y="1800"/>
                  </a:lnTo>
                  <a:lnTo>
                    <a:pt x="6101" y="1692"/>
                  </a:lnTo>
                  <a:lnTo>
                    <a:pt x="6522" y="1558"/>
                  </a:lnTo>
                  <a:lnTo>
                    <a:pt x="6835" y="1402"/>
                  </a:lnTo>
                  <a:lnTo>
                    <a:pt x="7030" y="1231"/>
                  </a:lnTo>
                  <a:lnTo>
                    <a:pt x="7099" y="1050"/>
                  </a:lnTo>
                  <a:lnTo>
                    <a:pt x="7100" y="1050"/>
                  </a:lnTo>
                </a:path>
              </a:pathLst>
            </a:custGeom>
            <a:noFill/>
            <a:ln w="28575" cap="flat" cmpd="sng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73" name="Freeform 413"/>
            <p:cNvSpPr>
              <a:spLocks/>
            </p:cNvSpPr>
            <p:nvPr/>
          </p:nvSpPr>
          <p:spPr bwMode="auto">
            <a:xfrm>
              <a:off x="3414" y="2197"/>
              <a:ext cx="221" cy="392"/>
            </a:xfrm>
            <a:custGeom>
              <a:avLst/>
              <a:gdLst>
                <a:gd name="T0" fmla="*/ 1326 w 1326"/>
                <a:gd name="T1" fmla="*/ 0 h 2351"/>
                <a:gd name="T2" fmla="*/ 0 w 1326"/>
                <a:gd name="T3" fmla="*/ 2351 h 2351"/>
                <a:gd name="T4" fmla="*/ 1 w 1326"/>
                <a:gd name="T5" fmla="*/ 2351 h 2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6" h="2351">
                  <a:moveTo>
                    <a:pt x="1326" y="0"/>
                  </a:moveTo>
                  <a:lnTo>
                    <a:pt x="0" y="2351"/>
                  </a:lnTo>
                  <a:lnTo>
                    <a:pt x="1" y="2351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74" name="Freeform 414"/>
            <p:cNvSpPr>
              <a:spLocks/>
            </p:cNvSpPr>
            <p:nvPr/>
          </p:nvSpPr>
          <p:spPr bwMode="auto">
            <a:xfrm>
              <a:off x="3642" y="2197"/>
              <a:ext cx="161" cy="288"/>
            </a:xfrm>
            <a:custGeom>
              <a:avLst/>
              <a:gdLst>
                <a:gd name="T0" fmla="*/ 0 w 963"/>
                <a:gd name="T1" fmla="*/ 0 h 1729"/>
                <a:gd name="T2" fmla="*/ 962 w 963"/>
                <a:gd name="T3" fmla="*/ 1729 h 1729"/>
                <a:gd name="T4" fmla="*/ 963 w 963"/>
                <a:gd name="T5" fmla="*/ 1729 h 17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3" h="1729">
                  <a:moveTo>
                    <a:pt x="0" y="0"/>
                  </a:moveTo>
                  <a:lnTo>
                    <a:pt x="962" y="1729"/>
                  </a:lnTo>
                  <a:lnTo>
                    <a:pt x="963" y="1729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75" name="Freeform 415"/>
            <p:cNvSpPr>
              <a:spLocks/>
            </p:cNvSpPr>
            <p:nvPr/>
          </p:nvSpPr>
          <p:spPr bwMode="auto">
            <a:xfrm>
              <a:off x="4126" y="3067"/>
              <a:ext cx="109" cy="195"/>
            </a:xfrm>
            <a:custGeom>
              <a:avLst/>
              <a:gdLst>
                <a:gd name="T0" fmla="*/ 0 w 655"/>
                <a:gd name="T1" fmla="*/ 0 h 1176"/>
                <a:gd name="T2" fmla="*/ 654 w 655"/>
                <a:gd name="T3" fmla="*/ 1176 h 1176"/>
                <a:gd name="T4" fmla="*/ 655 w 655"/>
                <a:gd name="T5" fmla="*/ 1176 h 1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5" h="1176">
                  <a:moveTo>
                    <a:pt x="0" y="0"/>
                  </a:moveTo>
                  <a:lnTo>
                    <a:pt x="654" y="1176"/>
                  </a:lnTo>
                  <a:lnTo>
                    <a:pt x="655" y="117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76" name="Freeform 416"/>
            <p:cNvSpPr>
              <a:spLocks/>
            </p:cNvSpPr>
            <p:nvPr/>
          </p:nvSpPr>
          <p:spPr bwMode="auto">
            <a:xfrm>
              <a:off x="3049" y="2836"/>
              <a:ext cx="225" cy="399"/>
            </a:xfrm>
            <a:custGeom>
              <a:avLst/>
              <a:gdLst>
                <a:gd name="T0" fmla="*/ 1349 w 1349"/>
                <a:gd name="T1" fmla="*/ 0 h 2391"/>
                <a:gd name="T2" fmla="*/ 0 w 1349"/>
                <a:gd name="T3" fmla="*/ 2391 h 2391"/>
                <a:gd name="T4" fmla="*/ 1 w 1349"/>
                <a:gd name="T5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9" h="2391">
                  <a:moveTo>
                    <a:pt x="1349" y="0"/>
                  </a:moveTo>
                  <a:lnTo>
                    <a:pt x="0" y="2391"/>
                  </a:lnTo>
                  <a:lnTo>
                    <a:pt x="1" y="2391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77" name="Freeform 417"/>
            <p:cNvSpPr>
              <a:spLocks/>
            </p:cNvSpPr>
            <p:nvPr/>
          </p:nvSpPr>
          <p:spPr bwMode="auto">
            <a:xfrm>
              <a:off x="3634" y="2165"/>
              <a:ext cx="1" cy="144"/>
            </a:xfrm>
            <a:custGeom>
              <a:avLst/>
              <a:gdLst>
                <a:gd name="T0" fmla="*/ 0 w 1"/>
                <a:gd name="T1" fmla="*/ 0 h 864"/>
                <a:gd name="T2" fmla="*/ 0 w 1"/>
                <a:gd name="T3" fmla="*/ 864 h 864"/>
                <a:gd name="T4" fmla="*/ 1 w 1"/>
                <a:gd name="T5" fmla="*/ 864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4">
                  <a:moveTo>
                    <a:pt x="0" y="0"/>
                  </a:moveTo>
                  <a:lnTo>
                    <a:pt x="0" y="864"/>
                  </a:lnTo>
                  <a:lnTo>
                    <a:pt x="1" y="864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78" name="Freeform 418"/>
            <p:cNvSpPr>
              <a:spLocks/>
            </p:cNvSpPr>
            <p:nvPr/>
          </p:nvSpPr>
          <p:spPr bwMode="auto">
            <a:xfrm>
              <a:off x="3634" y="2333"/>
              <a:ext cx="1" cy="24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79" name="Freeform 419"/>
            <p:cNvSpPr>
              <a:spLocks/>
            </p:cNvSpPr>
            <p:nvPr/>
          </p:nvSpPr>
          <p:spPr bwMode="auto">
            <a:xfrm>
              <a:off x="3634" y="2381"/>
              <a:ext cx="1" cy="144"/>
            </a:xfrm>
            <a:custGeom>
              <a:avLst/>
              <a:gdLst>
                <a:gd name="T0" fmla="*/ 0 w 1"/>
                <a:gd name="T1" fmla="*/ 0 h 864"/>
                <a:gd name="T2" fmla="*/ 0 w 1"/>
                <a:gd name="T3" fmla="*/ 864 h 864"/>
                <a:gd name="T4" fmla="*/ 1 w 1"/>
                <a:gd name="T5" fmla="*/ 864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4">
                  <a:moveTo>
                    <a:pt x="0" y="0"/>
                  </a:moveTo>
                  <a:lnTo>
                    <a:pt x="0" y="864"/>
                  </a:lnTo>
                  <a:lnTo>
                    <a:pt x="1" y="86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80" name="Freeform 420"/>
            <p:cNvSpPr>
              <a:spLocks/>
            </p:cNvSpPr>
            <p:nvPr/>
          </p:nvSpPr>
          <p:spPr bwMode="auto">
            <a:xfrm>
              <a:off x="3634" y="2549"/>
              <a:ext cx="1" cy="24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81" name="Freeform 421"/>
            <p:cNvSpPr>
              <a:spLocks/>
            </p:cNvSpPr>
            <p:nvPr/>
          </p:nvSpPr>
          <p:spPr bwMode="auto">
            <a:xfrm>
              <a:off x="3634" y="2597"/>
              <a:ext cx="1" cy="144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82" name="Freeform 422"/>
            <p:cNvSpPr>
              <a:spLocks/>
            </p:cNvSpPr>
            <p:nvPr/>
          </p:nvSpPr>
          <p:spPr bwMode="auto">
            <a:xfrm>
              <a:off x="3634" y="2765"/>
              <a:ext cx="1" cy="23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83" name="Freeform 423"/>
            <p:cNvSpPr>
              <a:spLocks/>
            </p:cNvSpPr>
            <p:nvPr/>
          </p:nvSpPr>
          <p:spPr bwMode="auto">
            <a:xfrm>
              <a:off x="3634" y="2812"/>
              <a:ext cx="1" cy="144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84" name="Freeform 424"/>
            <p:cNvSpPr>
              <a:spLocks/>
            </p:cNvSpPr>
            <p:nvPr/>
          </p:nvSpPr>
          <p:spPr bwMode="auto">
            <a:xfrm>
              <a:off x="3634" y="2980"/>
              <a:ext cx="1" cy="24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85" name="Freeform 425"/>
            <p:cNvSpPr>
              <a:spLocks/>
            </p:cNvSpPr>
            <p:nvPr/>
          </p:nvSpPr>
          <p:spPr bwMode="auto">
            <a:xfrm>
              <a:off x="3634" y="3028"/>
              <a:ext cx="1" cy="144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86" name="Freeform 426"/>
            <p:cNvSpPr>
              <a:spLocks/>
            </p:cNvSpPr>
            <p:nvPr/>
          </p:nvSpPr>
          <p:spPr bwMode="auto">
            <a:xfrm>
              <a:off x="3634" y="3196"/>
              <a:ext cx="1" cy="24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87" name="Freeform 427"/>
            <p:cNvSpPr>
              <a:spLocks/>
            </p:cNvSpPr>
            <p:nvPr/>
          </p:nvSpPr>
          <p:spPr bwMode="auto">
            <a:xfrm>
              <a:off x="3634" y="3244"/>
              <a:ext cx="1" cy="144"/>
            </a:xfrm>
            <a:custGeom>
              <a:avLst/>
              <a:gdLst>
                <a:gd name="T0" fmla="*/ 0 w 1"/>
                <a:gd name="T1" fmla="*/ 0 h 863"/>
                <a:gd name="T2" fmla="*/ 0 w 1"/>
                <a:gd name="T3" fmla="*/ 863 h 863"/>
                <a:gd name="T4" fmla="*/ 1 w 1"/>
                <a:gd name="T5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3">
                  <a:moveTo>
                    <a:pt x="0" y="0"/>
                  </a:moveTo>
                  <a:lnTo>
                    <a:pt x="0" y="863"/>
                  </a:lnTo>
                  <a:lnTo>
                    <a:pt x="1" y="86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88" name="Freeform 428"/>
            <p:cNvSpPr>
              <a:spLocks/>
            </p:cNvSpPr>
            <p:nvPr/>
          </p:nvSpPr>
          <p:spPr bwMode="auto">
            <a:xfrm>
              <a:off x="3634" y="3412"/>
              <a:ext cx="1" cy="23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89" name="Freeform 429"/>
            <p:cNvSpPr>
              <a:spLocks/>
            </p:cNvSpPr>
            <p:nvPr/>
          </p:nvSpPr>
          <p:spPr bwMode="auto">
            <a:xfrm>
              <a:off x="3634" y="4322"/>
              <a:ext cx="1" cy="144"/>
            </a:xfrm>
            <a:custGeom>
              <a:avLst/>
              <a:gdLst>
                <a:gd name="T0" fmla="*/ 0 w 1"/>
                <a:gd name="T1" fmla="*/ 0 h 864"/>
                <a:gd name="T2" fmla="*/ 0 w 1"/>
                <a:gd name="T3" fmla="*/ 864 h 864"/>
                <a:gd name="T4" fmla="*/ 1 w 1"/>
                <a:gd name="T5" fmla="*/ 864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864">
                  <a:moveTo>
                    <a:pt x="0" y="0"/>
                  </a:moveTo>
                  <a:lnTo>
                    <a:pt x="0" y="864"/>
                  </a:lnTo>
                  <a:lnTo>
                    <a:pt x="1" y="864"/>
                  </a:lnTo>
                </a:path>
              </a:pathLst>
            </a:custGeom>
            <a:noFill/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90" name="Freeform 430"/>
            <p:cNvSpPr>
              <a:spLocks/>
            </p:cNvSpPr>
            <p:nvPr/>
          </p:nvSpPr>
          <p:spPr bwMode="auto">
            <a:xfrm>
              <a:off x="3634" y="4490"/>
              <a:ext cx="1" cy="24"/>
            </a:xfrm>
            <a:custGeom>
              <a:avLst/>
              <a:gdLst>
                <a:gd name="T0" fmla="*/ 0 w 1"/>
                <a:gd name="T1" fmla="*/ 0 h 143"/>
                <a:gd name="T2" fmla="*/ 0 w 1"/>
                <a:gd name="T3" fmla="*/ 143 h 143"/>
                <a:gd name="T4" fmla="*/ 1 w 1"/>
                <a:gd name="T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0"/>
                  </a:moveTo>
                  <a:lnTo>
                    <a:pt x="0" y="143"/>
                  </a:lnTo>
                  <a:lnTo>
                    <a:pt x="1" y="143"/>
                  </a:lnTo>
                </a:path>
              </a:pathLst>
            </a:custGeom>
            <a:noFill/>
            <a:ln w="19050" cmpd="sng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91" name="Freeform 431"/>
            <p:cNvSpPr>
              <a:spLocks/>
            </p:cNvSpPr>
            <p:nvPr/>
          </p:nvSpPr>
          <p:spPr bwMode="auto">
            <a:xfrm>
              <a:off x="3274" y="2589"/>
              <a:ext cx="140" cy="247"/>
            </a:xfrm>
            <a:custGeom>
              <a:avLst/>
              <a:gdLst>
                <a:gd name="T0" fmla="*/ 0 w 840"/>
                <a:gd name="T1" fmla="*/ 1485 h 1485"/>
                <a:gd name="T2" fmla="*/ 839 w 840"/>
                <a:gd name="T3" fmla="*/ 0 h 1485"/>
                <a:gd name="T4" fmla="*/ 840 w 840"/>
                <a:gd name="T5" fmla="*/ 0 h 1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0" h="1485">
                  <a:moveTo>
                    <a:pt x="0" y="1485"/>
                  </a:moveTo>
                  <a:lnTo>
                    <a:pt x="839" y="0"/>
                  </a:lnTo>
                  <a:lnTo>
                    <a:pt x="840" y="0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92" name="Freeform 432"/>
            <p:cNvSpPr>
              <a:spLocks/>
            </p:cNvSpPr>
            <p:nvPr/>
          </p:nvSpPr>
          <p:spPr bwMode="auto">
            <a:xfrm>
              <a:off x="3768" y="3552"/>
              <a:ext cx="1" cy="24"/>
            </a:xfrm>
            <a:custGeom>
              <a:avLst/>
              <a:gdLst>
                <a:gd name="T0" fmla="*/ 0 w 2"/>
                <a:gd name="T1" fmla="*/ 143 h 143"/>
                <a:gd name="T2" fmla="*/ 0 w 2"/>
                <a:gd name="T3" fmla="*/ 0 h 143"/>
                <a:gd name="T4" fmla="*/ 2 w 2"/>
                <a:gd name="T5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43">
                  <a:moveTo>
                    <a:pt x="0" y="14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93" name="Freeform 433"/>
            <p:cNvSpPr>
              <a:spLocks/>
            </p:cNvSpPr>
            <p:nvPr/>
          </p:nvSpPr>
          <p:spPr bwMode="auto">
            <a:xfrm>
              <a:off x="3769" y="3384"/>
              <a:ext cx="1" cy="144"/>
            </a:xfrm>
            <a:custGeom>
              <a:avLst/>
              <a:gdLst>
                <a:gd name="T0" fmla="*/ 0 w 2"/>
                <a:gd name="T1" fmla="*/ 864 h 864"/>
                <a:gd name="T2" fmla="*/ 1 w 2"/>
                <a:gd name="T3" fmla="*/ 0 h 864"/>
                <a:gd name="T4" fmla="*/ 2 w 2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864">
                  <a:moveTo>
                    <a:pt x="0" y="864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94" name="Freeform 434"/>
            <p:cNvSpPr>
              <a:spLocks/>
            </p:cNvSpPr>
            <p:nvPr/>
          </p:nvSpPr>
          <p:spPr bwMode="auto">
            <a:xfrm>
              <a:off x="3769" y="3337"/>
              <a:ext cx="1" cy="23"/>
            </a:xfrm>
            <a:custGeom>
              <a:avLst/>
              <a:gdLst>
                <a:gd name="T0" fmla="*/ 0 w 1"/>
                <a:gd name="T1" fmla="*/ 143 h 143"/>
                <a:gd name="T2" fmla="*/ 0 w 1"/>
                <a:gd name="T3" fmla="*/ 0 h 143"/>
                <a:gd name="T4" fmla="*/ 1 w 1"/>
                <a:gd name="T5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14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95" name="Freeform 435"/>
            <p:cNvSpPr>
              <a:spLocks/>
            </p:cNvSpPr>
            <p:nvPr/>
          </p:nvSpPr>
          <p:spPr bwMode="auto">
            <a:xfrm>
              <a:off x="3769" y="3169"/>
              <a:ext cx="1" cy="144"/>
            </a:xfrm>
            <a:custGeom>
              <a:avLst/>
              <a:gdLst>
                <a:gd name="T0" fmla="*/ 0 w 3"/>
                <a:gd name="T1" fmla="*/ 864 h 864"/>
                <a:gd name="T2" fmla="*/ 2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96" name="Freeform 436"/>
            <p:cNvSpPr>
              <a:spLocks/>
            </p:cNvSpPr>
            <p:nvPr/>
          </p:nvSpPr>
          <p:spPr bwMode="auto">
            <a:xfrm>
              <a:off x="3769" y="3121"/>
              <a:ext cx="1" cy="24"/>
            </a:xfrm>
            <a:custGeom>
              <a:avLst/>
              <a:gdLst>
                <a:gd name="T0" fmla="*/ 0 w 2"/>
                <a:gd name="T1" fmla="*/ 142 h 142"/>
                <a:gd name="T2" fmla="*/ 1 w 2"/>
                <a:gd name="T3" fmla="*/ 0 h 142"/>
                <a:gd name="T4" fmla="*/ 2 w 2"/>
                <a:gd name="T5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42">
                  <a:moveTo>
                    <a:pt x="0" y="142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97" name="Freeform 437"/>
            <p:cNvSpPr>
              <a:spLocks/>
            </p:cNvSpPr>
            <p:nvPr/>
          </p:nvSpPr>
          <p:spPr bwMode="auto">
            <a:xfrm>
              <a:off x="3770" y="2953"/>
              <a:ext cx="1" cy="144"/>
            </a:xfrm>
            <a:custGeom>
              <a:avLst/>
              <a:gdLst>
                <a:gd name="T0" fmla="*/ 0 w 3"/>
                <a:gd name="T1" fmla="*/ 864 h 864"/>
                <a:gd name="T2" fmla="*/ 2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98" name="Freeform 438"/>
            <p:cNvSpPr>
              <a:spLocks/>
            </p:cNvSpPr>
            <p:nvPr/>
          </p:nvSpPr>
          <p:spPr bwMode="auto">
            <a:xfrm>
              <a:off x="3770" y="2905"/>
              <a:ext cx="1" cy="24"/>
            </a:xfrm>
            <a:custGeom>
              <a:avLst/>
              <a:gdLst>
                <a:gd name="T0" fmla="*/ 0 w 1"/>
                <a:gd name="T1" fmla="*/ 143 h 143"/>
                <a:gd name="T2" fmla="*/ 0 w 1"/>
                <a:gd name="T3" fmla="*/ 0 h 143"/>
                <a:gd name="T4" fmla="*/ 1 w 1"/>
                <a:gd name="T5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3">
                  <a:moveTo>
                    <a:pt x="0" y="14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999" name="Freeform 439"/>
            <p:cNvSpPr>
              <a:spLocks/>
            </p:cNvSpPr>
            <p:nvPr/>
          </p:nvSpPr>
          <p:spPr bwMode="auto">
            <a:xfrm>
              <a:off x="3770" y="2737"/>
              <a:ext cx="1" cy="144"/>
            </a:xfrm>
            <a:custGeom>
              <a:avLst/>
              <a:gdLst>
                <a:gd name="T0" fmla="*/ 0 w 3"/>
                <a:gd name="T1" fmla="*/ 864 h 864"/>
                <a:gd name="T2" fmla="*/ 1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1" y="0"/>
                  </a:ln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00" name="Freeform 440"/>
            <p:cNvSpPr>
              <a:spLocks/>
            </p:cNvSpPr>
            <p:nvPr/>
          </p:nvSpPr>
          <p:spPr bwMode="auto">
            <a:xfrm>
              <a:off x="3770" y="2690"/>
              <a:ext cx="1" cy="24"/>
            </a:xfrm>
            <a:custGeom>
              <a:avLst/>
              <a:gdLst>
                <a:gd name="T0" fmla="*/ 0 w 1"/>
                <a:gd name="T1" fmla="*/ 144 h 144"/>
                <a:gd name="T2" fmla="*/ 0 w 1"/>
                <a:gd name="T3" fmla="*/ 0 h 144"/>
                <a:gd name="T4" fmla="*/ 1 w 1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4">
                  <a:moveTo>
                    <a:pt x="0" y="14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01" name="Freeform 441"/>
            <p:cNvSpPr>
              <a:spLocks/>
            </p:cNvSpPr>
            <p:nvPr/>
          </p:nvSpPr>
          <p:spPr bwMode="auto">
            <a:xfrm>
              <a:off x="3770" y="2522"/>
              <a:ext cx="1" cy="144"/>
            </a:xfrm>
            <a:custGeom>
              <a:avLst/>
              <a:gdLst>
                <a:gd name="T0" fmla="*/ 0 w 3"/>
                <a:gd name="T1" fmla="*/ 864 h 864"/>
                <a:gd name="T2" fmla="*/ 2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02" name="Freeform 442"/>
            <p:cNvSpPr>
              <a:spLocks/>
            </p:cNvSpPr>
            <p:nvPr/>
          </p:nvSpPr>
          <p:spPr bwMode="auto">
            <a:xfrm>
              <a:off x="3771" y="2474"/>
              <a:ext cx="1" cy="24"/>
            </a:xfrm>
            <a:custGeom>
              <a:avLst/>
              <a:gdLst>
                <a:gd name="T0" fmla="*/ 0 w 2"/>
                <a:gd name="T1" fmla="*/ 144 h 144"/>
                <a:gd name="T2" fmla="*/ 1 w 2"/>
                <a:gd name="T3" fmla="*/ 0 h 144"/>
                <a:gd name="T4" fmla="*/ 2 w 2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44">
                  <a:moveTo>
                    <a:pt x="0" y="144"/>
                  </a:move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03" name="Freeform 443"/>
            <p:cNvSpPr>
              <a:spLocks/>
            </p:cNvSpPr>
            <p:nvPr/>
          </p:nvSpPr>
          <p:spPr bwMode="auto">
            <a:xfrm>
              <a:off x="3771" y="2306"/>
              <a:ext cx="1" cy="144"/>
            </a:xfrm>
            <a:custGeom>
              <a:avLst/>
              <a:gdLst>
                <a:gd name="T0" fmla="*/ 0 w 3"/>
                <a:gd name="T1" fmla="*/ 864 h 864"/>
                <a:gd name="T2" fmla="*/ 2 w 3"/>
                <a:gd name="T3" fmla="*/ 0 h 864"/>
                <a:gd name="T4" fmla="*/ 3 w 3"/>
                <a:gd name="T5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864">
                  <a:moveTo>
                    <a:pt x="0" y="864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04" name="Freeform 444"/>
            <p:cNvSpPr>
              <a:spLocks/>
            </p:cNvSpPr>
            <p:nvPr/>
          </p:nvSpPr>
          <p:spPr bwMode="auto">
            <a:xfrm>
              <a:off x="3771" y="2258"/>
              <a:ext cx="1" cy="24"/>
            </a:xfrm>
            <a:custGeom>
              <a:avLst/>
              <a:gdLst>
                <a:gd name="T0" fmla="*/ 0 w 1"/>
                <a:gd name="T1" fmla="*/ 144 h 144"/>
                <a:gd name="T2" fmla="*/ 0 w 1"/>
                <a:gd name="T3" fmla="*/ 0 h 144"/>
                <a:gd name="T4" fmla="*/ 1 w 1"/>
                <a:gd name="T5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4">
                  <a:moveTo>
                    <a:pt x="0" y="14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05" name="Freeform 445"/>
            <p:cNvSpPr>
              <a:spLocks/>
            </p:cNvSpPr>
            <p:nvPr/>
          </p:nvSpPr>
          <p:spPr bwMode="auto">
            <a:xfrm>
              <a:off x="3772" y="2057"/>
              <a:ext cx="1" cy="177"/>
            </a:xfrm>
            <a:custGeom>
              <a:avLst/>
              <a:gdLst>
                <a:gd name="T0" fmla="*/ 0 w 3"/>
                <a:gd name="T1" fmla="*/ 1065 h 1065"/>
                <a:gd name="T2" fmla="*/ 2 w 3"/>
                <a:gd name="T3" fmla="*/ 0 h 1065"/>
                <a:gd name="T4" fmla="*/ 3 w 3"/>
                <a:gd name="T5" fmla="*/ 0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065">
                  <a:moveTo>
                    <a:pt x="0" y="1065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06" name="Freeform 446"/>
            <p:cNvSpPr>
              <a:spLocks/>
            </p:cNvSpPr>
            <p:nvPr/>
          </p:nvSpPr>
          <p:spPr bwMode="auto">
            <a:xfrm>
              <a:off x="3374" y="3099"/>
              <a:ext cx="792" cy="237"/>
            </a:xfrm>
            <a:custGeom>
              <a:avLst/>
              <a:gdLst>
                <a:gd name="T0" fmla="*/ 0 w 4751"/>
                <a:gd name="T1" fmla="*/ 0 h 1417"/>
                <a:gd name="T2" fmla="*/ 4750 w 4751"/>
                <a:gd name="T3" fmla="*/ 1417 h 1417"/>
                <a:gd name="T4" fmla="*/ 4751 w 4751"/>
                <a:gd name="T5" fmla="*/ 1417 h 1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51" h="1417">
                  <a:moveTo>
                    <a:pt x="0" y="0"/>
                  </a:moveTo>
                  <a:lnTo>
                    <a:pt x="4750" y="1417"/>
                  </a:lnTo>
                  <a:lnTo>
                    <a:pt x="4751" y="1417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07" name="Freeform 447"/>
            <p:cNvSpPr>
              <a:spLocks/>
            </p:cNvSpPr>
            <p:nvPr/>
          </p:nvSpPr>
          <p:spPr bwMode="auto">
            <a:xfrm>
              <a:off x="3374" y="2462"/>
              <a:ext cx="406" cy="637"/>
            </a:xfrm>
            <a:custGeom>
              <a:avLst/>
              <a:gdLst>
                <a:gd name="T0" fmla="*/ 0 w 2437"/>
                <a:gd name="T1" fmla="*/ 3822 h 3822"/>
                <a:gd name="T2" fmla="*/ 59 w 2437"/>
                <a:gd name="T3" fmla="*/ 3224 h 3822"/>
                <a:gd name="T4" fmla="*/ 190 w 2437"/>
                <a:gd name="T5" fmla="*/ 2642 h 3822"/>
                <a:gd name="T6" fmla="*/ 688 w 2437"/>
                <a:gd name="T7" fmla="*/ 1554 h 3822"/>
                <a:gd name="T8" fmla="*/ 1008 w 2437"/>
                <a:gd name="T9" fmla="*/ 1053 h 3822"/>
                <a:gd name="T10" fmla="*/ 1441 w 2437"/>
                <a:gd name="T11" fmla="*/ 637 h 3822"/>
                <a:gd name="T12" fmla="*/ 1896 w 2437"/>
                <a:gd name="T13" fmla="*/ 247 h 3822"/>
                <a:gd name="T14" fmla="*/ 2152 w 2437"/>
                <a:gd name="T15" fmla="*/ 98 h 3822"/>
                <a:gd name="T16" fmla="*/ 2436 w 2437"/>
                <a:gd name="T17" fmla="*/ 0 h 3822"/>
                <a:gd name="T18" fmla="*/ 2437 w 2437"/>
                <a:gd name="T19" fmla="*/ 0 h 3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37" h="3822">
                  <a:moveTo>
                    <a:pt x="0" y="3822"/>
                  </a:moveTo>
                  <a:lnTo>
                    <a:pt x="59" y="3224"/>
                  </a:lnTo>
                  <a:lnTo>
                    <a:pt x="190" y="2642"/>
                  </a:lnTo>
                  <a:lnTo>
                    <a:pt x="688" y="1554"/>
                  </a:lnTo>
                  <a:lnTo>
                    <a:pt x="1008" y="1053"/>
                  </a:lnTo>
                  <a:lnTo>
                    <a:pt x="1441" y="637"/>
                  </a:lnTo>
                  <a:lnTo>
                    <a:pt x="1896" y="247"/>
                  </a:lnTo>
                  <a:lnTo>
                    <a:pt x="2152" y="98"/>
                  </a:lnTo>
                  <a:lnTo>
                    <a:pt x="2436" y="0"/>
                  </a:lnTo>
                  <a:lnTo>
                    <a:pt x="2437" y="0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08" name="Freeform 448"/>
            <p:cNvSpPr>
              <a:spLocks/>
            </p:cNvSpPr>
            <p:nvPr/>
          </p:nvSpPr>
          <p:spPr bwMode="auto">
            <a:xfrm>
              <a:off x="3780" y="2462"/>
              <a:ext cx="384" cy="877"/>
            </a:xfrm>
            <a:custGeom>
              <a:avLst/>
              <a:gdLst>
                <a:gd name="T0" fmla="*/ 0 w 2306"/>
                <a:gd name="T1" fmla="*/ 0 h 5260"/>
                <a:gd name="T2" fmla="*/ 524 w 2306"/>
                <a:gd name="T3" fmla="*/ 518 h 5260"/>
                <a:gd name="T4" fmla="*/ 763 w 2306"/>
                <a:gd name="T5" fmla="*/ 794 h 5260"/>
                <a:gd name="T6" fmla="*/ 959 w 2306"/>
                <a:gd name="T7" fmla="*/ 1105 h 5260"/>
                <a:gd name="T8" fmla="*/ 1322 w 2306"/>
                <a:gd name="T9" fmla="*/ 1747 h 5260"/>
                <a:gd name="T10" fmla="*/ 1616 w 2306"/>
                <a:gd name="T11" fmla="*/ 2420 h 5260"/>
                <a:gd name="T12" fmla="*/ 1899 w 2306"/>
                <a:gd name="T13" fmla="*/ 3099 h 5260"/>
                <a:gd name="T14" fmla="*/ 2118 w 2306"/>
                <a:gd name="T15" fmla="*/ 3800 h 5260"/>
                <a:gd name="T16" fmla="*/ 2305 w 2306"/>
                <a:gd name="T17" fmla="*/ 5260 h 5260"/>
                <a:gd name="T18" fmla="*/ 2306 w 2306"/>
                <a:gd name="T19" fmla="*/ 5260 h 5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06" h="5260">
                  <a:moveTo>
                    <a:pt x="0" y="0"/>
                  </a:moveTo>
                  <a:lnTo>
                    <a:pt x="524" y="518"/>
                  </a:lnTo>
                  <a:lnTo>
                    <a:pt x="763" y="794"/>
                  </a:lnTo>
                  <a:lnTo>
                    <a:pt x="959" y="1105"/>
                  </a:lnTo>
                  <a:lnTo>
                    <a:pt x="1322" y="1747"/>
                  </a:lnTo>
                  <a:lnTo>
                    <a:pt x="1616" y="2420"/>
                  </a:lnTo>
                  <a:lnTo>
                    <a:pt x="1899" y="3099"/>
                  </a:lnTo>
                  <a:lnTo>
                    <a:pt x="2118" y="3800"/>
                  </a:lnTo>
                  <a:lnTo>
                    <a:pt x="2305" y="5260"/>
                  </a:lnTo>
                  <a:lnTo>
                    <a:pt x="2306" y="5260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09" name="Freeform 449"/>
            <p:cNvSpPr>
              <a:spLocks/>
            </p:cNvSpPr>
            <p:nvPr/>
          </p:nvSpPr>
          <p:spPr bwMode="auto">
            <a:xfrm>
              <a:off x="3802" y="2485"/>
              <a:ext cx="46" cy="81"/>
            </a:xfrm>
            <a:custGeom>
              <a:avLst/>
              <a:gdLst>
                <a:gd name="T0" fmla="*/ 0 w 272"/>
                <a:gd name="T1" fmla="*/ 0 h 488"/>
                <a:gd name="T2" fmla="*/ 271 w 272"/>
                <a:gd name="T3" fmla="*/ 488 h 488"/>
                <a:gd name="T4" fmla="*/ 272 w 272"/>
                <a:gd name="T5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488">
                  <a:moveTo>
                    <a:pt x="0" y="0"/>
                  </a:moveTo>
                  <a:lnTo>
                    <a:pt x="271" y="488"/>
                  </a:lnTo>
                  <a:lnTo>
                    <a:pt x="272" y="48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10" name="Freeform 450"/>
            <p:cNvSpPr>
              <a:spLocks/>
            </p:cNvSpPr>
            <p:nvPr/>
          </p:nvSpPr>
          <p:spPr bwMode="auto">
            <a:xfrm>
              <a:off x="3871" y="2608"/>
              <a:ext cx="47" cy="84"/>
            </a:xfrm>
            <a:custGeom>
              <a:avLst/>
              <a:gdLst>
                <a:gd name="T0" fmla="*/ 0 w 280"/>
                <a:gd name="T1" fmla="*/ 0 h 502"/>
                <a:gd name="T2" fmla="*/ 279 w 280"/>
                <a:gd name="T3" fmla="*/ 502 h 502"/>
                <a:gd name="T4" fmla="*/ 280 w 280"/>
                <a:gd name="T5" fmla="*/ 502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0" h="502">
                  <a:moveTo>
                    <a:pt x="0" y="0"/>
                  </a:moveTo>
                  <a:lnTo>
                    <a:pt x="279" y="502"/>
                  </a:lnTo>
                  <a:lnTo>
                    <a:pt x="280" y="50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11" name="Freeform 451"/>
            <p:cNvSpPr>
              <a:spLocks/>
            </p:cNvSpPr>
            <p:nvPr/>
          </p:nvSpPr>
          <p:spPr bwMode="auto">
            <a:xfrm>
              <a:off x="3941" y="2734"/>
              <a:ext cx="47" cy="84"/>
            </a:xfrm>
            <a:custGeom>
              <a:avLst/>
              <a:gdLst>
                <a:gd name="T0" fmla="*/ 0 w 280"/>
                <a:gd name="T1" fmla="*/ 0 h 502"/>
                <a:gd name="T2" fmla="*/ 279 w 280"/>
                <a:gd name="T3" fmla="*/ 502 h 502"/>
                <a:gd name="T4" fmla="*/ 280 w 280"/>
                <a:gd name="T5" fmla="*/ 502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0" h="502">
                  <a:moveTo>
                    <a:pt x="0" y="0"/>
                  </a:moveTo>
                  <a:lnTo>
                    <a:pt x="279" y="502"/>
                  </a:lnTo>
                  <a:lnTo>
                    <a:pt x="280" y="50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12" name="Freeform 452"/>
            <p:cNvSpPr>
              <a:spLocks/>
            </p:cNvSpPr>
            <p:nvPr/>
          </p:nvSpPr>
          <p:spPr bwMode="auto">
            <a:xfrm>
              <a:off x="4011" y="2859"/>
              <a:ext cx="46" cy="84"/>
            </a:xfrm>
            <a:custGeom>
              <a:avLst/>
              <a:gdLst>
                <a:gd name="T0" fmla="*/ 0 w 280"/>
                <a:gd name="T1" fmla="*/ 0 h 503"/>
                <a:gd name="T2" fmla="*/ 279 w 280"/>
                <a:gd name="T3" fmla="*/ 503 h 503"/>
                <a:gd name="T4" fmla="*/ 280 w 280"/>
                <a:gd name="T5" fmla="*/ 503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0" h="503">
                  <a:moveTo>
                    <a:pt x="0" y="0"/>
                  </a:moveTo>
                  <a:lnTo>
                    <a:pt x="279" y="503"/>
                  </a:lnTo>
                  <a:lnTo>
                    <a:pt x="280" y="50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13" name="Freeform 453"/>
            <p:cNvSpPr>
              <a:spLocks/>
            </p:cNvSpPr>
            <p:nvPr/>
          </p:nvSpPr>
          <p:spPr bwMode="auto">
            <a:xfrm>
              <a:off x="4081" y="2985"/>
              <a:ext cx="45" cy="82"/>
            </a:xfrm>
            <a:custGeom>
              <a:avLst/>
              <a:gdLst>
                <a:gd name="T0" fmla="*/ 0 w 273"/>
                <a:gd name="T1" fmla="*/ 0 h 488"/>
                <a:gd name="T2" fmla="*/ 272 w 273"/>
                <a:gd name="T3" fmla="*/ 488 h 488"/>
                <a:gd name="T4" fmla="*/ 273 w 273"/>
                <a:gd name="T5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3" h="488">
                  <a:moveTo>
                    <a:pt x="0" y="0"/>
                  </a:moveTo>
                  <a:lnTo>
                    <a:pt x="272" y="488"/>
                  </a:lnTo>
                  <a:lnTo>
                    <a:pt x="273" y="48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14" name="Freeform 454"/>
            <p:cNvSpPr>
              <a:spLocks/>
            </p:cNvSpPr>
            <p:nvPr/>
          </p:nvSpPr>
          <p:spPr bwMode="auto">
            <a:xfrm>
              <a:off x="1079" y="3217"/>
              <a:ext cx="2690" cy="1015"/>
            </a:xfrm>
            <a:custGeom>
              <a:avLst/>
              <a:gdLst>
                <a:gd name="T0" fmla="*/ 16140 w 16140"/>
                <a:gd name="T1" fmla="*/ 0 h 6085"/>
                <a:gd name="T2" fmla="*/ 0 w 16140"/>
                <a:gd name="T3" fmla="*/ 6085 h 6085"/>
                <a:gd name="T4" fmla="*/ 1 w 16140"/>
                <a:gd name="T5" fmla="*/ 6085 h 6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140" h="6085">
                  <a:moveTo>
                    <a:pt x="16140" y="0"/>
                  </a:moveTo>
                  <a:lnTo>
                    <a:pt x="0" y="6085"/>
                  </a:lnTo>
                  <a:lnTo>
                    <a:pt x="1" y="6085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15" name="Freeform 455"/>
            <p:cNvSpPr>
              <a:spLocks/>
            </p:cNvSpPr>
            <p:nvPr/>
          </p:nvSpPr>
          <p:spPr bwMode="auto">
            <a:xfrm>
              <a:off x="1311" y="2462"/>
              <a:ext cx="2469" cy="939"/>
            </a:xfrm>
            <a:custGeom>
              <a:avLst/>
              <a:gdLst>
                <a:gd name="T0" fmla="*/ 14811 w 14811"/>
                <a:gd name="T1" fmla="*/ 0 h 5635"/>
                <a:gd name="T2" fmla="*/ 0 w 14811"/>
                <a:gd name="T3" fmla="*/ 5635 h 5635"/>
                <a:gd name="T4" fmla="*/ 1 w 14811"/>
                <a:gd name="T5" fmla="*/ 5635 h 5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11" h="5635">
                  <a:moveTo>
                    <a:pt x="14811" y="0"/>
                  </a:moveTo>
                  <a:lnTo>
                    <a:pt x="0" y="5635"/>
                  </a:lnTo>
                  <a:lnTo>
                    <a:pt x="1" y="5635"/>
                  </a:lnTo>
                </a:path>
              </a:pathLst>
            </a:custGeom>
            <a:noFill/>
            <a:ln w="28575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16" name="Freeform 456"/>
            <p:cNvSpPr>
              <a:spLocks/>
            </p:cNvSpPr>
            <p:nvPr/>
          </p:nvSpPr>
          <p:spPr bwMode="auto">
            <a:xfrm>
              <a:off x="1291" y="3345"/>
              <a:ext cx="73" cy="203"/>
            </a:xfrm>
            <a:custGeom>
              <a:avLst/>
              <a:gdLst>
                <a:gd name="T0" fmla="*/ 0 w 435"/>
                <a:gd name="T1" fmla="*/ 0 h 1218"/>
                <a:gd name="T2" fmla="*/ 434 w 435"/>
                <a:gd name="T3" fmla="*/ 1218 h 1218"/>
                <a:gd name="T4" fmla="*/ 435 w 435"/>
                <a:gd name="T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5" h="1218">
                  <a:moveTo>
                    <a:pt x="0" y="0"/>
                  </a:moveTo>
                  <a:lnTo>
                    <a:pt x="434" y="1218"/>
                  </a:lnTo>
                  <a:lnTo>
                    <a:pt x="435" y="1218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17" name="Freeform 457"/>
            <p:cNvSpPr>
              <a:spLocks/>
            </p:cNvSpPr>
            <p:nvPr/>
          </p:nvSpPr>
          <p:spPr bwMode="auto">
            <a:xfrm>
              <a:off x="1380" y="3593"/>
              <a:ext cx="16" cy="45"/>
            </a:xfrm>
            <a:custGeom>
              <a:avLst/>
              <a:gdLst>
                <a:gd name="T0" fmla="*/ 0 w 96"/>
                <a:gd name="T1" fmla="*/ 0 h 271"/>
                <a:gd name="T2" fmla="*/ 95 w 96"/>
                <a:gd name="T3" fmla="*/ 271 h 271"/>
                <a:gd name="T4" fmla="*/ 96 w 96"/>
                <a:gd name="T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271">
                  <a:moveTo>
                    <a:pt x="0" y="0"/>
                  </a:moveTo>
                  <a:lnTo>
                    <a:pt x="95" y="271"/>
                  </a:lnTo>
                  <a:lnTo>
                    <a:pt x="96" y="271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18" name="Freeform 458"/>
            <p:cNvSpPr>
              <a:spLocks/>
            </p:cNvSpPr>
            <p:nvPr/>
          </p:nvSpPr>
          <p:spPr bwMode="auto">
            <a:xfrm>
              <a:off x="1412" y="3684"/>
              <a:ext cx="80" cy="225"/>
            </a:xfrm>
            <a:custGeom>
              <a:avLst/>
              <a:gdLst>
                <a:gd name="T0" fmla="*/ 0 w 485"/>
                <a:gd name="T1" fmla="*/ 0 h 1354"/>
                <a:gd name="T2" fmla="*/ 484 w 485"/>
                <a:gd name="T3" fmla="*/ 1354 h 1354"/>
                <a:gd name="T4" fmla="*/ 485 w 485"/>
                <a:gd name="T5" fmla="*/ 1354 h 1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5" h="1354">
                  <a:moveTo>
                    <a:pt x="0" y="0"/>
                  </a:moveTo>
                  <a:lnTo>
                    <a:pt x="484" y="1354"/>
                  </a:lnTo>
                  <a:lnTo>
                    <a:pt x="485" y="1354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19" name="Freeform 459"/>
            <p:cNvSpPr>
              <a:spLocks/>
            </p:cNvSpPr>
            <p:nvPr/>
          </p:nvSpPr>
          <p:spPr bwMode="auto">
            <a:xfrm>
              <a:off x="1508" y="3954"/>
              <a:ext cx="17" cy="45"/>
            </a:xfrm>
            <a:custGeom>
              <a:avLst/>
              <a:gdLst>
                <a:gd name="T0" fmla="*/ 0 w 97"/>
                <a:gd name="T1" fmla="*/ 0 h 270"/>
                <a:gd name="T2" fmla="*/ 96 w 97"/>
                <a:gd name="T3" fmla="*/ 270 h 270"/>
                <a:gd name="T4" fmla="*/ 97 w 97"/>
                <a:gd name="T5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" h="270">
                  <a:moveTo>
                    <a:pt x="0" y="0"/>
                  </a:moveTo>
                  <a:lnTo>
                    <a:pt x="96" y="270"/>
                  </a:lnTo>
                  <a:lnTo>
                    <a:pt x="97" y="270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20" name="Freeform 460"/>
            <p:cNvSpPr>
              <a:spLocks/>
            </p:cNvSpPr>
            <p:nvPr/>
          </p:nvSpPr>
          <p:spPr bwMode="auto">
            <a:xfrm>
              <a:off x="1540" y="4045"/>
              <a:ext cx="73" cy="202"/>
            </a:xfrm>
            <a:custGeom>
              <a:avLst/>
              <a:gdLst>
                <a:gd name="T0" fmla="*/ 0 w 435"/>
                <a:gd name="T1" fmla="*/ 0 h 1217"/>
                <a:gd name="T2" fmla="*/ 434 w 435"/>
                <a:gd name="T3" fmla="*/ 1217 h 1217"/>
                <a:gd name="T4" fmla="*/ 435 w 435"/>
                <a:gd name="T5" fmla="*/ 1217 h 1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5" h="1217">
                  <a:moveTo>
                    <a:pt x="0" y="0"/>
                  </a:moveTo>
                  <a:lnTo>
                    <a:pt x="434" y="1217"/>
                  </a:lnTo>
                  <a:lnTo>
                    <a:pt x="435" y="1217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21" name="Freeform 461"/>
            <p:cNvSpPr>
              <a:spLocks/>
            </p:cNvSpPr>
            <p:nvPr/>
          </p:nvSpPr>
          <p:spPr bwMode="auto">
            <a:xfrm>
              <a:off x="1021" y="3401"/>
              <a:ext cx="290" cy="831"/>
            </a:xfrm>
            <a:custGeom>
              <a:avLst/>
              <a:gdLst>
                <a:gd name="T0" fmla="*/ 349 w 1742"/>
                <a:gd name="T1" fmla="*/ 4981 h 4981"/>
                <a:gd name="T2" fmla="*/ 115 w 1742"/>
                <a:gd name="T3" fmla="*/ 4326 h 4981"/>
                <a:gd name="T4" fmla="*/ 0 w 1742"/>
                <a:gd name="T5" fmla="*/ 3643 h 4981"/>
                <a:gd name="T6" fmla="*/ 23 w 1742"/>
                <a:gd name="T7" fmla="*/ 2945 h 4981"/>
                <a:gd name="T8" fmla="*/ 168 w 1742"/>
                <a:gd name="T9" fmla="*/ 2264 h 4981"/>
                <a:gd name="T10" fmla="*/ 456 w 1742"/>
                <a:gd name="T11" fmla="*/ 1633 h 4981"/>
                <a:gd name="T12" fmla="*/ 830 w 1742"/>
                <a:gd name="T13" fmla="*/ 1045 h 4981"/>
                <a:gd name="T14" fmla="*/ 1263 w 1742"/>
                <a:gd name="T15" fmla="*/ 503 h 4981"/>
                <a:gd name="T16" fmla="*/ 1741 w 1742"/>
                <a:gd name="T17" fmla="*/ 0 h 4981"/>
                <a:gd name="T18" fmla="*/ 1742 w 1742"/>
                <a:gd name="T19" fmla="*/ 0 h 49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42" h="4981">
                  <a:moveTo>
                    <a:pt x="349" y="4981"/>
                  </a:moveTo>
                  <a:lnTo>
                    <a:pt x="115" y="4326"/>
                  </a:lnTo>
                  <a:lnTo>
                    <a:pt x="0" y="3643"/>
                  </a:lnTo>
                  <a:lnTo>
                    <a:pt x="23" y="2945"/>
                  </a:lnTo>
                  <a:lnTo>
                    <a:pt x="168" y="2264"/>
                  </a:lnTo>
                  <a:lnTo>
                    <a:pt x="456" y="1633"/>
                  </a:lnTo>
                  <a:lnTo>
                    <a:pt x="830" y="1045"/>
                  </a:lnTo>
                  <a:lnTo>
                    <a:pt x="1263" y="503"/>
                  </a:lnTo>
                  <a:lnTo>
                    <a:pt x="1741" y="0"/>
                  </a:lnTo>
                  <a:lnTo>
                    <a:pt x="1742" y="0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22" name="Freeform 462"/>
            <p:cNvSpPr>
              <a:spLocks/>
            </p:cNvSpPr>
            <p:nvPr/>
          </p:nvSpPr>
          <p:spPr bwMode="auto">
            <a:xfrm>
              <a:off x="1311" y="3401"/>
              <a:ext cx="705" cy="496"/>
            </a:xfrm>
            <a:custGeom>
              <a:avLst/>
              <a:gdLst>
                <a:gd name="T0" fmla="*/ 4229 w 4229"/>
                <a:gd name="T1" fmla="*/ 2973 h 2973"/>
                <a:gd name="T2" fmla="*/ 3995 w 4229"/>
                <a:gd name="T3" fmla="*/ 2318 h 2973"/>
                <a:gd name="T4" fmla="*/ 3653 w 4229"/>
                <a:gd name="T5" fmla="*/ 1717 h 2973"/>
                <a:gd name="T6" fmla="*/ 3192 w 4229"/>
                <a:gd name="T7" fmla="*/ 1190 h 2973"/>
                <a:gd name="T8" fmla="*/ 2651 w 4229"/>
                <a:gd name="T9" fmla="*/ 755 h 2973"/>
                <a:gd name="T10" fmla="*/ 2027 w 4229"/>
                <a:gd name="T11" fmla="*/ 449 h 2973"/>
                <a:gd name="T12" fmla="*/ 1367 w 4229"/>
                <a:gd name="T13" fmla="*/ 231 h 2973"/>
                <a:gd name="T14" fmla="*/ 689 w 4229"/>
                <a:gd name="T15" fmla="*/ 86 h 2973"/>
                <a:gd name="T16" fmla="*/ 0 w 4229"/>
                <a:gd name="T17" fmla="*/ 0 h 2973"/>
                <a:gd name="T18" fmla="*/ 1 w 4229"/>
                <a:gd name="T19" fmla="*/ 0 h 2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29" h="2973">
                  <a:moveTo>
                    <a:pt x="4229" y="2973"/>
                  </a:moveTo>
                  <a:lnTo>
                    <a:pt x="3995" y="2318"/>
                  </a:lnTo>
                  <a:lnTo>
                    <a:pt x="3653" y="1717"/>
                  </a:lnTo>
                  <a:lnTo>
                    <a:pt x="3192" y="1190"/>
                  </a:lnTo>
                  <a:lnTo>
                    <a:pt x="2651" y="755"/>
                  </a:lnTo>
                  <a:lnTo>
                    <a:pt x="2027" y="449"/>
                  </a:lnTo>
                  <a:lnTo>
                    <a:pt x="1367" y="231"/>
                  </a:lnTo>
                  <a:lnTo>
                    <a:pt x="689" y="86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23" name="Freeform 463"/>
            <p:cNvSpPr>
              <a:spLocks/>
            </p:cNvSpPr>
            <p:nvPr/>
          </p:nvSpPr>
          <p:spPr bwMode="auto">
            <a:xfrm>
              <a:off x="1079" y="3897"/>
              <a:ext cx="937" cy="335"/>
            </a:xfrm>
            <a:custGeom>
              <a:avLst/>
              <a:gdLst>
                <a:gd name="T0" fmla="*/ 5621 w 5621"/>
                <a:gd name="T1" fmla="*/ 0 h 2008"/>
                <a:gd name="T2" fmla="*/ 0 w 5621"/>
                <a:gd name="T3" fmla="*/ 2008 h 2008"/>
                <a:gd name="T4" fmla="*/ 1 w 5621"/>
                <a:gd name="T5" fmla="*/ 2008 h 2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21" h="2008">
                  <a:moveTo>
                    <a:pt x="5621" y="0"/>
                  </a:moveTo>
                  <a:lnTo>
                    <a:pt x="0" y="2008"/>
                  </a:lnTo>
                  <a:lnTo>
                    <a:pt x="1" y="2008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24" name="Freeform 464"/>
            <p:cNvSpPr>
              <a:spLocks/>
            </p:cNvSpPr>
            <p:nvPr/>
          </p:nvSpPr>
          <p:spPr bwMode="auto">
            <a:xfrm>
              <a:off x="1202" y="3402"/>
              <a:ext cx="118" cy="118"/>
            </a:xfrm>
            <a:custGeom>
              <a:avLst/>
              <a:gdLst>
                <a:gd name="T0" fmla="*/ 0 w 706"/>
                <a:gd name="T1" fmla="*/ 705 h 705"/>
                <a:gd name="T2" fmla="*/ 670 w 706"/>
                <a:gd name="T3" fmla="*/ 34 h 705"/>
                <a:gd name="T4" fmla="*/ 705 w 706"/>
                <a:gd name="T5" fmla="*/ 0 h 705"/>
                <a:gd name="T6" fmla="*/ 706 w 706"/>
                <a:gd name="T7" fmla="*/ 0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6" h="705">
                  <a:moveTo>
                    <a:pt x="0" y="705"/>
                  </a:moveTo>
                  <a:lnTo>
                    <a:pt x="670" y="34"/>
                  </a:lnTo>
                  <a:lnTo>
                    <a:pt x="705" y="0"/>
                  </a:lnTo>
                  <a:lnTo>
                    <a:pt x="70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25" name="Freeform 465"/>
            <p:cNvSpPr>
              <a:spLocks/>
            </p:cNvSpPr>
            <p:nvPr/>
          </p:nvSpPr>
          <p:spPr bwMode="auto">
            <a:xfrm>
              <a:off x="1119" y="3406"/>
              <a:ext cx="231" cy="231"/>
            </a:xfrm>
            <a:custGeom>
              <a:avLst/>
              <a:gdLst>
                <a:gd name="T0" fmla="*/ 0 w 1387"/>
                <a:gd name="T1" fmla="*/ 1387 h 1387"/>
                <a:gd name="T2" fmla="*/ 1222 w 1387"/>
                <a:gd name="T3" fmla="*/ 165 h 1387"/>
                <a:gd name="T4" fmla="*/ 1386 w 1387"/>
                <a:gd name="T5" fmla="*/ 0 h 1387"/>
                <a:gd name="T6" fmla="*/ 1387 w 1387"/>
                <a:gd name="T7" fmla="*/ 0 h 1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7" h="1387">
                  <a:moveTo>
                    <a:pt x="0" y="1387"/>
                  </a:moveTo>
                  <a:lnTo>
                    <a:pt x="1222" y="165"/>
                  </a:lnTo>
                  <a:lnTo>
                    <a:pt x="1386" y="0"/>
                  </a:lnTo>
                  <a:lnTo>
                    <a:pt x="138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26" name="Freeform 466"/>
            <p:cNvSpPr>
              <a:spLocks/>
            </p:cNvSpPr>
            <p:nvPr/>
          </p:nvSpPr>
          <p:spPr bwMode="auto">
            <a:xfrm>
              <a:off x="1076" y="3409"/>
              <a:ext cx="304" cy="305"/>
            </a:xfrm>
            <a:custGeom>
              <a:avLst/>
              <a:gdLst>
                <a:gd name="T0" fmla="*/ 0 w 1828"/>
                <a:gd name="T1" fmla="*/ 1828 h 1828"/>
                <a:gd name="T2" fmla="*/ 1535 w 1828"/>
                <a:gd name="T3" fmla="*/ 292 h 1828"/>
                <a:gd name="T4" fmla="*/ 1827 w 1828"/>
                <a:gd name="T5" fmla="*/ 0 h 1828"/>
                <a:gd name="T6" fmla="*/ 1828 w 1828"/>
                <a:gd name="T7" fmla="*/ 0 h 1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28" h="1828">
                  <a:moveTo>
                    <a:pt x="0" y="1828"/>
                  </a:moveTo>
                  <a:lnTo>
                    <a:pt x="1535" y="292"/>
                  </a:lnTo>
                  <a:lnTo>
                    <a:pt x="1827" y="0"/>
                  </a:lnTo>
                  <a:lnTo>
                    <a:pt x="182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27" name="Freeform 467"/>
            <p:cNvSpPr>
              <a:spLocks/>
            </p:cNvSpPr>
            <p:nvPr/>
          </p:nvSpPr>
          <p:spPr bwMode="auto">
            <a:xfrm>
              <a:off x="1051" y="3413"/>
              <a:ext cx="359" cy="359"/>
            </a:xfrm>
            <a:custGeom>
              <a:avLst/>
              <a:gdLst>
                <a:gd name="T0" fmla="*/ 0 w 2153"/>
                <a:gd name="T1" fmla="*/ 2154 h 2154"/>
                <a:gd name="T2" fmla="*/ 1734 w 2153"/>
                <a:gd name="T3" fmla="*/ 417 h 2154"/>
                <a:gd name="T4" fmla="*/ 2152 w 2153"/>
                <a:gd name="T5" fmla="*/ 0 h 2154"/>
                <a:gd name="T6" fmla="*/ 2153 w 2153"/>
                <a:gd name="T7" fmla="*/ 0 h 2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53" h="2154">
                  <a:moveTo>
                    <a:pt x="0" y="2154"/>
                  </a:moveTo>
                  <a:lnTo>
                    <a:pt x="1734" y="417"/>
                  </a:lnTo>
                  <a:lnTo>
                    <a:pt x="2152" y="0"/>
                  </a:lnTo>
                  <a:lnTo>
                    <a:pt x="215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28" name="Freeform 468"/>
            <p:cNvSpPr>
              <a:spLocks/>
            </p:cNvSpPr>
            <p:nvPr/>
          </p:nvSpPr>
          <p:spPr bwMode="auto">
            <a:xfrm>
              <a:off x="1037" y="3418"/>
              <a:ext cx="402" cy="402"/>
            </a:xfrm>
            <a:custGeom>
              <a:avLst/>
              <a:gdLst>
                <a:gd name="T0" fmla="*/ 0 w 2412"/>
                <a:gd name="T1" fmla="*/ 2413 h 2413"/>
                <a:gd name="T2" fmla="*/ 1871 w 2412"/>
                <a:gd name="T3" fmla="*/ 541 h 2413"/>
                <a:gd name="T4" fmla="*/ 2411 w 2412"/>
                <a:gd name="T5" fmla="*/ 0 h 2413"/>
                <a:gd name="T6" fmla="*/ 2412 w 2412"/>
                <a:gd name="T7" fmla="*/ 0 h 2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12" h="2413">
                  <a:moveTo>
                    <a:pt x="0" y="2413"/>
                  </a:moveTo>
                  <a:lnTo>
                    <a:pt x="1871" y="541"/>
                  </a:lnTo>
                  <a:lnTo>
                    <a:pt x="2411" y="0"/>
                  </a:lnTo>
                  <a:lnTo>
                    <a:pt x="241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29" name="Freeform 469"/>
            <p:cNvSpPr>
              <a:spLocks/>
            </p:cNvSpPr>
            <p:nvPr/>
          </p:nvSpPr>
          <p:spPr bwMode="auto">
            <a:xfrm>
              <a:off x="1029" y="3423"/>
              <a:ext cx="439" cy="439"/>
            </a:xfrm>
            <a:custGeom>
              <a:avLst/>
              <a:gdLst>
                <a:gd name="T0" fmla="*/ 0 w 2634"/>
                <a:gd name="T1" fmla="*/ 2636 h 2636"/>
                <a:gd name="T2" fmla="*/ 1975 w 2634"/>
                <a:gd name="T3" fmla="*/ 658 h 2636"/>
                <a:gd name="T4" fmla="*/ 2633 w 2634"/>
                <a:gd name="T5" fmla="*/ 0 h 2636"/>
                <a:gd name="T6" fmla="*/ 2634 w 2634"/>
                <a:gd name="T7" fmla="*/ 0 h 2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34" h="2636">
                  <a:moveTo>
                    <a:pt x="0" y="2636"/>
                  </a:moveTo>
                  <a:lnTo>
                    <a:pt x="1975" y="658"/>
                  </a:lnTo>
                  <a:lnTo>
                    <a:pt x="2633" y="0"/>
                  </a:lnTo>
                  <a:lnTo>
                    <a:pt x="263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30" name="Freeform 470"/>
            <p:cNvSpPr>
              <a:spLocks/>
            </p:cNvSpPr>
            <p:nvPr/>
          </p:nvSpPr>
          <p:spPr bwMode="auto">
            <a:xfrm>
              <a:off x="1024" y="3429"/>
              <a:ext cx="472" cy="472"/>
            </a:xfrm>
            <a:custGeom>
              <a:avLst/>
              <a:gdLst>
                <a:gd name="T0" fmla="*/ 0 w 2832"/>
                <a:gd name="T1" fmla="*/ 2833 h 2833"/>
                <a:gd name="T2" fmla="*/ 2060 w 2832"/>
                <a:gd name="T3" fmla="*/ 772 h 2833"/>
                <a:gd name="T4" fmla="*/ 2831 w 2832"/>
                <a:gd name="T5" fmla="*/ 0 h 2833"/>
                <a:gd name="T6" fmla="*/ 2832 w 2832"/>
                <a:gd name="T7" fmla="*/ 0 h 2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32" h="2833">
                  <a:moveTo>
                    <a:pt x="0" y="2833"/>
                  </a:moveTo>
                  <a:lnTo>
                    <a:pt x="2060" y="772"/>
                  </a:lnTo>
                  <a:lnTo>
                    <a:pt x="2831" y="0"/>
                  </a:lnTo>
                  <a:lnTo>
                    <a:pt x="283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31" name="Freeform 471"/>
            <p:cNvSpPr>
              <a:spLocks/>
            </p:cNvSpPr>
            <p:nvPr/>
          </p:nvSpPr>
          <p:spPr bwMode="auto">
            <a:xfrm>
              <a:off x="1021" y="3436"/>
              <a:ext cx="502" cy="502"/>
            </a:xfrm>
            <a:custGeom>
              <a:avLst/>
              <a:gdLst>
                <a:gd name="T0" fmla="*/ 0 w 3012"/>
                <a:gd name="T1" fmla="*/ 3015 h 3015"/>
                <a:gd name="T2" fmla="*/ 2130 w 3012"/>
                <a:gd name="T3" fmla="*/ 882 h 3015"/>
                <a:gd name="T4" fmla="*/ 3011 w 3012"/>
                <a:gd name="T5" fmla="*/ 0 h 3015"/>
                <a:gd name="T6" fmla="*/ 3012 w 3012"/>
                <a:gd name="T7" fmla="*/ 0 h 3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12" h="3015">
                  <a:moveTo>
                    <a:pt x="0" y="3015"/>
                  </a:moveTo>
                  <a:lnTo>
                    <a:pt x="2130" y="882"/>
                  </a:lnTo>
                  <a:lnTo>
                    <a:pt x="3011" y="0"/>
                  </a:lnTo>
                  <a:lnTo>
                    <a:pt x="301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32" name="Freeform 472"/>
            <p:cNvSpPr>
              <a:spLocks/>
            </p:cNvSpPr>
            <p:nvPr/>
          </p:nvSpPr>
          <p:spPr bwMode="auto">
            <a:xfrm>
              <a:off x="1020" y="3443"/>
              <a:ext cx="530" cy="530"/>
            </a:xfrm>
            <a:custGeom>
              <a:avLst/>
              <a:gdLst>
                <a:gd name="T0" fmla="*/ 0 w 3179"/>
                <a:gd name="T1" fmla="*/ 3180 h 3180"/>
                <a:gd name="T2" fmla="*/ 2189 w 3179"/>
                <a:gd name="T3" fmla="*/ 990 h 3180"/>
                <a:gd name="T4" fmla="*/ 3178 w 3179"/>
                <a:gd name="T5" fmla="*/ 0 h 3180"/>
                <a:gd name="T6" fmla="*/ 3179 w 3179"/>
                <a:gd name="T7" fmla="*/ 0 h 3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79" h="3180">
                  <a:moveTo>
                    <a:pt x="0" y="3180"/>
                  </a:moveTo>
                  <a:lnTo>
                    <a:pt x="2189" y="990"/>
                  </a:lnTo>
                  <a:lnTo>
                    <a:pt x="3178" y="0"/>
                  </a:lnTo>
                  <a:lnTo>
                    <a:pt x="317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33" name="Freeform 473"/>
            <p:cNvSpPr>
              <a:spLocks/>
            </p:cNvSpPr>
            <p:nvPr/>
          </p:nvSpPr>
          <p:spPr bwMode="auto">
            <a:xfrm>
              <a:off x="1021" y="3451"/>
              <a:ext cx="555" cy="555"/>
            </a:xfrm>
            <a:custGeom>
              <a:avLst/>
              <a:gdLst>
                <a:gd name="T0" fmla="*/ 0 w 3330"/>
                <a:gd name="T1" fmla="*/ 3332 h 3332"/>
                <a:gd name="T2" fmla="*/ 2237 w 3330"/>
                <a:gd name="T3" fmla="*/ 1092 h 3332"/>
                <a:gd name="T4" fmla="*/ 3329 w 3330"/>
                <a:gd name="T5" fmla="*/ 0 h 3332"/>
                <a:gd name="T6" fmla="*/ 3330 w 3330"/>
                <a:gd name="T7" fmla="*/ 0 h 3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30" h="3332">
                  <a:moveTo>
                    <a:pt x="0" y="3332"/>
                  </a:moveTo>
                  <a:lnTo>
                    <a:pt x="2237" y="1092"/>
                  </a:lnTo>
                  <a:lnTo>
                    <a:pt x="3329" y="0"/>
                  </a:lnTo>
                  <a:lnTo>
                    <a:pt x="333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34" name="Freeform 474"/>
            <p:cNvSpPr>
              <a:spLocks/>
            </p:cNvSpPr>
            <p:nvPr/>
          </p:nvSpPr>
          <p:spPr bwMode="auto">
            <a:xfrm>
              <a:off x="1023" y="3459"/>
              <a:ext cx="578" cy="578"/>
            </a:xfrm>
            <a:custGeom>
              <a:avLst/>
              <a:gdLst>
                <a:gd name="T0" fmla="*/ 0 w 3468"/>
                <a:gd name="T1" fmla="*/ 3470 h 3470"/>
                <a:gd name="T2" fmla="*/ 2275 w 3468"/>
                <a:gd name="T3" fmla="*/ 1192 h 3470"/>
                <a:gd name="T4" fmla="*/ 3466 w 3468"/>
                <a:gd name="T5" fmla="*/ 0 h 3470"/>
                <a:gd name="T6" fmla="*/ 3468 w 3468"/>
                <a:gd name="T7" fmla="*/ 0 h 3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68" h="3470">
                  <a:moveTo>
                    <a:pt x="0" y="3470"/>
                  </a:moveTo>
                  <a:lnTo>
                    <a:pt x="2275" y="1192"/>
                  </a:lnTo>
                  <a:lnTo>
                    <a:pt x="3466" y="0"/>
                  </a:lnTo>
                  <a:lnTo>
                    <a:pt x="346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35" name="Freeform 475"/>
            <p:cNvSpPr>
              <a:spLocks/>
            </p:cNvSpPr>
            <p:nvPr/>
          </p:nvSpPr>
          <p:spPr bwMode="auto">
            <a:xfrm>
              <a:off x="1027" y="3468"/>
              <a:ext cx="599" cy="599"/>
            </a:xfrm>
            <a:custGeom>
              <a:avLst/>
              <a:gdLst>
                <a:gd name="T0" fmla="*/ 0 w 3594"/>
                <a:gd name="T1" fmla="*/ 3597 h 3597"/>
                <a:gd name="T2" fmla="*/ 2305 w 3594"/>
                <a:gd name="T3" fmla="*/ 1290 h 3597"/>
                <a:gd name="T4" fmla="*/ 3593 w 3594"/>
                <a:gd name="T5" fmla="*/ 0 h 3597"/>
                <a:gd name="T6" fmla="*/ 3594 w 3594"/>
                <a:gd name="T7" fmla="*/ 0 h 3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4" h="3597">
                  <a:moveTo>
                    <a:pt x="0" y="3597"/>
                  </a:moveTo>
                  <a:lnTo>
                    <a:pt x="2305" y="1290"/>
                  </a:lnTo>
                  <a:lnTo>
                    <a:pt x="3593" y="0"/>
                  </a:lnTo>
                  <a:lnTo>
                    <a:pt x="359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36" name="Freeform 476"/>
            <p:cNvSpPr>
              <a:spLocks/>
            </p:cNvSpPr>
            <p:nvPr/>
          </p:nvSpPr>
          <p:spPr bwMode="auto">
            <a:xfrm>
              <a:off x="1033" y="3477"/>
              <a:ext cx="618" cy="619"/>
            </a:xfrm>
            <a:custGeom>
              <a:avLst/>
              <a:gdLst>
                <a:gd name="T0" fmla="*/ 0 w 3708"/>
                <a:gd name="T1" fmla="*/ 3711 h 3711"/>
                <a:gd name="T2" fmla="*/ 2325 w 3708"/>
                <a:gd name="T3" fmla="*/ 1384 h 3711"/>
                <a:gd name="T4" fmla="*/ 3707 w 3708"/>
                <a:gd name="T5" fmla="*/ 0 h 3711"/>
                <a:gd name="T6" fmla="*/ 3708 w 3708"/>
                <a:gd name="T7" fmla="*/ 0 h 3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08" h="3711">
                  <a:moveTo>
                    <a:pt x="0" y="3711"/>
                  </a:moveTo>
                  <a:lnTo>
                    <a:pt x="2325" y="1384"/>
                  </a:lnTo>
                  <a:lnTo>
                    <a:pt x="3707" y="0"/>
                  </a:lnTo>
                  <a:lnTo>
                    <a:pt x="370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37" name="Freeform 477"/>
            <p:cNvSpPr>
              <a:spLocks/>
            </p:cNvSpPr>
            <p:nvPr/>
          </p:nvSpPr>
          <p:spPr bwMode="auto">
            <a:xfrm>
              <a:off x="1040" y="3487"/>
              <a:ext cx="635" cy="635"/>
            </a:xfrm>
            <a:custGeom>
              <a:avLst/>
              <a:gdLst>
                <a:gd name="T0" fmla="*/ 0 w 3809"/>
                <a:gd name="T1" fmla="*/ 3812 h 3812"/>
                <a:gd name="T2" fmla="*/ 2335 w 3809"/>
                <a:gd name="T3" fmla="*/ 1475 h 3812"/>
                <a:gd name="T4" fmla="*/ 3808 w 3809"/>
                <a:gd name="T5" fmla="*/ 0 h 3812"/>
                <a:gd name="T6" fmla="*/ 3809 w 3809"/>
                <a:gd name="T7" fmla="*/ 0 h 3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09" h="3812">
                  <a:moveTo>
                    <a:pt x="0" y="3812"/>
                  </a:moveTo>
                  <a:lnTo>
                    <a:pt x="2335" y="1475"/>
                  </a:lnTo>
                  <a:lnTo>
                    <a:pt x="3808" y="0"/>
                  </a:lnTo>
                  <a:lnTo>
                    <a:pt x="380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38" name="Freeform 478"/>
            <p:cNvSpPr>
              <a:spLocks/>
            </p:cNvSpPr>
            <p:nvPr/>
          </p:nvSpPr>
          <p:spPr bwMode="auto">
            <a:xfrm>
              <a:off x="1048" y="3497"/>
              <a:ext cx="651" cy="651"/>
            </a:xfrm>
            <a:custGeom>
              <a:avLst/>
              <a:gdLst>
                <a:gd name="T0" fmla="*/ 0 w 3903"/>
                <a:gd name="T1" fmla="*/ 3904 h 3904"/>
                <a:gd name="T2" fmla="*/ 2341 w 3903"/>
                <a:gd name="T3" fmla="*/ 1562 h 3904"/>
                <a:gd name="T4" fmla="*/ 3902 w 3903"/>
                <a:gd name="T5" fmla="*/ 0 h 3904"/>
                <a:gd name="T6" fmla="*/ 3903 w 3903"/>
                <a:gd name="T7" fmla="*/ 0 h 3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03" h="3904">
                  <a:moveTo>
                    <a:pt x="0" y="3904"/>
                  </a:moveTo>
                  <a:lnTo>
                    <a:pt x="2341" y="1562"/>
                  </a:lnTo>
                  <a:lnTo>
                    <a:pt x="3902" y="0"/>
                  </a:lnTo>
                  <a:lnTo>
                    <a:pt x="390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39" name="Freeform 479"/>
            <p:cNvSpPr>
              <a:spLocks/>
            </p:cNvSpPr>
            <p:nvPr/>
          </p:nvSpPr>
          <p:spPr bwMode="auto">
            <a:xfrm>
              <a:off x="1057" y="3509"/>
              <a:ext cx="664" cy="664"/>
            </a:xfrm>
            <a:custGeom>
              <a:avLst/>
              <a:gdLst>
                <a:gd name="T0" fmla="*/ 0 w 3985"/>
                <a:gd name="T1" fmla="*/ 3988 h 3988"/>
                <a:gd name="T2" fmla="*/ 2341 w 3985"/>
                <a:gd name="T3" fmla="*/ 1644 h 3988"/>
                <a:gd name="T4" fmla="*/ 3984 w 3985"/>
                <a:gd name="T5" fmla="*/ 0 h 3988"/>
                <a:gd name="T6" fmla="*/ 3985 w 3985"/>
                <a:gd name="T7" fmla="*/ 0 h 39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85" h="3988">
                  <a:moveTo>
                    <a:pt x="0" y="3988"/>
                  </a:moveTo>
                  <a:lnTo>
                    <a:pt x="2341" y="1644"/>
                  </a:lnTo>
                  <a:lnTo>
                    <a:pt x="3984" y="0"/>
                  </a:lnTo>
                  <a:lnTo>
                    <a:pt x="398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40" name="Freeform 480"/>
            <p:cNvSpPr>
              <a:spLocks/>
            </p:cNvSpPr>
            <p:nvPr/>
          </p:nvSpPr>
          <p:spPr bwMode="auto">
            <a:xfrm>
              <a:off x="1066" y="3521"/>
              <a:ext cx="677" cy="677"/>
            </a:xfrm>
            <a:custGeom>
              <a:avLst/>
              <a:gdLst>
                <a:gd name="T0" fmla="*/ 0 w 4060"/>
                <a:gd name="T1" fmla="*/ 4062 h 4062"/>
                <a:gd name="T2" fmla="*/ 2340 w 4060"/>
                <a:gd name="T3" fmla="*/ 1720 h 4062"/>
                <a:gd name="T4" fmla="*/ 4059 w 4060"/>
                <a:gd name="T5" fmla="*/ 0 h 4062"/>
                <a:gd name="T6" fmla="*/ 4060 w 4060"/>
                <a:gd name="T7" fmla="*/ 0 h 4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60" h="4062">
                  <a:moveTo>
                    <a:pt x="0" y="4062"/>
                  </a:moveTo>
                  <a:lnTo>
                    <a:pt x="2340" y="1720"/>
                  </a:lnTo>
                  <a:lnTo>
                    <a:pt x="4059" y="0"/>
                  </a:lnTo>
                  <a:lnTo>
                    <a:pt x="406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41" name="Freeform 481"/>
            <p:cNvSpPr>
              <a:spLocks/>
            </p:cNvSpPr>
            <p:nvPr/>
          </p:nvSpPr>
          <p:spPr bwMode="auto">
            <a:xfrm>
              <a:off x="1076" y="3534"/>
              <a:ext cx="687" cy="688"/>
            </a:xfrm>
            <a:custGeom>
              <a:avLst/>
              <a:gdLst>
                <a:gd name="T0" fmla="*/ 0 w 4127"/>
                <a:gd name="T1" fmla="*/ 4129 h 4129"/>
                <a:gd name="T2" fmla="*/ 2337 w 4127"/>
                <a:gd name="T3" fmla="*/ 1791 h 4129"/>
                <a:gd name="T4" fmla="*/ 4126 w 4127"/>
                <a:gd name="T5" fmla="*/ 0 h 4129"/>
                <a:gd name="T6" fmla="*/ 4127 w 4127"/>
                <a:gd name="T7" fmla="*/ 0 h 4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27" h="4129">
                  <a:moveTo>
                    <a:pt x="0" y="4129"/>
                  </a:moveTo>
                  <a:lnTo>
                    <a:pt x="2337" y="1791"/>
                  </a:lnTo>
                  <a:lnTo>
                    <a:pt x="4126" y="0"/>
                  </a:lnTo>
                  <a:lnTo>
                    <a:pt x="412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42" name="Freeform 482"/>
            <p:cNvSpPr>
              <a:spLocks/>
            </p:cNvSpPr>
            <p:nvPr/>
          </p:nvSpPr>
          <p:spPr bwMode="auto">
            <a:xfrm>
              <a:off x="1113" y="3548"/>
              <a:ext cx="670" cy="671"/>
            </a:xfrm>
            <a:custGeom>
              <a:avLst/>
              <a:gdLst>
                <a:gd name="T0" fmla="*/ 0 w 4024"/>
                <a:gd name="T1" fmla="*/ 4025 h 4025"/>
                <a:gd name="T2" fmla="*/ 2168 w 4024"/>
                <a:gd name="T3" fmla="*/ 1856 h 4025"/>
                <a:gd name="T4" fmla="*/ 4023 w 4024"/>
                <a:gd name="T5" fmla="*/ 0 h 4025"/>
                <a:gd name="T6" fmla="*/ 4024 w 4024"/>
                <a:gd name="T7" fmla="*/ 0 h 4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24" h="4025">
                  <a:moveTo>
                    <a:pt x="0" y="4025"/>
                  </a:moveTo>
                  <a:lnTo>
                    <a:pt x="2168" y="1856"/>
                  </a:lnTo>
                  <a:lnTo>
                    <a:pt x="4023" y="0"/>
                  </a:lnTo>
                  <a:lnTo>
                    <a:pt x="402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43" name="Freeform 483"/>
            <p:cNvSpPr>
              <a:spLocks/>
            </p:cNvSpPr>
            <p:nvPr/>
          </p:nvSpPr>
          <p:spPr bwMode="auto">
            <a:xfrm>
              <a:off x="1167" y="3563"/>
              <a:ext cx="635" cy="636"/>
            </a:xfrm>
            <a:custGeom>
              <a:avLst/>
              <a:gdLst>
                <a:gd name="T0" fmla="*/ 0 w 3811"/>
                <a:gd name="T1" fmla="*/ 3814 h 3814"/>
                <a:gd name="T2" fmla="*/ 1894 w 3811"/>
                <a:gd name="T3" fmla="*/ 1917 h 3814"/>
                <a:gd name="T4" fmla="*/ 3810 w 3811"/>
                <a:gd name="T5" fmla="*/ 0 h 3814"/>
                <a:gd name="T6" fmla="*/ 3811 w 3811"/>
                <a:gd name="T7" fmla="*/ 0 h 3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11" h="3814">
                  <a:moveTo>
                    <a:pt x="0" y="3814"/>
                  </a:moveTo>
                  <a:lnTo>
                    <a:pt x="1894" y="1917"/>
                  </a:lnTo>
                  <a:lnTo>
                    <a:pt x="3810" y="0"/>
                  </a:lnTo>
                  <a:lnTo>
                    <a:pt x="381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44" name="Freeform 484"/>
            <p:cNvSpPr>
              <a:spLocks/>
            </p:cNvSpPr>
            <p:nvPr/>
          </p:nvSpPr>
          <p:spPr bwMode="auto">
            <a:xfrm>
              <a:off x="1221" y="3579"/>
              <a:ext cx="600" cy="599"/>
            </a:xfrm>
            <a:custGeom>
              <a:avLst/>
              <a:gdLst>
                <a:gd name="T0" fmla="*/ 0 w 3595"/>
                <a:gd name="T1" fmla="*/ 3598 h 3598"/>
                <a:gd name="T2" fmla="*/ 1622 w 3595"/>
                <a:gd name="T3" fmla="*/ 1974 h 3598"/>
                <a:gd name="T4" fmla="*/ 3594 w 3595"/>
                <a:gd name="T5" fmla="*/ 0 h 3598"/>
                <a:gd name="T6" fmla="*/ 3595 w 3595"/>
                <a:gd name="T7" fmla="*/ 0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5" h="3598">
                  <a:moveTo>
                    <a:pt x="0" y="3598"/>
                  </a:moveTo>
                  <a:lnTo>
                    <a:pt x="1622" y="1974"/>
                  </a:lnTo>
                  <a:lnTo>
                    <a:pt x="3594" y="0"/>
                  </a:lnTo>
                  <a:lnTo>
                    <a:pt x="359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45" name="Freeform 485"/>
            <p:cNvSpPr>
              <a:spLocks/>
            </p:cNvSpPr>
            <p:nvPr/>
          </p:nvSpPr>
          <p:spPr bwMode="auto">
            <a:xfrm>
              <a:off x="1276" y="3595"/>
              <a:ext cx="562" cy="563"/>
            </a:xfrm>
            <a:custGeom>
              <a:avLst/>
              <a:gdLst>
                <a:gd name="T0" fmla="*/ 0 w 3377"/>
                <a:gd name="T1" fmla="*/ 3378 h 3378"/>
                <a:gd name="T2" fmla="*/ 1350 w 3377"/>
                <a:gd name="T3" fmla="*/ 2026 h 3378"/>
                <a:gd name="T4" fmla="*/ 3376 w 3377"/>
                <a:gd name="T5" fmla="*/ 0 h 3378"/>
                <a:gd name="T6" fmla="*/ 3377 w 3377"/>
                <a:gd name="T7" fmla="*/ 0 h 3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77" h="3378">
                  <a:moveTo>
                    <a:pt x="0" y="3378"/>
                  </a:moveTo>
                  <a:lnTo>
                    <a:pt x="1350" y="2026"/>
                  </a:lnTo>
                  <a:lnTo>
                    <a:pt x="3376" y="0"/>
                  </a:lnTo>
                  <a:lnTo>
                    <a:pt x="337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46" name="Freeform 486"/>
            <p:cNvSpPr>
              <a:spLocks/>
            </p:cNvSpPr>
            <p:nvPr/>
          </p:nvSpPr>
          <p:spPr bwMode="auto">
            <a:xfrm>
              <a:off x="1330" y="3612"/>
              <a:ext cx="525" cy="525"/>
            </a:xfrm>
            <a:custGeom>
              <a:avLst/>
              <a:gdLst>
                <a:gd name="T0" fmla="*/ 0 w 3152"/>
                <a:gd name="T1" fmla="*/ 3154 h 3154"/>
                <a:gd name="T2" fmla="*/ 1077 w 3152"/>
                <a:gd name="T3" fmla="*/ 2075 h 3154"/>
                <a:gd name="T4" fmla="*/ 3151 w 3152"/>
                <a:gd name="T5" fmla="*/ 0 h 3154"/>
                <a:gd name="T6" fmla="*/ 3152 w 3152"/>
                <a:gd name="T7" fmla="*/ 0 h 3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52" h="3154">
                  <a:moveTo>
                    <a:pt x="0" y="3154"/>
                  </a:moveTo>
                  <a:lnTo>
                    <a:pt x="1077" y="2075"/>
                  </a:lnTo>
                  <a:lnTo>
                    <a:pt x="3151" y="0"/>
                  </a:lnTo>
                  <a:lnTo>
                    <a:pt x="315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47" name="Freeform 487"/>
            <p:cNvSpPr>
              <a:spLocks/>
            </p:cNvSpPr>
            <p:nvPr/>
          </p:nvSpPr>
          <p:spPr bwMode="auto">
            <a:xfrm>
              <a:off x="1384" y="3629"/>
              <a:ext cx="488" cy="488"/>
            </a:xfrm>
            <a:custGeom>
              <a:avLst/>
              <a:gdLst>
                <a:gd name="T0" fmla="*/ 0 w 2926"/>
                <a:gd name="T1" fmla="*/ 2928 h 2928"/>
                <a:gd name="T2" fmla="*/ 805 w 2926"/>
                <a:gd name="T3" fmla="*/ 2122 h 2928"/>
                <a:gd name="T4" fmla="*/ 2925 w 2926"/>
                <a:gd name="T5" fmla="*/ 0 h 2928"/>
                <a:gd name="T6" fmla="*/ 2926 w 2926"/>
                <a:gd name="T7" fmla="*/ 0 h 2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26" h="2928">
                  <a:moveTo>
                    <a:pt x="0" y="2928"/>
                  </a:moveTo>
                  <a:lnTo>
                    <a:pt x="805" y="2122"/>
                  </a:lnTo>
                  <a:lnTo>
                    <a:pt x="2925" y="0"/>
                  </a:lnTo>
                  <a:lnTo>
                    <a:pt x="292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48" name="Freeform 488"/>
            <p:cNvSpPr>
              <a:spLocks/>
            </p:cNvSpPr>
            <p:nvPr/>
          </p:nvSpPr>
          <p:spPr bwMode="auto">
            <a:xfrm>
              <a:off x="1439" y="3647"/>
              <a:ext cx="449" cy="449"/>
            </a:xfrm>
            <a:custGeom>
              <a:avLst/>
              <a:gdLst>
                <a:gd name="T0" fmla="*/ 0 w 2694"/>
                <a:gd name="T1" fmla="*/ 2697 h 2697"/>
                <a:gd name="T2" fmla="*/ 532 w 2694"/>
                <a:gd name="T3" fmla="*/ 2164 h 2697"/>
                <a:gd name="T4" fmla="*/ 2693 w 2694"/>
                <a:gd name="T5" fmla="*/ 0 h 2697"/>
                <a:gd name="T6" fmla="*/ 2694 w 2694"/>
                <a:gd name="T7" fmla="*/ 0 h 2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4" h="2697">
                  <a:moveTo>
                    <a:pt x="0" y="2697"/>
                  </a:moveTo>
                  <a:lnTo>
                    <a:pt x="532" y="2164"/>
                  </a:lnTo>
                  <a:lnTo>
                    <a:pt x="2693" y="0"/>
                  </a:lnTo>
                  <a:lnTo>
                    <a:pt x="269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49" name="Freeform 489"/>
            <p:cNvSpPr>
              <a:spLocks/>
            </p:cNvSpPr>
            <p:nvPr/>
          </p:nvSpPr>
          <p:spPr bwMode="auto">
            <a:xfrm>
              <a:off x="1493" y="3665"/>
              <a:ext cx="410" cy="411"/>
            </a:xfrm>
            <a:custGeom>
              <a:avLst/>
              <a:gdLst>
                <a:gd name="T0" fmla="*/ 0 w 2462"/>
                <a:gd name="T1" fmla="*/ 2463 h 2463"/>
                <a:gd name="T2" fmla="*/ 260 w 2462"/>
                <a:gd name="T3" fmla="*/ 2203 h 2463"/>
                <a:gd name="T4" fmla="*/ 2461 w 2462"/>
                <a:gd name="T5" fmla="*/ 0 h 2463"/>
                <a:gd name="T6" fmla="*/ 2462 w 2462"/>
                <a:gd name="T7" fmla="*/ 0 h 2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62" h="2463">
                  <a:moveTo>
                    <a:pt x="0" y="2463"/>
                  </a:moveTo>
                  <a:lnTo>
                    <a:pt x="260" y="2203"/>
                  </a:lnTo>
                  <a:lnTo>
                    <a:pt x="2461" y="0"/>
                  </a:lnTo>
                  <a:lnTo>
                    <a:pt x="246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50" name="Freeform 490"/>
            <p:cNvSpPr>
              <a:spLocks/>
            </p:cNvSpPr>
            <p:nvPr/>
          </p:nvSpPr>
          <p:spPr bwMode="auto">
            <a:xfrm>
              <a:off x="1547" y="3684"/>
              <a:ext cx="371" cy="371"/>
            </a:xfrm>
            <a:custGeom>
              <a:avLst/>
              <a:gdLst>
                <a:gd name="T0" fmla="*/ 0 w 2225"/>
                <a:gd name="T1" fmla="*/ 2224 h 2224"/>
                <a:gd name="T2" fmla="*/ 2224 w 2225"/>
                <a:gd name="T3" fmla="*/ 0 h 2224"/>
                <a:gd name="T4" fmla="*/ 2225 w 2225"/>
                <a:gd name="T5" fmla="*/ 0 h 2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25" h="2224">
                  <a:moveTo>
                    <a:pt x="0" y="2224"/>
                  </a:moveTo>
                  <a:lnTo>
                    <a:pt x="2224" y="0"/>
                  </a:lnTo>
                  <a:lnTo>
                    <a:pt x="222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51" name="Freeform 491"/>
            <p:cNvSpPr>
              <a:spLocks/>
            </p:cNvSpPr>
            <p:nvPr/>
          </p:nvSpPr>
          <p:spPr bwMode="auto">
            <a:xfrm>
              <a:off x="1602" y="3704"/>
              <a:ext cx="330" cy="331"/>
            </a:xfrm>
            <a:custGeom>
              <a:avLst/>
              <a:gdLst>
                <a:gd name="T0" fmla="*/ 0 w 1981"/>
                <a:gd name="T1" fmla="*/ 1982 h 1982"/>
                <a:gd name="T2" fmla="*/ 1980 w 1981"/>
                <a:gd name="T3" fmla="*/ 0 h 1982"/>
                <a:gd name="T4" fmla="*/ 1981 w 1981"/>
                <a:gd name="T5" fmla="*/ 0 h 1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1" h="1982">
                  <a:moveTo>
                    <a:pt x="0" y="1982"/>
                  </a:moveTo>
                  <a:lnTo>
                    <a:pt x="1980" y="0"/>
                  </a:lnTo>
                  <a:lnTo>
                    <a:pt x="198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52" name="Freeform 492"/>
            <p:cNvSpPr>
              <a:spLocks/>
            </p:cNvSpPr>
            <p:nvPr/>
          </p:nvSpPr>
          <p:spPr bwMode="auto">
            <a:xfrm>
              <a:off x="1656" y="3725"/>
              <a:ext cx="289" cy="289"/>
            </a:xfrm>
            <a:custGeom>
              <a:avLst/>
              <a:gdLst>
                <a:gd name="T0" fmla="*/ 0 w 1735"/>
                <a:gd name="T1" fmla="*/ 1736 h 1736"/>
                <a:gd name="T2" fmla="*/ 1734 w 1735"/>
                <a:gd name="T3" fmla="*/ 0 h 1736"/>
                <a:gd name="T4" fmla="*/ 1735 w 1735"/>
                <a:gd name="T5" fmla="*/ 0 h 1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5" h="1736">
                  <a:moveTo>
                    <a:pt x="0" y="1736"/>
                  </a:moveTo>
                  <a:lnTo>
                    <a:pt x="1734" y="0"/>
                  </a:lnTo>
                  <a:lnTo>
                    <a:pt x="173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53" name="Freeform 493"/>
            <p:cNvSpPr>
              <a:spLocks/>
            </p:cNvSpPr>
            <p:nvPr/>
          </p:nvSpPr>
          <p:spPr bwMode="auto">
            <a:xfrm>
              <a:off x="1710" y="3747"/>
              <a:ext cx="248" cy="247"/>
            </a:xfrm>
            <a:custGeom>
              <a:avLst/>
              <a:gdLst>
                <a:gd name="T0" fmla="*/ 0 w 1484"/>
                <a:gd name="T1" fmla="*/ 1484 h 1484"/>
                <a:gd name="T2" fmla="*/ 1483 w 1484"/>
                <a:gd name="T3" fmla="*/ 0 h 1484"/>
                <a:gd name="T4" fmla="*/ 1484 w 1484"/>
                <a:gd name="T5" fmla="*/ 0 h 1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4" h="1484">
                  <a:moveTo>
                    <a:pt x="0" y="1484"/>
                  </a:moveTo>
                  <a:lnTo>
                    <a:pt x="1483" y="0"/>
                  </a:lnTo>
                  <a:lnTo>
                    <a:pt x="148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54" name="Freeform 494"/>
            <p:cNvSpPr>
              <a:spLocks/>
            </p:cNvSpPr>
            <p:nvPr/>
          </p:nvSpPr>
          <p:spPr bwMode="auto">
            <a:xfrm>
              <a:off x="1764" y="3769"/>
              <a:ext cx="205" cy="204"/>
            </a:xfrm>
            <a:custGeom>
              <a:avLst/>
              <a:gdLst>
                <a:gd name="T0" fmla="*/ 0 w 1225"/>
                <a:gd name="T1" fmla="*/ 1226 h 1226"/>
                <a:gd name="T2" fmla="*/ 1224 w 1225"/>
                <a:gd name="T3" fmla="*/ 0 h 1226"/>
                <a:gd name="T4" fmla="*/ 1225 w 1225"/>
                <a:gd name="T5" fmla="*/ 0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25" h="1226">
                  <a:moveTo>
                    <a:pt x="0" y="1226"/>
                  </a:moveTo>
                  <a:lnTo>
                    <a:pt x="1224" y="0"/>
                  </a:lnTo>
                  <a:lnTo>
                    <a:pt x="122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55" name="Freeform 495"/>
            <p:cNvSpPr>
              <a:spLocks/>
            </p:cNvSpPr>
            <p:nvPr/>
          </p:nvSpPr>
          <p:spPr bwMode="auto">
            <a:xfrm>
              <a:off x="1819" y="3793"/>
              <a:ext cx="160" cy="160"/>
            </a:xfrm>
            <a:custGeom>
              <a:avLst/>
              <a:gdLst>
                <a:gd name="T0" fmla="*/ 0 w 962"/>
                <a:gd name="T1" fmla="*/ 962 h 962"/>
                <a:gd name="T2" fmla="*/ 961 w 962"/>
                <a:gd name="T3" fmla="*/ 0 h 962"/>
                <a:gd name="T4" fmla="*/ 962 w 962"/>
                <a:gd name="T5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2" h="962">
                  <a:moveTo>
                    <a:pt x="0" y="962"/>
                  </a:moveTo>
                  <a:lnTo>
                    <a:pt x="961" y="0"/>
                  </a:lnTo>
                  <a:lnTo>
                    <a:pt x="96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56" name="Freeform 496"/>
            <p:cNvSpPr>
              <a:spLocks/>
            </p:cNvSpPr>
            <p:nvPr/>
          </p:nvSpPr>
          <p:spPr bwMode="auto">
            <a:xfrm>
              <a:off x="1873" y="3817"/>
              <a:ext cx="116" cy="115"/>
            </a:xfrm>
            <a:custGeom>
              <a:avLst/>
              <a:gdLst>
                <a:gd name="T0" fmla="*/ 0 w 694"/>
                <a:gd name="T1" fmla="*/ 693 h 693"/>
                <a:gd name="T2" fmla="*/ 693 w 694"/>
                <a:gd name="T3" fmla="*/ 0 h 693"/>
                <a:gd name="T4" fmla="*/ 694 w 694"/>
                <a:gd name="T5" fmla="*/ 0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4" h="693">
                  <a:moveTo>
                    <a:pt x="0" y="693"/>
                  </a:moveTo>
                  <a:lnTo>
                    <a:pt x="693" y="0"/>
                  </a:lnTo>
                  <a:lnTo>
                    <a:pt x="69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57" name="Freeform 497"/>
            <p:cNvSpPr>
              <a:spLocks/>
            </p:cNvSpPr>
            <p:nvPr/>
          </p:nvSpPr>
          <p:spPr bwMode="auto">
            <a:xfrm>
              <a:off x="1927" y="3842"/>
              <a:ext cx="71" cy="70"/>
            </a:xfrm>
            <a:custGeom>
              <a:avLst/>
              <a:gdLst>
                <a:gd name="T0" fmla="*/ 0 w 422"/>
                <a:gd name="T1" fmla="*/ 420 h 420"/>
                <a:gd name="T2" fmla="*/ 421 w 422"/>
                <a:gd name="T3" fmla="*/ 0 h 420"/>
                <a:gd name="T4" fmla="*/ 422 w 422"/>
                <a:gd name="T5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2" h="420">
                  <a:moveTo>
                    <a:pt x="0" y="420"/>
                  </a:moveTo>
                  <a:lnTo>
                    <a:pt x="421" y="0"/>
                  </a:lnTo>
                  <a:lnTo>
                    <a:pt x="42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58" name="Freeform 498"/>
            <p:cNvSpPr>
              <a:spLocks/>
            </p:cNvSpPr>
            <p:nvPr/>
          </p:nvSpPr>
          <p:spPr bwMode="auto">
            <a:xfrm>
              <a:off x="1982" y="3867"/>
              <a:ext cx="24" cy="24"/>
            </a:xfrm>
            <a:custGeom>
              <a:avLst/>
              <a:gdLst>
                <a:gd name="T0" fmla="*/ 0 w 148"/>
                <a:gd name="T1" fmla="*/ 146 h 146"/>
                <a:gd name="T2" fmla="*/ 147 w 148"/>
                <a:gd name="T3" fmla="*/ 0 h 146"/>
                <a:gd name="T4" fmla="*/ 148 w 148"/>
                <a:gd name="T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" h="146">
                  <a:moveTo>
                    <a:pt x="0" y="146"/>
                  </a:moveTo>
                  <a:lnTo>
                    <a:pt x="147" y="0"/>
                  </a:lnTo>
                  <a:lnTo>
                    <a:pt x="14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59" name="Freeform 499"/>
            <p:cNvSpPr>
              <a:spLocks/>
            </p:cNvSpPr>
            <p:nvPr/>
          </p:nvSpPr>
          <p:spPr bwMode="auto">
            <a:xfrm>
              <a:off x="1202" y="3408"/>
              <a:ext cx="112" cy="112"/>
            </a:xfrm>
            <a:custGeom>
              <a:avLst/>
              <a:gdLst>
                <a:gd name="T0" fmla="*/ 0 w 671"/>
                <a:gd name="T1" fmla="*/ 671 h 671"/>
                <a:gd name="T2" fmla="*/ 670 w 671"/>
                <a:gd name="T3" fmla="*/ 0 h 671"/>
                <a:gd name="T4" fmla="*/ 671 w 671"/>
                <a:gd name="T5" fmla="*/ 0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1" h="671">
                  <a:moveTo>
                    <a:pt x="0" y="671"/>
                  </a:moveTo>
                  <a:lnTo>
                    <a:pt x="670" y="0"/>
                  </a:lnTo>
                  <a:lnTo>
                    <a:pt x="67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60" name="Freeform 500"/>
            <p:cNvSpPr>
              <a:spLocks/>
            </p:cNvSpPr>
            <p:nvPr/>
          </p:nvSpPr>
          <p:spPr bwMode="auto">
            <a:xfrm>
              <a:off x="1313" y="3402"/>
              <a:ext cx="7" cy="6"/>
            </a:xfrm>
            <a:custGeom>
              <a:avLst/>
              <a:gdLst>
                <a:gd name="T0" fmla="*/ 0 w 36"/>
                <a:gd name="T1" fmla="*/ 34 h 34"/>
                <a:gd name="T2" fmla="*/ 35 w 36"/>
                <a:gd name="T3" fmla="*/ 0 h 34"/>
                <a:gd name="T4" fmla="*/ 36 w 36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34">
                  <a:moveTo>
                    <a:pt x="0" y="34"/>
                  </a:moveTo>
                  <a:lnTo>
                    <a:pt x="35" y="0"/>
                  </a:lnTo>
                  <a:lnTo>
                    <a:pt x="3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61" name="Freeform 501"/>
            <p:cNvSpPr>
              <a:spLocks/>
            </p:cNvSpPr>
            <p:nvPr/>
          </p:nvSpPr>
          <p:spPr bwMode="auto">
            <a:xfrm>
              <a:off x="1119" y="3433"/>
              <a:ext cx="204" cy="204"/>
            </a:xfrm>
            <a:custGeom>
              <a:avLst/>
              <a:gdLst>
                <a:gd name="T0" fmla="*/ 0 w 1223"/>
                <a:gd name="T1" fmla="*/ 1222 h 1222"/>
                <a:gd name="T2" fmla="*/ 1222 w 1223"/>
                <a:gd name="T3" fmla="*/ 0 h 1222"/>
                <a:gd name="T4" fmla="*/ 1223 w 1223"/>
                <a:gd name="T5" fmla="*/ 0 h 1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23" h="1222">
                  <a:moveTo>
                    <a:pt x="0" y="1222"/>
                  </a:moveTo>
                  <a:lnTo>
                    <a:pt x="1222" y="0"/>
                  </a:lnTo>
                  <a:lnTo>
                    <a:pt x="122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62" name="Freeform 502"/>
            <p:cNvSpPr>
              <a:spLocks/>
            </p:cNvSpPr>
            <p:nvPr/>
          </p:nvSpPr>
          <p:spPr bwMode="auto">
            <a:xfrm>
              <a:off x="1322" y="3406"/>
              <a:ext cx="28" cy="27"/>
            </a:xfrm>
            <a:custGeom>
              <a:avLst/>
              <a:gdLst>
                <a:gd name="T0" fmla="*/ 0 w 165"/>
                <a:gd name="T1" fmla="*/ 165 h 165"/>
                <a:gd name="T2" fmla="*/ 164 w 165"/>
                <a:gd name="T3" fmla="*/ 0 h 165"/>
                <a:gd name="T4" fmla="*/ 165 w 165"/>
                <a:gd name="T5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5" h="165">
                  <a:moveTo>
                    <a:pt x="0" y="165"/>
                  </a:moveTo>
                  <a:lnTo>
                    <a:pt x="164" y="0"/>
                  </a:lnTo>
                  <a:lnTo>
                    <a:pt x="16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63" name="Freeform 503"/>
            <p:cNvSpPr>
              <a:spLocks/>
            </p:cNvSpPr>
            <p:nvPr/>
          </p:nvSpPr>
          <p:spPr bwMode="auto">
            <a:xfrm>
              <a:off x="1076" y="3458"/>
              <a:ext cx="255" cy="256"/>
            </a:xfrm>
            <a:custGeom>
              <a:avLst/>
              <a:gdLst>
                <a:gd name="T0" fmla="*/ 0 w 1536"/>
                <a:gd name="T1" fmla="*/ 1536 h 1536"/>
                <a:gd name="T2" fmla="*/ 1535 w 1536"/>
                <a:gd name="T3" fmla="*/ 0 h 1536"/>
                <a:gd name="T4" fmla="*/ 1536 w 1536"/>
                <a:gd name="T5" fmla="*/ 0 h 1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6" h="1536">
                  <a:moveTo>
                    <a:pt x="0" y="1536"/>
                  </a:moveTo>
                  <a:lnTo>
                    <a:pt x="1535" y="0"/>
                  </a:lnTo>
                  <a:lnTo>
                    <a:pt x="153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64" name="Freeform 504"/>
            <p:cNvSpPr>
              <a:spLocks/>
            </p:cNvSpPr>
            <p:nvPr/>
          </p:nvSpPr>
          <p:spPr bwMode="auto">
            <a:xfrm>
              <a:off x="1331" y="3409"/>
              <a:ext cx="49" cy="49"/>
            </a:xfrm>
            <a:custGeom>
              <a:avLst/>
              <a:gdLst>
                <a:gd name="T0" fmla="*/ 0 w 293"/>
                <a:gd name="T1" fmla="*/ 292 h 292"/>
                <a:gd name="T2" fmla="*/ 292 w 293"/>
                <a:gd name="T3" fmla="*/ 0 h 292"/>
                <a:gd name="T4" fmla="*/ 293 w 293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3" h="292">
                  <a:moveTo>
                    <a:pt x="0" y="292"/>
                  </a:moveTo>
                  <a:lnTo>
                    <a:pt x="292" y="0"/>
                  </a:lnTo>
                  <a:lnTo>
                    <a:pt x="29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65" name="Freeform 505"/>
            <p:cNvSpPr>
              <a:spLocks/>
            </p:cNvSpPr>
            <p:nvPr/>
          </p:nvSpPr>
          <p:spPr bwMode="auto">
            <a:xfrm>
              <a:off x="1051" y="3483"/>
              <a:ext cx="289" cy="289"/>
            </a:xfrm>
            <a:custGeom>
              <a:avLst/>
              <a:gdLst>
                <a:gd name="T0" fmla="*/ 0 w 1735"/>
                <a:gd name="T1" fmla="*/ 1737 h 1737"/>
                <a:gd name="T2" fmla="*/ 1734 w 1735"/>
                <a:gd name="T3" fmla="*/ 0 h 1737"/>
                <a:gd name="T4" fmla="*/ 1735 w 1735"/>
                <a:gd name="T5" fmla="*/ 0 h 1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5" h="1737">
                  <a:moveTo>
                    <a:pt x="0" y="1737"/>
                  </a:moveTo>
                  <a:lnTo>
                    <a:pt x="1734" y="0"/>
                  </a:lnTo>
                  <a:lnTo>
                    <a:pt x="173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66" name="Freeform 506"/>
            <p:cNvSpPr>
              <a:spLocks/>
            </p:cNvSpPr>
            <p:nvPr/>
          </p:nvSpPr>
          <p:spPr bwMode="auto">
            <a:xfrm>
              <a:off x="1340" y="3413"/>
              <a:ext cx="70" cy="70"/>
            </a:xfrm>
            <a:custGeom>
              <a:avLst/>
              <a:gdLst>
                <a:gd name="T0" fmla="*/ 0 w 419"/>
                <a:gd name="T1" fmla="*/ 417 h 417"/>
                <a:gd name="T2" fmla="*/ 418 w 419"/>
                <a:gd name="T3" fmla="*/ 0 h 417"/>
                <a:gd name="T4" fmla="*/ 419 w 419"/>
                <a:gd name="T5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9" h="417">
                  <a:moveTo>
                    <a:pt x="0" y="417"/>
                  </a:moveTo>
                  <a:lnTo>
                    <a:pt x="418" y="0"/>
                  </a:lnTo>
                  <a:lnTo>
                    <a:pt x="41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67" name="Freeform 507"/>
            <p:cNvSpPr>
              <a:spLocks/>
            </p:cNvSpPr>
            <p:nvPr/>
          </p:nvSpPr>
          <p:spPr bwMode="auto">
            <a:xfrm>
              <a:off x="1037" y="3508"/>
              <a:ext cx="312" cy="312"/>
            </a:xfrm>
            <a:custGeom>
              <a:avLst/>
              <a:gdLst>
                <a:gd name="T0" fmla="*/ 0 w 1872"/>
                <a:gd name="T1" fmla="*/ 1872 h 1872"/>
                <a:gd name="T2" fmla="*/ 1871 w 1872"/>
                <a:gd name="T3" fmla="*/ 0 h 1872"/>
                <a:gd name="T4" fmla="*/ 1872 w 1872"/>
                <a:gd name="T5" fmla="*/ 0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72" h="1872">
                  <a:moveTo>
                    <a:pt x="0" y="1872"/>
                  </a:moveTo>
                  <a:lnTo>
                    <a:pt x="1871" y="0"/>
                  </a:lnTo>
                  <a:lnTo>
                    <a:pt x="187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68" name="Freeform 508"/>
            <p:cNvSpPr>
              <a:spLocks/>
            </p:cNvSpPr>
            <p:nvPr/>
          </p:nvSpPr>
          <p:spPr bwMode="auto">
            <a:xfrm>
              <a:off x="1349" y="3418"/>
              <a:ext cx="90" cy="90"/>
            </a:xfrm>
            <a:custGeom>
              <a:avLst/>
              <a:gdLst>
                <a:gd name="T0" fmla="*/ 0 w 541"/>
                <a:gd name="T1" fmla="*/ 541 h 541"/>
                <a:gd name="T2" fmla="*/ 540 w 541"/>
                <a:gd name="T3" fmla="*/ 0 h 541"/>
                <a:gd name="T4" fmla="*/ 541 w 541"/>
                <a:gd name="T5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1" h="541">
                  <a:moveTo>
                    <a:pt x="0" y="541"/>
                  </a:moveTo>
                  <a:lnTo>
                    <a:pt x="540" y="0"/>
                  </a:lnTo>
                  <a:lnTo>
                    <a:pt x="54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69" name="Freeform 509"/>
            <p:cNvSpPr>
              <a:spLocks/>
            </p:cNvSpPr>
            <p:nvPr/>
          </p:nvSpPr>
          <p:spPr bwMode="auto">
            <a:xfrm>
              <a:off x="1029" y="3533"/>
              <a:ext cx="329" cy="329"/>
            </a:xfrm>
            <a:custGeom>
              <a:avLst/>
              <a:gdLst>
                <a:gd name="T0" fmla="*/ 0 w 1976"/>
                <a:gd name="T1" fmla="*/ 1978 h 1978"/>
                <a:gd name="T2" fmla="*/ 1975 w 1976"/>
                <a:gd name="T3" fmla="*/ 0 h 1978"/>
                <a:gd name="T4" fmla="*/ 1976 w 1976"/>
                <a:gd name="T5" fmla="*/ 0 h 1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6" h="1978">
                  <a:moveTo>
                    <a:pt x="0" y="1978"/>
                  </a:moveTo>
                  <a:lnTo>
                    <a:pt x="1975" y="0"/>
                  </a:lnTo>
                  <a:lnTo>
                    <a:pt x="197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0" name="Freeform 510"/>
            <p:cNvSpPr>
              <a:spLocks/>
            </p:cNvSpPr>
            <p:nvPr/>
          </p:nvSpPr>
          <p:spPr bwMode="auto">
            <a:xfrm>
              <a:off x="1358" y="3423"/>
              <a:ext cx="110" cy="110"/>
            </a:xfrm>
            <a:custGeom>
              <a:avLst/>
              <a:gdLst>
                <a:gd name="T0" fmla="*/ 0 w 659"/>
                <a:gd name="T1" fmla="*/ 658 h 658"/>
                <a:gd name="T2" fmla="*/ 658 w 659"/>
                <a:gd name="T3" fmla="*/ 0 h 658"/>
                <a:gd name="T4" fmla="*/ 659 w 659"/>
                <a:gd name="T5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9" h="658">
                  <a:moveTo>
                    <a:pt x="0" y="658"/>
                  </a:moveTo>
                  <a:lnTo>
                    <a:pt x="658" y="0"/>
                  </a:lnTo>
                  <a:lnTo>
                    <a:pt x="65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1" name="Freeform 511"/>
            <p:cNvSpPr>
              <a:spLocks/>
            </p:cNvSpPr>
            <p:nvPr/>
          </p:nvSpPr>
          <p:spPr bwMode="auto">
            <a:xfrm>
              <a:off x="1024" y="3558"/>
              <a:ext cx="343" cy="343"/>
            </a:xfrm>
            <a:custGeom>
              <a:avLst/>
              <a:gdLst>
                <a:gd name="T0" fmla="*/ 0 w 2061"/>
                <a:gd name="T1" fmla="*/ 2061 h 2061"/>
                <a:gd name="T2" fmla="*/ 2060 w 2061"/>
                <a:gd name="T3" fmla="*/ 0 h 2061"/>
                <a:gd name="T4" fmla="*/ 2061 w 2061"/>
                <a:gd name="T5" fmla="*/ 0 h 20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61" h="2061">
                  <a:moveTo>
                    <a:pt x="0" y="2061"/>
                  </a:moveTo>
                  <a:lnTo>
                    <a:pt x="2060" y="0"/>
                  </a:lnTo>
                  <a:lnTo>
                    <a:pt x="206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2" name="Freeform 512"/>
            <p:cNvSpPr>
              <a:spLocks/>
            </p:cNvSpPr>
            <p:nvPr/>
          </p:nvSpPr>
          <p:spPr bwMode="auto">
            <a:xfrm>
              <a:off x="1367" y="3429"/>
              <a:ext cx="129" cy="129"/>
            </a:xfrm>
            <a:custGeom>
              <a:avLst/>
              <a:gdLst>
                <a:gd name="T0" fmla="*/ 0 w 772"/>
                <a:gd name="T1" fmla="*/ 772 h 772"/>
                <a:gd name="T2" fmla="*/ 771 w 772"/>
                <a:gd name="T3" fmla="*/ 0 h 772"/>
                <a:gd name="T4" fmla="*/ 772 w 772"/>
                <a:gd name="T5" fmla="*/ 0 h 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2" h="772">
                  <a:moveTo>
                    <a:pt x="0" y="772"/>
                  </a:moveTo>
                  <a:lnTo>
                    <a:pt x="771" y="0"/>
                  </a:lnTo>
                  <a:lnTo>
                    <a:pt x="77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3" name="Freeform 513"/>
            <p:cNvSpPr>
              <a:spLocks/>
            </p:cNvSpPr>
            <p:nvPr/>
          </p:nvSpPr>
          <p:spPr bwMode="auto">
            <a:xfrm>
              <a:off x="1021" y="3583"/>
              <a:ext cx="355" cy="355"/>
            </a:xfrm>
            <a:custGeom>
              <a:avLst/>
              <a:gdLst>
                <a:gd name="T0" fmla="*/ 0 w 2131"/>
                <a:gd name="T1" fmla="*/ 2133 h 2133"/>
                <a:gd name="T2" fmla="*/ 2130 w 2131"/>
                <a:gd name="T3" fmla="*/ 0 h 2133"/>
                <a:gd name="T4" fmla="*/ 2131 w 2131"/>
                <a:gd name="T5" fmla="*/ 0 h 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1" h="2133">
                  <a:moveTo>
                    <a:pt x="0" y="2133"/>
                  </a:moveTo>
                  <a:lnTo>
                    <a:pt x="2130" y="0"/>
                  </a:lnTo>
                  <a:lnTo>
                    <a:pt x="213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4" name="Freeform 514"/>
            <p:cNvSpPr>
              <a:spLocks/>
            </p:cNvSpPr>
            <p:nvPr/>
          </p:nvSpPr>
          <p:spPr bwMode="auto">
            <a:xfrm>
              <a:off x="1376" y="3436"/>
              <a:ext cx="147" cy="147"/>
            </a:xfrm>
            <a:custGeom>
              <a:avLst/>
              <a:gdLst>
                <a:gd name="T0" fmla="*/ 0 w 882"/>
                <a:gd name="T1" fmla="*/ 882 h 882"/>
                <a:gd name="T2" fmla="*/ 881 w 882"/>
                <a:gd name="T3" fmla="*/ 0 h 882"/>
                <a:gd name="T4" fmla="*/ 882 w 882"/>
                <a:gd name="T5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2" h="882">
                  <a:moveTo>
                    <a:pt x="0" y="882"/>
                  </a:moveTo>
                  <a:lnTo>
                    <a:pt x="881" y="0"/>
                  </a:lnTo>
                  <a:lnTo>
                    <a:pt x="88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5" name="Freeform 515"/>
            <p:cNvSpPr>
              <a:spLocks/>
            </p:cNvSpPr>
            <p:nvPr/>
          </p:nvSpPr>
          <p:spPr bwMode="auto">
            <a:xfrm>
              <a:off x="1020" y="3608"/>
              <a:ext cx="365" cy="365"/>
            </a:xfrm>
            <a:custGeom>
              <a:avLst/>
              <a:gdLst>
                <a:gd name="T0" fmla="*/ 0 w 2191"/>
                <a:gd name="T1" fmla="*/ 2190 h 2190"/>
                <a:gd name="T2" fmla="*/ 2189 w 2191"/>
                <a:gd name="T3" fmla="*/ 0 h 2190"/>
                <a:gd name="T4" fmla="*/ 2191 w 2191"/>
                <a:gd name="T5" fmla="*/ 0 h 2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91" h="2190">
                  <a:moveTo>
                    <a:pt x="0" y="2190"/>
                  </a:moveTo>
                  <a:lnTo>
                    <a:pt x="2189" y="0"/>
                  </a:lnTo>
                  <a:lnTo>
                    <a:pt x="219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6" name="Freeform 516"/>
            <p:cNvSpPr>
              <a:spLocks/>
            </p:cNvSpPr>
            <p:nvPr/>
          </p:nvSpPr>
          <p:spPr bwMode="auto">
            <a:xfrm>
              <a:off x="1385" y="3443"/>
              <a:ext cx="165" cy="165"/>
            </a:xfrm>
            <a:custGeom>
              <a:avLst/>
              <a:gdLst>
                <a:gd name="T0" fmla="*/ 0 w 990"/>
                <a:gd name="T1" fmla="*/ 990 h 990"/>
                <a:gd name="T2" fmla="*/ 989 w 990"/>
                <a:gd name="T3" fmla="*/ 0 h 990"/>
                <a:gd name="T4" fmla="*/ 990 w 990"/>
                <a:gd name="T5" fmla="*/ 0 h 9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0" h="990">
                  <a:moveTo>
                    <a:pt x="0" y="990"/>
                  </a:moveTo>
                  <a:lnTo>
                    <a:pt x="989" y="0"/>
                  </a:lnTo>
                  <a:lnTo>
                    <a:pt x="99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7" name="Freeform 517"/>
            <p:cNvSpPr>
              <a:spLocks/>
            </p:cNvSpPr>
            <p:nvPr/>
          </p:nvSpPr>
          <p:spPr bwMode="auto">
            <a:xfrm>
              <a:off x="1021" y="3633"/>
              <a:ext cx="373" cy="373"/>
            </a:xfrm>
            <a:custGeom>
              <a:avLst/>
              <a:gdLst>
                <a:gd name="T0" fmla="*/ 0 w 2238"/>
                <a:gd name="T1" fmla="*/ 2240 h 2240"/>
                <a:gd name="T2" fmla="*/ 2237 w 2238"/>
                <a:gd name="T3" fmla="*/ 0 h 2240"/>
                <a:gd name="T4" fmla="*/ 2238 w 2238"/>
                <a:gd name="T5" fmla="*/ 0 h 2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8" h="2240">
                  <a:moveTo>
                    <a:pt x="0" y="2240"/>
                  </a:moveTo>
                  <a:lnTo>
                    <a:pt x="2237" y="0"/>
                  </a:lnTo>
                  <a:lnTo>
                    <a:pt x="223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8" name="Freeform 518"/>
            <p:cNvSpPr>
              <a:spLocks/>
            </p:cNvSpPr>
            <p:nvPr/>
          </p:nvSpPr>
          <p:spPr bwMode="auto">
            <a:xfrm>
              <a:off x="1394" y="3451"/>
              <a:ext cx="182" cy="182"/>
            </a:xfrm>
            <a:custGeom>
              <a:avLst/>
              <a:gdLst>
                <a:gd name="T0" fmla="*/ 0 w 1093"/>
                <a:gd name="T1" fmla="*/ 1092 h 1092"/>
                <a:gd name="T2" fmla="*/ 1092 w 1093"/>
                <a:gd name="T3" fmla="*/ 0 h 1092"/>
                <a:gd name="T4" fmla="*/ 1093 w 1093"/>
                <a:gd name="T5" fmla="*/ 0 h 1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93" h="1092">
                  <a:moveTo>
                    <a:pt x="0" y="1092"/>
                  </a:moveTo>
                  <a:lnTo>
                    <a:pt x="1092" y="0"/>
                  </a:lnTo>
                  <a:lnTo>
                    <a:pt x="109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9" name="Freeform 519"/>
            <p:cNvSpPr>
              <a:spLocks/>
            </p:cNvSpPr>
            <p:nvPr/>
          </p:nvSpPr>
          <p:spPr bwMode="auto">
            <a:xfrm>
              <a:off x="1023" y="3658"/>
              <a:ext cx="380" cy="379"/>
            </a:xfrm>
            <a:custGeom>
              <a:avLst/>
              <a:gdLst>
                <a:gd name="T0" fmla="*/ 0 w 2276"/>
                <a:gd name="T1" fmla="*/ 2278 h 2278"/>
                <a:gd name="T2" fmla="*/ 2275 w 2276"/>
                <a:gd name="T3" fmla="*/ 0 h 2278"/>
                <a:gd name="T4" fmla="*/ 2276 w 2276"/>
                <a:gd name="T5" fmla="*/ 0 h 2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6" h="2278">
                  <a:moveTo>
                    <a:pt x="0" y="2278"/>
                  </a:moveTo>
                  <a:lnTo>
                    <a:pt x="2275" y="0"/>
                  </a:lnTo>
                  <a:lnTo>
                    <a:pt x="227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80" name="Freeform 520"/>
            <p:cNvSpPr>
              <a:spLocks/>
            </p:cNvSpPr>
            <p:nvPr/>
          </p:nvSpPr>
          <p:spPr bwMode="auto">
            <a:xfrm>
              <a:off x="1403" y="3459"/>
              <a:ext cx="198" cy="199"/>
            </a:xfrm>
            <a:custGeom>
              <a:avLst/>
              <a:gdLst>
                <a:gd name="T0" fmla="*/ 0 w 1193"/>
                <a:gd name="T1" fmla="*/ 1192 h 1192"/>
                <a:gd name="T2" fmla="*/ 1191 w 1193"/>
                <a:gd name="T3" fmla="*/ 0 h 1192"/>
                <a:gd name="T4" fmla="*/ 1193 w 1193"/>
                <a:gd name="T5" fmla="*/ 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3" h="1192">
                  <a:moveTo>
                    <a:pt x="0" y="1192"/>
                  </a:moveTo>
                  <a:lnTo>
                    <a:pt x="1191" y="0"/>
                  </a:lnTo>
                  <a:lnTo>
                    <a:pt x="119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81" name="Freeform 521"/>
            <p:cNvSpPr>
              <a:spLocks/>
            </p:cNvSpPr>
            <p:nvPr/>
          </p:nvSpPr>
          <p:spPr bwMode="auto">
            <a:xfrm>
              <a:off x="1027" y="3683"/>
              <a:ext cx="385" cy="384"/>
            </a:xfrm>
            <a:custGeom>
              <a:avLst/>
              <a:gdLst>
                <a:gd name="T0" fmla="*/ 0 w 2306"/>
                <a:gd name="T1" fmla="*/ 2307 h 2307"/>
                <a:gd name="T2" fmla="*/ 2305 w 2306"/>
                <a:gd name="T3" fmla="*/ 0 h 2307"/>
                <a:gd name="T4" fmla="*/ 2306 w 2306"/>
                <a:gd name="T5" fmla="*/ 0 h 2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06" h="2307">
                  <a:moveTo>
                    <a:pt x="0" y="2307"/>
                  </a:moveTo>
                  <a:lnTo>
                    <a:pt x="2305" y="0"/>
                  </a:lnTo>
                  <a:lnTo>
                    <a:pt x="230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82" name="Freeform 522"/>
            <p:cNvSpPr>
              <a:spLocks/>
            </p:cNvSpPr>
            <p:nvPr/>
          </p:nvSpPr>
          <p:spPr bwMode="auto">
            <a:xfrm>
              <a:off x="1411" y="3468"/>
              <a:ext cx="215" cy="215"/>
            </a:xfrm>
            <a:custGeom>
              <a:avLst/>
              <a:gdLst>
                <a:gd name="T0" fmla="*/ 0 w 1289"/>
                <a:gd name="T1" fmla="*/ 1290 h 1290"/>
                <a:gd name="T2" fmla="*/ 1288 w 1289"/>
                <a:gd name="T3" fmla="*/ 0 h 1290"/>
                <a:gd name="T4" fmla="*/ 1289 w 1289"/>
                <a:gd name="T5" fmla="*/ 0 h 1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89" h="1290">
                  <a:moveTo>
                    <a:pt x="0" y="1290"/>
                  </a:moveTo>
                  <a:lnTo>
                    <a:pt x="1288" y="0"/>
                  </a:lnTo>
                  <a:lnTo>
                    <a:pt x="128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83" name="Freeform 523"/>
            <p:cNvSpPr>
              <a:spLocks/>
            </p:cNvSpPr>
            <p:nvPr/>
          </p:nvSpPr>
          <p:spPr bwMode="auto">
            <a:xfrm>
              <a:off x="1033" y="3708"/>
              <a:ext cx="388" cy="388"/>
            </a:xfrm>
            <a:custGeom>
              <a:avLst/>
              <a:gdLst>
                <a:gd name="T0" fmla="*/ 0 w 2326"/>
                <a:gd name="T1" fmla="*/ 2327 h 2327"/>
                <a:gd name="T2" fmla="*/ 2325 w 2326"/>
                <a:gd name="T3" fmla="*/ 0 h 2327"/>
                <a:gd name="T4" fmla="*/ 2326 w 2326"/>
                <a:gd name="T5" fmla="*/ 0 h 2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6" h="2327">
                  <a:moveTo>
                    <a:pt x="0" y="2327"/>
                  </a:moveTo>
                  <a:lnTo>
                    <a:pt x="2325" y="0"/>
                  </a:lnTo>
                  <a:lnTo>
                    <a:pt x="232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84" name="Freeform 524"/>
            <p:cNvSpPr>
              <a:spLocks/>
            </p:cNvSpPr>
            <p:nvPr/>
          </p:nvSpPr>
          <p:spPr bwMode="auto">
            <a:xfrm>
              <a:off x="1420" y="3477"/>
              <a:ext cx="231" cy="231"/>
            </a:xfrm>
            <a:custGeom>
              <a:avLst/>
              <a:gdLst>
                <a:gd name="T0" fmla="*/ 0 w 1383"/>
                <a:gd name="T1" fmla="*/ 1384 h 1384"/>
                <a:gd name="T2" fmla="*/ 1382 w 1383"/>
                <a:gd name="T3" fmla="*/ 0 h 1384"/>
                <a:gd name="T4" fmla="*/ 1383 w 1383"/>
                <a:gd name="T5" fmla="*/ 0 h 1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83" h="1384">
                  <a:moveTo>
                    <a:pt x="0" y="1384"/>
                  </a:moveTo>
                  <a:lnTo>
                    <a:pt x="1382" y="0"/>
                  </a:lnTo>
                  <a:lnTo>
                    <a:pt x="138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85" name="Freeform 525"/>
            <p:cNvSpPr>
              <a:spLocks/>
            </p:cNvSpPr>
            <p:nvPr/>
          </p:nvSpPr>
          <p:spPr bwMode="auto">
            <a:xfrm>
              <a:off x="1040" y="3733"/>
              <a:ext cx="389" cy="389"/>
            </a:xfrm>
            <a:custGeom>
              <a:avLst/>
              <a:gdLst>
                <a:gd name="T0" fmla="*/ 0 w 2336"/>
                <a:gd name="T1" fmla="*/ 2337 h 2337"/>
                <a:gd name="T2" fmla="*/ 2335 w 2336"/>
                <a:gd name="T3" fmla="*/ 0 h 2337"/>
                <a:gd name="T4" fmla="*/ 2336 w 2336"/>
                <a:gd name="T5" fmla="*/ 0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36" h="2337">
                  <a:moveTo>
                    <a:pt x="0" y="2337"/>
                  </a:moveTo>
                  <a:lnTo>
                    <a:pt x="2335" y="0"/>
                  </a:lnTo>
                  <a:lnTo>
                    <a:pt x="233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86" name="Freeform 526"/>
            <p:cNvSpPr>
              <a:spLocks/>
            </p:cNvSpPr>
            <p:nvPr/>
          </p:nvSpPr>
          <p:spPr bwMode="auto">
            <a:xfrm>
              <a:off x="1429" y="3487"/>
              <a:ext cx="246" cy="246"/>
            </a:xfrm>
            <a:custGeom>
              <a:avLst/>
              <a:gdLst>
                <a:gd name="T0" fmla="*/ 0 w 1474"/>
                <a:gd name="T1" fmla="*/ 1475 h 1475"/>
                <a:gd name="T2" fmla="*/ 1473 w 1474"/>
                <a:gd name="T3" fmla="*/ 0 h 1475"/>
                <a:gd name="T4" fmla="*/ 1474 w 1474"/>
                <a:gd name="T5" fmla="*/ 0 h 1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4" h="1475">
                  <a:moveTo>
                    <a:pt x="0" y="1475"/>
                  </a:moveTo>
                  <a:lnTo>
                    <a:pt x="1473" y="0"/>
                  </a:lnTo>
                  <a:lnTo>
                    <a:pt x="147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87" name="Freeform 527"/>
            <p:cNvSpPr>
              <a:spLocks/>
            </p:cNvSpPr>
            <p:nvPr/>
          </p:nvSpPr>
          <p:spPr bwMode="auto">
            <a:xfrm>
              <a:off x="1048" y="3758"/>
              <a:ext cx="390" cy="390"/>
            </a:xfrm>
            <a:custGeom>
              <a:avLst/>
              <a:gdLst>
                <a:gd name="T0" fmla="*/ 0 w 2342"/>
                <a:gd name="T1" fmla="*/ 2342 h 2342"/>
                <a:gd name="T2" fmla="*/ 2341 w 2342"/>
                <a:gd name="T3" fmla="*/ 0 h 2342"/>
                <a:gd name="T4" fmla="*/ 2342 w 2342"/>
                <a:gd name="T5" fmla="*/ 0 h 2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2" h="2342">
                  <a:moveTo>
                    <a:pt x="0" y="2342"/>
                  </a:moveTo>
                  <a:lnTo>
                    <a:pt x="2341" y="0"/>
                  </a:lnTo>
                  <a:lnTo>
                    <a:pt x="234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88" name="Freeform 528"/>
            <p:cNvSpPr>
              <a:spLocks/>
            </p:cNvSpPr>
            <p:nvPr/>
          </p:nvSpPr>
          <p:spPr bwMode="auto">
            <a:xfrm>
              <a:off x="1438" y="3497"/>
              <a:ext cx="261" cy="261"/>
            </a:xfrm>
            <a:custGeom>
              <a:avLst/>
              <a:gdLst>
                <a:gd name="T0" fmla="*/ 0 w 1562"/>
                <a:gd name="T1" fmla="*/ 1562 h 1562"/>
                <a:gd name="T2" fmla="*/ 1561 w 1562"/>
                <a:gd name="T3" fmla="*/ 0 h 1562"/>
                <a:gd name="T4" fmla="*/ 1562 w 1562"/>
                <a:gd name="T5" fmla="*/ 0 h 1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2" h="1562">
                  <a:moveTo>
                    <a:pt x="0" y="1562"/>
                  </a:moveTo>
                  <a:lnTo>
                    <a:pt x="1561" y="0"/>
                  </a:lnTo>
                  <a:lnTo>
                    <a:pt x="156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89" name="Freeform 529"/>
            <p:cNvSpPr>
              <a:spLocks/>
            </p:cNvSpPr>
            <p:nvPr/>
          </p:nvSpPr>
          <p:spPr bwMode="auto">
            <a:xfrm>
              <a:off x="1057" y="3783"/>
              <a:ext cx="390" cy="390"/>
            </a:xfrm>
            <a:custGeom>
              <a:avLst/>
              <a:gdLst>
                <a:gd name="T0" fmla="*/ 0 w 2342"/>
                <a:gd name="T1" fmla="*/ 2344 h 2344"/>
                <a:gd name="T2" fmla="*/ 2341 w 2342"/>
                <a:gd name="T3" fmla="*/ 0 h 2344"/>
                <a:gd name="T4" fmla="*/ 2342 w 2342"/>
                <a:gd name="T5" fmla="*/ 0 h 2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2" h="2344">
                  <a:moveTo>
                    <a:pt x="0" y="2344"/>
                  </a:moveTo>
                  <a:lnTo>
                    <a:pt x="2341" y="0"/>
                  </a:lnTo>
                  <a:lnTo>
                    <a:pt x="234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90" name="Freeform 530"/>
            <p:cNvSpPr>
              <a:spLocks/>
            </p:cNvSpPr>
            <p:nvPr/>
          </p:nvSpPr>
          <p:spPr bwMode="auto">
            <a:xfrm>
              <a:off x="1447" y="3509"/>
              <a:ext cx="274" cy="274"/>
            </a:xfrm>
            <a:custGeom>
              <a:avLst/>
              <a:gdLst>
                <a:gd name="T0" fmla="*/ 0 w 1644"/>
                <a:gd name="T1" fmla="*/ 1644 h 1644"/>
                <a:gd name="T2" fmla="*/ 1643 w 1644"/>
                <a:gd name="T3" fmla="*/ 0 h 1644"/>
                <a:gd name="T4" fmla="*/ 1644 w 1644"/>
                <a:gd name="T5" fmla="*/ 0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4" h="1644">
                  <a:moveTo>
                    <a:pt x="0" y="1644"/>
                  </a:moveTo>
                  <a:lnTo>
                    <a:pt x="1643" y="0"/>
                  </a:lnTo>
                  <a:lnTo>
                    <a:pt x="164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91" name="Freeform 531"/>
            <p:cNvSpPr>
              <a:spLocks/>
            </p:cNvSpPr>
            <p:nvPr/>
          </p:nvSpPr>
          <p:spPr bwMode="auto">
            <a:xfrm>
              <a:off x="1066" y="3808"/>
              <a:ext cx="390" cy="390"/>
            </a:xfrm>
            <a:custGeom>
              <a:avLst/>
              <a:gdLst>
                <a:gd name="T0" fmla="*/ 0 w 2341"/>
                <a:gd name="T1" fmla="*/ 2342 h 2342"/>
                <a:gd name="T2" fmla="*/ 2340 w 2341"/>
                <a:gd name="T3" fmla="*/ 0 h 2342"/>
                <a:gd name="T4" fmla="*/ 2341 w 2341"/>
                <a:gd name="T5" fmla="*/ 0 h 2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1" h="2342">
                  <a:moveTo>
                    <a:pt x="0" y="2342"/>
                  </a:moveTo>
                  <a:lnTo>
                    <a:pt x="2340" y="0"/>
                  </a:lnTo>
                  <a:lnTo>
                    <a:pt x="234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92" name="Freeform 532"/>
            <p:cNvSpPr>
              <a:spLocks/>
            </p:cNvSpPr>
            <p:nvPr/>
          </p:nvSpPr>
          <p:spPr bwMode="auto">
            <a:xfrm>
              <a:off x="1456" y="3521"/>
              <a:ext cx="287" cy="287"/>
            </a:xfrm>
            <a:custGeom>
              <a:avLst/>
              <a:gdLst>
                <a:gd name="T0" fmla="*/ 0 w 1720"/>
                <a:gd name="T1" fmla="*/ 1720 h 1720"/>
                <a:gd name="T2" fmla="*/ 1719 w 1720"/>
                <a:gd name="T3" fmla="*/ 0 h 1720"/>
                <a:gd name="T4" fmla="*/ 1720 w 1720"/>
                <a:gd name="T5" fmla="*/ 0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0" h="1720">
                  <a:moveTo>
                    <a:pt x="0" y="1720"/>
                  </a:moveTo>
                  <a:lnTo>
                    <a:pt x="1719" y="0"/>
                  </a:lnTo>
                  <a:lnTo>
                    <a:pt x="172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93" name="Freeform 533"/>
            <p:cNvSpPr>
              <a:spLocks/>
            </p:cNvSpPr>
            <p:nvPr/>
          </p:nvSpPr>
          <p:spPr bwMode="auto">
            <a:xfrm>
              <a:off x="1076" y="3833"/>
              <a:ext cx="389" cy="389"/>
            </a:xfrm>
            <a:custGeom>
              <a:avLst/>
              <a:gdLst>
                <a:gd name="T0" fmla="*/ 0 w 2338"/>
                <a:gd name="T1" fmla="*/ 2338 h 2338"/>
                <a:gd name="T2" fmla="*/ 2337 w 2338"/>
                <a:gd name="T3" fmla="*/ 0 h 2338"/>
                <a:gd name="T4" fmla="*/ 2338 w 2338"/>
                <a:gd name="T5" fmla="*/ 0 h 2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38" h="2338">
                  <a:moveTo>
                    <a:pt x="0" y="2338"/>
                  </a:moveTo>
                  <a:lnTo>
                    <a:pt x="2337" y="0"/>
                  </a:lnTo>
                  <a:lnTo>
                    <a:pt x="233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94" name="Freeform 534"/>
            <p:cNvSpPr>
              <a:spLocks/>
            </p:cNvSpPr>
            <p:nvPr/>
          </p:nvSpPr>
          <p:spPr bwMode="auto">
            <a:xfrm>
              <a:off x="1465" y="3534"/>
              <a:ext cx="298" cy="299"/>
            </a:xfrm>
            <a:custGeom>
              <a:avLst/>
              <a:gdLst>
                <a:gd name="T0" fmla="*/ 0 w 1790"/>
                <a:gd name="T1" fmla="*/ 1791 h 1791"/>
                <a:gd name="T2" fmla="*/ 1789 w 1790"/>
                <a:gd name="T3" fmla="*/ 0 h 1791"/>
                <a:gd name="T4" fmla="*/ 1790 w 1790"/>
                <a:gd name="T5" fmla="*/ 0 h 1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90" h="1791">
                  <a:moveTo>
                    <a:pt x="0" y="1791"/>
                  </a:moveTo>
                  <a:lnTo>
                    <a:pt x="1789" y="0"/>
                  </a:lnTo>
                  <a:lnTo>
                    <a:pt x="179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95" name="Freeform 535"/>
            <p:cNvSpPr>
              <a:spLocks/>
            </p:cNvSpPr>
            <p:nvPr/>
          </p:nvSpPr>
          <p:spPr bwMode="auto">
            <a:xfrm>
              <a:off x="1113" y="3858"/>
              <a:ext cx="361" cy="361"/>
            </a:xfrm>
            <a:custGeom>
              <a:avLst/>
              <a:gdLst>
                <a:gd name="T0" fmla="*/ 0 w 2169"/>
                <a:gd name="T1" fmla="*/ 2169 h 2169"/>
                <a:gd name="T2" fmla="*/ 2168 w 2169"/>
                <a:gd name="T3" fmla="*/ 0 h 2169"/>
                <a:gd name="T4" fmla="*/ 2169 w 2169"/>
                <a:gd name="T5" fmla="*/ 0 h 2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9" h="2169">
                  <a:moveTo>
                    <a:pt x="0" y="2169"/>
                  </a:moveTo>
                  <a:lnTo>
                    <a:pt x="2168" y="0"/>
                  </a:lnTo>
                  <a:lnTo>
                    <a:pt x="216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96" name="Freeform 536"/>
            <p:cNvSpPr>
              <a:spLocks/>
            </p:cNvSpPr>
            <p:nvPr/>
          </p:nvSpPr>
          <p:spPr bwMode="auto">
            <a:xfrm>
              <a:off x="1474" y="3548"/>
              <a:ext cx="309" cy="310"/>
            </a:xfrm>
            <a:custGeom>
              <a:avLst/>
              <a:gdLst>
                <a:gd name="T0" fmla="*/ 0 w 1856"/>
                <a:gd name="T1" fmla="*/ 1856 h 1856"/>
                <a:gd name="T2" fmla="*/ 1855 w 1856"/>
                <a:gd name="T3" fmla="*/ 0 h 1856"/>
                <a:gd name="T4" fmla="*/ 1856 w 1856"/>
                <a:gd name="T5" fmla="*/ 0 h 1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56" h="1856">
                  <a:moveTo>
                    <a:pt x="0" y="1856"/>
                  </a:moveTo>
                  <a:lnTo>
                    <a:pt x="1855" y="0"/>
                  </a:lnTo>
                  <a:lnTo>
                    <a:pt x="185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97" name="Freeform 537"/>
            <p:cNvSpPr>
              <a:spLocks/>
            </p:cNvSpPr>
            <p:nvPr/>
          </p:nvSpPr>
          <p:spPr bwMode="auto">
            <a:xfrm>
              <a:off x="1167" y="3883"/>
              <a:ext cx="316" cy="316"/>
            </a:xfrm>
            <a:custGeom>
              <a:avLst/>
              <a:gdLst>
                <a:gd name="T0" fmla="*/ 0 w 1896"/>
                <a:gd name="T1" fmla="*/ 1897 h 1897"/>
                <a:gd name="T2" fmla="*/ 1894 w 1896"/>
                <a:gd name="T3" fmla="*/ 0 h 1897"/>
                <a:gd name="T4" fmla="*/ 1896 w 1896"/>
                <a:gd name="T5" fmla="*/ 0 h 1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96" h="1897">
                  <a:moveTo>
                    <a:pt x="0" y="1897"/>
                  </a:moveTo>
                  <a:lnTo>
                    <a:pt x="1894" y="0"/>
                  </a:lnTo>
                  <a:lnTo>
                    <a:pt x="189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98" name="Freeform 538"/>
            <p:cNvSpPr>
              <a:spLocks/>
            </p:cNvSpPr>
            <p:nvPr/>
          </p:nvSpPr>
          <p:spPr bwMode="auto">
            <a:xfrm>
              <a:off x="1483" y="3563"/>
              <a:ext cx="319" cy="320"/>
            </a:xfrm>
            <a:custGeom>
              <a:avLst/>
              <a:gdLst>
                <a:gd name="T0" fmla="*/ 0 w 1917"/>
                <a:gd name="T1" fmla="*/ 1917 h 1917"/>
                <a:gd name="T2" fmla="*/ 1916 w 1917"/>
                <a:gd name="T3" fmla="*/ 0 h 1917"/>
                <a:gd name="T4" fmla="*/ 1917 w 1917"/>
                <a:gd name="T5" fmla="*/ 0 h 1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17" h="1917">
                  <a:moveTo>
                    <a:pt x="0" y="1917"/>
                  </a:moveTo>
                  <a:lnTo>
                    <a:pt x="1916" y="0"/>
                  </a:lnTo>
                  <a:lnTo>
                    <a:pt x="191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99" name="Freeform 539"/>
            <p:cNvSpPr>
              <a:spLocks/>
            </p:cNvSpPr>
            <p:nvPr/>
          </p:nvSpPr>
          <p:spPr bwMode="auto">
            <a:xfrm>
              <a:off x="1221" y="3908"/>
              <a:ext cx="271" cy="270"/>
            </a:xfrm>
            <a:custGeom>
              <a:avLst/>
              <a:gdLst>
                <a:gd name="T0" fmla="*/ 0 w 1623"/>
                <a:gd name="T1" fmla="*/ 1624 h 1624"/>
                <a:gd name="T2" fmla="*/ 1622 w 1623"/>
                <a:gd name="T3" fmla="*/ 0 h 1624"/>
                <a:gd name="T4" fmla="*/ 1623 w 1623"/>
                <a:gd name="T5" fmla="*/ 0 h 1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3" h="1624">
                  <a:moveTo>
                    <a:pt x="0" y="1624"/>
                  </a:moveTo>
                  <a:lnTo>
                    <a:pt x="1622" y="0"/>
                  </a:lnTo>
                  <a:lnTo>
                    <a:pt x="162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00" name="Freeform 540"/>
            <p:cNvSpPr>
              <a:spLocks/>
            </p:cNvSpPr>
            <p:nvPr/>
          </p:nvSpPr>
          <p:spPr bwMode="auto">
            <a:xfrm>
              <a:off x="1492" y="3579"/>
              <a:ext cx="329" cy="329"/>
            </a:xfrm>
            <a:custGeom>
              <a:avLst/>
              <a:gdLst>
                <a:gd name="T0" fmla="*/ 0 w 1973"/>
                <a:gd name="T1" fmla="*/ 1974 h 1974"/>
                <a:gd name="T2" fmla="*/ 1972 w 1973"/>
                <a:gd name="T3" fmla="*/ 0 h 1974"/>
                <a:gd name="T4" fmla="*/ 1973 w 1973"/>
                <a:gd name="T5" fmla="*/ 0 h 1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3" h="1974">
                  <a:moveTo>
                    <a:pt x="0" y="1974"/>
                  </a:moveTo>
                  <a:lnTo>
                    <a:pt x="1972" y="0"/>
                  </a:lnTo>
                  <a:lnTo>
                    <a:pt x="197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01" name="Freeform 541"/>
            <p:cNvSpPr>
              <a:spLocks/>
            </p:cNvSpPr>
            <p:nvPr/>
          </p:nvSpPr>
          <p:spPr bwMode="auto">
            <a:xfrm>
              <a:off x="1276" y="3933"/>
              <a:ext cx="225" cy="225"/>
            </a:xfrm>
            <a:custGeom>
              <a:avLst/>
              <a:gdLst>
                <a:gd name="T0" fmla="*/ 0 w 1351"/>
                <a:gd name="T1" fmla="*/ 1352 h 1352"/>
                <a:gd name="T2" fmla="*/ 1350 w 1351"/>
                <a:gd name="T3" fmla="*/ 0 h 1352"/>
                <a:gd name="T4" fmla="*/ 1351 w 1351"/>
                <a:gd name="T5" fmla="*/ 0 h 1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51" h="1352">
                  <a:moveTo>
                    <a:pt x="0" y="1352"/>
                  </a:moveTo>
                  <a:lnTo>
                    <a:pt x="1350" y="0"/>
                  </a:lnTo>
                  <a:lnTo>
                    <a:pt x="135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02" name="Freeform 542"/>
            <p:cNvSpPr>
              <a:spLocks/>
            </p:cNvSpPr>
            <p:nvPr/>
          </p:nvSpPr>
          <p:spPr bwMode="auto">
            <a:xfrm>
              <a:off x="1501" y="3595"/>
              <a:ext cx="337" cy="338"/>
            </a:xfrm>
            <a:custGeom>
              <a:avLst/>
              <a:gdLst>
                <a:gd name="T0" fmla="*/ 0 w 2027"/>
                <a:gd name="T1" fmla="*/ 2026 h 2026"/>
                <a:gd name="T2" fmla="*/ 2026 w 2027"/>
                <a:gd name="T3" fmla="*/ 0 h 2026"/>
                <a:gd name="T4" fmla="*/ 2027 w 2027"/>
                <a:gd name="T5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27" h="2026">
                  <a:moveTo>
                    <a:pt x="0" y="2026"/>
                  </a:moveTo>
                  <a:lnTo>
                    <a:pt x="2026" y="0"/>
                  </a:lnTo>
                  <a:lnTo>
                    <a:pt x="202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03" name="Freeform 543"/>
            <p:cNvSpPr>
              <a:spLocks/>
            </p:cNvSpPr>
            <p:nvPr/>
          </p:nvSpPr>
          <p:spPr bwMode="auto">
            <a:xfrm>
              <a:off x="1330" y="3957"/>
              <a:ext cx="180" cy="180"/>
            </a:xfrm>
            <a:custGeom>
              <a:avLst/>
              <a:gdLst>
                <a:gd name="T0" fmla="*/ 0 w 1078"/>
                <a:gd name="T1" fmla="*/ 1079 h 1079"/>
                <a:gd name="T2" fmla="*/ 1077 w 1078"/>
                <a:gd name="T3" fmla="*/ 0 h 1079"/>
                <a:gd name="T4" fmla="*/ 1078 w 1078"/>
                <a:gd name="T5" fmla="*/ 0 h 1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78" h="1079">
                  <a:moveTo>
                    <a:pt x="0" y="1079"/>
                  </a:moveTo>
                  <a:lnTo>
                    <a:pt x="1077" y="0"/>
                  </a:lnTo>
                  <a:lnTo>
                    <a:pt x="107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04" name="Freeform 544"/>
            <p:cNvSpPr>
              <a:spLocks/>
            </p:cNvSpPr>
            <p:nvPr/>
          </p:nvSpPr>
          <p:spPr bwMode="auto">
            <a:xfrm>
              <a:off x="1509" y="3612"/>
              <a:ext cx="346" cy="345"/>
            </a:xfrm>
            <a:custGeom>
              <a:avLst/>
              <a:gdLst>
                <a:gd name="T0" fmla="*/ 0 w 2075"/>
                <a:gd name="T1" fmla="*/ 2075 h 2075"/>
                <a:gd name="T2" fmla="*/ 2074 w 2075"/>
                <a:gd name="T3" fmla="*/ 0 h 2075"/>
                <a:gd name="T4" fmla="*/ 2075 w 2075"/>
                <a:gd name="T5" fmla="*/ 0 h 20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5" h="2075">
                  <a:moveTo>
                    <a:pt x="0" y="2075"/>
                  </a:moveTo>
                  <a:lnTo>
                    <a:pt x="2074" y="0"/>
                  </a:lnTo>
                  <a:lnTo>
                    <a:pt x="207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05" name="Freeform 545"/>
            <p:cNvSpPr>
              <a:spLocks/>
            </p:cNvSpPr>
            <p:nvPr/>
          </p:nvSpPr>
          <p:spPr bwMode="auto">
            <a:xfrm>
              <a:off x="1384" y="3983"/>
              <a:ext cx="134" cy="134"/>
            </a:xfrm>
            <a:custGeom>
              <a:avLst/>
              <a:gdLst>
                <a:gd name="T0" fmla="*/ 0 w 806"/>
                <a:gd name="T1" fmla="*/ 806 h 806"/>
                <a:gd name="T2" fmla="*/ 805 w 806"/>
                <a:gd name="T3" fmla="*/ 0 h 806"/>
                <a:gd name="T4" fmla="*/ 806 w 806"/>
                <a:gd name="T5" fmla="*/ 0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06" h="806">
                  <a:moveTo>
                    <a:pt x="0" y="806"/>
                  </a:moveTo>
                  <a:lnTo>
                    <a:pt x="805" y="0"/>
                  </a:lnTo>
                  <a:lnTo>
                    <a:pt x="80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06" name="Freeform 546"/>
            <p:cNvSpPr>
              <a:spLocks/>
            </p:cNvSpPr>
            <p:nvPr/>
          </p:nvSpPr>
          <p:spPr bwMode="auto">
            <a:xfrm>
              <a:off x="1518" y="3629"/>
              <a:ext cx="354" cy="354"/>
            </a:xfrm>
            <a:custGeom>
              <a:avLst/>
              <a:gdLst>
                <a:gd name="T0" fmla="*/ 0 w 2121"/>
                <a:gd name="T1" fmla="*/ 2122 h 2122"/>
                <a:gd name="T2" fmla="*/ 2120 w 2121"/>
                <a:gd name="T3" fmla="*/ 0 h 2122"/>
                <a:gd name="T4" fmla="*/ 2121 w 2121"/>
                <a:gd name="T5" fmla="*/ 0 h 2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21" h="2122">
                  <a:moveTo>
                    <a:pt x="0" y="2122"/>
                  </a:moveTo>
                  <a:lnTo>
                    <a:pt x="2120" y="0"/>
                  </a:lnTo>
                  <a:lnTo>
                    <a:pt x="212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07" name="Freeform 547"/>
            <p:cNvSpPr>
              <a:spLocks/>
            </p:cNvSpPr>
            <p:nvPr/>
          </p:nvSpPr>
          <p:spPr bwMode="auto">
            <a:xfrm>
              <a:off x="1439" y="4007"/>
              <a:ext cx="88" cy="89"/>
            </a:xfrm>
            <a:custGeom>
              <a:avLst/>
              <a:gdLst>
                <a:gd name="T0" fmla="*/ 0 w 533"/>
                <a:gd name="T1" fmla="*/ 533 h 533"/>
                <a:gd name="T2" fmla="*/ 532 w 533"/>
                <a:gd name="T3" fmla="*/ 0 h 533"/>
                <a:gd name="T4" fmla="*/ 533 w 533"/>
                <a:gd name="T5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3" h="533">
                  <a:moveTo>
                    <a:pt x="0" y="533"/>
                  </a:moveTo>
                  <a:lnTo>
                    <a:pt x="532" y="0"/>
                  </a:lnTo>
                  <a:lnTo>
                    <a:pt x="53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08" name="Freeform 548"/>
            <p:cNvSpPr>
              <a:spLocks/>
            </p:cNvSpPr>
            <p:nvPr/>
          </p:nvSpPr>
          <p:spPr bwMode="auto">
            <a:xfrm>
              <a:off x="1527" y="3647"/>
              <a:ext cx="361" cy="360"/>
            </a:xfrm>
            <a:custGeom>
              <a:avLst/>
              <a:gdLst>
                <a:gd name="T0" fmla="*/ 0 w 2162"/>
                <a:gd name="T1" fmla="*/ 2164 h 2164"/>
                <a:gd name="T2" fmla="*/ 2161 w 2162"/>
                <a:gd name="T3" fmla="*/ 0 h 2164"/>
                <a:gd name="T4" fmla="*/ 2162 w 2162"/>
                <a:gd name="T5" fmla="*/ 0 h 2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2" h="2164">
                  <a:moveTo>
                    <a:pt x="0" y="2164"/>
                  </a:moveTo>
                  <a:lnTo>
                    <a:pt x="2161" y="0"/>
                  </a:lnTo>
                  <a:lnTo>
                    <a:pt x="216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09" name="Freeform 549"/>
            <p:cNvSpPr>
              <a:spLocks/>
            </p:cNvSpPr>
            <p:nvPr/>
          </p:nvSpPr>
          <p:spPr bwMode="auto">
            <a:xfrm>
              <a:off x="1493" y="4033"/>
              <a:ext cx="43" cy="43"/>
            </a:xfrm>
            <a:custGeom>
              <a:avLst/>
              <a:gdLst>
                <a:gd name="T0" fmla="*/ 0 w 261"/>
                <a:gd name="T1" fmla="*/ 260 h 260"/>
                <a:gd name="T2" fmla="*/ 260 w 261"/>
                <a:gd name="T3" fmla="*/ 0 h 260"/>
                <a:gd name="T4" fmla="*/ 261 w 261"/>
                <a:gd name="T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1" h="260">
                  <a:moveTo>
                    <a:pt x="0" y="260"/>
                  </a:moveTo>
                  <a:lnTo>
                    <a:pt x="260" y="0"/>
                  </a:lnTo>
                  <a:lnTo>
                    <a:pt x="26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10" name="Freeform 550"/>
            <p:cNvSpPr>
              <a:spLocks/>
            </p:cNvSpPr>
            <p:nvPr/>
          </p:nvSpPr>
          <p:spPr bwMode="auto">
            <a:xfrm>
              <a:off x="1536" y="3665"/>
              <a:ext cx="367" cy="368"/>
            </a:xfrm>
            <a:custGeom>
              <a:avLst/>
              <a:gdLst>
                <a:gd name="T0" fmla="*/ 0 w 2202"/>
                <a:gd name="T1" fmla="*/ 2203 h 2203"/>
                <a:gd name="T2" fmla="*/ 2201 w 2202"/>
                <a:gd name="T3" fmla="*/ 0 h 2203"/>
                <a:gd name="T4" fmla="*/ 2202 w 2202"/>
                <a:gd name="T5" fmla="*/ 0 h 2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2" h="2203">
                  <a:moveTo>
                    <a:pt x="0" y="2203"/>
                  </a:moveTo>
                  <a:lnTo>
                    <a:pt x="2201" y="0"/>
                  </a:lnTo>
                  <a:lnTo>
                    <a:pt x="220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11" name="Freeform 551"/>
            <p:cNvSpPr>
              <a:spLocks/>
            </p:cNvSpPr>
            <p:nvPr/>
          </p:nvSpPr>
          <p:spPr bwMode="auto">
            <a:xfrm>
              <a:off x="1547" y="3684"/>
              <a:ext cx="371" cy="371"/>
            </a:xfrm>
            <a:custGeom>
              <a:avLst/>
              <a:gdLst>
                <a:gd name="T0" fmla="*/ 0 w 2225"/>
                <a:gd name="T1" fmla="*/ 2224 h 2224"/>
                <a:gd name="T2" fmla="*/ 2224 w 2225"/>
                <a:gd name="T3" fmla="*/ 0 h 2224"/>
                <a:gd name="T4" fmla="*/ 2225 w 2225"/>
                <a:gd name="T5" fmla="*/ 0 h 2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25" h="2224">
                  <a:moveTo>
                    <a:pt x="0" y="2224"/>
                  </a:moveTo>
                  <a:lnTo>
                    <a:pt x="2224" y="0"/>
                  </a:lnTo>
                  <a:lnTo>
                    <a:pt x="222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12" name="Freeform 552"/>
            <p:cNvSpPr>
              <a:spLocks/>
            </p:cNvSpPr>
            <p:nvPr/>
          </p:nvSpPr>
          <p:spPr bwMode="auto">
            <a:xfrm>
              <a:off x="1602" y="3704"/>
              <a:ext cx="330" cy="331"/>
            </a:xfrm>
            <a:custGeom>
              <a:avLst/>
              <a:gdLst>
                <a:gd name="T0" fmla="*/ 0 w 1981"/>
                <a:gd name="T1" fmla="*/ 1982 h 1982"/>
                <a:gd name="T2" fmla="*/ 1980 w 1981"/>
                <a:gd name="T3" fmla="*/ 0 h 1982"/>
                <a:gd name="T4" fmla="*/ 1981 w 1981"/>
                <a:gd name="T5" fmla="*/ 0 h 1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1" h="1982">
                  <a:moveTo>
                    <a:pt x="0" y="1982"/>
                  </a:moveTo>
                  <a:lnTo>
                    <a:pt x="1980" y="0"/>
                  </a:lnTo>
                  <a:lnTo>
                    <a:pt x="198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13" name="Freeform 553"/>
            <p:cNvSpPr>
              <a:spLocks/>
            </p:cNvSpPr>
            <p:nvPr/>
          </p:nvSpPr>
          <p:spPr bwMode="auto">
            <a:xfrm>
              <a:off x="1656" y="3725"/>
              <a:ext cx="289" cy="289"/>
            </a:xfrm>
            <a:custGeom>
              <a:avLst/>
              <a:gdLst>
                <a:gd name="T0" fmla="*/ 0 w 1735"/>
                <a:gd name="T1" fmla="*/ 1736 h 1736"/>
                <a:gd name="T2" fmla="*/ 1734 w 1735"/>
                <a:gd name="T3" fmla="*/ 0 h 1736"/>
                <a:gd name="T4" fmla="*/ 1735 w 1735"/>
                <a:gd name="T5" fmla="*/ 0 h 1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5" h="1736">
                  <a:moveTo>
                    <a:pt x="0" y="1736"/>
                  </a:moveTo>
                  <a:lnTo>
                    <a:pt x="1734" y="0"/>
                  </a:lnTo>
                  <a:lnTo>
                    <a:pt x="173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14" name="Freeform 554"/>
            <p:cNvSpPr>
              <a:spLocks/>
            </p:cNvSpPr>
            <p:nvPr/>
          </p:nvSpPr>
          <p:spPr bwMode="auto">
            <a:xfrm>
              <a:off x="1710" y="3747"/>
              <a:ext cx="248" cy="247"/>
            </a:xfrm>
            <a:custGeom>
              <a:avLst/>
              <a:gdLst>
                <a:gd name="T0" fmla="*/ 0 w 1484"/>
                <a:gd name="T1" fmla="*/ 1484 h 1484"/>
                <a:gd name="T2" fmla="*/ 1483 w 1484"/>
                <a:gd name="T3" fmla="*/ 0 h 1484"/>
                <a:gd name="T4" fmla="*/ 1484 w 1484"/>
                <a:gd name="T5" fmla="*/ 0 h 1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4" h="1484">
                  <a:moveTo>
                    <a:pt x="0" y="1484"/>
                  </a:moveTo>
                  <a:lnTo>
                    <a:pt x="1483" y="0"/>
                  </a:lnTo>
                  <a:lnTo>
                    <a:pt x="148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15" name="Freeform 555"/>
            <p:cNvSpPr>
              <a:spLocks/>
            </p:cNvSpPr>
            <p:nvPr/>
          </p:nvSpPr>
          <p:spPr bwMode="auto">
            <a:xfrm>
              <a:off x="1764" y="3769"/>
              <a:ext cx="205" cy="204"/>
            </a:xfrm>
            <a:custGeom>
              <a:avLst/>
              <a:gdLst>
                <a:gd name="T0" fmla="*/ 0 w 1225"/>
                <a:gd name="T1" fmla="*/ 1226 h 1226"/>
                <a:gd name="T2" fmla="*/ 1224 w 1225"/>
                <a:gd name="T3" fmla="*/ 0 h 1226"/>
                <a:gd name="T4" fmla="*/ 1225 w 1225"/>
                <a:gd name="T5" fmla="*/ 0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25" h="1226">
                  <a:moveTo>
                    <a:pt x="0" y="1226"/>
                  </a:moveTo>
                  <a:lnTo>
                    <a:pt x="1224" y="0"/>
                  </a:lnTo>
                  <a:lnTo>
                    <a:pt x="1225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16" name="Freeform 556"/>
            <p:cNvSpPr>
              <a:spLocks/>
            </p:cNvSpPr>
            <p:nvPr/>
          </p:nvSpPr>
          <p:spPr bwMode="auto">
            <a:xfrm>
              <a:off x="1819" y="3793"/>
              <a:ext cx="160" cy="160"/>
            </a:xfrm>
            <a:custGeom>
              <a:avLst/>
              <a:gdLst>
                <a:gd name="T0" fmla="*/ 0 w 962"/>
                <a:gd name="T1" fmla="*/ 962 h 962"/>
                <a:gd name="T2" fmla="*/ 961 w 962"/>
                <a:gd name="T3" fmla="*/ 0 h 962"/>
                <a:gd name="T4" fmla="*/ 962 w 962"/>
                <a:gd name="T5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2" h="962">
                  <a:moveTo>
                    <a:pt x="0" y="962"/>
                  </a:moveTo>
                  <a:lnTo>
                    <a:pt x="961" y="0"/>
                  </a:lnTo>
                  <a:lnTo>
                    <a:pt x="96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17" name="Freeform 557"/>
            <p:cNvSpPr>
              <a:spLocks/>
            </p:cNvSpPr>
            <p:nvPr/>
          </p:nvSpPr>
          <p:spPr bwMode="auto">
            <a:xfrm>
              <a:off x="1873" y="3817"/>
              <a:ext cx="116" cy="115"/>
            </a:xfrm>
            <a:custGeom>
              <a:avLst/>
              <a:gdLst>
                <a:gd name="T0" fmla="*/ 0 w 694"/>
                <a:gd name="T1" fmla="*/ 693 h 693"/>
                <a:gd name="T2" fmla="*/ 693 w 694"/>
                <a:gd name="T3" fmla="*/ 0 h 693"/>
                <a:gd name="T4" fmla="*/ 694 w 694"/>
                <a:gd name="T5" fmla="*/ 0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4" h="693">
                  <a:moveTo>
                    <a:pt x="0" y="693"/>
                  </a:moveTo>
                  <a:lnTo>
                    <a:pt x="693" y="0"/>
                  </a:lnTo>
                  <a:lnTo>
                    <a:pt x="69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18" name="Freeform 558"/>
            <p:cNvSpPr>
              <a:spLocks/>
            </p:cNvSpPr>
            <p:nvPr/>
          </p:nvSpPr>
          <p:spPr bwMode="auto">
            <a:xfrm>
              <a:off x="1927" y="3842"/>
              <a:ext cx="71" cy="70"/>
            </a:xfrm>
            <a:custGeom>
              <a:avLst/>
              <a:gdLst>
                <a:gd name="T0" fmla="*/ 0 w 422"/>
                <a:gd name="T1" fmla="*/ 420 h 420"/>
                <a:gd name="T2" fmla="*/ 421 w 422"/>
                <a:gd name="T3" fmla="*/ 0 h 420"/>
                <a:gd name="T4" fmla="*/ 422 w 422"/>
                <a:gd name="T5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2" h="420">
                  <a:moveTo>
                    <a:pt x="0" y="420"/>
                  </a:moveTo>
                  <a:lnTo>
                    <a:pt x="421" y="0"/>
                  </a:lnTo>
                  <a:lnTo>
                    <a:pt x="42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19" name="Freeform 559"/>
            <p:cNvSpPr>
              <a:spLocks/>
            </p:cNvSpPr>
            <p:nvPr/>
          </p:nvSpPr>
          <p:spPr bwMode="auto">
            <a:xfrm>
              <a:off x="1982" y="3867"/>
              <a:ext cx="24" cy="24"/>
            </a:xfrm>
            <a:custGeom>
              <a:avLst/>
              <a:gdLst>
                <a:gd name="T0" fmla="*/ 0 w 148"/>
                <a:gd name="T1" fmla="*/ 146 h 146"/>
                <a:gd name="T2" fmla="*/ 147 w 148"/>
                <a:gd name="T3" fmla="*/ 0 h 146"/>
                <a:gd name="T4" fmla="*/ 148 w 148"/>
                <a:gd name="T5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" h="146">
                  <a:moveTo>
                    <a:pt x="0" y="146"/>
                  </a:moveTo>
                  <a:lnTo>
                    <a:pt x="147" y="0"/>
                  </a:lnTo>
                  <a:lnTo>
                    <a:pt x="14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20" name="Freeform 560"/>
            <p:cNvSpPr>
              <a:spLocks/>
            </p:cNvSpPr>
            <p:nvPr/>
          </p:nvSpPr>
          <p:spPr bwMode="auto">
            <a:xfrm>
              <a:off x="3487" y="2482"/>
              <a:ext cx="242" cy="241"/>
            </a:xfrm>
            <a:custGeom>
              <a:avLst/>
              <a:gdLst>
                <a:gd name="T0" fmla="*/ 0 w 1450"/>
                <a:gd name="T1" fmla="*/ 1450 h 1450"/>
                <a:gd name="T2" fmla="*/ 882 w 1450"/>
                <a:gd name="T3" fmla="*/ 568 h 1450"/>
                <a:gd name="T4" fmla="*/ 1449 w 1450"/>
                <a:gd name="T5" fmla="*/ 0 h 1450"/>
                <a:gd name="T6" fmla="*/ 1450 w 1450"/>
                <a:gd name="T7" fmla="*/ 0 h 1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0" h="1450">
                  <a:moveTo>
                    <a:pt x="0" y="1450"/>
                  </a:moveTo>
                  <a:lnTo>
                    <a:pt x="882" y="568"/>
                  </a:lnTo>
                  <a:lnTo>
                    <a:pt x="1449" y="0"/>
                  </a:lnTo>
                  <a:lnTo>
                    <a:pt x="145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21" name="Freeform 561"/>
            <p:cNvSpPr>
              <a:spLocks/>
            </p:cNvSpPr>
            <p:nvPr/>
          </p:nvSpPr>
          <p:spPr bwMode="auto">
            <a:xfrm>
              <a:off x="3457" y="2610"/>
              <a:ext cx="177" cy="178"/>
            </a:xfrm>
            <a:custGeom>
              <a:avLst/>
              <a:gdLst>
                <a:gd name="T0" fmla="*/ 0 w 1063"/>
                <a:gd name="T1" fmla="*/ 1063 h 1063"/>
                <a:gd name="T2" fmla="*/ 1062 w 1063"/>
                <a:gd name="T3" fmla="*/ 0 h 1063"/>
                <a:gd name="T4" fmla="*/ 1063 w 1063"/>
                <a:gd name="T5" fmla="*/ 0 h 1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63" h="1063">
                  <a:moveTo>
                    <a:pt x="0" y="1063"/>
                  </a:moveTo>
                  <a:lnTo>
                    <a:pt x="1062" y="0"/>
                  </a:lnTo>
                  <a:lnTo>
                    <a:pt x="106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22" name="Freeform 562"/>
            <p:cNvSpPr>
              <a:spLocks/>
            </p:cNvSpPr>
            <p:nvPr/>
          </p:nvSpPr>
          <p:spPr bwMode="auto">
            <a:xfrm>
              <a:off x="3771" y="2463"/>
              <a:ext cx="10" cy="11"/>
            </a:xfrm>
            <a:custGeom>
              <a:avLst/>
              <a:gdLst>
                <a:gd name="T0" fmla="*/ 0 w 60"/>
                <a:gd name="T1" fmla="*/ 60 h 60"/>
                <a:gd name="T2" fmla="*/ 59 w 60"/>
                <a:gd name="T3" fmla="*/ 0 h 60"/>
                <a:gd name="T4" fmla="*/ 60 w 60"/>
                <a:gd name="T5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" h="60">
                  <a:moveTo>
                    <a:pt x="0" y="60"/>
                  </a:moveTo>
                  <a:lnTo>
                    <a:pt x="59" y="0"/>
                  </a:lnTo>
                  <a:lnTo>
                    <a:pt x="6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23" name="Freeform 563"/>
            <p:cNvSpPr>
              <a:spLocks/>
            </p:cNvSpPr>
            <p:nvPr/>
          </p:nvSpPr>
          <p:spPr bwMode="auto">
            <a:xfrm>
              <a:off x="3634" y="2474"/>
              <a:ext cx="137" cy="136"/>
            </a:xfrm>
            <a:custGeom>
              <a:avLst/>
              <a:gdLst>
                <a:gd name="T0" fmla="*/ 0 w 822"/>
                <a:gd name="T1" fmla="*/ 821 h 821"/>
                <a:gd name="T2" fmla="*/ 821 w 822"/>
                <a:gd name="T3" fmla="*/ 0 h 821"/>
                <a:gd name="T4" fmla="*/ 822 w 822"/>
                <a:gd name="T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2" h="821">
                  <a:moveTo>
                    <a:pt x="0" y="821"/>
                  </a:moveTo>
                  <a:lnTo>
                    <a:pt x="821" y="0"/>
                  </a:lnTo>
                  <a:lnTo>
                    <a:pt x="82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24" name="Freeform 564"/>
            <p:cNvSpPr>
              <a:spLocks/>
            </p:cNvSpPr>
            <p:nvPr/>
          </p:nvSpPr>
          <p:spPr bwMode="auto">
            <a:xfrm>
              <a:off x="3424" y="2644"/>
              <a:ext cx="210" cy="211"/>
            </a:xfrm>
            <a:custGeom>
              <a:avLst/>
              <a:gdLst>
                <a:gd name="T0" fmla="*/ 0 w 1263"/>
                <a:gd name="T1" fmla="*/ 1263 h 1263"/>
                <a:gd name="T2" fmla="*/ 1262 w 1263"/>
                <a:gd name="T3" fmla="*/ 0 h 1263"/>
                <a:gd name="T4" fmla="*/ 1263 w 1263"/>
                <a:gd name="T5" fmla="*/ 0 h 1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63" h="1263">
                  <a:moveTo>
                    <a:pt x="0" y="1263"/>
                  </a:moveTo>
                  <a:lnTo>
                    <a:pt x="1262" y="0"/>
                  </a:lnTo>
                  <a:lnTo>
                    <a:pt x="126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25" name="Freeform 565"/>
            <p:cNvSpPr>
              <a:spLocks/>
            </p:cNvSpPr>
            <p:nvPr/>
          </p:nvSpPr>
          <p:spPr bwMode="auto">
            <a:xfrm>
              <a:off x="3771" y="2480"/>
              <a:ext cx="27" cy="27"/>
            </a:xfrm>
            <a:custGeom>
              <a:avLst/>
              <a:gdLst>
                <a:gd name="T0" fmla="*/ 0 w 162"/>
                <a:gd name="T1" fmla="*/ 161 h 161"/>
                <a:gd name="T2" fmla="*/ 161 w 162"/>
                <a:gd name="T3" fmla="*/ 0 h 161"/>
                <a:gd name="T4" fmla="*/ 162 w 162"/>
                <a:gd name="T5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" h="161">
                  <a:moveTo>
                    <a:pt x="0" y="161"/>
                  </a:moveTo>
                  <a:lnTo>
                    <a:pt x="161" y="0"/>
                  </a:lnTo>
                  <a:lnTo>
                    <a:pt x="16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26" name="Freeform 566"/>
            <p:cNvSpPr>
              <a:spLocks/>
            </p:cNvSpPr>
            <p:nvPr/>
          </p:nvSpPr>
          <p:spPr bwMode="auto">
            <a:xfrm>
              <a:off x="3634" y="2507"/>
              <a:ext cx="137" cy="137"/>
            </a:xfrm>
            <a:custGeom>
              <a:avLst/>
              <a:gdLst>
                <a:gd name="T0" fmla="*/ 0 w 821"/>
                <a:gd name="T1" fmla="*/ 821 h 821"/>
                <a:gd name="T2" fmla="*/ 820 w 821"/>
                <a:gd name="T3" fmla="*/ 0 h 821"/>
                <a:gd name="T4" fmla="*/ 821 w 821"/>
                <a:gd name="T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1" h="821">
                  <a:moveTo>
                    <a:pt x="0" y="821"/>
                  </a:moveTo>
                  <a:lnTo>
                    <a:pt x="820" y="0"/>
                  </a:lnTo>
                  <a:lnTo>
                    <a:pt x="82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27" name="Freeform 567"/>
            <p:cNvSpPr>
              <a:spLocks/>
            </p:cNvSpPr>
            <p:nvPr/>
          </p:nvSpPr>
          <p:spPr bwMode="auto">
            <a:xfrm>
              <a:off x="3403" y="2678"/>
              <a:ext cx="231" cy="231"/>
            </a:xfrm>
            <a:custGeom>
              <a:avLst/>
              <a:gdLst>
                <a:gd name="T0" fmla="*/ 0 w 1386"/>
                <a:gd name="T1" fmla="*/ 1387 h 1387"/>
                <a:gd name="T2" fmla="*/ 1385 w 1386"/>
                <a:gd name="T3" fmla="*/ 0 h 1387"/>
                <a:gd name="T4" fmla="*/ 1386 w 1386"/>
                <a:gd name="T5" fmla="*/ 0 h 1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86" h="1387">
                  <a:moveTo>
                    <a:pt x="0" y="1387"/>
                  </a:moveTo>
                  <a:lnTo>
                    <a:pt x="1385" y="0"/>
                  </a:lnTo>
                  <a:lnTo>
                    <a:pt x="138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28" name="Freeform 568"/>
            <p:cNvSpPr>
              <a:spLocks/>
            </p:cNvSpPr>
            <p:nvPr/>
          </p:nvSpPr>
          <p:spPr bwMode="auto">
            <a:xfrm>
              <a:off x="3811" y="2497"/>
              <a:ext cx="4" cy="4"/>
            </a:xfrm>
            <a:custGeom>
              <a:avLst/>
              <a:gdLst>
                <a:gd name="T0" fmla="*/ 0 w 22"/>
                <a:gd name="T1" fmla="*/ 21 h 21"/>
                <a:gd name="T2" fmla="*/ 21 w 22"/>
                <a:gd name="T3" fmla="*/ 0 h 21"/>
                <a:gd name="T4" fmla="*/ 22 w 22"/>
                <a:gd name="T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" h="21">
                  <a:moveTo>
                    <a:pt x="0" y="21"/>
                  </a:moveTo>
                  <a:lnTo>
                    <a:pt x="21" y="0"/>
                  </a:lnTo>
                  <a:lnTo>
                    <a:pt x="22" y="0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29" name="Freeform 569"/>
            <p:cNvSpPr>
              <a:spLocks/>
            </p:cNvSpPr>
            <p:nvPr/>
          </p:nvSpPr>
          <p:spPr bwMode="auto">
            <a:xfrm>
              <a:off x="3634" y="2501"/>
              <a:ext cx="177" cy="177"/>
            </a:xfrm>
            <a:custGeom>
              <a:avLst/>
              <a:gdLst>
                <a:gd name="T0" fmla="*/ 0 w 1064"/>
                <a:gd name="T1" fmla="*/ 1063 h 1063"/>
                <a:gd name="T2" fmla="*/ 820 w 1064"/>
                <a:gd name="T3" fmla="*/ 244 h 1063"/>
                <a:gd name="T4" fmla="*/ 1063 w 1064"/>
                <a:gd name="T5" fmla="*/ 0 h 1063"/>
                <a:gd name="T6" fmla="*/ 1064 w 1064"/>
                <a:gd name="T7" fmla="*/ 0 h 1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64" h="1063">
                  <a:moveTo>
                    <a:pt x="0" y="1063"/>
                  </a:moveTo>
                  <a:lnTo>
                    <a:pt x="820" y="244"/>
                  </a:lnTo>
                  <a:lnTo>
                    <a:pt x="1063" y="0"/>
                  </a:lnTo>
                  <a:lnTo>
                    <a:pt x="106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30" name="Freeform 570"/>
            <p:cNvSpPr>
              <a:spLocks/>
            </p:cNvSpPr>
            <p:nvPr/>
          </p:nvSpPr>
          <p:spPr bwMode="auto">
            <a:xfrm>
              <a:off x="3391" y="2712"/>
              <a:ext cx="243" cy="243"/>
            </a:xfrm>
            <a:custGeom>
              <a:avLst/>
              <a:gdLst>
                <a:gd name="T0" fmla="*/ 0 w 1458"/>
                <a:gd name="T1" fmla="*/ 1458 h 1458"/>
                <a:gd name="T2" fmla="*/ 1457 w 1458"/>
                <a:gd name="T3" fmla="*/ 0 h 1458"/>
                <a:gd name="T4" fmla="*/ 1458 w 1458"/>
                <a:gd name="T5" fmla="*/ 0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58" h="1458">
                  <a:moveTo>
                    <a:pt x="0" y="1458"/>
                  </a:moveTo>
                  <a:lnTo>
                    <a:pt x="1457" y="0"/>
                  </a:lnTo>
                  <a:lnTo>
                    <a:pt x="145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31" name="Freeform 571"/>
            <p:cNvSpPr>
              <a:spLocks/>
            </p:cNvSpPr>
            <p:nvPr/>
          </p:nvSpPr>
          <p:spPr bwMode="auto">
            <a:xfrm>
              <a:off x="3823" y="2514"/>
              <a:ext cx="9" cy="9"/>
            </a:xfrm>
            <a:custGeom>
              <a:avLst/>
              <a:gdLst>
                <a:gd name="T0" fmla="*/ 0 w 53"/>
                <a:gd name="T1" fmla="*/ 52 h 52"/>
                <a:gd name="T2" fmla="*/ 52 w 53"/>
                <a:gd name="T3" fmla="*/ 0 h 52"/>
                <a:gd name="T4" fmla="*/ 53 w 53"/>
                <a:gd name="T5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52">
                  <a:moveTo>
                    <a:pt x="0" y="52"/>
                  </a:moveTo>
                  <a:lnTo>
                    <a:pt x="52" y="0"/>
                  </a:lnTo>
                  <a:lnTo>
                    <a:pt x="5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32" name="Freeform 572"/>
            <p:cNvSpPr>
              <a:spLocks/>
            </p:cNvSpPr>
            <p:nvPr/>
          </p:nvSpPr>
          <p:spPr bwMode="auto">
            <a:xfrm>
              <a:off x="3634" y="2523"/>
              <a:ext cx="190" cy="189"/>
            </a:xfrm>
            <a:custGeom>
              <a:avLst/>
              <a:gdLst>
                <a:gd name="T0" fmla="*/ 0 w 1136"/>
                <a:gd name="T1" fmla="*/ 1136 h 1136"/>
                <a:gd name="T2" fmla="*/ 819 w 1136"/>
                <a:gd name="T3" fmla="*/ 316 h 1136"/>
                <a:gd name="T4" fmla="*/ 1135 w 1136"/>
                <a:gd name="T5" fmla="*/ 0 h 1136"/>
                <a:gd name="T6" fmla="*/ 1136 w 1136"/>
                <a:gd name="T7" fmla="*/ 0 h 1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36" h="1136">
                  <a:moveTo>
                    <a:pt x="0" y="1136"/>
                  </a:moveTo>
                  <a:lnTo>
                    <a:pt x="819" y="316"/>
                  </a:lnTo>
                  <a:lnTo>
                    <a:pt x="1135" y="0"/>
                  </a:lnTo>
                  <a:lnTo>
                    <a:pt x="113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33" name="Freeform 573"/>
            <p:cNvSpPr>
              <a:spLocks/>
            </p:cNvSpPr>
            <p:nvPr/>
          </p:nvSpPr>
          <p:spPr bwMode="auto">
            <a:xfrm>
              <a:off x="3384" y="2746"/>
              <a:ext cx="250" cy="250"/>
            </a:xfrm>
            <a:custGeom>
              <a:avLst/>
              <a:gdLst>
                <a:gd name="T0" fmla="*/ 0 w 1501"/>
                <a:gd name="T1" fmla="*/ 1503 h 1503"/>
                <a:gd name="T2" fmla="*/ 1500 w 1501"/>
                <a:gd name="T3" fmla="*/ 0 h 1503"/>
                <a:gd name="T4" fmla="*/ 1501 w 1501"/>
                <a:gd name="T5" fmla="*/ 0 h 1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1" h="1503">
                  <a:moveTo>
                    <a:pt x="0" y="1503"/>
                  </a:moveTo>
                  <a:lnTo>
                    <a:pt x="1500" y="0"/>
                  </a:lnTo>
                  <a:lnTo>
                    <a:pt x="150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34" name="Freeform 574"/>
            <p:cNvSpPr>
              <a:spLocks/>
            </p:cNvSpPr>
            <p:nvPr/>
          </p:nvSpPr>
          <p:spPr bwMode="auto">
            <a:xfrm>
              <a:off x="3835" y="2531"/>
              <a:ext cx="14" cy="13"/>
            </a:xfrm>
            <a:custGeom>
              <a:avLst/>
              <a:gdLst>
                <a:gd name="T0" fmla="*/ 0 w 82"/>
                <a:gd name="T1" fmla="*/ 81 h 81"/>
                <a:gd name="T2" fmla="*/ 81 w 82"/>
                <a:gd name="T3" fmla="*/ 0 h 81"/>
                <a:gd name="T4" fmla="*/ 82 w 82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" h="81">
                  <a:moveTo>
                    <a:pt x="0" y="81"/>
                  </a:moveTo>
                  <a:lnTo>
                    <a:pt x="81" y="0"/>
                  </a:lnTo>
                  <a:lnTo>
                    <a:pt x="8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35" name="Freeform 575"/>
            <p:cNvSpPr>
              <a:spLocks/>
            </p:cNvSpPr>
            <p:nvPr/>
          </p:nvSpPr>
          <p:spPr bwMode="auto">
            <a:xfrm>
              <a:off x="3634" y="2544"/>
              <a:ext cx="202" cy="202"/>
            </a:xfrm>
            <a:custGeom>
              <a:avLst/>
              <a:gdLst>
                <a:gd name="T0" fmla="*/ 0 w 1209"/>
                <a:gd name="T1" fmla="*/ 1209 h 1209"/>
                <a:gd name="T2" fmla="*/ 819 w 1209"/>
                <a:gd name="T3" fmla="*/ 390 h 1209"/>
                <a:gd name="T4" fmla="*/ 1208 w 1209"/>
                <a:gd name="T5" fmla="*/ 0 h 1209"/>
                <a:gd name="T6" fmla="*/ 1209 w 1209"/>
                <a:gd name="T7" fmla="*/ 0 h 1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9" h="1209">
                  <a:moveTo>
                    <a:pt x="0" y="1209"/>
                  </a:moveTo>
                  <a:lnTo>
                    <a:pt x="819" y="390"/>
                  </a:lnTo>
                  <a:lnTo>
                    <a:pt x="1208" y="0"/>
                  </a:lnTo>
                  <a:lnTo>
                    <a:pt x="120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36" name="Freeform 576"/>
            <p:cNvSpPr>
              <a:spLocks/>
            </p:cNvSpPr>
            <p:nvPr/>
          </p:nvSpPr>
          <p:spPr bwMode="auto">
            <a:xfrm>
              <a:off x="3379" y="2780"/>
              <a:ext cx="255" cy="255"/>
            </a:xfrm>
            <a:custGeom>
              <a:avLst/>
              <a:gdLst>
                <a:gd name="T0" fmla="*/ 0 w 1530"/>
                <a:gd name="T1" fmla="*/ 1531 h 1531"/>
                <a:gd name="T2" fmla="*/ 1529 w 1530"/>
                <a:gd name="T3" fmla="*/ 0 h 1531"/>
                <a:gd name="T4" fmla="*/ 1530 w 1530"/>
                <a:gd name="T5" fmla="*/ 0 h 1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0" h="1531">
                  <a:moveTo>
                    <a:pt x="0" y="1531"/>
                  </a:moveTo>
                  <a:lnTo>
                    <a:pt x="1529" y="0"/>
                  </a:lnTo>
                  <a:lnTo>
                    <a:pt x="153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37" name="Freeform 577"/>
            <p:cNvSpPr>
              <a:spLocks/>
            </p:cNvSpPr>
            <p:nvPr/>
          </p:nvSpPr>
          <p:spPr bwMode="auto">
            <a:xfrm>
              <a:off x="3848" y="2548"/>
              <a:ext cx="18" cy="18"/>
            </a:xfrm>
            <a:custGeom>
              <a:avLst/>
              <a:gdLst>
                <a:gd name="T0" fmla="*/ 0 w 112"/>
                <a:gd name="T1" fmla="*/ 111 h 111"/>
                <a:gd name="T2" fmla="*/ 111 w 112"/>
                <a:gd name="T3" fmla="*/ 0 h 111"/>
                <a:gd name="T4" fmla="*/ 112 w 112"/>
                <a:gd name="T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2" h="111">
                  <a:moveTo>
                    <a:pt x="0" y="111"/>
                  </a:moveTo>
                  <a:lnTo>
                    <a:pt x="111" y="0"/>
                  </a:lnTo>
                  <a:lnTo>
                    <a:pt x="11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38" name="Freeform 578"/>
            <p:cNvSpPr>
              <a:spLocks/>
            </p:cNvSpPr>
            <p:nvPr/>
          </p:nvSpPr>
          <p:spPr bwMode="auto">
            <a:xfrm>
              <a:off x="3634" y="2566"/>
              <a:ext cx="214" cy="214"/>
            </a:xfrm>
            <a:custGeom>
              <a:avLst/>
              <a:gdLst>
                <a:gd name="T0" fmla="*/ 0 w 1281"/>
                <a:gd name="T1" fmla="*/ 1281 h 1281"/>
                <a:gd name="T2" fmla="*/ 819 w 1281"/>
                <a:gd name="T3" fmla="*/ 463 h 1281"/>
                <a:gd name="T4" fmla="*/ 1280 w 1281"/>
                <a:gd name="T5" fmla="*/ 0 h 1281"/>
                <a:gd name="T6" fmla="*/ 1281 w 1281"/>
                <a:gd name="T7" fmla="*/ 0 h 1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1" h="1281">
                  <a:moveTo>
                    <a:pt x="0" y="1281"/>
                  </a:moveTo>
                  <a:lnTo>
                    <a:pt x="819" y="463"/>
                  </a:lnTo>
                  <a:lnTo>
                    <a:pt x="1280" y="0"/>
                  </a:lnTo>
                  <a:lnTo>
                    <a:pt x="128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39" name="Freeform 579"/>
            <p:cNvSpPr>
              <a:spLocks/>
            </p:cNvSpPr>
            <p:nvPr/>
          </p:nvSpPr>
          <p:spPr bwMode="auto">
            <a:xfrm>
              <a:off x="3376" y="2814"/>
              <a:ext cx="258" cy="258"/>
            </a:xfrm>
            <a:custGeom>
              <a:avLst/>
              <a:gdLst>
                <a:gd name="T0" fmla="*/ 0 w 1551"/>
                <a:gd name="T1" fmla="*/ 1552 h 1552"/>
                <a:gd name="T2" fmla="*/ 1550 w 1551"/>
                <a:gd name="T3" fmla="*/ 0 h 1552"/>
                <a:gd name="T4" fmla="*/ 1551 w 1551"/>
                <a:gd name="T5" fmla="*/ 0 h 1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1" h="1552">
                  <a:moveTo>
                    <a:pt x="0" y="1552"/>
                  </a:moveTo>
                  <a:lnTo>
                    <a:pt x="1550" y="0"/>
                  </a:lnTo>
                  <a:lnTo>
                    <a:pt x="155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40" name="Freeform 580"/>
            <p:cNvSpPr>
              <a:spLocks/>
            </p:cNvSpPr>
            <p:nvPr/>
          </p:nvSpPr>
          <p:spPr bwMode="auto">
            <a:xfrm>
              <a:off x="3860" y="2565"/>
              <a:ext cx="23" cy="23"/>
            </a:xfrm>
            <a:custGeom>
              <a:avLst/>
              <a:gdLst>
                <a:gd name="T0" fmla="*/ 0 w 139"/>
                <a:gd name="T1" fmla="*/ 139 h 139"/>
                <a:gd name="T2" fmla="*/ 138 w 139"/>
                <a:gd name="T3" fmla="*/ 0 h 139"/>
                <a:gd name="T4" fmla="*/ 139 w 139"/>
                <a:gd name="T5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" h="139">
                  <a:moveTo>
                    <a:pt x="0" y="139"/>
                  </a:moveTo>
                  <a:lnTo>
                    <a:pt x="138" y="0"/>
                  </a:lnTo>
                  <a:lnTo>
                    <a:pt x="13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41" name="Freeform 581"/>
            <p:cNvSpPr>
              <a:spLocks/>
            </p:cNvSpPr>
            <p:nvPr/>
          </p:nvSpPr>
          <p:spPr bwMode="auto">
            <a:xfrm>
              <a:off x="3634" y="2588"/>
              <a:ext cx="226" cy="226"/>
            </a:xfrm>
            <a:custGeom>
              <a:avLst/>
              <a:gdLst>
                <a:gd name="T0" fmla="*/ 0 w 1354"/>
                <a:gd name="T1" fmla="*/ 1353 h 1353"/>
                <a:gd name="T2" fmla="*/ 818 w 1354"/>
                <a:gd name="T3" fmla="*/ 536 h 1353"/>
                <a:gd name="T4" fmla="*/ 1353 w 1354"/>
                <a:gd name="T5" fmla="*/ 0 h 1353"/>
                <a:gd name="T6" fmla="*/ 1354 w 1354"/>
                <a:gd name="T7" fmla="*/ 0 h 1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4" h="1353">
                  <a:moveTo>
                    <a:pt x="0" y="1353"/>
                  </a:moveTo>
                  <a:lnTo>
                    <a:pt x="818" y="536"/>
                  </a:lnTo>
                  <a:lnTo>
                    <a:pt x="1353" y="0"/>
                  </a:lnTo>
                  <a:lnTo>
                    <a:pt x="135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42" name="Freeform 582"/>
            <p:cNvSpPr>
              <a:spLocks/>
            </p:cNvSpPr>
            <p:nvPr/>
          </p:nvSpPr>
          <p:spPr bwMode="auto">
            <a:xfrm>
              <a:off x="3381" y="3098"/>
              <a:ext cx="3" cy="3"/>
            </a:xfrm>
            <a:custGeom>
              <a:avLst/>
              <a:gdLst>
                <a:gd name="T0" fmla="*/ 0 w 20"/>
                <a:gd name="T1" fmla="*/ 19 h 19"/>
                <a:gd name="T2" fmla="*/ 18 w 20"/>
                <a:gd name="T3" fmla="*/ 0 h 19"/>
                <a:gd name="T4" fmla="*/ 20 w 20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9">
                  <a:moveTo>
                    <a:pt x="0" y="19"/>
                  </a:moveTo>
                  <a:lnTo>
                    <a:pt x="18" y="0"/>
                  </a:lnTo>
                  <a:lnTo>
                    <a:pt x="2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43" name="Freeform 583"/>
            <p:cNvSpPr>
              <a:spLocks/>
            </p:cNvSpPr>
            <p:nvPr/>
          </p:nvSpPr>
          <p:spPr bwMode="auto">
            <a:xfrm>
              <a:off x="3872" y="2583"/>
              <a:ext cx="26" cy="27"/>
            </a:xfrm>
            <a:custGeom>
              <a:avLst/>
              <a:gdLst>
                <a:gd name="T0" fmla="*/ 0 w 161"/>
                <a:gd name="T1" fmla="*/ 160 h 160"/>
                <a:gd name="T2" fmla="*/ 160 w 161"/>
                <a:gd name="T3" fmla="*/ 0 h 160"/>
                <a:gd name="T4" fmla="*/ 161 w 161"/>
                <a:gd name="T5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1" h="160">
                  <a:moveTo>
                    <a:pt x="0" y="160"/>
                  </a:moveTo>
                  <a:lnTo>
                    <a:pt x="160" y="0"/>
                  </a:lnTo>
                  <a:lnTo>
                    <a:pt x="16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44" name="Freeform 584"/>
            <p:cNvSpPr>
              <a:spLocks/>
            </p:cNvSpPr>
            <p:nvPr/>
          </p:nvSpPr>
          <p:spPr bwMode="auto">
            <a:xfrm>
              <a:off x="3384" y="2848"/>
              <a:ext cx="250" cy="250"/>
            </a:xfrm>
            <a:custGeom>
              <a:avLst/>
              <a:gdLst>
                <a:gd name="T0" fmla="*/ 0 w 1504"/>
                <a:gd name="T1" fmla="*/ 1503 h 1503"/>
                <a:gd name="T2" fmla="*/ 1503 w 1504"/>
                <a:gd name="T3" fmla="*/ 0 h 1503"/>
                <a:gd name="T4" fmla="*/ 1504 w 1504"/>
                <a:gd name="T5" fmla="*/ 0 h 1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4" h="1503">
                  <a:moveTo>
                    <a:pt x="0" y="1503"/>
                  </a:moveTo>
                  <a:lnTo>
                    <a:pt x="1503" y="0"/>
                  </a:lnTo>
                  <a:lnTo>
                    <a:pt x="150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45" name="Freeform 585"/>
            <p:cNvSpPr>
              <a:spLocks/>
            </p:cNvSpPr>
            <p:nvPr/>
          </p:nvSpPr>
          <p:spPr bwMode="auto">
            <a:xfrm>
              <a:off x="3770" y="2610"/>
              <a:ext cx="102" cy="101"/>
            </a:xfrm>
            <a:custGeom>
              <a:avLst/>
              <a:gdLst>
                <a:gd name="T0" fmla="*/ 0 w 608"/>
                <a:gd name="T1" fmla="*/ 608 h 608"/>
                <a:gd name="T2" fmla="*/ 607 w 608"/>
                <a:gd name="T3" fmla="*/ 0 h 608"/>
                <a:gd name="T4" fmla="*/ 608 w 608"/>
                <a:gd name="T5" fmla="*/ 0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8" h="608">
                  <a:moveTo>
                    <a:pt x="0" y="608"/>
                  </a:moveTo>
                  <a:lnTo>
                    <a:pt x="607" y="0"/>
                  </a:lnTo>
                  <a:lnTo>
                    <a:pt x="60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46" name="Freeform 586"/>
            <p:cNvSpPr>
              <a:spLocks/>
            </p:cNvSpPr>
            <p:nvPr/>
          </p:nvSpPr>
          <p:spPr bwMode="auto">
            <a:xfrm>
              <a:off x="3634" y="2711"/>
              <a:ext cx="137" cy="137"/>
            </a:xfrm>
            <a:custGeom>
              <a:avLst/>
              <a:gdLst>
                <a:gd name="T0" fmla="*/ 0 w 819"/>
                <a:gd name="T1" fmla="*/ 819 h 819"/>
                <a:gd name="T2" fmla="*/ 818 w 819"/>
                <a:gd name="T3" fmla="*/ 0 h 819"/>
                <a:gd name="T4" fmla="*/ 819 w 819"/>
                <a:gd name="T5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9" h="819">
                  <a:moveTo>
                    <a:pt x="0" y="819"/>
                  </a:moveTo>
                  <a:lnTo>
                    <a:pt x="818" y="0"/>
                  </a:lnTo>
                  <a:lnTo>
                    <a:pt x="81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47" name="Freeform 587"/>
            <p:cNvSpPr>
              <a:spLocks/>
            </p:cNvSpPr>
            <p:nvPr/>
          </p:nvSpPr>
          <p:spPr bwMode="auto">
            <a:xfrm>
              <a:off x="3407" y="3095"/>
              <a:ext cx="14" cy="14"/>
            </a:xfrm>
            <a:custGeom>
              <a:avLst/>
              <a:gdLst>
                <a:gd name="T0" fmla="*/ 0 w 89"/>
                <a:gd name="T1" fmla="*/ 88 h 88"/>
                <a:gd name="T2" fmla="*/ 88 w 89"/>
                <a:gd name="T3" fmla="*/ 0 h 88"/>
                <a:gd name="T4" fmla="*/ 89 w 89"/>
                <a:gd name="T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88">
                  <a:moveTo>
                    <a:pt x="0" y="88"/>
                  </a:moveTo>
                  <a:lnTo>
                    <a:pt x="88" y="0"/>
                  </a:lnTo>
                  <a:lnTo>
                    <a:pt x="8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48" name="Freeform 588"/>
            <p:cNvSpPr>
              <a:spLocks/>
            </p:cNvSpPr>
            <p:nvPr/>
          </p:nvSpPr>
          <p:spPr bwMode="auto">
            <a:xfrm>
              <a:off x="3884" y="2603"/>
              <a:ext cx="29" cy="29"/>
            </a:xfrm>
            <a:custGeom>
              <a:avLst/>
              <a:gdLst>
                <a:gd name="T0" fmla="*/ 0 w 174"/>
                <a:gd name="T1" fmla="*/ 172 h 172"/>
                <a:gd name="T2" fmla="*/ 172 w 174"/>
                <a:gd name="T3" fmla="*/ 0 h 172"/>
                <a:gd name="T4" fmla="*/ 174 w 174"/>
                <a:gd name="T5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" h="172">
                  <a:moveTo>
                    <a:pt x="0" y="172"/>
                  </a:moveTo>
                  <a:lnTo>
                    <a:pt x="172" y="0"/>
                  </a:lnTo>
                  <a:lnTo>
                    <a:pt x="17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49" name="Freeform 589"/>
            <p:cNvSpPr>
              <a:spLocks/>
            </p:cNvSpPr>
            <p:nvPr/>
          </p:nvSpPr>
          <p:spPr bwMode="auto">
            <a:xfrm>
              <a:off x="3421" y="2881"/>
              <a:ext cx="213" cy="214"/>
            </a:xfrm>
            <a:custGeom>
              <a:avLst/>
              <a:gdLst>
                <a:gd name="T0" fmla="*/ 0 w 1278"/>
                <a:gd name="T1" fmla="*/ 1278 h 1278"/>
                <a:gd name="T2" fmla="*/ 1277 w 1278"/>
                <a:gd name="T3" fmla="*/ 0 h 1278"/>
                <a:gd name="T4" fmla="*/ 1278 w 1278"/>
                <a:gd name="T5" fmla="*/ 0 h 1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8" h="1278">
                  <a:moveTo>
                    <a:pt x="0" y="1278"/>
                  </a:moveTo>
                  <a:lnTo>
                    <a:pt x="1277" y="0"/>
                  </a:lnTo>
                  <a:lnTo>
                    <a:pt x="127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150" name="Freeform 590"/>
            <p:cNvSpPr>
              <a:spLocks/>
            </p:cNvSpPr>
            <p:nvPr/>
          </p:nvSpPr>
          <p:spPr bwMode="auto">
            <a:xfrm>
              <a:off x="3770" y="2632"/>
              <a:ext cx="114" cy="113"/>
            </a:xfrm>
            <a:custGeom>
              <a:avLst/>
              <a:gdLst>
                <a:gd name="T0" fmla="*/ 0 w 683"/>
                <a:gd name="T1" fmla="*/ 682 h 682"/>
                <a:gd name="T2" fmla="*/ 682 w 683"/>
                <a:gd name="T3" fmla="*/ 0 h 682"/>
                <a:gd name="T4" fmla="*/ 683 w 683"/>
                <a:gd name="T5" fmla="*/ 0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3" h="682">
                  <a:moveTo>
                    <a:pt x="0" y="682"/>
                  </a:moveTo>
                  <a:lnTo>
                    <a:pt x="682" y="0"/>
                  </a:lnTo>
                  <a:lnTo>
                    <a:pt x="68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7799" name="Group 591"/>
            <p:cNvGrpSpPr>
              <a:grpSpLocks/>
            </p:cNvGrpSpPr>
            <p:nvPr/>
          </p:nvGrpSpPr>
          <p:grpSpPr bwMode="auto">
            <a:xfrm>
              <a:off x="3376" y="2463"/>
              <a:ext cx="788" cy="873"/>
              <a:chOff x="3630" y="2100"/>
              <a:chExt cx="788" cy="873"/>
            </a:xfrm>
          </p:grpSpPr>
          <p:sp>
            <p:nvSpPr>
              <p:cNvPr id="67152" name="Freeform 592"/>
              <p:cNvSpPr>
                <a:spLocks/>
              </p:cNvSpPr>
              <p:nvPr/>
            </p:nvSpPr>
            <p:spPr bwMode="auto">
              <a:xfrm>
                <a:off x="3888" y="2382"/>
                <a:ext cx="136" cy="136"/>
              </a:xfrm>
              <a:custGeom>
                <a:avLst/>
                <a:gdLst>
                  <a:gd name="T0" fmla="*/ 0 w 818"/>
                  <a:gd name="T1" fmla="*/ 818 h 818"/>
                  <a:gd name="T2" fmla="*/ 816 w 818"/>
                  <a:gd name="T3" fmla="*/ 0 h 818"/>
                  <a:gd name="T4" fmla="*/ 818 w 818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8">
                    <a:moveTo>
                      <a:pt x="0" y="818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53" name="Freeform 593"/>
              <p:cNvSpPr>
                <a:spLocks/>
              </p:cNvSpPr>
              <p:nvPr/>
            </p:nvSpPr>
            <p:spPr bwMode="auto">
              <a:xfrm>
                <a:off x="3687" y="2729"/>
                <a:ext cx="25" cy="25"/>
              </a:xfrm>
              <a:custGeom>
                <a:avLst/>
                <a:gdLst>
                  <a:gd name="T0" fmla="*/ 0 w 153"/>
                  <a:gd name="T1" fmla="*/ 151 h 151"/>
                  <a:gd name="T2" fmla="*/ 152 w 153"/>
                  <a:gd name="T3" fmla="*/ 0 h 151"/>
                  <a:gd name="T4" fmla="*/ 153 w 153"/>
                  <a:gd name="T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" h="151">
                    <a:moveTo>
                      <a:pt x="0" y="151"/>
                    </a:moveTo>
                    <a:lnTo>
                      <a:pt x="152" y="0"/>
                    </a:lnTo>
                    <a:lnTo>
                      <a:pt x="15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54" name="Freeform 594"/>
              <p:cNvSpPr>
                <a:spLocks/>
              </p:cNvSpPr>
              <p:nvPr/>
            </p:nvSpPr>
            <p:spPr bwMode="auto">
              <a:xfrm>
                <a:off x="4150" y="2260"/>
                <a:ext cx="30" cy="30"/>
              </a:xfrm>
              <a:custGeom>
                <a:avLst/>
                <a:gdLst>
                  <a:gd name="T0" fmla="*/ 0 w 180"/>
                  <a:gd name="T1" fmla="*/ 180 h 180"/>
                  <a:gd name="T2" fmla="*/ 179 w 180"/>
                  <a:gd name="T3" fmla="*/ 0 h 180"/>
                  <a:gd name="T4" fmla="*/ 180 w 180"/>
                  <a:gd name="T5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0" h="180">
                    <a:moveTo>
                      <a:pt x="0" y="180"/>
                    </a:moveTo>
                    <a:lnTo>
                      <a:pt x="179" y="0"/>
                    </a:lnTo>
                    <a:lnTo>
                      <a:pt x="18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55" name="Freeform 595"/>
              <p:cNvSpPr>
                <a:spLocks/>
              </p:cNvSpPr>
              <p:nvPr/>
            </p:nvSpPr>
            <p:spPr bwMode="auto">
              <a:xfrm>
                <a:off x="3712" y="2552"/>
                <a:ext cx="176" cy="177"/>
              </a:xfrm>
              <a:custGeom>
                <a:avLst/>
                <a:gdLst>
                  <a:gd name="T0" fmla="*/ 0 w 1058"/>
                  <a:gd name="T1" fmla="*/ 1058 h 1058"/>
                  <a:gd name="T2" fmla="*/ 1057 w 1058"/>
                  <a:gd name="T3" fmla="*/ 0 h 1058"/>
                  <a:gd name="T4" fmla="*/ 1058 w 1058"/>
                  <a:gd name="T5" fmla="*/ 0 h 10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58" h="1058">
                    <a:moveTo>
                      <a:pt x="0" y="1058"/>
                    </a:moveTo>
                    <a:lnTo>
                      <a:pt x="1057" y="0"/>
                    </a:lnTo>
                    <a:lnTo>
                      <a:pt x="105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56" name="Freeform 596"/>
              <p:cNvSpPr>
                <a:spLocks/>
              </p:cNvSpPr>
              <p:nvPr/>
            </p:nvSpPr>
            <p:spPr bwMode="auto">
              <a:xfrm>
                <a:off x="4024" y="2290"/>
                <a:ext cx="126" cy="126"/>
              </a:xfrm>
              <a:custGeom>
                <a:avLst/>
                <a:gdLst>
                  <a:gd name="T0" fmla="*/ 0 w 757"/>
                  <a:gd name="T1" fmla="*/ 755 h 755"/>
                  <a:gd name="T2" fmla="*/ 756 w 757"/>
                  <a:gd name="T3" fmla="*/ 0 h 755"/>
                  <a:gd name="T4" fmla="*/ 757 w 757"/>
                  <a:gd name="T5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7" h="755">
                    <a:moveTo>
                      <a:pt x="0" y="755"/>
                    </a:moveTo>
                    <a:lnTo>
                      <a:pt x="756" y="0"/>
                    </a:lnTo>
                    <a:lnTo>
                      <a:pt x="75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57" name="Freeform 597"/>
              <p:cNvSpPr>
                <a:spLocks/>
              </p:cNvSpPr>
              <p:nvPr/>
            </p:nvSpPr>
            <p:spPr bwMode="auto">
              <a:xfrm>
                <a:off x="3888" y="2416"/>
                <a:ext cx="136" cy="136"/>
              </a:xfrm>
              <a:custGeom>
                <a:avLst/>
                <a:gdLst>
                  <a:gd name="T0" fmla="*/ 0 w 818"/>
                  <a:gd name="T1" fmla="*/ 817 h 817"/>
                  <a:gd name="T2" fmla="*/ 816 w 818"/>
                  <a:gd name="T3" fmla="*/ 0 h 817"/>
                  <a:gd name="T4" fmla="*/ 818 w 818"/>
                  <a:gd name="T5" fmla="*/ 0 h 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7">
                    <a:moveTo>
                      <a:pt x="0" y="817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58" name="Freeform 598"/>
              <p:cNvSpPr>
                <a:spLocks/>
              </p:cNvSpPr>
              <p:nvPr/>
            </p:nvSpPr>
            <p:spPr bwMode="auto">
              <a:xfrm>
                <a:off x="3713" y="2727"/>
                <a:ext cx="35" cy="35"/>
              </a:xfrm>
              <a:custGeom>
                <a:avLst/>
                <a:gdLst>
                  <a:gd name="T0" fmla="*/ 0 w 211"/>
                  <a:gd name="T1" fmla="*/ 211 h 211"/>
                  <a:gd name="T2" fmla="*/ 210 w 211"/>
                  <a:gd name="T3" fmla="*/ 0 h 211"/>
                  <a:gd name="T4" fmla="*/ 211 w 211"/>
                  <a:gd name="T5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1" h="211">
                    <a:moveTo>
                      <a:pt x="0" y="211"/>
                    </a:moveTo>
                    <a:lnTo>
                      <a:pt x="210" y="0"/>
                    </a:lnTo>
                    <a:lnTo>
                      <a:pt x="21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59" name="Freeform 599"/>
              <p:cNvSpPr>
                <a:spLocks/>
              </p:cNvSpPr>
              <p:nvPr/>
            </p:nvSpPr>
            <p:spPr bwMode="auto">
              <a:xfrm>
                <a:off x="4162" y="2282"/>
                <a:ext cx="31" cy="30"/>
              </a:xfrm>
              <a:custGeom>
                <a:avLst/>
                <a:gdLst>
                  <a:gd name="T0" fmla="*/ 0 w 182"/>
                  <a:gd name="T1" fmla="*/ 182 h 182"/>
                  <a:gd name="T2" fmla="*/ 181 w 182"/>
                  <a:gd name="T3" fmla="*/ 0 h 182"/>
                  <a:gd name="T4" fmla="*/ 182 w 182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2">
                    <a:moveTo>
                      <a:pt x="0" y="182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60" name="Freeform 600"/>
              <p:cNvSpPr>
                <a:spLocks/>
              </p:cNvSpPr>
              <p:nvPr/>
            </p:nvSpPr>
            <p:spPr bwMode="auto">
              <a:xfrm>
                <a:off x="3748" y="2586"/>
                <a:ext cx="140" cy="141"/>
              </a:xfrm>
              <a:custGeom>
                <a:avLst/>
                <a:gdLst>
                  <a:gd name="T0" fmla="*/ 0 w 843"/>
                  <a:gd name="T1" fmla="*/ 843 h 843"/>
                  <a:gd name="T2" fmla="*/ 842 w 843"/>
                  <a:gd name="T3" fmla="*/ 0 h 843"/>
                  <a:gd name="T4" fmla="*/ 843 w 843"/>
                  <a:gd name="T5" fmla="*/ 0 h 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3" h="843">
                    <a:moveTo>
                      <a:pt x="0" y="843"/>
                    </a:moveTo>
                    <a:lnTo>
                      <a:pt x="842" y="0"/>
                    </a:lnTo>
                    <a:lnTo>
                      <a:pt x="84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61" name="Freeform 601"/>
              <p:cNvSpPr>
                <a:spLocks/>
              </p:cNvSpPr>
              <p:nvPr/>
            </p:nvSpPr>
            <p:spPr bwMode="auto">
              <a:xfrm>
                <a:off x="4024" y="2312"/>
                <a:ext cx="138" cy="138"/>
              </a:xfrm>
              <a:custGeom>
                <a:avLst/>
                <a:gdLst>
                  <a:gd name="T0" fmla="*/ 0 w 830"/>
                  <a:gd name="T1" fmla="*/ 829 h 829"/>
                  <a:gd name="T2" fmla="*/ 829 w 830"/>
                  <a:gd name="T3" fmla="*/ 0 h 829"/>
                  <a:gd name="T4" fmla="*/ 830 w 830"/>
                  <a:gd name="T5" fmla="*/ 0 h 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0" h="829">
                    <a:moveTo>
                      <a:pt x="0" y="829"/>
                    </a:moveTo>
                    <a:lnTo>
                      <a:pt x="829" y="0"/>
                    </a:lnTo>
                    <a:lnTo>
                      <a:pt x="83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62" name="Freeform 602"/>
              <p:cNvSpPr>
                <a:spLocks/>
              </p:cNvSpPr>
              <p:nvPr/>
            </p:nvSpPr>
            <p:spPr bwMode="auto">
              <a:xfrm>
                <a:off x="3888" y="2450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63" name="Freeform 603"/>
              <p:cNvSpPr>
                <a:spLocks/>
              </p:cNvSpPr>
              <p:nvPr/>
            </p:nvSpPr>
            <p:spPr bwMode="auto">
              <a:xfrm>
                <a:off x="3739" y="2725"/>
                <a:ext cx="44" cy="44"/>
              </a:xfrm>
              <a:custGeom>
                <a:avLst/>
                <a:gdLst>
                  <a:gd name="T0" fmla="*/ 0 w 267"/>
                  <a:gd name="T1" fmla="*/ 266 h 266"/>
                  <a:gd name="T2" fmla="*/ 266 w 267"/>
                  <a:gd name="T3" fmla="*/ 0 h 266"/>
                  <a:gd name="T4" fmla="*/ 267 w 267"/>
                  <a:gd name="T5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7" h="266">
                    <a:moveTo>
                      <a:pt x="0" y="266"/>
                    </a:moveTo>
                    <a:lnTo>
                      <a:pt x="266" y="0"/>
                    </a:lnTo>
                    <a:lnTo>
                      <a:pt x="2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64" name="Freeform 604"/>
              <p:cNvSpPr>
                <a:spLocks/>
              </p:cNvSpPr>
              <p:nvPr/>
            </p:nvSpPr>
            <p:spPr bwMode="auto">
              <a:xfrm>
                <a:off x="4174" y="2304"/>
                <a:ext cx="31" cy="30"/>
              </a:xfrm>
              <a:custGeom>
                <a:avLst/>
                <a:gdLst>
                  <a:gd name="T0" fmla="*/ 0 w 182"/>
                  <a:gd name="T1" fmla="*/ 181 h 181"/>
                  <a:gd name="T2" fmla="*/ 181 w 182"/>
                  <a:gd name="T3" fmla="*/ 0 h 181"/>
                  <a:gd name="T4" fmla="*/ 182 w 182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1">
                    <a:moveTo>
                      <a:pt x="0" y="181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65" name="Freeform 605"/>
              <p:cNvSpPr>
                <a:spLocks/>
              </p:cNvSpPr>
              <p:nvPr/>
            </p:nvSpPr>
            <p:spPr bwMode="auto">
              <a:xfrm>
                <a:off x="3783" y="2620"/>
                <a:ext cx="105" cy="105"/>
              </a:xfrm>
              <a:custGeom>
                <a:avLst/>
                <a:gdLst>
                  <a:gd name="T0" fmla="*/ 0 w 631"/>
                  <a:gd name="T1" fmla="*/ 631 h 631"/>
                  <a:gd name="T2" fmla="*/ 630 w 631"/>
                  <a:gd name="T3" fmla="*/ 0 h 631"/>
                  <a:gd name="T4" fmla="*/ 631 w 631"/>
                  <a:gd name="T5" fmla="*/ 0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1" h="631">
                    <a:moveTo>
                      <a:pt x="0" y="631"/>
                    </a:moveTo>
                    <a:lnTo>
                      <a:pt x="630" y="0"/>
                    </a:lnTo>
                    <a:lnTo>
                      <a:pt x="63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66" name="Freeform 606"/>
              <p:cNvSpPr>
                <a:spLocks/>
              </p:cNvSpPr>
              <p:nvPr/>
            </p:nvSpPr>
            <p:spPr bwMode="auto">
              <a:xfrm>
                <a:off x="4024" y="2334"/>
                <a:ext cx="150" cy="150"/>
              </a:xfrm>
              <a:custGeom>
                <a:avLst/>
                <a:gdLst>
                  <a:gd name="T0" fmla="*/ 0 w 903"/>
                  <a:gd name="T1" fmla="*/ 902 h 902"/>
                  <a:gd name="T2" fmla="*/ 902 w 903"/>
                  <a:gd name="T3" fmla="*/ 0 h 902"/>
                  <a:gd name="T4" fmla="*/ 903 w 903"/>
                  <a:gd name="T5" fmla="*/ 0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3" h="902">
                    <a:moveTo>
                      <a:pt x="0" y="902"/>
                    </a:moveTo>
                    <a:lnTo>
                      <a:pt x="902" y="0"/>
                    </a:lnTo>
                    <a:lnTo>
                      <a:pt x="90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67" name="Freeform 607"/>
              <p:cNvSpPr>
                <a:spLocks/>
              </p:cNvSpPr>
              <p:nvPr/>
            </p:nvSpPr>
            <p:spPr bwMode="auto">
              <a:xfrm>
                <a:off x="3888" y="2484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68" name="Freeform 608"/>
              <p:cNvSpPr>
                <a:spLocks/>
              </p:cNvSpPr>
              <p:nvPr/>
            </p:nvSpPr>
            <p:spPr bwMode="auto">
              <a:xfrm>
                <a:off x="3765" y="2724"/>
                <a:ext cx="53" cy="53"/>
              </a:xfrm>
              <a:custGeom>
                <a:avLst/>
                <a:gdLst>
                  <a:gd name="T0" fmla="*/ 0 w 318"/>
                  <a:gd name="T1" fmla="*/ 317 h 317"/>
                  <a:gd name="T2" fmla="*/ 317 w 318"/>
                  <a:gd name="T3" fmla="*/ 0 h 317"/>
                  <a:gd name="T4" fmla="*/ 318 w 318"/>
                  <a:gd name="T5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8" h="317">
                    <a:moveTo>
                      <a:pt x="0" y="317"/>
                    </a:moveTo>
                    <a:lnTo>
                      <a:pt x="317" y="0"/>
                    </a:lnTo>
                    <a:lnTo>
                      <a:pt x="3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69" name="Freeform 609"/>
              <p:cNvSpPr>
                <a:spLocks/>
              </p:cNvSpPr>
              <p:nvPr/>
            </p:nvSpPr>
            <p:spPr bwMode="auto">
              <a:xfrm>
                <a:off x="4186" y="2325"/>
                <a:ext cx="31" cy="31"/>
              </a:xfrm>
              <a:custGeom>
                <a:avLst/>
                <a:gdLst>
                  <a:gd name="T0" fmla="*/ 0 w 184"/>
                  <a:gd name="T1" fmla="*/ 182 h 182"/>
                  <a:gd name="T2" fmla="*/ 183 w 184"/>
                  <a:gd name="T3" fmla="*/ 0 h 182"/>
                  <a:gd name="T4" fmla="*/ 184 w 184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2">
                    <a:moveTo>
                      <a:pt x="0" y="182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70" name="Freeform 610"/>
              <p:cNvSpPr>
                <a:spLocks/>
              </p:cNvSpPr>
              <p:nvPr/>
            </p:nvSpPr>
            <p:spPr bwMode="auto">
              <a:xfrm>
                <a:off x="3818" y="2654"/>
                <a:ext cx="70" cy="70"/>
              </a:xfrm>
              <a:custGeom>
                <a:avLst/>
                <a:gdLst>
                  <a:gd name="T0" fmla="*/ 0 w 423"/>
                  <a:gd name="T1" fmla="*/ 423 h 423"/>
                  <a:gd name="T2" fmla="*/ 422 w 423"/>
                  <a:gd name="T3" fmla="*/ 0 h 423"/>
                  <a:gd name="T4" fmla="*/ 423 w 423"/>
                  <a:gd name="T5" fmla="*/ 0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3" h="423">
                    <a:moveTo>
                      <a:pt x="0" y="423"/>
                    </a:moveTo>
                    <a:lnTo>
                      <a:pt x="422" y="0"/>
                    </a:lnTo>
                    <a:lnTo>
                      <a:pt x="42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71" name="Freeform 611"/>
              <p:cNvSpPr>
                <a:spLocks/>
              </p:cNvSpPr>
              <p:nvPr/>
            </p:nvSpPr>
            <p:spPr bwMode="auto">
              <a:xfrm>
                <a:off x="4024" y="2356"/>
                <a:ext cx="163" cy="162"/>
              </a:xfrm>
              <a:custGeom>
                <a:avLst/>
                <a:gdLst>
                  <a:gd name="T0" fmla="*/ 0 w 975"/>
                  <a:gd name="T1" fmla="*/ 976 h 976"/>
                  <a:gd name="T2" fmla="*/ 974 w 975"/>
                  <a:gd name="T3" fmla="*/ 0 h 976"/>
                  <a:gd name="T4" fmla="*/ 975 w 975"/>
                  <a:gd name="T5" fmla="*/ 0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5" h="976">
                    <a:moveTo>
                      <a:pt x="0" y="976"/>
                    </a:moveTo>
                    <a:lnTo>
                      <a:pt x="974" y="0"/>
                    </a:lnTo>
                    <a:lnTo>
                      <a:pt x="97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72" name="Freeform 612"/>
              <p:cNvSpPr>
                <a:spLocks/>
              </p:cNvSpPr>
              <p:nvPr/>
            </p:nvSpPr>
            <p:spPr bwMode="auto">
              <a:xfrm>
                <a:off x="3888" y="2518"/>
                <a:ext cx="136" cy="136"/>
              </a:xfrm>
              <a:custGeom>
                <a:avLst/>
                <a:gdLst>
                  <a:gd name="T0" fmla="*/ 0 w 816"/>
                  <a:gd name="T1" fmla="*/ 815 h 815"/>
                  <a:gd name="T2" fmla="*/ 815 w 816"/>
                  <a:gd name="T3" fmla="*/ 0 h 815"/>
                  <a:gd name="T4" fmla="*/ 816 w 816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5">
                    <a:moveTo>
                      <a:pt x="0" y="815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73" name="Freeform 613"/>
              <p:cNvSpPr>
                <a:spLocks/>
              </p:cNvSpPr>
              <p:nvPr/>
            </p:nvSpPr>
            <p:spPr bwMode="auto">
              <a:xfrm>
                <a:off x="3791" y="2724"/>
                <a:ext cx="61" cy="61"/>
              </a:xfrm>
              <a:custGeom>
                <a:avLst/>
                <a:gdLst>
                  <a:gd name="T0" fmla="*/ 0 w 366"/>
                  <a:gd name="T1" fmla="*/ 364 h 364"/>
                  <a:gd name="T2" fmla="*/ 365 w 366"/>
                  <a:gd name="T3" fmla="*/ 0 h 364"/>
                  <a:gd name="T4" fmla="*/ 366 w 366"/>
                  <a:gd name="T5" fmla="*/ 0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6" h="364">
                    <a:moveTo>
                      <a:pt x="0" y="364"/>
                    </a:moveTo>
                    <a:lnTo>
                      <a:pt x="365" y="0"/>
                    </a:lnTo>
                    <a:lnTo>
                      <a:pt x="36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74" name="Freeform 614"/>
              <p:cNvSpPr>
                <a:spLocks/>
              </p:cNvSpPr>
              <p:nvPr/>
            </p:nvSpPr>
            <p:spPr bwMode="auto">
              <a:xfrm>
                <a:off x="4198" y="2347"/>
                <a:ext cx="31" cy="30"/>
              </a:xfrm>
              <a:custGeom>
                <a:avLst/>
                <a:gdLst>
                  <a:gd name="T0" fmla="*/ 0 w 184"/>
                  <a:gd name="T1" fmla="*/ 184 h 184"/>
                  <a:gd name="T2" fmla="*/ 183 w 184"/>
                  <a:gd name="T3" fmla="*/ 0 h 184"/>
                  <a:gd name="T4" fmla="*/ 184 w 184"/>
                  <a:gd name="T5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4">
                    <a:moveTo>
                      <a:pt x="0" y="184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75" name="Freeform 615"/>
              <p:cNvSpPr>
                <a:spLocks/>
              </p:cNvSpPr>
              <p:nvPr/>
            </p:nvSpPr>
            <p:spPr bwMode="auto">
              <a:xfrm>
                <a:off x="3852" y="2688"/>
                <a:ext cx="36" cy="36"/>
              </a:xfrm>
              <a:custGeom>
                <a:avLst/>
                <a:gdLst>
                  <a:gd name="T0" fmla="*/ 0 w 219"/>
                  <a:gd name="T1" fmla="*/ 219 h 219"/>
                  <a:gd name="T2" fmla="*/ 218 w 219"/>
                  <a:gd name="T3" fmla="*/ 0 h 219"/>
                  <a:gd name="T4" fmla="*/ 219 w 219"/>
                  <a:gd name="T5" fmla="*/ 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9" h="219">
                    <a:moveTo>
                      <a:pt x="0" y="219"/>
                    </a:moveTo>
                    <a:lnTo>
                      <a:pt x="218" y="0"/>
                    </a:lnTo>
                    <a:lnTo>
                      <a:pt x="21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76" name="Freeform 616"/>
              <p:cNvSpPr>
                <a:spLocks/>
              </p:cNvSpPr>
              <p:nvPr/>
            </p:nvSpPr>
            <p:spPr bwMode="auto">
              <a:xfrm>
                <a:off x="4024" y="2377"/>
                <a:ext cx="175" cy="175"/>
              </a:xfrm>
              <a:custGeom>
                <a:avLst/>
                <a:gdLst>
                  <a:gd name="T0" fmla="*/ 0 w 1049"/>
                  <a:gd name="T1" fmla="*/ 1048 h 1048"/>
                  <a:gd name="T2" fmla="*/ 1048 w 1049"/>
                  <a:gd name="T3" fmla="*/ 0 h 1048"/>
                  <a:gd name="T4" fmla="*/ 1049 w 1049"/>
                  <a:gd name="T5" fmla="*/ 0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9" h="1048">
                    <a:moveTo>
                      <a:pt x="0" y="1048"/>
                    </a:moveTo>
                    <a:lnTo>
                      <a:pt x="1048" y="0"/>
                    </a:lnTo>
                    <a:lnTo>
                      <a:pt x="104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77" name="Freeform 617"/>
              <p:cNvSpPr>
                <a:spLocks/>
              </p:cNvSpPr>
              <p:nvPr/>
            </p:nvSpPr>
            <p:spPr bwMode="auto">
              <a:xfrm>
                <a:off x="3888" y="2552"/>
                <a:ext cx="136" cy="136"/>
              </a:xfrm>
              <a:custGeom>
                <a:avLst/>
                <a:gdLst>
                  <a:gd name="T0" fmla="*/ 0 w 815"/>
                  <a:gd name="T1" fmla="*/ 815 h 815"/>
                  <a:gd name="T2" fmla="*/ 814 w 815"/>
                  <a:gd name="T3" fmla="*/ 0 h 815"/>
                  <a:gd name="T4" fmla="*/ 815 w 815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5">
                    <a:moveTo>
                      <a:pt x="0" y="815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78" name="Freeform 618"/>
              <p:cNvSpPr>
                <a:spLocks/>
              </p:cNvSpPr>
              <p:nvPr/>
            </p:nvSpPr>
            <p:spPr bwMode="auto">
              <a:xfrm>
                <a:off x="3817" y="2724"/>
                <a:ext cx="69" cy="69"/>
              </a:xfrm>
              <a:custGeom>
                <a:avLst/>
                <a:gdLst>
                  <a:gd name="T0" fmla="*/ 0 w 411"/>
                  <a:gd name="T1" fmla="*/ 410 h 410"/>
                  <a:gd name="T2" fmla="*/ 410 w 411"/>
                  <a:gd name="T3" fmla="*/ 0 h 410"/>
                  <a:gd name="T4" fmla="*/ 411 w 411"/>
                  <a:gd name="T5" fmla="*/ 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1" h="410">
                    <a:moveTo>
                      <a:pt x="0" y="410"/>
                    </a:moveTo>
                    <a:lnTo>
                      <a:pt x="410" y="0"/>
                    </a:lnTo>
                    <a:lnTo>
                      <a:pt x="41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79" name="Freeform 619"/>
              <p:cNvSpPr>
                <a:spLocks/>
              </p:cNvSpPr>
              <p:nvPr/>
            </p:nvSpPr>
            <p:spPr bwMode="auto">
              <a:xfrm>
                <a:off x="4211" y="2368"/>
                <a:ext cx="31" cy="31"/>
              </a:xfrm>
              <a:custGeom>
                <a:avLst/>
                <a:gdLst>
                  <a:gd name="T0" fmla="*/ 0 w 187"/>
                  <a:gd name="T1" fmla="*/ 186 h 186"/>
                  <a:gd name="T2" fmla="*/ 186 w 187"/>
                  <a:gd name="T3" fmla="*/ 0 h 186"/>
                  <a:gd name="T4" fmla="*/ 187 w 187"/>
                  <a:gd name="T5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6">
                    <a:moveTo>
                      <a:pt x="0" y="186"/>
                    </a:moveTo>
                    <a:lnTo>
                      <a:pt x="186" y="0"/>
                    </a:lnTo>
                    <a:lnTo>
                      <a:pt x="18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80" name="Freeform 620"/>
              <p:cNvSpPr>
                <a:spLocks/>
              </p:cNvSpPr>
              <p:nvPr/>
            </p:nvSpPr>
            <p:spPr bwMode="auto">
              <a:xfrm>
                <a:off x="3885" y="2722"/>
                <a:ext cx="3" cy="2"/>
              </a:xfrm>
              <a:custGeom>
                <a:avLst/>
                <a:gdLst>
                  <a:gd name="T0" fmla="*/ 0 w 18"/>
                  <a:gd name="T1" fmla="*/ 17 h 17"/>
                  <a:gd name="T2" fmla="*/ 17 w 18"/>
                  <a:gd name="T3" fmla="*/ 0 h 17"/>
                  <a:gd name="T4" fmla="*/ 18 w 18"/>
                  <a:gd name="T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" h="17">
                    <a:moveTo>
                      <a:pt x="0" y="17"/>
                    </a:moveTo>
                    <a:lnTo>
                      <a:pt x="17" y="0"/>
                    </a:lnTo>
                    <a:lnTo>
                      <a:pt x="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81" name="Freeform 621"/>
              <p:cNvSpPr>
                <a:spLocks/>
              </p:cNvSpPr>
              <p:nvPr/>
            </p:nvSpPr>
            <p:spPr bwMode="auto">
              <a:xfrm>
                <a:off x="4024" y="2399"/>
                <a:ext cx="187" cy="187"/>
              </a:xfrm>
              <a:custGeom>
                <a:avLst/>
                <a:gdLst>
                  <a:gd name="T0" fmla="*/ 0 w 1121"/>
                  <a:gd name="T1" fmla="*/ 1121 h 1121"/>
                  <a:gd name="T2" fmla="*/ 1120 w 1121"/>
                  <a:gd name="T3" fmla="*/ 0 h 1121"/>
                  <a:gd name="T4" fmla="*/ 1121 w 1121"/>
                  <a:gd name="T5" fmla="*/ 0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1" h="1121">
                    <a:moveTo>
                      <a:pt x="0" y="1121"/>
                    </a:moveTo>
                    <a:lnTo>
                      <a:pt x="1120" y="0"/>
                    </a:lnTo>
                    <a:lnTo>
                      <a:pt x="112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82" name="Freeform 622"/>
              <p:cNvSpPr>
                <a:spLocks/>
              </p:cNvSpPr>
              <p:nvPr/>
            </p:nvSpPr>
            <p:spPr bwMode="auto">
              <a:xfrm>
                <a:off x="3888" y="2586"/>
                <a:ext cx="136" cy="136"/>
              </a:xfrm>
              <a:custGeom>
                <a:avLst/>
                <a:gdLst>
                  <a:gd name="T0" fmla="*/ 0 w 815"/>
                  <a:gd name="T1" fmla="*/ 814 h 814"/>
                  <a:gd name="T2" fmla="*/ 814 w 815"/>
                  <a:gd name="T3" fmla="*/ 0 h 814"/>
                  <a:gd name="T4" fmla="*/ 815 w 815"/>
                  <a:gd name="T5" fmla="*/ 0 h 8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4">
                    <a:moveTo>
                      <a:pt x="0" y="814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83" name="Freeform 623"/>
              <p:cNvSpPr>
                <a:spLocks/>
              </p:cNvSpPr>
              <p:nvPr/>
            </p:nvSpPr>
            <p:spPr bwMode="auto">
              <a:xfrm>
                <a:off x="3843" y="2756"/>
                <a:ext cx="45" cy="45"/>
              </a:xfrm>
              <a:custGeom>
                <a:avLst/>
                <a:gdLst>
                  <a:gd name="T0" fmla="*/ 0 w 270"/>
                  <a:gd name="T1" fmla="*/ 271 h 271"/>
                  <a:gd name="T2" fmla="*/ 269 w 270"/>
                  <a:gd name="T3" fmla="*/ 0 h 271"/>
                  <a:gd name="T4" fmla="*/ 270 w 270"/>
                  <a:gd name="T5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0" h="271">
                    <a:moveTo>
                      <a:pt x="0" y="271"/>
                    </a:moveTo>
                    <a:lnTo>
                      <a:pt x="269" y="0"/>
                    </a:lnTo>
                    <a:lnTo>
                      <a:pt x="27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84" name="Freeform 624"/>
              <p:cNvSpPr>
                <a:spLocks/>
              </p:cNvSpPr>
              <p:nvPr/>
            </p:nvSpPr>
            <p:spPr bwMode="auto">
              <a:xfrm>
                <a:off x="4223" y="2390"/>
                <a:ext cx="31" cy="31"/>
              </a:xfrm>
              <a:custGeom>
                <a:avLst/>
                <a:gdLst>
                  <a:gd name="T0" fmla="*/ 0 w 187"/>
                  <a:gd name="T1" fmla="*/ 185 h 185"/>
                  <a:gd name="T2" fmla="*/ 185 w 187"/>
                  <a:gd name="T3" fmla="*/ 0 h 185"/>
                  <a:gd name="T4" fmla="*/ 187 w 187"/>
                  <a:gd name="T5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5">
                    <a:moveTo>
                      <a:pt x="0" y="185"/>
                    </a:moveTo>
                    <a:lnTo>
                      <a:pt x="185" y="0"/>
                    </a:lnTo>
                    <a:lnTo>
                      <a:pt x="18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85" name="Freeform 625"/>
              <p:cNvSpPr>
                <a:spLocks/>
              </p:cNvSpPr>
              <p:nvPr/>
            </p:nvSpPr>
            <p:spPr bwMode="auto">
              <a:xfrm>
                <a:off x="3888" y="2725"/>
                <a:ext cx="31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86" name="Freeform 626"/>
              <p:cNvSpPr>
                <a:spLocks/>
              </p:cNvSpPr>
              <p:nvPr/>
            </p:nvSpPr>
            <p:spPr bwMode="auto">
              <a:xfrm>
                <a:off x="4024" y="2421"/>
                <a:ext cx="199" cy="199"/>
              </a:xfrm>
              <a:custGeom>
                <a:avLst/>
                <a:gdLst>
                  <a:gd name="T0" fmla="*/ 0 w 1195"/>
                  <a:gd name="T1" fmla="*/ 1194 h 1194"/>
                  <a:gd name="T2" fmla="*/ 1194 w 1195"/>
                  <a:gd name="T3" fmla="*/ 0 h 1194"/>
                  <a:gd name="T4" fmla="*/ 1195 w 1195"/>
                  <a:gd name="T5" fmla="*/ 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95" h="1194">
                    <a:moveTo>
                      <a:pt x="0" y="1194"/>
                    </a:moveTo>
                    <a:lnTo>
                      <a:pt x="1194" y="0"/>
                    </a:lnTo>
                    <a:lnTo>
                      <a:pt x="119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87" name="Freeform 627"/>
              <p:cNvSpPr>
                <a:spLocks/>
              </p:cNvSpPr>
              <p:nvPr/>
            </p:nvSpPr>
            <p:spPr bwMode="auto">
              <a:xfrm>
                <a:off x="3919" y="2620"/>
                <a:ext cx="105" cy="105"/>
              </a:xfrm>
              <a:custGeom>
                <a:avLst/>
                <a:gdLst>
                  <a:gd name="T0" fmla="*/ 0 w 632"/>
                  <a:gd name="T1" fmla="*/ 633 h 633"/>
                  <a:gd name="T2" fmla="*/ 631 w 632"/>
                  <a:gd name="T3" fmla="*/ 0 h 633"/>
                  <a:gd name="T4" fmla="*/ 632 w 632"/>
                  <a:gd name="T5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2" h="633">
                    <a:moveTo>
                      <a:pt x="0" y="633"/>
                    </a:moveTo>
                    <a:lnTo>
                      <a:pt x="631" y="0"/>
                    </a:lnTo>
                    <a:lnTo>
                      <a:pt x="63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88" name="Freeform 628"/>
              <p:cNvSpPr>
                <a:spLocks/>
              </p:cNvSpPr>
              <p:nvPr/>
            </p:nvSpPr>
            <p:spPr bwMode="auto">
              <a:xfrm>
                <a:off x="3869" y="2789"/>
                <a:ext cx="19" cy="19"/>
              </a:xfrm>
              <a:custGeom>
                <a:avLst/>
                <a:gdLst>
                  <a:gd name="T0" fmla="*/ 0 w 114"/>
                  <a:gd name="T1" fmla="*/ 114 h 114"/>
                  <a:gd name="T2" fmla="*/ 113 w 114"/>
                  <a:gd name="T3" fmla="*/ 0 h 114"/>
                  <a:gd name="T4" fmla="*/ 114 w 114"/>
                  <a:gd name="T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4" h="114">
                    <a:moveTo>
                      <a:pt x="0" y="114"/>
                    </a:moveTo>
                    <a:lnTo>
                      <a:pt x="113" y="0"/>
                    </a:lnTo>
                    <a:lnTo>
                      <a:pt x="11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89" name="Freeform 629"/>
              <p:cNvSpPr>
                <a:spLocks/>
              </p:cNvSpPr>
              <p:nvPr/>
            </p:nvSpPr>
            <p:spPr bwMode="auto">
              <a:xfrm>
                <a:off x="4235" y="2412"/>
                <a:ext cx="30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90" name="Freeform 630"/>
              <p:cNvSpPr>
                <a:spLocks/>
              </p:cNvSpPr>
              <p:nvPr/>
            </p:nvSpPr>
            <p:spPr bwMode="auto">
              <a:xfrm>
                <a:off x="3888" y="2727"/>
                <a:ext cx="63" cy="62"/>
              </a:xfrm>
              <a:custGeom>
                <a:avLst/>
                <a:gdLst>
                  <a:gd name="T0" fmla="*/ 0 w 379"/>
                  <a:gd name="T1" fmla="*/ 377 h 377"/>
                  <a:gd name="T2" fmla="*/ 378 w 379"/>
                  <a:gd name="T3" fmla="*/ 0 h 377"/>
                  <a:gd name="T4" fmla="*/ 379 w 379"/>
                  <a:gd name="T5" fmla="*/ 0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9" h="377">
                    <a:moveTo>
                      <a:pt x="0" y="377"/>
                    </a:moveTo>
                    <a:lnTo>
                      <a:pt x="378" y="0"/>
                    </a:lnTo>
                    <a:lnTo>
                      <a:pt x="37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91" name="Freeform 631"/>
              <p:cNvSpPr>
                <a:spLocks/>
              </p:cNvSpPr>
              <p:nvPr/>
            </p:nvSpPr>
            <p:spPr bwMode="auto">
              <a:xfrm>
                <a:off x="4024" y="2443"/>
                <a:ext cx="211" cy="211"/>
              </a:xfrm>
              <a:custGeom>
                <a:avLst/>
                <a:gdLst>
                  <a:gd name="T0" fmla="*/ 0 w 1267"/>
                  <a:gd name="T1" fmla="*/ 1268 h 1268"/>
                  <a:gd name="T2" fmla="*/ 1266 w 1267"/>
                  <a:gd name="T3" fmla="*/ 0 h 1268"/>
                  <a:gd name="T4" fmla="*/ 1267 w 1267"/>
                  <a:gd name="T5" fmla="*/ 0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7" h="1268">
                    <a:moveTo>
                      <a:pt x="0" y="1268"/>
                    </a:moveTo>
                    <a:lnTo>
                      <a:pt x="1266" y="0"/>
                    </a:lnTo>
                    <a:lnTo>
                      <a:pt x="12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92" name="Freeform 632"/>
              <p:cNvSpPr>
                <a:spLocks/>
              </p:cNvSpPr>
              <p:nvPr/>
            </p:nvSpPr>
            <p:spPr bwMode="auto">
              <a:xfrm>
                <a:off x="3951" y="2654"/>
                <a:ext cx="73" cy="73"/>
              </a:xfrm>
              <a:custGeom>
                <a:avLst/>
                <a:gdLst>
                  <a:gd name="T0" fmla="*/ 0 w 436"/>
                  <a:gd name="T1" fmla="*/ 436 h 436"/>
                  <a:gd name="T2" fmla="*/ 435 w 436"/>
                  <a:gd name="T3" fmla="*/ 0 h 436"/>
                  <a:gd name="T4" fmla="*/ 436 w 436"/>
                  <a:gd name="T5" fmla="*/ 0 h 4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6" h="436">
                    <a:moveTo>
                      <a:pt x="0" y="436"/>
                    </a:moveTo>
                    <a:lnTo>
                      <a:pt x="435" y="0"/>
                    </a:lnTo>
                    <a:lnTo>
                      <a:pt x="43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93" name="Freeform 633"/>
              <p:cNvSpPr>
                <a:spLocks/>
              </p:cNvSpPr>
              <p:nvPr/>
            </p:nvSpPr>
            <p:spPr bwMode="auto">
              <a:xfrm>
                <a:off x="3895" y="2728"/>
                <a:ext cx="88" cy="88"/>
              </a:xfrm>
              <a:custGeom>
                <a:avLst/>
                <a:gdLst>
                  <a:gd name="T0" fmla="*/ 0 w 527"/>
                  <a:gd name="T1" fmla="*/ 527 h 527"/>
                  <a:gd name="T2" fmla="*/ 526 w 527"/>
                  <a:gd name="T3" fmla="*/ 0 h 527"/>
                  <a:gd name="T4" fmla="*/ 527 w 527"/>
                  <a:gd name="T5" fmla="*/ 0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" h="527">
                    <a:moveTo>
                      <a:pt x="0" y="527"/>
                    </a:moveTo>
                    <a:lnTo>
                      <a:pt x="526" y="0"/>
                    </a:lnTo>
                    <a:lnTo>
                      <a:pt x="52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94" name="Freeform 634"/>
              <p:cNvSpPr>
                <a:spLocks/>
              </p:cNvSpPr>
              <p:nvPr/>
            </p:nvSpPr>
            <p:spPr bwMode="auto">
              <a:xfrm>
                <a:off x="4247" y="2436"/>
                <a:ext cx="29" cy="28"/>
              </a:xfrm>
              <a:custGeom>
                <a:avLst/>
                <a:gdLst>
                  <a:gd name="T0" fmla="*/ 0 w 173"/>
                  <a:gd name="T1" fmla="*/ 173 h 173"/>
                  <a:gd name="T2" fmla="*/ 172 w 173"/>
                  <a:gd name="T3" fmla="*/ 0 h 173"/>
                  <a:gd name="T4" fmla="*/ 173 w 173"/>
                  <a:gd name="T5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" h="173">
                    <a:moveTo>
                      <a:pt x="0" y="173"/>
                    </a:moveTo>
                    <a:lnTo>
                      <a:pt x="172" y="0"/>
                    </a:lnTo>
                    <a:lnTo>
                      <a:pt x="17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95" name="Freeform 635"/>
              <p:cNvSpPr>
                <a:spLocks/>
              </p:cNvSpPr>
              <p:nvPr/>
            </p:nvSpPr>
            <p:spPr bwMode="auto">
              <a:xfrm>
                <a:off x="3983" y="2464"/>
                <a:ext cx="264" cy="264"/>
              </a:xfrm>
              <a:custGeom>
                <a:avLst/>
                <a:gdLst>
                  <a:gd name="T0" fmla="*/ 0 w 1583"/>
                  <a:gd name="T1" fmla="*/ 1583 h 1583"/>
                  <a:gd name="T2" fmla="*/ 243 w 1583"/>
                  <a:gd name="T3" fmla="*/ 1340 h 1583"/>
                  <a:gd name="T4" fmla="*/ 1582 w 1583"/>
                  <a:gd name="T5" fmla="*/ 0 h 1583"/>
                  <a:gd name="T6" fmla="*/ 1583 w 1583"/>
                  <a:gd name="T7" fmla="*/ 0 h 15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83" h="1583">
                    <a:moveTo>
                      <a:pt x="0" y="1583"/>
                    </a:moveTo>
                    <a:lnTo>
                      <a:pt x="243" y="1340"/>
                    </a:lnTo>
                    <a:lnTo>
                      <a:pt x="1582" y="0"/>
                    </a:lnTo>
                    <a:lnTo>
                      <a:pt x="158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96" name="Freeform 636"/>
              <p:cNvSpPr>
                <a:spLocks/>
              </p:cNvSpPr>
              <p:nvPr/>
            </p:nvSpPr>
            <p:spPr bwMode="auto">
              <a:xfrm>
                <a:off x="3921" y="2730"/>
                <a:ext cx="94" cy="94"/>
              </a:xfrm>
              <a:custGeom>
                <a:avLst/>
                <a:gdLst>
                  <a:gd name="T0" fmla="*/ 0 w 562"/>
                  <a:gd name="T1" fmla="*/ 561 h 561"/>
                  <a:gd name="T2" fmla="*/ 560 w 562"/>
                  <a:gd name="T3" fmla="*/ 0 h 561"/>
                  <a:gd name="T4" fmla="*/ 562 w 562"/>
                  <a:gd name="T5" fmla="*/ 0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2" h="561">
                    <a:moveTo>
                      <a:pt x="0" y="561"/>
                    </a:moveTo>
                    <a:lnTo>
                      <a:pt x="560" y="0"/>
                    </a:lnTo>
                    <a:lnTo>
                      <a:pt x="56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97" name="Freeform 637"/>
              <p:cNvSpPr>
                <a:spLocks/>
              </p:cNvSpPr>
              <p:nvPr/>
            </p:nvSpPr>
            <p:spPr bwMode="auto">
              <a:xfrm>
                <a:off x="4259" y="2460"/>
                <a:ext cx="27" cy="26"/>
              </a:xfrm>
              <a:custGeom>
                <a:avLst/>
                <a:gdLst>
                  <a:gd name="T0" fmla="*/ 0 w 161"/>
                  <a:gd name="T1" fmla="*/ 160 h 160"/>
                  <a:gd name="T2" fmla="*/ 160 w 161"/>
                  <a:gd name="T3" fmla="*/ 0 h 160"/>
                  <a:gd name="T4" fmla="*/ 161 w 16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1" h="160">
                    <a:moveTo>
                      <a:pt x="0" y="160"/>
                    </a:moveTo>
                    <a:lnTo>
                      <a:pt x="160" y="0"/>
                    </a:lnTo>
                    <a:lnTo>
                      <a:pt x="16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98" name="Freeform 638"/>
              <p:cNvSpPr>
                <a:spLocks/>
              </p:cNvSpPr>
              <p:nvPr/>
            </p:nvSpPr>
            <p:spPr bwMode="auto">
              <a:xfrm>
                <a:off x="4015" y="2486"/>
                <a:ext cx="244" cy="244"/>
              </a:xfrm>
              <a:custGeom>
                <a:avLst/>
                <a:gdLst>
                  <a:gd name="T0" fmla="*/ 0 w 1467"/>
                  <a:gd name="T1" fmla="*/ 1466 h 1466"/>
                  <a:gd name="T2" fmla="*/ 52 w 1467"/>
                  <a:gd name="T3" fmla="*/ 1414 h 1466"/>
                  <a:gd name="T4" fmla="*/ 1465 w 1467"/>
                  <a:gd name="T5" fmla="*/ 0 h 1466"/>
                  <a:gd name="T6" fmla="*/ 1467 w 1467"/>
                  <a:gd name="T7" fmla="*/ 0 h 1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67" h="1466">
                    <a:moveTo>
                      <a:pt x="0" y="1466"/>
                    </a:moveTo>
                    <a:lnTo>
                      <a:pt x="52" y="1414"/>
                    </a:lnTo>
                    <a:lnTo>
                      <a:pt x="1465" y="0"/>
                    </a:lnTo>
                    <a:lnTo>
                      <a:pt x="14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199" name="Freeform 639"/>
              <p:cNvSpPr>
                <a:spLocks/>
              </p:cNvSpPr>
              <p:nvPr/>
            </p:nvSpPr>
            <p:spPr bwMode="auto">
              <a:xfrm>
                <a:off x="3947" y="2756"/>
                <a:ext cx="77" cy="76"/>
              </a:xfrm>
              <a:custGeom>
                <a:avLst/>
                <a:gdLst>
                  <a:gd name="T0" fmla="*/ 0 w 457"/>
                  <a:gd name="T1" fmla="*/ 456 h 456"/>
                  <a:gd name="T2" fmla="*/ 456 w 457"/>
                  <a:gd name="T3" fmla="*/ 0 h 456"/>
                  <a:gd name="T4" fmla="*/ 457 w 457"/>
                  <a:gd name="T5" fmla="*/ 0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7" h="456">
                    <a:moveTo>
                      <a:pt x="0" y="456"/>
                    </a:moveTo>
                    <a:lnTo>
                      <a:pt x="456" y="0"/>
                    </a:lnTo>
                    <a:lnTo>
                      <a:pt x="45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00" name="Freeform 640"/>
              <p:cNvSpPr>
                <a:spLocks/>
              </p:cNvSpPr>
              <p:nvPr/>
            </p:nvSpPr>
            <p:spPr bwMode="auto">
              <a:xfrm>
                <a:off x="4271" y="2484"/>
                <a:ext cx="25" cy="24"/>
              </a:xfrm>
              <a:custGeom>
                <a:avLst/>
                <a:gdLst>
                  <a:gd name="T0" fmla="*/ 0 w 146"/>
                  <a:gd name="T1" fmla="*/ 146 h 146"/>
                  <a:gd name="T2" fmla="*/ 145 w 146"/>
                  <a:gd name="T3" fmla="*/ 0 h 146"/>
                  <a:gd name="T4" fmla="*/ 146 w 146"/>
                  <a:gd name="T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6" h="146">
                    <a:moveTo>
                      <a:pt x="0" y="146"/>
                    </a:moveTo>
                    <a:lnTo>
                      <a:pt x="145" y="0"/>
                    </a:lnTo>
                    <a:lnTo>
                      <a:pt x="14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01" name="Freeform 641"/>
              <p:cNvSpPr>
                <a:spLocks/>
              </p:cNvSpPr>
              <p:nvPr/>
            </p:nvSpPr>
            <p:spPr bwMode="auto">
              <a:xfrm>
                <a:off x="4024" y="2508"/>
                <a:ext cx="247" cy="248"/>
              </a:xfrm>
              <a:custGeom>
                <a:avLst/>
                <a:gdLst>
                  <a:gd name="T0" fmla="*/ 0 w 1487"/>
                  <a:gd name="T1" fmla="*/ 1486 h 1486"/>
                  <a:gd name="T2" fmla="*/ 135 w 1487"/>
                  <a:gd name="T3" fmla="*/ 1351 h 1486"/>
                  <a:gd name="T4" fmla="*/ 1486 w 1487"/>
                  <a:gd name="T5" fmla="*/ 0 h 1486"/>
                  <a:gd name="T6" fmla="*/ 1487 w 1487"/>
                  <a:gd name="T7" fmla="*/ 0 h 1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7" h="1486">
                    <a:moveTo>
                      <a:pt x="0" y="1486"/>
                    </a:moveTo>
                    <a:lnTo>
                      <a:pt x="135" y="1351"/>
                    </a:lnTo>
                    <a:lnTo>
                      <a:pt x="1486" y="0"/>
                    </a:lnTo>
                    <a:lnTo>
                      <a:pt x="148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02" name="Freeform 642"/>
              <p:cNvSpPr>
                <a:spLocks/>
              </p:cNvSpPr>
              <p:nvPr/>
            </p:nvSpPr>
            <p:spPr bwMode="auto">
              <a:xfrm>
                <a:off x="3974" y="2790"/>
                <a:ext cx="50" cy="50"/>
              </a:xfrm>
              <a:custGeom>
                <a:avLst/>
                <a:gdLst>
                  <a:gd name="T0" fmla="*/ 0 w 299"/>
                  <a:gd name="T1" fmla="*/ 299 h 299"/>
                  <a:gd name="T2" fmla="*/ 298 w 299"/>
                  <a:gd name="T3" fmla="*/ 0 h 299"/>
                  <a:gd name="T4" fmla="*/ 299 w 299"/>
                  <a:gd name="T5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9" h="299">
                    <a:moveTo>
                      <a:pt x="0" y="299"/>
                    </a:moveTo>
                    <a:lnTo>
                      <a:pt x="298" y="0"/>
                    </a:lnTo>
                    <a:lnTo>
                      <a:pt x="29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03" name="Freeform 643"/>
              <p:cNvSpPr>
                <a:spLocks/>
              </p:cNvSpPr>
              <p:nvPr/>
            </p:nvSpPr>
            <p:spPr bwMode="auto">
              <a:xfrm>
                <a:off x="4283" y="2508"/>
                <a:ext cx="22" cy="22"/>
              </a:xfrm>
              <a:custGeom>
                <a:avLst/>
                <a:gdLst>
                  <a:gd name="T0" fmla="*/ 0 w 133"/>
                  <a:gd name="T1" fmla="*/ 132 h 132"/>
                  <a:gd name="T2" fmla="*/ 131 w 133"/>
                  <a:gd name="T3" fmla="*/ 0 h 132"/>
                  <a:gd name="T4" fmla="*/ 133 w 133"/>
                  <a:gd name="T5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3" h="132">
                    <a:moveTo>
                      <a:pt x="0" y="132"/>
                    </a:moveTo>
                    <a:lnTo>
                      <a:pt x="131" y="0"/>
                    </a:lnTo>
                    <a:lnTo>
                      <a:pt x="13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04" name="Freeform 644"/>
              <p:cNvSpPr>
                <a:spLocks/>
              </p:cNvSpPr>
              <p:nvPr/>
            </p:nvSpPr>
            <p:spPr bwMode="auto">
              <a:xfrm>
                <a:off x="4023" y="2530"/>
                <a:ext cx="260" cy="260"/>
              </a:xfrm>
              <a:custGeom>
                <a:avLst/>
                <a:gdLst>
                  <a:gd name="T0" fmla="*/ 0 w 1561"/>
                  <a:gd name="T1" fmla="*/ 1561 h 1561"/>
                  <a:gd name="T2" fmla="*/ 321 w 1561"/>
                  <a:gd name="T3" fmla="*/ 1240 h 1561"/>
                  <a:gd name="T4" fmla="*/ 1560 w 1561"/>
                  <a:gd name="T5" fmla="*/ 0 h 1561"/>
                  <a:gd name="T6" fmla="*/ 1561 w 1561"/>
                  <a:gd name="T7" fmla="*/ 0 h 1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61" h="1561">
                    <a:moveTo>
                      <a:pt x="0" y="1561"/>
                    </a:moveTo>
                    <a:lnTo>
                      <a:pt x="321" y="1240"/>
                    </a:lnTo>
                    <a:lnTo>
                      <a:pt x="1560" y="0"/>
                    </a:lnTo>
                    <a:lnTo>
                      <a:pt x="156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05" name="Freeform 645"/>
              <p:cNvSpPr>
                <a:spLocks/>
              </p:cNvSpPr>
              <p:nvPr/>
            </p:nvSpPr>
            <p:spPr bwMode="auto">
              <a:xfrm>
                <a:off x="4000" y="2824"/>
                <a:ext cx="24" cy="23"/>
              </a:xfrm>
              <a:custGeom>
                <a:avLst/>
                <a:gdLst>
                  <a:gd name="T0" fmla="*/ 0 w 143"/>
                  <a:gd name="T1" fmla="*/ 141 h 141"/>
                  <a:gd name="T2" fmla="*/ 142 w 143"/>
                  <a:gd name="T3" fmla="*/ 0 h 141"/>
                  <a:gd name="T4" fmla="*/ 143 w 143"/>
                  <a:gd name="T5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141">
                    <a:moveTo>
                      <a:pt x="0" y="141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06" name="Freeform 646"/>
              <p:cNvSpPr>
                <a:spLocks/>
              </p:cNvSpPr>
              <p:nvPr/>
            </p:nvSpPr>
            <p:spPr bwMode="auto">
              <a:xfrm>
                <a:off x="4295" y="2532"/>
                <a:ext cx="20" cy="19"/>
              </a:xfrm>
              <a:custGeom>
                <a:avLst/>
                <a:gdLst>
                  <a:gd name="T0" fmla="*/ 0 w 120"/>
                  <a:gd name="T1" fmla="*/ 118 h 118"/>
                  <a:gd name="T2" fmla="*/ 119 w 120"/>
                  <a:gd name="T3" fmla="*/ 0 h 118"/>
                  <a:gd name="T4" fmla="*/ 120 w 120"/>
                  <a:gd name="T5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0" h="118">
                    <a:moveTo>
                      <a:pt x="0" y="118"/>
                    </a:moveTo>
                    <a:lnTo>
                      <a:pt x="119" y="0"/>
                    </a:lnTo>
                    <a:lnTo>
                      <a:pt x="1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07" name="Freeform 647"/>
              <p:cNvSpPr>
                <a:spLocks/>
              </p:cNvSpPr>
              <p:nvPr/>
            </p:nvSpPr>
            <p:spPr bwMode="auto">
              <a:xfrm>
                <a:off x="4023" y="2551"/>
                <a:ext cx="273" cy="273"/>
              </a:xfrm>
              <a:custGeom>
                <a:avLst/>
                <a:gdLst>
                  <a:gd name="T0" fmla="*/ 0 w 1633"/>
                  <a:gd name="T1" fmla="*/ 1635 h 1635"/>
                  <a:gd name="T2" fmla="*/ 503 w 1633"/>
                  <a:gd name="T3" fmla="*/ 1131 h 1635"/>
                  <a:gd name="T4" fmla="*/ 1632 w 1633"/>
                  <a:gd name="T5" fmla="*/ 0 h 1635"/>
                  <a:gd name="T6" fmla="*/ 1633 w 1633"/>
                  <a:gd name="T7" fmla="*/ 0 h 1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33" h="1635">
                    <a:moveTo>
                      <a:pt x="0" y="1635"/>
                    </a:moveTo>
                    <a:lnTo>
                      <a:pt x="503" y="1131"/>
                    </a:lnTo>
                    <a:lnTo>
                      <a:pt x="1632" y="0"/>
                    </a:lnTo>
                    <a:lnTo>
                      <a:pt x="163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08" name="Freeform 648"/>
              <p:cNvSpPr>
                <a:spLocks/>
              </p:cNvSpPr>
              <p:nvPr/>
            </p:nvSpPr>
            <p:spPr bwMode="auto">
              <a:xfrm>
                <a:off x="4026" y="2744"/>
                <a:ext cx="111" cy="111"/>
              </a:xfrm>
              <a:custGeom>
                <a:avLst/>
                <a:gdLst>
                  <a:gd name="T0" fmla="*/ 0 w 669"/>
                  <a:gd name="T1" fmla="*/ 668 h 668"/>
                  <a:gd name="T2" fmla="*/ 667 w 669"/>
                  <a:gd name="T3" fmla="*/ 0 h 668"/>
                  <a:gd name="T4" fmla="*/ 669 w 669"/>
                  <a:gd name="T5" fmla="*/ 0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69" h="668">
                    <a:moveTo>
                      <a:pt x="0" y="668"/>
                    </a:moveTo>
                    <a:lnTo>
                      <a:pt x="667" y="0"/>
                    </a:lnTo>
                    <a:lnTo>
                      <a:pt x="66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09" name="Freeform 649"/>
              <p:cNvSpPr>
                <a:spLocks/>
              </p:cNvSpPr>
              <p:nvPr/>
            </p:nvSpPr>
            <p:spPr bwMode="auto">
              <a:xfrm>
                <a:off x="4307" y="2555"/>
                <a:ext cx="18" cy="18"/>
              </a:xfrm>
              <a:custGeom>
                <a:avLst/>
                <a:gdLst>
                  <a:gd name="T0" fmla="*/ 0 w 107"/>
                  <a:gd name="T1" fmla="*/ 106 h 106"/>
                  <a:gd name="T2" fmla="*/ 106 w 107"/>
                  <a:gd name="T3" fmla="*/ 0 h 106"/>
                  <a:gd name="T4" fmla="*/ 107 w 107"/>
                  <a:gd name="T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7" h="106">
                    <a:moveTo>
                      <a:pt x="0" y="106"/>
                    </a:moveTo>
                    <a:lnTo>
                      <a:pt x="106" y="0"/>
                    </a:lnTo>
                    <a:lnTo>
                      <a:pt x="10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10" name="Freeform 650"/>
              <p:cNvSpPr>
                <a:spLocks/>
              </p:cNvSpPr>
              <p:nvPr/>
            </p:nvSpPr>
            <p:spPr bwMode="auto">
              <a:xfrm>
                <a:off x="4137" y="2573"/>
                <a:ext cx="171" cy="171"/>
              </a:xfrm>
              <a:custGeom>
                <a:avLst/>
                <a:gdLst>
                  <a:gd name="T0" fmla="*/ 0 w 1024"/>
                  <a:gd name="T1" fmla="*/ 1024 h 1024"/>
                  <a:gd name="T2" fmla="*/ 1023 w 1024"/>
                  <a:gd name="T3" fmla="*/ 0 h 1024"/>
                  <a:gd name="T4" fmla="*/ 1024 w 1024"/>
                  <a:gd name="T5" fmla="*/ 0 h 10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24" h="1024">
                    <a:moveTo>
                      <a:pt x="0" y="1024"/>
                    </a:moveTo>
                    <a:lnTo>
                      <a:pt x="1023" y="0"/>
                    </a:lnTo>
                    <a:lnTo>
                      <a:pt x="102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11" name="Freeform 651"/>
              <p:cNvSpPr>
                <a:spLocks/>
              </p:cNvSpPr>
              <p:nvPr/>
            </p:nvSpPr>
            <p:spPr bwMode="auto">
              <a:xfrm>
                <a:off x="4052" y="2748"/>
                <a:ext cx="115" cy="115"/>
              </a:xfrm>
              <a:custGeom>
                <a:avLst/>
                <a:gdLst>
                  <a:gd name="T0" fmla="*/ 0 w 688"/>
                  <a:gd name="T1" fmla="*/ 688 h 688"/>
                  <a:gd name="T2" fmla="*/ 687 w 688"/>
                  <a:gd name="T3" fmla="*/ 0 h 688"/>
                  <a:gd name="T4" fmla="*/ 688 w 688"/>
                  <a:gd name="T5" fmla="*/ 0 h 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8" h="688">
                    <a:moveTo>
                      <a:pt x="0" y="688"/>
                    </a:moveTo>
                    <a:lnTo>
                      <a:pt x="687" y="0"/>
                    </a:lnTo>
                    <a:lnTo>
                      <a:pt x="68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12" name="Freeform 652"/>
              <p:cNvSpPr>
                <a:spLocks/>
              </p:cNvSpPr>
              <p:nvPr/>
            </p:nvSpPr>
            <p:spPr bwMode="auto">
              <a:xfrm>
                <a:off x="4320" y="2579"/>
                <a:ext cx="15" cy="16"/>
              </a:xfrm>
              <a:custGeom>
                <a:avLst/>
                <a:gdLst>
                  <a:gd name="T0" fmla="*/ 0 w 96"/>
                  <a:gd name="T1" fmla="*/ 95 h 95"/>
                  <a:gd name="T2" fmla="*/ 95 w 96"/>
                  <a:gd name="T3" fmla="*/ 0 h 95"/>
                  <a:gd name="T4" fmla="*/ 96 w 96"/>
                  <a:gd name="T5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95">
                    <a:moveTo>
                      <a:pt x="0" y="95"/>
                    </a:moveTo>
                    <a:lnTo>
                      <a:pt x="95" y="0"/>
                    </a:lnTo>
                    <a:lnTo>
                      <a:pt x="9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13" name="Freeform 653"/>
              <p:cNvSpPr>
                <a:spLocks/>
              </p:cNvSpPr>
              <p:nvPr/>
            </p:nvSpPr>
            <p:spPr bwMode="auto">
              <a:xfrm>
                <a:off x="4166" y="2595"/>
                <a:ext cx="154" cy="153"/>
              </a:xfrm>
              <a:custGeom>
                <a:avLst/>
                <a:gdLst>
                  <a:gd name="T0" fmla="*/ 0 w 920"/>
                  <a:gd name="T1" fmla="*/ 919 h 919"/>
                  <a:gd name="T2" fmla="*/ 919 w 920"/>
                  <a:gd name="T3" fmla="*/ 0 h 919"/>
                  <a:gd name="T4" fmla="*/ 920 w 920"/>
                  <a:gd name="T5" fmla="*/ 0 h 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0" h="919">
                    <a:moveTo>
                      <a:pt x="0" y="919"/>
                    </a:moveTo>
                    <a:lnTo>
                      <a:pt x="919" y="0"/>
                    </a:lnTo>
                    <a:lnTo>
                      <a:pt x="9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14" name="Freeform 654"/>
              <p:cNvSpPr>
                <a:spLocks/>
              </p:cNvSpPr>
              <p:nvPr/>
            </p:nvSpPr>
            <p:spPr bwMode="auto">
              <a:xfrm>
                <a:off x="4078" y="2753"/>
                <a:ext cx="118" cy="118"/>
              </a:xfrm>
              <a:custGeom>
                <a:avLst/>
                <a:gdLst>
                  <a:gd name="T0" fmla="*/ 0 w 706"/>
                  <a:gd name="T1" fmla="*/ 705 h 705"/>
                  <a:gd name="T2" fmla="*/ 705 w 706"/>
                  <a:gd name="T3" fmla="*/ 0 h 705"/>
                  <a:gd name="T4" fmla="*/ 706 w 706"/>
                  <a:gd name="T5" fmla="*/ 0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06" h="705">
                    <a:moveTo>
                      <a:pt x="0" y="705"/>
                    </a:moveTo>
                    <a:lnTo>
                      <a:pt x="705" y="0"/>
                    </a:lnTo>
                    <a:lnTo>
                      <a:pt x="70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15" name="Freeform 655"/>
              <p:cNvSpPr>
                <a:spLocks/>
              </p:cNvSpPr>
              <p:nvPr/>
            </p:nvSpPr>
            <p:spPr bwMode="auto">
              <a:xfrm>
                <a:off x="4332" y="2603"/>
                <a:ext cx="13" cy="14"/>
              </a:xfrm>
              <a:custGeom>
                <a:avLst/>
                <a:gdLst>
                  <a:gd name="T0" fmla="*/ 0 w 82"/>
                  <a:gd name="T1" fmla="*/ 82 h 82"/>
                  <a:gd name="T2" fmla="*/ 81 w 82"/>
                  <a:gd name="T3" fmla="*/ 0 h 82"/>
                  <a:gd name="T4" fmla="*/ 82 w 82"/>
                  <a:gd name="T5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" h="82">
                    <a:moveTo>
                      <a:pt x="0" y="82"/>
                    </a:moveTo>
                    <a:lnTo>
                      <a:pt x="81" y="0"/>
                    </a:lnTo>
                    <a:lnTo>
                      <a:pt x="8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16" name="Freeform 656"/>
              <p:cNvSpPr>
                <a:spLocks/>
              </p:cNvSpPr>
              <p:nvPr/>
            </p:nvSpPr>
            <p:spPr bwMode="auto">
              <a:xfrm>
                <a:off x="4195" y="2617"/>
                <a:ext cx="137" cy="136"/>
              </a:xfrm>
              <a:custGeom>
                <a:avLst/>
                <a:gdLst>
                  <a:gd name="T0" fmla="*/ 0 w 819"/>
                  <a:gd name="T1" fmla="*/ 818 h 818"/>
                  <a:gd name="T2" fmla="*/ 818 w 819"/>
                  <a:gd name="T3" fmla="*/ 0 h 818"/>
                  <a:gd name="T4" fmla="*/ 819 w 819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8">
                    <a:moveTo>
                      <a:pt x="0" y="818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17" name="Freeform 657"/>
              <p:cNvSpPr>
                <a:spLocks/>
              </p:cNvSpPr>
              <p:nvPr/>
            </p:nvSpPr>
            <p:spPr bwMode="auto">
              <a:xfrm>
                <a:off x="4104" y="2759"/>
                <a:ext cx="120" cy="119"/>
              </a:xfrm>
              <a:custGeom>
                <a:avLst/>
                <a:gdLst>
                  <a:gd name="T0" fmla="*/ 0 w 718"/>
                  <a:gd name="T1" fmla="*/ 718 h 718"/>
                  <a:gd name="T2" fmla="*/ 717 w 718"/>
                  <a:gd name="T3" fmla="*/ 0 h 718"/>
                  <a:gd name="T4" fmla="*/ 718 w 718"/>
                  <a:gd name="T5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8" h="718">
                    <a:moveTo>
                      <a:pt x="0" y="718"/>
                    </a:moveTo>
                    <a:lnTo>
                      <a:pt x="717" y="0"/>
                    </a:lnTo>
                    <a:lnTo>
                      <a:pt x="7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18" name="Freeform 658"/>
              <p:cNvSpPr>
                <a:spLocks/>
              </p:cNvSpPr>
              <p:nvPr/>
            </p:nvSpPr>
            <p:spPr bwMode="auto">
              <a:xfrm>
                <a:off x="4344" y="2628"/>
                <a:ext cx="11" cy="11"/>
              </a:xfrm>
              <a:custGeom>
                <a:avLst/>
                <a:gdLst>
                  <a:gd name="T0" fmla="*/ 0 w 67"/>
                  <a:gd name="T1" fmla="*/ 66 h 66"/>
                  <a:gd name="T2" fmla="*/ 66 w 67"/>
                  <a:gd name="T3" fmla="*/ 0 h 66"/>
                  <a:gd name="T4" fmla="*/ 67 w 67"/>
                  <a:gd name="T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" h="66">
                    <a:moveTo>
                      <a:pt x="0" y="66"/>
                    </a:moveTo>
                    <a:lnTo>
                      <a:pt x="66" y="0"/>
                    </a:lnTo>
                    <a:lnTo>
                      <a:pt x="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19" name="Freeform 659"/>
              <p:cNvSpPr>
                <a:spLocks/>
              </p:cNvSpPr>
              <p:nvPr/>
            </p:nvSpPr>
            <p:spPr bwMode="auto">
              <a:xfrm>
                <a:off x="4224" y="2639"/>
                <a:ext cx="120" cy="120"/>
              </a:xfrm>
              <a:custGeom>
                <a:avLst/>
                <a:gdLst>
                  <a:gd name="T0" fmla="*/ 0 w 721"/>
                  <a:gd name="T1" fmla="*/ 721 h 721"/>
                  <a:gd name="T2" fmla="*/ 720 w 721"/>
                  <a:gd name="T3" fmla="*/ 0 h 721"/>
                  <a:gd name="T4" fmla="*/ 721 w 721"/>
                  <a:gd name="T5" fmla="*/ 0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1" h="721">
                    <a:moveTo>
                      <a:pt x="0" y="721"/>
                    </a:moveTo>
                    <a:lnTo>
                      <a:pt x="720" y="0"/>
                    </a:lnTo>
                    <a:lnTo>
                      <a:pt x="72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20" name="Freeform 660"/>
              <p:cNvSpPr>
                <a:spLocks/>
              </p:cNvSpPr>
              <p:nvPr/>
            </p:nvSpPr>
            <p:spPr bwMode="auto">
              <a:xfrm>
                <a:off x="4130" y="2765"/>
                <a:ext cx="122" cy="121"/>
              </a:xfrm>
              <a:custGeom>
                <a:avLst/>
                <a:gdLst>
                  <a:gd name="T0" fmla="*/ 0 w 731"/>
                  <a:gd name="T1" fmla="*/ 731 h 731"/>
                  <a:gd name="T2" fmla="*/ 729 w 731"/>
                  <a:gd name="T3" fmla="*/ 0 h 731"/>
                  <a:gd name="T4" fmla="*/ 731 w 731"/>
                  <a:gd name="T5" fmla="*/ 0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1" h="731">
                    <a:moveTo>
                      <a:pt x="0" y="731"/>
                    </a:moveTo>
                    <a:lnTo>
                      <a:pt x="729" y="0"/>
                    </a:lnTo>
                    <a:lnTo>
                      <a:pt x="73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21" name="Freeform 661"/>
              <p:cNvSpPr>
                <a:spLocks/>
              </p:cNvSpPr>
              <p:nvPr/>
            </p:nvSpPr>
            <p:spPr bwMode="auto">
              <a:xfrm>
                <a:off x="4356" y="2652"/>
                <a:ext cx="8" cy="8"/>
              </a:xfrm>
              <a:custGeom>
                <a:avLst/>
                <a:gdLst>
                  <a:gd name="T0" fmla="*/ 0 w 49"/>
                  <a:gd name="T1" fmla="*/ 48 h 48"/>
                  <a:gd name="T2" fmla="*/ 48 w 49"/>
                  <a:gd name="T3" fmla="*/ 0 h 48"/>
                  <a:gd name="T4" fmla="*/ 49 w 49"/>
                  <a:gd name="T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" h="48">
                    <a:moveTo>
                      <a:pt x="0" y="48"/>
                    </a:moveTo>
                    <a:lnTo>
                      <a:pt x="48" y="0"/>
                    </a:lnTo>
                    <a:lnTo>
                      <a:pt x="4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22" name="Freeform 662"/>
              <p:cNvSpPr>
                <a:spLocks/>
              </p:cNvSpPr>
              <p:nvPr/>
            </p:nvSpPr>
            <p:spPr bwMode="auto">
              <a:xfrm>
                <a:off x="4252" y="2660"/>
                <a:ext cx="104" cy="105"/>
              </a:xfrm>
              <a:custGeom>
                <a:avLst/>
                <a:gdLst>
                  <a:gd name="T0" fmla="*/ 0 w 626"/>
                  <a:gd name="T1" fmla="*/ 625 h 625"/>
                  <a:gd name="T2" fmla="*/ 625 w 626"/>
                  <a:gd name="T3" fmla="*/ 0 h 625"/>
                  <a:gd name="T4" fmla="*/ 626 w 626"/>
                  <a:gd name="T5" fmla="*/ 0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26" h="625">
                    <a:moveTo>
                      <a:pt x="0" y="625"/>
                    </a:moveTo>
                    <a:lnTo>
                      <a:pt x="625" y="0"/>
                    </a:lnTo>
                    <a:lnTo>
                      <a:pt x="62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23" name="Freeform 663"/>
              <p:cNvSpPr>
                <a:spLocks/>
              </p:cNvSpPr>
              <p:nvPr/>
            </p:nvSpPr>
            <p:spPr bwMode="auto">
              <a:xfrm>
                <a:off x="4156" y="2771"/>
                <a:ext cx="123" cy="123"/>
              </a:xfrm>
              <a:custGeom>
                <a:avLst/>
                <a:gdLst>
                  <a:gd name="T0" fmla="*/ 0 w 737"/>
                  <a:gd name="T1" fmla="*/ 737 h 737"/>
                  <a:gd name="T2" fmla="*/ 736 w 737"/>
                  <a:gd name="T3" fmla="*/ 0 h 737"/>
                  <a:gd name="T4" fmla="*/ 737 w 737"/>
                  <a:gd name="T5" fmla="*/ 0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7" h="737">
                    <a:moveTo>
                      <a:pt x="0" y="737"/>
                    </a:moveTo>
                    <a:lnTo>
                      <a:pt x="736" y="0"/>
                    </a:lnTo>
                    <a:lnTo>
                      <a:pt x="73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24" name="Freeform 664"/>
              <p:cNvSpPr>
                <a:spLocks/>
              </p:cNvSpPr>
              <p:nvPr/>
            </p:nvSpPr>
            <p:spPr bwMode="auto">
              <a:xfrm>
                <a:off x="4368" y="2678"/>
                <a:ext cx="5" cy="4"/>
              </a:xfrm>
              <a:custGeom>
                <a:avLst/>
                <a:gdLst>
                  <a:gd name="T0" fmla="*/ 0 w 28"/>
                  <a:gd name="T1" fmla="*/ 27 h 27"/>
                  <a:gd name="T2" fmla="*/ 27 w 28"/>
                  <a:gd name="T3" fmla="*/ 0 h 27"/>
                  <a:gd name="T4" fmla="*/ 28 w 28"/>
                  <a:gd name="T5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7">
                    <a:moveTo>
                      <a:pt x="0" y="27"/>
                    </a:moveTo>
                    <a:lnTo>
                      <a:pt x="27" y="0"/>
                    </a:lnTo>
                    <a:lnTo>
                      <a:pt x="2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25" name="Freeform 665"/>
              <p:cNvSpPr>
                <a:spLocks/>
              </p:cNvSpPr>
              <p:nvPr/>
            </p:nvSpPr>
            <p:spPr bwMode="auto">
              <a:xfrm>
                <a:off x="4279" y="2682"/>
                <a:ext cx="89" cy="89"/>
              </a:xfrm>
              <a:custGeom>
                <a:avLst/>
                <a:gdLst>
                  <a:gd name="T0" fmla="*/ 0 w 535"/>
                  <a:gd name="T1" fmla="*/ 534 h 534"/>
                  <a:gd name="T2" fmla="*/ 534 w 535"/>
                  <a:gd name="T3" fmla="*/ 0 h 534"/>
                  <a:gd name="T4" fmla="*/ 535 w 535"/>
                  <a:gd name="T5" fmla="*/ 0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5" h="534">
                    <a:moveTo>
                      <a:pt x="0" y="534"/>
                    </a:moveTo>
                    <a:lnTo>
                      <a:pt x="534" y="0"/>
                    </a:lnTo>
                    <a:lnTo>
                      <a:pt x="53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26" name="Freeform 666"/>
              <p:cNvSpPr>
                <a:spLocks/>
              </p:cNvSpPr>
              <p:nvPr/>
            </p:nvSpPr>
            <p:spPr bwMode="auto">
              <a:xfrm>
                <a:off x="4182" y="2704"/>
                <a:ext cx="198" cy="198"/>
              </a:xfrm>
              <a:custGeom>
                <a:avLst/>
                <a:gdLst>
                  <a:gd name="T0" fmla="*/ 0 w 1187"/>
                  <a:gd name="T1" fmla="*/ 1187 h 1187"/>
                  <a:gd name="T2" fmla="*/ 741 w 1187"/>
                  <a:gd name="T3" fmla="*/ 446 h 1187"/>
                  <a:gd name="T4" fmla="*/ 1186 w 1187"/>
                  <a:gd name="T5" fmla="*/ 0 h 1187"/>
                  <a:gd name="T6" fmla="*/ 1187 w 1187"/>
                  <a:gd name="T7" fmla="*/ 0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87" h="1187">
                    <a:moveTo>
                      <a:pt x="0" y="1187"/>
                    </a:moveTo>
                    <a:lnTo>
                      <a:pt x="741" y="446"/>
                    </a:lnTo>
                    <a:lnTo>
                      <a:pt x="1186" y="0"/>
                    </a:lnTo>
                    <a:lnTo>
                      <a:pt x="118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27" name="Freeform 667"/>
              <p:cNvSpPr>
                <a:spLocks/>
              </p:cNvSpPr>
              <p:nvPr/>
            </p:nvSpPr>
            <p:spPr bwMode="auto">
              <a:xfrm>
                <a:off x="4208" y="2731"/>
                <a:ext cx="179" cy="179"/>
              </a:xfrm>
              <a:custGeom>
                <a:avLst/>
                <a:gdLst>
                  <a:gd name="T0" fmla="*/ 0 w 1069"/>
                  <a:gd name="T1" fmla="*/ 1069 h 1069"/>
                  <a:gd name="T2" fmla="*/ 742 w 1069"/>
                  <a:gd name="T3" fmla="*/ 328 h 1069"/>
                  <a:gd name="T4" fmla="*/ 1068 w 1069"/>
                  <a:gd name="T5" fmla="*/ 0 h 1069"/>
                  <a:gd name="T6" fmla="*/ 1069 w 1069"/>
                  <a:gd name="T7" fmla="*/ 0 h 10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69" h="1069">
                    <a:moveTo>
                      <a:pt x="0" y="1069"/>
                    </a:moveTo>
                    <a:lnTo>
                      <a:pt x="742" y="328"/>
                    </a:lnTo>
                    <a:lnTo>
                      <a:pt x="1068" y="0"/>
                    </a:lnTo>
                    <a:lnTo>
                      <a:pt x="106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28" name="Freeform 668"/>
              <p:cNvSpPr>
                <a:spLocks/>
              </p:cNvSpPr>
              <p:nvPr/>
            </p:nvSpPr>
            <p:spPr bwMode="auto">
              <a:xfrm>
                <a:off x="4235" y="2760"/>
                <a:ext cx="157" cy="157"/>
              </a:xfrm>
              <a:custGeom>
                <a:avLst/>
                <a:gdLst>
                  <a:gd name="T0" fmla="*/ 0 w 944"/>
                  <a:gd name="T1" fmla="*/ 944 h 944"/>
                  <a:gd name="T2" fmla="*/ 737 w 944"/>
                  <a:gd name="T3" fmla="*/ 207 h 944"/>
                  <a:gd name="T4" fmla="*/ 943 w 944"/>
                  <a:gd name="T5" fmla="*/ 0 h 944"/>
                  <a:gd name="T6" fmla="*/ 944 w 944"/>
                  <a:gd name="T7" fmla="*/ 0 h 9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4" h="944">
                    <a:moveTo>
                      <a:pt x="0" y="944"/>
                    </a:moveTo>
                    <a:lnTo>
                      <a:pt x="737" y="207"/>
                    </a:lnTo>
                    <a:lnTo>
                      <a:pt x="943" y="0"/>
                    </a:lnTo>
                    <a:lnTo>
                      <a:pt x="94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29" name="Freeform 669"/>
              <p:cNvSpPr>
                <a:spLocks/>
              </p:cNvSpPr>
              <p:nvPr/>
            </p:nvSpPr>
            <p:spPr bwMode="auto">
              <a:xfrm>
                <a:off x="4261" y="2790"/>
                <a:ext cx="135" cy="135"/>
              </a:xfrm>
              <a:custGeom>
                <a:avLst/>
                <a:gdLst>
                  <a:gd name="T0" fmla="*/ 0 w 815"/>
                  <a:gd name="T1" fmla="*/ 813 h 813"/>
                  <a:gd name="T2" fmla="*/ 728 w 815"/>
                  <a:gd name="T3" fmla="*/ 85 h 813"/>
                  <a:gd name="T4" fmla="*/ 814 w 815"/>
                  <a:gd name="T5" fmla="*/ 0 h 813"/>
                  <a:gd name="T6" fmla="*/ 815 w 815"/>
                  <a:gd name="T7" fmla="*/ 0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5" h="813">
                    <a:moveTo>
                      <a:pt x="0" y="813"/>
                    </a:moveTo>
                    <a:lnTo>
                      <a:pt x="728" y="85"/>
                    </a:ln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30" name="Freeform 670"/>
              <p:cNvSpPr>
                <a:spLocks/>
              </p:cNvSpPr>
              <p:nvPr/>
            </p:nvSpPr>
            <p:spPr bwMode="auto">
              <a:xfrm>
                <a:off x="4287" y="2820"/>
                <a:ext cx="113" cy="113"/>
              </a:xfrm>
              <a:custGeom>
                <a:avLst/>
                <a:gdLst>
                  <a:gd name="T0" fmla="*/ 0 w 679"/>
                  <a:gd name="T1" fmla="*/ 679 h 679"/>
                  <a:gd name="T2" fmla="*/ 677 w 679"/>
                  <a:gd name="T3" fmla="*/ 0 h 679"/>
                  <a:gd name="T4" fmla="*/ 679 w 679"/>
                  <a:gd name="T5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9" h="679">
                    <a:moveTo>
                      <a:pt x="0" y="679"/>
                    </a:moveTo>
                    <a:lnTo>
                      <a:pt x="677" y="0"/>
                    </a:lnTo>
                    <a:lnTo>
                      <a:pt x="67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31" name="Freeform 671"/>
              <p:cNvSpPr>
                <a:spLocks/>
              </p:cNvSpPr>
              <p:nvPr/>
            </p:nvSpPr>
            <p:spPr bwMode="auto">
              <a:xfrm>
                <a:off x="4313" y="2851"/>
                <a:ext cx="90" cy="90"/>
              </a:xfrm>
              <a:custGeom>
                <a:avLst/>
                <a:gdLst>
                  <a:gd name="T0" fmla="*/ 0 w 542"/>
                  <a:gd name="T1" fmla="*/ 540 h 540"/>
                  <a:gd name="T2" fmla="*/ 541 w 542"/>
                  <a:gd name="T3" fmla="*/ 0 h 540"/>
                  <a:gd name="T4" fmla="*/ 542 w 542"/>
                  <a:gd name="T5" fmla="*/ 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42" h="540">
                    <a:moveTo>
                      <a:pt x="0" y="540"/>
                    </a:moveTo>
                    <a:lnTo>
                      <a:pt x="541" y="0"/>
                    </a:lnTo>
                    <a:lnTo>
                      <a:pt x="54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32" name="Freeform 672"/>
              <p:cNvSpPr>
                <a:spLocks/>
              </p:cNvSpPr>
              <p:nvPr/>
            </p:nvSpPr>
            <p:spPr bwMode="auto">
              <a:xfrm>
                <a:off x="4339" y="2881"/>
                <a:ext cx="67" cy="68"/>
              </a:xfrm>
              <a:custGeom>
                <a:avLst/>
                <a:gdLst>
                  <a:gd name="T0" fmla="*/ 0 w 404"/>
                  <a:gd name="T1" fmla="*/ 403 h 403"/>
                  <a:gd name="T2" fmla="*/ 403 w 404"/>
                  <a:gd name="T3" fmla="*/ 0 h 403"/>
                  <a:gd name="T4" fmla="*/ 404 w 404"/>
                  <a:gd name="T5" fmla="*/ 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4" h="403">
                    <a:moveTo>
                      <a:pt x="0" y="403"/>
                    </a:moveTo>
                    <a:lnTo>
                      <a:pt x="403" y="0"/>
                    </a:lnTo>
                    <a:lnTo>
                      <a:pt x="40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33" name="Freeform 673"/>
              <p:cNvSpPr>
                <a:spLocks/>
              </p:cNvSpPr>
              <p:nvPr/>
            </p:nvSpPr>
            <p:spPr bwMode="auto">
              <a:xfrm>
                <a:off x="4365" y="2912"/>
                <a:ext cx="44" cy="44"/>
              </a:xfrm>
              <a:custGeom>
                <a:avLst/>
                <a:gdLst>
                  <a:gd name="T0" fmla="*/ 0 w 267"/>
                  <a:gd name="T1" fmla="*/ 268 h 268"/>
                  <a:gd name="T2" fmla="*/ 266 w 267"/>
                  <a:gd name="T3" fmla="*/ 0 h 268"/>
                  <a:gd name="T4" fmla="*/ 267 w 267"/>
                  <a:gd name="T5" fmla="*/ 0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7" h="268">
                    <a:moveTo>
                      <a:pt x="0" y="268"/>
                    </a:moveTo>
                    <a:lnTo>
                      <a:pt x="266" y="0"/>
                    </a:lnTo>
                    <a:lnTo>
                      <a:pt x="2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34" name="Freeform 674"/>
              <p:cNvSpPr>
                <a:spLocks/>
              </p:cNvSpPr>
              <p:nvPr/>
            </p:nvSpPr>
            <p:spPr bwMode="auto">
              <a:xfrm>
                <a:off x="4391" y="2942"/>
                <a:ext cx="22" cy="22"/>
              </a:xfrm>
              <a:custGeom>
                <a:avLst/>
                <a:gdLst>
                  <a:gd name="T0" fmla="*/ 0 w 134"/>
                  <a:gd name="T1" fmla="*/ 133 h 133"/>
                  <a:gd name="T2" fmla="*/ 133 w 134"/>
                  <a:gd name="T3" fmla="*/ 0 h 133"/>
                  <a:gd name="T4" fmla="*/ 134 w 134"/>
                  <a:gd name="T5" fmla="*/ 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4" h="133">
                    <a:moveTo>
                      <a:pt x="0" y="133"/>
                    </a:moveTo>
                    <a:lnTo>
                      <a:pt x="133" y="0"/>
                    </a:lnTo>
                    <a:lnTo>
                      <a:pt x="13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35" name="Freeform 675"/>
              <p:cNvSpPr>
                <a:spLocks/>
              </p:cNvSpPr>
              <p:nvPr/>
            </p:nvSpPr>
            <p:spPr bwMode="auto">
              <a:xfrm>
                <a:off x="4417" y="2972"/>
                <a:ext cx="1" cy="1"/>
              </a:xfrm>
              <a:custGeom>
                <a:avLst/>
                <a:gdLst>
                  <a:gd name="T0" fmla="*/ 0 w 3"/>
                  <a:gd name="T1" fmla="*/ 2 h 2"/>
                  <a:gd name="T2" fmla="*/ 2 w 3"/>
                  <a:gd name="T3" fmla="*/ 0 h 2"/>
                  <a:gd name="T4" fmla="*/ 3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2"/>
                    </a:moveTo>
                    <a:lnTo>
                      <a:pt x="2" y="0"/>
                    </a:lnTo>
                    <a:lnTo>
                      <a:pt x="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36" name="Freeform 676"/>
              <p:cNvSpPr>
                <a:spLocks/>
              </p:cNvSpPr>
              <p:nvPr/>
            </p:nvSpPr>
            <p:spPr bwMode="auto">
              <a:xfrm>
                <a:off x="3741" y="2213"/>
                <a:ext cx="147" cy="147"/>
              </a:xfrm>
              <a:custGeom>
                <a:avLst/>
                <a:gdLst>
                  <a:gd name="T0" fmla="*/ 0 w 883"/>
                  <a:gd name="T1" fmla="*/ 882 h 882"/>
                  <a:gd name="T2" fmla="*/ 882 w 883"/>
                  <a:gd name="T3" fmla="*/ 0 h 882"/>
                  <a:gd name="T4" fmla="*/ 883 w 883"/>
                  <a:gd name="T5" fmla="*/ 0 h 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83" h="882">
                    <a:moveTo>
                      <a:pt x="0" y="882"/>
                    </a:moveTo>
                    <a:lnTo>
                      <a:pt x="882" y="0"/>
                    </a:lnTo>
                    <a:lnTo>
                      <a:pt x="88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37" name="Freeform 677"/>
              <p:cNvSpPr>
                <a:spLocks/>
              </p:cNvSpPr>
              <p:nvPr/>
            </p:nvSpPr>
            <p:spPr bwMode="auto">
              <a:xfrm>
                <a:off x="3888" y="2119"/>
                <a:ext cx="95" cy="94"/>
              </a:xfrm>
              <a:custGeom>
                <a:avLst/>
                <a:gdLst>
                  <a:gd name="T0" fmla="*/ 0 w 568"/>
                  <a:gd name="T1" fmla="*/ 568 h 568"/>
                  <a:gd name="T2" fmla="*/ 567 w 568"/>
                  <a:gd name="T3" fmla="*/ 0 h 568"/>
                  <a:gd name="T4" fmla="*/ 568 w 568"/>
                  <a:gd name="T5" fmla="*/ 0 h 5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8" h="568">
                    <a:moveTo>
                      <a:pt x="0" y="568"/>
                    </a:moveTo>
                    <a:lnTo>
                      <a:pt x="567" y="0"/>
                    </a:lnTo>
                    <a:lnTo>
                      <a:pt x="56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38" name="Freeform 678"/>
              <p:cNvSpPr>
                <a:spLocks/>
              </p:cNvSpPr>
              <p:nvPr/>
            </p:nvSpPr>
            <p:spPr bwMode="auto">
              <a:xfrm>
                <a:off x="3711" y="2247"/>
                <a:ext cx="177" cy="178"/>
              </a:xfrm>
              <a:custGeom>
                <a:avLst/>
                <a:gdLst>
                  <a:gd name="T0" fmla="*/ 0 w 1063"/>
                  <a:gd name="T1" fmla="*/ 1063 h 1063"/>
                  <a:gd name="T2" fmla="*/ 1062 w 1063"/>
                  <a:gd name="T3" fmla="*/ 0 h 1063"/>
                  <a:gd name="T4" fmla="*/ 1063 w 1063"/>
                  <a:gd name="T5" fmla="*/ 0 h 1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63" h="1063">
                    <a:moveTo>
                      <a:pt x="0" y="1063"/>
                    </a:moveTo>
                    <a:lnTo>
                      <a:pt x="1062" y="0"/>
                    </a:lnTo>
                    <a:lnTo>
                      <a:pt x="106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39" name="Freeform 679"/>
              <p:cNvSpPr>
                <a:spLocks/>
              </p:cNvSpPr>
              <p:nvPr/>
            </p:nvSpPr>
            <p:spPr bwMode="auto">
              <a:xfrm>
                <a:off x="4025" y="2100"/>
                <a:ext cx="10" cy="11"/>
              </a:xfrm>
              <a:custGeom>
                <a:avLst/>
                <a:gdLst>
                  <a:gd name="T0" fmla="*/ 0 w 60"/>
                  <a:gd name="T1" fmla="*/ 60 h 60"/>
                  <a:gd name="T2" fmla="*/ 59 w 60"/>
                  <a:gd name="T3" fmla="*/ 0 h 60"/>
                  <a:gd name="T4" fmla="*/ 60 w 60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0" h="60">
                    <a:moveTo>
                      <a:pt x="0" y="60"/>
                    </a:moveTo>
                    <a:lnTo>
                      <a:pt x="59" y="0"/>
                    </a:lnTo>
                    <a:lnTo>
                      <a:pt x="6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40" name="Freeform 680"/>
              <p:cNvSpPr>
                <a:spLocks/>
              </p:cNvSpPr>
              <p:nvPr/>
            </p:nvSpPr>
            <p:spPr bwMode="auto">
              <a:xfrm>
                <a:off x="3888" y="2111"/>
                <a:ext cx="137" cy="136"/>
              </a:xfrm>
              <a:custGeom>
                <a:avLst/>
                <a:gdLst>
                  <a:gd name="T0" fmla="*/ 0 w 822"/>
                  <a:gd name="T1" fmla="*/ 821 h 821"/>
                  <a:gd name="T2" fmla="*/ 821 w 822"/>
                  <a:gd name="T3" fmla="*/ 0 h 821"/>
                  <a:gd name="T4" fmla="*/ 822 w 822"/>
                  <a:gd name="T5" fmla="*/ 0 h 8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2" h="821">
                    <a:moveTo>
                      <a:pt x="0" y="821"/>
                    </a:moveTo>
                    <a:lnTo>
                      <a:pt x="821" y="0"/>
                    </a:lnTo>
                    <a:lnTo>
                      <a:pt x="82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41" name="Freeform 681"/>
              <p:cNvSpPr>
                <a:spLocks/>
              </p:cNvSpPr>
              <p:nvPr/>
            </p:nvSpPr>
            <p:spPr bwMode="auto">
              <a:xfrm>
                <a:off x="3678" y="2281"/>
                <a:ext cx="210" cy="211"/>
              </a:xfrm>
              <a:custGeom>
                <a:avLst/>
                <a:gdLst>
                  <a:gd name="T0" fmla="*/ 0 w 1263"/>
                  <a:gd name="T1" fmla="*/ 1263 h 1263"/>
                  <a:gd name="T2" fmla="*/ 1262 w 1263"/>
                  <a:gd name="T3" fmla="*/ 0 h 1263"/>
                  <a:gd name="T4" fmla="*/ 1263 w 1263"/>
                  <a:gd name="T5" fmla="*/ 0 h 1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3" h="1263">
                    <a:moveTo>
                      <a:pt x="0" y="1263"/>
                    </a:moveTo>
                    <a:lnTo>
                      <a:pt x="1262" y="0"/>
                    </a:lnTo>
                    <a:lnTo>
                      <a:pt x="126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42" name="Freeform 682"/>
              <p:cNvSpPr>
                <a:spLocks/>
              </p:cNvSpPr>
              <p:nvPr/>
            </p:nvSpPr>
            <p:spPr bwMode="auto">
              <a:xfrm>
                <a:off x="4025" y="2117"/>
                <a:ext cx="27" cy="27"/>
              </a:xfrm>
              <a:custGeom>
                <a:avLst/>
                <a:gdLst>
                  <a:gd name="T0" fmla="*/ 0 w 162"/>
                  <a:gd name="T1" fmla="*/ 161 h 161"/>
                  <a:gd name="T2" fmla="*/ 161 w 162"/>
                  <a:gd name="T3" fmla="*/ 0 h 161"/>
                  <a:gd name="T4" fmla="*/ 162 w 162"/>
                  <a:gd name="T5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2" h="161">
                    <a:moveTo>
                      <a:pt x="0" y="161"/>
                    </a:moveTo>
                    <a:lnTo>
                      <a:pt x="161" y="0"/>
                    </a:lnTo>
                    <a:lnTo>
                      <a:pt x="16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43" name="Freeform 683"/>
              <p:cNvSpPr>
                <a:spLocks/>
              </p:cNvSpPr>
              <p:nvPr/>
            </p:nvSpPr>
            <p:spPr bwMode="auto">
              <a:xfrm>
                <a:off x="3888" y="2144"/>
                <a:ext cx="137" cy="137"/>
              </a:xfrm>
              <a:custGeom>
                <a:avLst/>
                <a:gdLst>
                  <a:gd name="T0" fmla="*/ 0 w 821"/>
                  <a:gd name="T1" fmla="*/ 821 h 821"/>
                  <a:gd name="T2" fmla="*/ 820 w 821"/>
                  <a:gd name="T3" fmla="*/ 0 h 821"/>
                  <a:gd name="T4" fmla="*/ 821 w 821"/>
                  <a:gd name="T5" fmla="*/ 0 h 8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1" h="821">
                    <a:moveTo>
                      <a:pt x="0" y="821"/>
                    </a:moveTo>
                    <a:lnTo>
                      <a:pt x="820" y="0"/>
                    </a:lnTo>
                    <a:lnTo>
                      <a:pt x="82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44" name="Freeform 684"/>
              <p:cNvSpPr>
                <a:spLocks/>
              </p:cNvSpPr>
              <p:nvPr/>
            </p:nvSpPr>
            <p:spPr bwMode="auto">
              <a:xfrm>
                <a:off x="3657" y="2315"/>
                <a:ext cx="231" cy="231"/>
              </a:xfrm>
              <a:custGeom>
                <a:avLst/>
                <a:gdLst>
                  <a:gd name="T0" fmla="*/ 0 w 1386"/>
                  <a:gd name="T1" fmla="*/ 1387 h 1387"/>
                  <a:gd name="T2" fmla="*/ 1385 w 1386"/>
                  <a:gd name="T3" fmla="*/ 0 h 1387"/>
                  <a:gd name="T4" fmla="*/ 1386 w 1386"/>
                  <a:gd name="T5" fmla="*/ 0 h 1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86" h="1387">
                    <a:moveTo>
                      <a:pt x="0" y="1387"/>
                    </a:moveTo>
                    <a:lnTo>
                      <a:pt x="1385" y="0"/>
                    </a:lnTo>
                    <a:lnTo>
                      <a:pt x="138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45" name="Freeform 685"/>
              <p:cNvSpPr>
                <a:spLocks/>
              </p:cNvSpPr>
              <p:nvPr/>
            </p:nvSpPr>
            <p:spPr bwMode="auto">
              <a:xfrm>
                <a:off x="4065" y="2134"/>
                <a:ext cx="4" cy="4"/>
              </a:xfrm>
              <a:custGeom>
                <a:avLst/>
                <a:gdLst>
                  <a:gd name="T0" fmla="*/ 0 w 22"/>
                  <a:gd name="T1" fmla="*/ 21 h 21"/>
                  <a:gd name="T2" fmla="*/ 21 w 22"/>
                  <a:gd name="T3" fmla="*/ 0 h 21"/>
                  <a:gd name="T4" fmla="*/ 22 w 22"/>
                  <a:gd name="T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" h="21">
                    <a:moveTo>
                      <a:pt x="0" y="21"/>
                    </a:moveTo>
                    <a:lnTo>
                      <a:pt x="21" y="0"/>
                    </a:lnTo>
                    <a:lnTo>
                      <a:pt x="2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46" name="Freeform 686"/>
              <p:cNvSpPr>
                <a:spLocks/>
              </p:cNvSpPr>
              <p:nvPr/>
            </p:nvSpPr>
            <p:spPr bwMode="auto">
              <a:xfrm>
                <a:off x="3888" y="2178"/>
                <a:ext cx="137" cy="137"/>
              </a:xfrm>
              <a:custGeom>
                <a:avLst/>
                <a:gdLst>
                  <a:gd name="T0" fmla="*/ 0 w 821"/>
                  <a:gd name="T1" fmla="*/ 819 h 819"/>
                  <a:gd name="T2" fmla="*/ 820 w 821"/>
                  <a:gd name="T3" fmla="*/ 0 h 819"/>
                  <a:gd name="T4" fmla="*/ 821 w 821"/>
                  <a:gd name="T5" fmla="*/ 0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1" h="819">
                    <a:moveTo>
                      <a:pt x="0" y="819"/>
                    </a:moveTo>
                    <a:lnTo>
                      <a:pt x="820" y="0"/>
                    </a:lnTo>
                    <a:lnTo>
                      <a:pt x="82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47" name="Freeform 687"/>
              <p:cNvSpPr>
                <a:spLocks/>
              </p:cNvSpPr>
              <p:nvPr/>
            </p:nvSpPr>
            <p:spPr bwMode="auto">
              <a:xfrm>
                <a:off x="4025" y="2138"/>
                <a:ext cx="40" cy="40"/>
              </a:xfrm>
              <a:custGeom>
                <a:avLst/>
                <a:gdLst>
                  <a:gd name="T0" fmla="*/ 0 w 244"/>
                  <a:gd name="T1" fmla="*/ 244 h 244"/>
                  <a:gd name="T2" fmla="*/ 243 w 244"/>
                  <a:gd name="T3" fmla="*/ 0 h 244"/>
                  <a:gd name="T4" fmla="*/ 244 w 244"/>
                  <a:gd name="T5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4" h="244">
                    <a:moveTo>
                      <a:pt x="0" y="244"/>
                    </a:moveTo>
                    <a:lnTo>
                      <a:pt x="243" y="0"/>
                    </a:lnTo>
                    <a:lnTo>
                      <a:pt x="24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48" name="Freeform 688"/>
              <p:cNvSpPr>
                <a:spLocks/>
              </p:cNvSpPr>
              <p:nvPr/>
            </p:nvSpPr>
            <p:spPr bwMode="auto">
              <a:xfrm>
                <a:off x="3645" y="2349"/>
                <a:ext cx="243" cy="243"/>
              </a:xfrm>
              <a:custGeom>
                <a:avLst/>
                <a:gdLst>
                  <a:gd name="T0" fmla="*/ 0 w 1458"/>
                  <a:gd name="T1" fmla="*/ 1458 h 1458"/>
                  <a:gd name="T2" fmla="*/ 1457 w 1458"/>
                  <a:gd name="T3" fmla="*/ 0 h 1458"/>
                  <a:gd name="T4" fmla="*/ 1458 w 1458"/>
                  <a:gd name="T5" fmla="*/ 0 h 1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58" h="1458">
                    <a:moveTo>
                      <a:pt x="0" y="1458"/>
                    </a:moveTo>
                    <a:lnTo>
                      <a:pt x="1457" y="0"/>
                    </a:lnTo>
                    <a:lnTo>
                      <a:pt x="145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49" name="Freeform 689"/>
              <p:cNvSpPr>
                <a:spLocks/>
              </p:cNvSpPr>
              <p:nvPr/>
            </p:nvSpPr>
            <p:spPr bwMode="auto">
              <a:xfrm>
                <a:off x="4077" y="2151"/>
                <a:ext cx="9" cy="9"/>
              </a:xfrm>
              <a:custGeom>
                <a:avLst/>
                <a:gdLst>
                  <a:gd name="T0" fmla="*/ 0 w 53"/>
                  <a:gd name="T1" fmla="*/ 52 h 52"/>
                  <a:gd name="T2" fmla="*/ 52 w 53"/>
                  <a:gd name="T3" fmla="*/ 0 h 52"/>
                  <a:gd name="T4" fmla="*/ 53 w 53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" h="52">
                    <a:moveTo>
                      <a:pt x="0" y="52"/>
                    </a:moveTo>
                    <a:lnTo>
                      <a:pt x="52" y="0"/>
                    </a:lnTo>
                    <a:lnTo>
                      <a:pt x="5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50" name="Freeform 690"/>
              <p:cNvSpPr>
                <a:spLocks/>
              </p:cNvSpPr>
              <p:nvPr/>
            </p:nvSpPr>
            <p:spPr bwMode="auto">
              <a:xfrm>
                <a:off x="3888" y="2212"/>
                <a:ext cx="137" cy="137"/>
              </a:xfrm>
              <a:custGeom>
                <a:avLst/>
                <a:gdLst>
                  <a:gd name="T0" fmla="*/ 0 w 820"/>
                  <a:gd name="T1" fmla="*/ 820 h 820"/>
                  <a:gd name="T2" fmla="*/ 819 w 820"/>
                  <a:gd name="T3" fmla="*/ 0 h 820"/>
                  <a:gd name="T4" fmla="*/ 820 w 820"/>
                  <a:gd name="T5" fmla="*/ 0 h 8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0" h="820">
                    <a:moveTo>
                      <a:pt x="0" y="820"/>
                    </a:moveTo>
                    <a:lnTo>
                      <a:pt x="819" y="0"/>
                    </a:lnTo>
                    <a:lnTo>
                      <a:pt x="8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51" name="Freeform 691"/>
              <p:cNvSpPr>
                <a:spLocks/>
              </p:cNvSpPr>
              <p:nvPr/>
            </p:nvSpPr>
            <p:spPr bwMode="auto">
              <a:xfrm>
                <a:off x="4025" y="2160"/>
                <a:ext cx="53" cy="52"/>
              </a:xfrm>
              <a:custGeom>
                <a:avLst/>
                <a:gdLst>
                  <a:gd name="T0" fmla="*/ 0 w 317"/>
                  <a:gd name="T1" fmla="*/ 316 h 316"/>
                  <a:gd name="T2" fmla="*/ 316 w 317"/>
                  <a:gd name="T3" fmla="*/ 0 h 316"/>
                  <a:gd name="T4" fmla="*/ 317 w 317"/>
                  <a:gd name="T5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7" h="316">
                    <a:moveTo>
                      <a:pt x="0" y="316"/>
                    </a:moveTo>
                    <a:lnTo>
                      <a:pt x="316" y="0"/>
                    </a:lnTo>
                    <a:lnTo>
                      <a:pt x="31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52" name="Freeform 692"/>
              <p:cNvSpPr>
                <a:spLocks/>
              </p:cNvSpPr>
              <p:nvPr/>
            </p:nvSpPr>
            <p:spPr bwMode="auto">
              <a:xfrm>
                <a:off x="3638" y="2383"/>
                <a:ext cx="250" cy="250"/>
              </a:xfrm>
              <a:custGeom>
                <a:avLst/>
                <a:gdLst>
                  <a:gd name="T0" fmla="*/ 0 w 1501"/>
                  <a:gd name="T1" fmla="*/ 1503 h 1503"/>
                  <a:gd name="T2" fmla="*/ 1500 w 1501"/>
                  <a:gd name="T3" fmla="*/ 0 h 1503"/>
                  <a:gd name="T4" fmla="*/ 1501 w 1501"/>
                  <a:gd name="T5" fmla="*/ 0 h 1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01" h="1503">
                    <a:moveTo>
                      <a:pt x="0" y="1503"/>
                    </a:moveTo>
                    <a:lnTo>
                      <a:pt x="1500" y="0"/>
                    </a:lnTo>
                    <a:lnTo>
                      <a:pt x="150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53" name="Freeform 693"/>
              <p:cNvSpPr>
                <a:spLocks/>
              </p:cNvSpPr>
              <p:nvPr/>
            </p:nvSpPr>
            <p:spPr bwMode="auto">
              <a:xfrm>
                <a:off x="4089" y="2168"/>
                <a:ext cx="14" cy="13"/>
              </a:xfrm>
              <a:custGeom>
                <a:avLst/>
                <a:gdLst>
                  <a:gd name="T0" fmla="*/ 0 w 82"/>
                  <a:gd name="T1" fmla="*/ 81 h 81"/>
                  <a:gd name="T2" fmla="*/ 81 w 82"/>
                  <a:gd name="T3" fmla="*/ 0 h 81"/>
                  <a:gd name="T4" fmla="*/ 82 w 82"/>
                  <a:gd name="T5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" h="81">
                    <a:moveTo>
                      <a:pt x="0" y="81"/>
                    </a:moveTo>
                    <a:lnTo>
                      <a:pt x="81" y="0"/>
                    </a:lnTo>
                    <a:lnTo>
                      <a:pt x="8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54" name="Freeform 694"/>
              <p:cNvSpPr>
                <a:spLocks/>
              </p:cNvSpPr>
              <p:nvPr/>
            </p:nvSpPr>
            <p:spPr bwMode="auto">
              <a:xfrm>
                <a:off x="3888" y="2246"/>
                <a:ext cx="137" cy="137"/>
              </a:xfrm>
              <a:custGeom>
                <a:avLst/>
                <a:gdLst>
                  <a:gd name="T0" fmla="*/ 0 w 820"/>
                  <a:gd name="T1" fmla="*/ 819 h 819"/>
                  <a:gd name="T2" fmla="*/ 819 w 820"/>
                  <a:gd name="T3" fmla="*/ 0 h 819"/>
                  <a:gd name="T4" fmla="*/ 820 w 820"/>
                  <a:gd name="T5" fmla="*/ 0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0" h="819">
                    <a:moveTo>
                      <a:pt x="0" y="819"/>
                    </a:moveTo>
                    <a:lnTo>
                      <a:pt x="819" y="0"/>
                    </a:lnTo>
                    <a:lnTo>
                      <a:pt x="8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55" name="Freeform 695"/>
              <p:cNvSpPr>
                <a:spLocks/>
              </p:cNvSpPr>
              <p:nvPr/>
            </p:nvSpPr>
            <p:spPr bwMode="auto">
              <a:xfrm>
                <a:off x="4025" y="2181"/>
                <a:ext cx="65" cy="65"/>
              </a:xfrm>
              <a:custGeom>
                <a:avLst/>
                <a:gdLst>
                  <a:gd name="T0" fmla="*/ 0 w 390"/>
                  <a:gd name="T1" fmla="*/ 390 h 390"/>
                  <a:gd name="T2" fmla="*/ 389 w 390"/>
                  <a:gd name="T3" fmla="*/ 0 h 390"/>
                  <a:gd name="T4" fmla="*/ 390 w 390"/>
                  <a:gd name="T5" fmla="*/ 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0" h="390">
                    <a:moveTo>
                      <a:pt x="0" y="390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56" name="Freeform 696"/>
              <p:cNvSpPr>
                <a:spLocks/>
              </p:cNvSpPr>
              <p:nvPr/>
            </p:nvSpPr>
            <p:spPr bwMode="auto">
              <a:xfrm>
                <a:off x="3633" y="2417"/>
                <a:ext cx="255" cy="255"/>
              </a:xfrm>
              <a:custGeom>
                <a:avLst/>
                <a:gdLst>
                  <a:gd name="T0" fmla="*/ 0 w 1530"/>
                  <a:gd name="T1" fmla="*/ 1531 h 1531"/>
                  <a:gd name="T2" fmla="*/ 1529 w 1530"/>
                  <a:gd name="T3" fmla="*/ 0 h 1531"/>
                  <a:gd name="T4" fmla="*/ 1530 w 1530"/>
                  <a:gd name="T5" fmla="*/ 0 h 15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0" h="1531">
                    <a:moveTo>
                      <a:pt x="0" y="1531"/>
                    </a:moveTo>
                    <a:lnTo>
                      <a:pt x="1529" y="0"/>
                    </a:lnTo>
                    <a:lnTo>
                      <a:pt x="153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57" name="Freeform 697"/>
              <p:cNvSpPr>
                <a:spLocks/>
              </p:cNvSpPr>
              <p:nvPr/>
            </p:nvSpPr>
            <p:spPr bwMode="auto">
              <a:xfrm>
                <a:off x="4102" y="2185"/>
                <a:ext cx="18" cy="18"/>
              </a:xfrm>
              <a:custGeom>
                <a:avLst/>
                <a:gdLst>
                  <a:gd name="T0" fmla="*/ 0 w 112"/>
                  <a:gd name="T1" fmla="*/ 111 h 111"/>
                  <a:gd name="T2" fmla="*/ 111 w 112"/>
                  <a:gd name="T3" fmla="*/ 0 h 111"/>
                  <a:gd name="T4" fmla="*/ 112 w 112"/>
                  <a:gd name="T5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" h="111">
                    <a:moveTo>
                      <a:pt x="0" y="111"/>
                    </a:moveTo>
                    <a:lnTo>
                      <a:pt x="111" y="0"/>
                    </a:lnTo>
                    <a:lnTo>
                      <a:pt x="11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58" name="Freeform 698"/>
              <p:cNvSpPr>
                <a:spLocks/>
              </p:cNvSpPr>
              <p:nvPr/>
            </p:nvSpPr>
            <p:spPr bwMode="auto">
              <a:xfrm>
                <a:off x="3888" y="2280"/>
                <a:ext cx="137" cy="137"/>
              </a:xfrm>
              <a:custGeom>
                <a:avLst/>
                <a:gdLst>
                  <a:gd name="T0" fmla="*/ 0 w 820"/>
                  <a:gd name="T1" fmla="*/ 818 h 818"/>
                  <a:gd name="T2" fmla="*/ 819 w 820"/>
                  <a:gd name="T3" fmla="*/ 0 h 818"/>
                  <a:gd name="T4" fmla="*/ 820 w 820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0" h="818">
                    <a:moveTo>
                      <a:pt x="0" y="818"/>
                    </a:moveTo>
                    <a:lnTo>
                      <a:pt x="819" y="0"/>
                    </a:lnTo>
                    <a:lnTo>
                      <a:pt x="8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59" name="Freeform 699"/>
              <p:cNvSpPr>
                <a:spLocks/>
              </p:cNvSpPr>
              <p:nvPr/>
            </p:nvSpPr>
            <p:spPr bwMode="auto">
              <a:xfrm>
                <a:off x="4025" y="2203"/>
                <a:ext cx="77" cy="77"/>
              </a:xfrm>
              <a:custGeom>
                <a:avLst/>
                <a:gdLst>
                  <a:gd name="T0" fmla="*/ 0 w 462"/>
                  <a:gd name="T1" fmla="*/ 463 h 463"/>
                  <a:gd name="T2" fmla="*/ 461 w 462"/>
                  <a:gd name="T3" fmla="*/ 0 h 463"/>
                  <a:gd name="T4" fmla="*/ 462 w 462"/>
                  <a:gd name="T5" fmla="*/ 0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62" h="463">
                    <a:moveTo>
                      <a:pt x="0" y="463"/>
                    </a:moveTo>
                    <a:lnTo>
                      <a:pt x="461" y="0"/>
                    </a:lnTo>
                    <a:lnTo>
                      <a:pt x="46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60" name="Freeform 700"/>
              <p:cNvSpPr>
                <a:spLocks/>
              </p:cNvSpPr>
              <p:nvPr/>
            </p:nvSpPr>
            <p:spPr bwMode="auto">
              <a:xfrm>
                <a:off x="3630" y="2451"/>
                <a:ext cx="258" cy="258"/>
              </a:xfrm>
              <a:custGeom>
                <a:avLst/>
                <a:gdLst>
                  <a:gd name="T0" fmla="*/ 0 w 1551"/>
                  <a:gd name="T1" fmla="*/ 1552 h 1552"/>
                  <a:gd name="T2" fmla="*/ 1550 w 1551"/>
                  <a:gd name="T3" fmla="*/ 0 h 1552"/>
                  <a:gd name="T4" fmla="*/ 1551 w 1551"/>
                  <a:gd name="T5" fmla="*/ 0 h 1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51" h="1552">
                    <a:moveTo>
                      <a:pt x="0" y="1552"/>
                    </a:moveTo>
                    <a:lnTo>
                      <a:pt x="1550" y="0"/>
                    </a:lnTo>
                    <a:lnTo>
                      <a:pt x="155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61" name="Freeform 701"/>
              <p:cNvSpPr>
                <a:spLocks/>
              </p:cNvSpPr>
              <p:nvPr/>
            </p:nvSpPr>
            <p:spPr bwMode="auto">
              <a:xfrm>
                <a:off x="4114" y="2202"/>
                <a:ext cx="23" cy="23"/>
              </a:xfrm>
              <a:custGeom>
                <a:avLst/>
                <a:gdLst>
                  <a:gd name="T0" fmla="*/ 0 w 139"/>
                  <a:gd name="T1" fmla="*/ 139 h 139"/>
                  <a:gd name="T2" fmla="*/ 138 w 139"/>
                  <a:gd name="T3" fmla="*/ 0 h 139"/>
                  <a:gd name="T4" fmla="*/ 139 w 139"/>
                  <a:gd name="T5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9" h="139">
                    <a:moveTo>
                      <a:pt x="0" y="139"/>
                    </a:moveTo>
                    <a:lnTo>
                      <a:pt x="138" y="0"/>
                    </a:lnTo>
                    <a:lnTo>
                      <a:pt x="13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62" name="Freeform 702"/>
              <p:cNvSpPr>
                <a:spLocks/>
              </p:cNvSpPr>
              <p:nvPr/>
            </p:nvSpPr>
            <p:spPr bwMode="auto">
              <a:xfrm>
                <a:off x="3888" y="2314"/>
                <a:ext cx="137" cy="137"/>
              </a:xfrm>
              <a:custGeom>
                <a:avLst/>
                <a:gdLst>
                  <a:gd name="T0" fmla="*/ 0 w 819"/>
                  <a:gd name="T1" fmla="*/ 817 h 817"/>
                  <a:gd name="T2" fmla="*/ 818 w 819"/>
                  <a:gd name="T3" fmla="*/ 0 h 817"/>
                  <a:gd name="T4" fmla="*/ 819 w 819"/>
                  <a:gd name="T5" fmla="*/ 0 h 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7">
                    <a:moveTo>
                      <a:pt x="0" y="817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63" name="Freeform 703"/>
              <p:cNvSpPr>
                <a:spLocks/>
              </p:cNvSpPr>
              <p:nvPr/>
            </p:nvSpPr>
            <p:spPr bwMode="auto">
              <a:xfrm>
                <a:off x="4024" y="2225"/>
                <a:ext cx="90" cy="89"/>
              </a:xfrm>
              <a:custGeom>
                <a:avLst/>
                <a:gdLst>
                  <a:gd name="T0" fmla="*/ 0 w 536"/>
                  <a:gd name="T1" fmla="*/ 536 h 536"/>
                  <a:gd name="T2" fmla="*/ 535 w 536"/>
                  <a:gd name="T3" fmla="*/ 0 h 536"/>
                  <a:gd name="T4" fmla="*/ 536 w 536"/>
                  <a:gd name="T5" fmla="*/ 0 h 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6" h="536">
                    <a:moveTo>
                      <a:pt x="0" y="536"/>
                    </a:moveTo>
                    <a:lnTo>
                      <a:pt x="535" y="0"/>
                    </a:lnTo>
                    <a:lnTo>
                      <a:pt x="53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64" name="Freeform 704"/>
              <p:cNvSpPr>
                <a:spLocks/>
              </p:cNvSpPr>
              <p:nvPr/>
            </p:nvSpPr>
            <p:spPr bwMode="auto">
              <a:xfrm>
                <a:off x="3635" y="2735"/>
                <a:ext cx="3" cy="3"/>
              </a:xfrm>
              <a:custGeom>
                <a:avLst/>
                <a:gdLst>
                  <a:gd name="T0" fmla="*/ 0 w 20"/>
                  <a:gd name="T1" fmla="*/ 19 h 19"/>
                  <a:gd name="T2" fmla="*/ 18 w 20"/>
                  <a:gd name="T3" fmla="*/ 0 h 19"/>
                  <a:gd name="T4" fmla="*/ 20 w 20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" h="19">
                    <a:moveTo>
                      <a:pt x="0" y="19"/>
                    </a:moveTo>
                    <a:lnTo>
                      <a:pt x="18" y="0"/>
                    </a:lnTo>
                    <a:lnTo>
                      <a:pt x="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65" name="Freeform 705"/>
              <p:cNvSpPr>
                <a:spLocks/>
              </p:cNvSpPr>
              <p:nvPr/>
            </p:nvSpPr>
            <p:spPr bwMode="auto">
              <a:xfrm>
                <a:off x="4126" y="2220"/>
                <a:ext cx="26" cy="27"/>
              </a:xfrm>
              <a:custGeom>
                <a:avLst/>
                <a:gdLst>
                  <a:gd name="T0" fmla="*/ 0 w 161"/>
                  <a:gd name="T1" fmla="*/ 160 h 160"/>
                  <a:gd name="T2" fmla="*/ 160 w 161"/>
                  <a:gd name="T3" fmla="*/ 0 h 160"/>
                  <a:gd name="T4" fmla="*/ 161 w 16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1" h="160">
                    <a:moveTo>
                      <a:pt x="0" y="160"/>
                    </a:moveTo>
                    <a:lnTo>
                      <a:pt x="160" y="0"/>
                    </a:lnTo>
                    <a:lnTo>
                      <a:pt x="16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66" name="Freeform 706"/>
              <p:cNvSpPr>
                <a:spLocks/>
              </p:cNvSpPr>
              <p:nvPr/>
            </p:nvSpPr>
            <p:spPr bwMode="auto">
              <a:xfrm>
                <a:off x="3638" y="2485"/>
                <a:ext cx="250" cy="250"/>
              </a:xfrm>
              <a:custGeom>
                <a:avLst/>
                <a:gdLst>
                  <a:gd name="T0" fmla="*/ 0 w 1504"/>
                  <a:gd name="T1" fmla="*/ 1503 h 1503"/>
                  <a:gd name="T2" fmla="*/ 1503 w 1504"/>
                  <a:gd name="T3" fmla="*/ 0 h 1503"/>
                  <a:gd name="T4" fmla="*/ 1504 w 1504"/>
                  <a:gd name="T5" fmla="*/ 0 h 1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04" h="1503">
                    <a:moveTo>
                      <a:pt x="0" y="1503"/>
                    </a:moveTo>
                    <a:lnTo>
                      <a:pt x="1503" y="0"/>
                    </a:lnTo>
                    <a:lnTo>
                      <a:pt x="150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67" name="Freeform 707"/>
              <p:cNvSpPr>
                <a:spLocks/>
              </p:cNvSpPr>
              <p:nvPr/>
            </p:nvSpPr>
            <p:spPr bwMode="auto">
              <a:xfrm>
                <a:off x="4024" y="2247"/>
                <a:ext cx="102" cy="101"/>
              </a:xfrm>
              <a:custGeom>
                <a:avLst/>
                <a:gdLst>
                  <a:gd name="T0" fmla="*/ 0 w 608"/>
                  <a:gd name="T1" fmla="*/ 608 h 608"/>
                  <a:gd name="T2" fmla="*/ 607 w 608"/>
                  <a:gd name="T3" fmla="*/ 0 h 608"/>
                  <a:gd name="T4" fmla="*/ 608 w 608"/>
                  <a:gd name="T5" fmla="*/ 0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08" h="608">
                    <a:moveTo>
                      <a:pt x="0" y="608"/>
                    </a:moveTo>
                    <a:lnTo>
                      <a:pt x="607" y="0"/>
                    </a:lnTo>
                    <a:lnTo>
                      <a:pt x="60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68" name="Freeform 708"/>
              <p:cNvSpPr>
                <a:spLocks/>
              </p:cNvSpPr>
              <p:nvPr/>
            </p:nvSpPr>
            <p:spPr bwMode="auto">
              <a:xfrm>
                <a:off x="3888" y="2348"/>
                <a:ext cx="137" cy="137"/>
              </a:xfrm>
              <a:custGeom>
                <a:avLst/>
                <a:gdLst>
                  <a:gd name="T0" fmla="*/ 0 w 819"/>
                  <a:gd name="T1" fmla="*/ 819 h 819"/>
                  <a:gd name="T2" fmla="*/ 818 w 819"/>
                  <a:gd name="T3" fmla="*/ 0 h 819"/>
                  <a:gd name="T4" fmla="*/ 819 w 819"/>
                  <a:gd name="T5" fmla="*/ 0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9">
                    <a:moveTo>
                      <a:pt x="0" y="819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69" name="Freeform 709"/>
              <p:cNvSpPr>
                <a:spLocks/>
              </p:cNvSpPr>
              <p:nvPr/>
            </p:nvSpPr>
            <p:spPr bwMode="auto">
              <a:xfrm>
                <a:off x="3661" y="2732"/>
                <a:ext cx="14" cy="14"/>
              </a:xfrm>
              <a:custGeom>
                <a:avLst/>
                <a:gdLst>
                  <a:gd name="T0" fmla="*/ 0 w 89"/>
                  <a:gd name="T1" fmla="*/ 88 h 88"/>
                  <a:gd name="T2" fmla="*/ 88 w 89"/>
                  <a:gd name="T3" fmla="*/ 0 h 88"/>
                  <a:gd name="T4" fmla="*/ 89 w 89"/>
                  <a:gd name="T5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9" h="88">
                    <a:moveTo>
                      <a:pt x="0" y="88"/>
                    </a:moveTo>
                    <a:lnTo>
                      <a:pt x="88" y="0"/>
                    </a:lnTo>
                    <a:lnTo>
                      <a:pt x="8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70" name="Freeform 710"/>
              <p:cNvSpPr>
                <a:spLocks/>
              </p:cNvSpPr>
              <p:nvPr/>
            </p:nvSpPr>
            <p:spPr bwMode="auto">
              <a:xfrm>
                <a:off x="4138" y="2240"/>
                <a:ext cx="29" cy="29"/>
              </a:xfrm>
              <a:custGeom>
                <a:avLst/>
                <a:gdLst>
                  <a:gd name="T0" fmla="*/ 0 w 174"/>
                  <a:gd name="T1" fmla="*/ 172 h 172"/>
                  <a:gd name="T2" fmla="*/ 172 w 174"/>
                  <a:gd name="T3" fmla="*/ 0 h 172"/>
                  <a:gd name="T4" fmla="*/ 174 w 174"/>
                  <a:gd name="T5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4" h="172">
                    <a:moveTo>
                      <a:pt x="0" y="172"/>
                    </a:moveTo>
                    <a:lnTo>
                      <a:pt x="172" y="0"/>
                    </a:lnTo>
                    <a:lnTo>
                      <a:pt x="17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71" name="Freeform 711"/>
              <p:cNvSpPr>
                <a:spLocks/>
              </p:cNvSpPr>
              <p:nvPr/>
            </p:nvSpPr>
            <p:spPr bwMode="auto">
              <a:xfrm>
                <a:off x="3675" y="2518"/>
                <a:ext cx="213" cy="214"/>
              </a:xfrm>
              <a:custGeom>
                <a:avLst/>
                <a:gdLst>
                  <a:gd name="T0" fmla="*/ 0 w 1278"/>
                  <a:gd name="T1" fmla="*/ 1278 h 1278"/>
                  <a:gd name="T2" fmla="*/ 1277 w 1278"/>
                  <a:gd name="T3" fmla="*/ 0 h 1278"/>
                  <a:gd name="T4" fmla="*/ 1278 w 1278"/>
                  <a:gd name="T5" fmla="*/ 0 h 1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78" h="1278">
                    <a:moveTo>
                      <a:pt x="0" y="1278"/>
                    </a:moveTo>
                    <a:lnTo>
                      <a:pt x="1277" y="0"/>
                    </a:lnTo>
                    <a:lnTo>
                      <a:pt x="127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72" name="Freeform 712"/>
              <p:cNvSpPr>
                <a:spLocks/>
              </p:cNvSpPr>
              <p:nvPr/>
            </p:nvSpPr>
            <p:spPr bwMode="auto">
              <a:xfrm>
                <a:off x="4024" y="2269"/>
                <a:ext cx="114" cy="113"/>
              </a:xfrm>
              <a:custGeom>
                <a:avLst/>
                <a:gdLst>
                  <a:gd name="T0" fmla="*/ 0 w 683"/>
                  <a:gd name="T1" fmla="*/ 682 h 682"/>
                  <a:gd name="T2" fmla="*/ 682 w 683"/>
                  <a:gd name="T3" fmla="*/ 0 h 682"/>
                  <a:gd name="T4" fmla="*/ 683 w 683"/>
                  <a:gd name="T5" fmla="*/ 0 h 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3" h="682">
                    <a:moveTo>
                      <a:pt x="0" y="682"/>
                    </a:moveTo>
                    <a:lnTo>
                      <a:pt x="682" y="0"/>
                    </a:lnTo>
                    <a:lnTo>
                      <a:pt x="68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73" name="Freeform 713"/>
              <p:cNvSpPr>
                <a:spLocks/>
              </p:cNvSpPr>
              <p:nvPr/>
            </p:nvSpPr>
            <p:spPr bwMode="auto">
              <a:xfrm>
                <a:off x="3888" y="2382"/>
                <a:ext cx="136" cy="136"/>
              </a:xfrm>
              <a:custGeom>
                <a:avLst/>
                <a:gdLst>
                  <a:gd name="T0" fmla="*/ 0 w 818"/>
                  <a:gd name="T1" fmla="*/ 818 h 818"/>
                  <a:gd name="T2" fmla="*/ 816 w 818"/>
                  <a:gd name="T3" fmla="*/ 0 h 818"/>
                  <a:gd name="T4" fmla="*/ 818 w 818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8">
                    <a:moveTo>
                      <a:pt x="0" y="818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74" name="Freeform 714"/>
              <p:cNvSpPr>
                <a:spLocks/>
              </p:cNvSpPr>
              <p:nvPr/>
            </p:nvSpPr>
            <p:spPr bwMode="auto">
              <a:xfrm>
                <a:off x="3687" y="2729"/>
                <a:ext cx="25" cy="25"/>
              </a:xfrm>
              <a:custGeom>
                <a:avLst/>
                <a:gdLst>
                  <a:gd name="T0" fmla="*/ 0 w 153"/>
                  <a:gd name="T1" fmla="*/ 151 h 151"/>
                  <a:gd name="T2" fmla="*/ 152 w 153"/>
                  <a:gd name="T3" fmla="*/ 0 h 151"/>
                  <a:gd name="T4" fmla="*/ 153 w 153"/>
                  <a:gd name="T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" h="151">
                    <a:moveTo>
                      <a:pt x="0" y="151"/>
                    </a:moveTo>
                    <a:lnTo>
                      <a:pt x="152" y="0"/>
                    </a:lnTo>
                    <a:lnTo>
                      <a:pt x="15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75" name="Freeform 715"/>
              <p:cNvSpPr>
                <a:spLocks/>
              </p:cNvSpPr>
              <p:nvPr/>
            </p:nvSpPr>
            <p:spPr bwMode="auto">
              <a:xfrm>
                <a:off x="4150" y="2260"/>
                <a:ext cx="30" cy="30"/>
              </a:xfrm>
              <a:custGeom>
                <a:avLst/>
                <a:gdLst>
                  <a:gd name="T0" fmla="*/ 0 w 180"/>
                  <a:gd name="T1" fmla="*/ 180 h 180"/>
                  <a:gd name="T2" fmla="*/ 179 w 180"/>
                  <a:gd name="T3" fmla="*/ 0 h 180"/>
                  <a:gd name="T4" fmla="*/ 180 w 180"/>
                  <a:gd name="T5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0" h="180">
                    <a:moveTo>
                      <a:pt x="0" y="180"/>
                    </a:moveTo>
                    <a:lnTo>
                      <a:pt x="179" y="0"/>
                    </a:lnTo>
                    <a:lnTo>
                      <a:pt x="18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76" name="Freeform 716"/>
              <p:cNvSpPr>
                <a:spLocks/>
              </p:cNvSpPr>
              <p:nvPr/>
            </p:nvSpPr>
            <p:spPr bwMode="auto">
              <a:xfrm>
                <a:off x="3712" y="2552"/>
                <a:ext cx="176" cy="177"/>
              </a:xfrm>
              <a:custGeom>
                <a:avLst/>
                <a:gdLst>
                  <a:gd name="T0" fmla="*/ 0 w 1058"/>
                  <a:gd name="T1" fmla="*/ 1058 h 1058"/>
                  <a:gd name="T2" fmla="*/ 1057 w 1058"/>
                  <a:gd name="T3" fmla="*/ 0 h 1058"/>
                  <a:gd name="T4" fmla="*/ 1058 w 1058"/>
                  <a:gd name="T5" fmla="*/ 0 h 10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58" h="1058">
                    <a:moveTo>
                      <a:pt x="0" y="1058"/>
                    </a:moveTo>
                    <a:lnTo>
                      <a:pt x="1057" y="0"/>
                    </a:lnTo>
                    <a:lnTo>
                      <a:pt x="105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77" name="Freeform 717"/>
              <p:cNvSpPr>
                <a:spLocks/>
              </p:cNvSpPr>
              <p:nvPr/>
            </p:nvSpPr>
            <p:spPr bwMode="auto">
              <a:xfrm>
                <a:off x="4024" y="2290"/>
                <a:ext cx="126" cy="126"/>
              </a:xfrm>
              <a:custGeom>
                <a:avLst/>
                <a:gdLst>
                  <a:gd name="T0" fmla="*/ 0 w 757"/>
                  <a:gd name="T1" fmla="*/ 755 h 755"/>
                  <a:gd name="T2" fmla="*/ 756 w 757"/>
                  <a:gd name="T3" fmla="*/ 0 h 755"/>
                  <a:gd name="T4" fmla="*/ 757 w 757"/>
                  <a:gd name="T5" fmla="*/ 0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7" h="755">
                    <a:moveTo>
                      <a:pt x="0" y="755"/>
                    </a:moveTo>
                    <a:lnTo>
                      <a:pt x="756" y="0"/>
                    </a:lnTo>
                    <a:lnTo>
                      <a:pt x="75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78" name="Freeform 718"/>
              <p:cNvSpPr>
                <a:spLocks/>
              </p:cNvSpPr>
              <p:nvPr/>
            </p:nvSpPr>
            <p:spPr bwMode="auto">
              <a:xfrm>
                <a:off x="3888" y="2416"/>
                <a:ext cx="136" cy="136"/>
              </a:xfrm>
              <a:custGeom>
                <a:avLst/>
                <a:gdLst>
                  <a:gd name="T0" fmla="*/ 0 w 818"/>
                  <a:gd name="T1" fmla="*/ 817 h 817"/>
                  <a:gd name="T2" fmla="*/ 816 w 818"/>
                  <a:gd name="T3" fmla="*/ 0 h 817"/>
                  <a:gd name="T4" fmla="*/ 818 w 818"/>
                  <a:gd name="T5" fmla="*/ 0 h 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8" h="817">
                    <a:moveTo>
                      <a:pt x="0" y="817"/>
                    </a:moveTo>
                    <a:lnTo>
                      <a:pt x="816" y="0"/>
                    </a:lnTo>
                    <a:lnTo>
                      <a:pt x="8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79" name="Freeform 719"/>
              <p:cNvSpPr>
                <a:spLocks/>
              </p:cNvSpPr>
              <p:nvPr/>
            </p:nvSpPr>
            <p:spPr bwMode="auto">
              <a:xfrm>
                <a:off x="3713" y="2727"/>
                <a:ext cx="35" cy="35"/>
              </a:xfrm>
              <a:custGeom>
                <a:avLst/>
                <a:gdLst>
                  <a:gd name="T0" fmla="*/ 0 w 211"/>
                  <a:gd name="T1" fmla="*/ 211 h 211"/>
                  <a:gd name="T2" fmla="*/ 210 w 211"/>
                  <a:gd name="T3" fmla="*/ 0 h 211"/>
                  <a:gd name="T4" fmla="*/ 211 w 211"/>
                  <a:gd name="T5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1" h="211">
                    <a:moveTo>
                      <a:pt x="0" y="211"/>
                    </a:moveTo>
                    <a:lnTo>
                      <a:pt x="210" y="0"/>
                    </a:lnTo>
                    <a:lnTo>
                      <a:pt x="21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80" name="Freeform 720"/>
              <p:cNvSpPr>
                <a:spLocks/>
              </p:cNvSpPr>
              <p:nvPr/>
            </p:nvSpPr>
            <p:spPr bwMode="auto">
              <a:xfrm>
                <a:off x="4162" y="2282"/>
                <a:ext cx="31" cy="30"/>
              </a:xfrm>
              <a:custGeom>
                <a:avLst/>
                <a:gdLst>
                  <a:gd name="T0" fmla="*/ 0 w 182"/>
                  <a:gd name="T1" fmla="*/ 182 h 182"/>
                  <a:gd name="T2" fmla="*/ 181 w 182"/>
                  <a:gd name="T3" fmla="*/ 0 h 182"/>
                  <a:gd name="T4" fmla="*/ 182 w 182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2">
                    <a:moveTo>
                      <a:pt x="0" y="182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81" name="Freeform 721"/>
              <p:cNvSpPr>
                <a:spLocks/>
              </p:cNvSpPr>
              <p:nvPr/>
            </p:nvSpPr>
            <p:spPr bwMode="auto">
              <a:xfrm>
                <a:off x="3748" y="2586"/>
                <a:ext cx="140" cy="141"/>
              </a:xfrm>
              <a:custGeom>
                <a:avLst/>
                <a:gdLst>
                  <a:gd name="T0" fmla="*/ 0 w 843"/>
                  <a:gd name="T1" fmla="*/ 843 h 843"/>
                  <a:gd name="T2" fmla="*/ 842 w 843"/>
                  <a:gd name="T3" fmla="*/ 0 h 843"/>
                  <a:gd name="T4" fmla="*/ 843 w 843"/>
                  <a:gd name="T5" fmla="*/ 0 h 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3" h="843">
                    <a:moveTo>
                      <a:pt x="0" y="843"/>
                    </a:moveTo>
                    <a:lnTo>
                      <a:pt x="842" y="0"/>
                    </a:lnTo>
                    <a:lnTo>
                      <a:pt x="84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82" name="Freeform 722"/>
              <p:cNvSpPr>
                <a:spLocks/>
              </p:cNvSpPr>
              <p:nvPr/>
            </p:nvSpPr>
            <p:spPr bwMode="auto">
              <a:xfrm>
                <a:off x="4024" y="2312"/>
                <a:ext cx="138" cy="138"/>
              </a:xfrm>
              <a:custGeom>
                <a:avLst/>
                <a:gdLst>
                  <a:gd name="T0" fmla="*/ 0 w 830"/>
                  <a:gd name="T1" fmla="*/ 829 h 829"/>
                  <a:gd name="T2" fmla="*/ 829 w 830"/>
                  <a:gd name="T3" fmla="*/ 0 h 829"/>
                  <a:gd name="T4" fmla="*/ 830 w 830"/>
                  <a:gd name="T5" fmla="*/ 0 h 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30" h="829">
                    <a:moveTo>
                      <a:pt x="0" y="829"/>
                    </a:moveTo>
                    <a:lnTo>
                      <a:pt x="829" y="0"/>
                    </a:lnTo>
                    <a:lnTo>
                      <a:pt x="83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83" name="Freeform 723"/>
              <p:cNvSpPr>
                <a:spLocks/>
              </p:cNvSpPr>
              <p:nvPr/>
            </p:nvSpPr>
            <p:spPr bwMode="auto">
              <a:xfrm>
                <a:off x="3888" y="2450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84" name="Freeform 724"/>
              <p:cNvSpPr>
                <a:spLocks/>
              </p:cNvSpPr>
              <p:nvPr/>
            </p:nvSpPr>
            <p:spPr bwMode="auto">
              <a:xfrm>
                <a:off x="3739" y="2725"/>
                <a:ext cx="44" cy="44"/>
              </a:xfrm>
              <a:custGeom>
                <a:avLst/>
                <a:gdLst>
                  <a:gd name="T0" fmla="*/ 0 w 267"/>
                  <a:gd name="T1" fmla="*/ 266 h 266"/>
                  <a:gd name="T2" fmla="*/ 266 w 267"/>
                  <a:gd name="T3" fmla="*/ 0 h 266"/>
                  <a:gd name="T4" fmla="*/ 267 w 267"/>
                  <a:gd name="T5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7" h="266">
                    <a:moveTo>
                      <a:pt x="0" y="266"/>
                    </a:moveTo>
                    <a:lnTo>
                      <a:pt x="266" y="0"/>
                    </a:lnTo>
                    <a:lnTo>
                      <a:pt x="2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85" name="Freeform 725"/>
              <p:cNvSpPr>
                <a:spLocks/>
              </p:cNvSpPr>
              <p:nvPr/>
            </p:nvSpPr>
            <p:spPr bwMode="auto">
              <a:xfrm>
                <a:off x="4174" y="2304"/>
                <a:ext cx="31" cy="30"/>
              </a:xfrm>
              <a:custGeom>
                <a:avLst/>
                <a:gdLst>
                  <a:gd name="T0" fmla="*/ 0 w 182"/>
                  <a:gd name="T1" fmla="*/ 181 h 181"/>
                  <a:gd name="T2" fmla="*/ 181 w 182"/>
                  <a:gd name="T3" fmla="*/ 0 h 181"/>
                  <a:gd name="T4" fmla="*/ 182 w 182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2" h="181">
                    <a:moveTo>
                      <a:pt x="0" y="181"/>
                    </a:moveTo>
                    <a:lnTo>
                      <a:pt x="181" y="0"/>
                    </a:lnTo>
                    <a:lnTo>
                      <a:pt x="18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86" name="Freeform 726"/>
              <p:cNvSpPr>
                <a:spLocks/>
              </p:cNvSpPr>
              <p:nvPr/>
            </p:nvSpPr>
            <p:spPr bwMode="auto">
              <a:xfrm>
                <a:off x="3783" y="2620"/>
                <a:ext cx="105" cy="105"/>
              </a:xfrm>
              <a:custGeom>
                <a:avLst/>
                <a:gdLst>
                  <a:gd name="T0" fmla="*/ 0 w 631"/>
                  <a:gd name="T1" fmla="*/ 631 h 631"/>
                  <a:gd name="T2" fmla="*/ 630 w 631"/>
                  <a:gd name="T3" fmla="*/ 0 h 631"/>
                  <a:gd name="T4" fmla="*/ 631 w 631"/>
                  <a:gd name="T5" fmla="*/ 0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1" h="631">
                    <a:moveTo>
                      <a:pt x="0" y="631"/>
                    </a:moveTo>
                    <a:lnTo>
                      <a:pt x="630" y="0"/>
                    </a:lnTo>
                    <a:lnTo>
                      <a:pt x="63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87" name="Freeform 727"/>
              <p:cNvSpPr>
                <a:spLocks/>
              </p:cNvSpPr>
              <p:nvPr/>
            </p:nvSpPr>
            <p:spPr bwMode="auto">
              <a:xfrm>
                <a:off x="4024" y="2334"/>
                <a:ext cx="150" cy="150"/>
              </a:xfrm>
              <a:custGeom>
                <a:avLst/>
                <a:gdLst>
                  <a:gd name="T0" fmla="*/ 0 w 903"/>
                  <a:gd name="T1" fmla="*/ 902 h 902"/>
                  <a:gd name="T2" fmla="*/ 902 w 903"/>
                  <a:gd name="T3" fmla="*/ 0 h 902"/>
                  <a:gd name="T4" fmla="*/ 903 w 903"/>
                  <a:gd name="T5" fmla="*/ 0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3" h="902">
                    <a:moveTo>
                      <a:pt x="0" y="902"/>
                    </a:moveTo>
                    <a:lnTo>
                      <a:pt x="902" y="0"/>
                    </a:lnTo>
                    <a:lnTo>
                      <a:pt x="90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88" name="Freeform 728"/>
              <p:cNvSpPr>
                <a:spLocks/>
              </p:cNvSpPr>
              <p:nvPr/>
            </p:nvSpPr>
            <p:spPr bwMode="auto">
              <a:xfrm>
                <a:off x="3888" y="2484"/>
                <a:ext cx="136" cy="136"/>
              </a:xfrm>
              <a:custGeom>
                <a:avLst/>
                <a:gdLst>
                  <a:gd name="T0" fmla="*/ 0 w 816"/>
                  <a:gd name="T1" fmla="*/ 816 h 816"/>
                  <a:gd name="T2" fmla="*/ 815 w 816"/>
                  <a:gd name="T3" fmla="*/ 0 h 816"/>
                  <a:gd name="T4" fmla="*/ 816 w 816"/>
                  <a:gd name="T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6">
                    <a:moveTo>
                      <a:pt x="0" y="816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89" name="Freeform 729"/>
              <p:cNvSpPr>
                <a:spLocks/>
              </p:cNvSpPr>
              <p:nvPr/>
            </p:nvSpPr>
            <p:spPr bwMode="auto">
              <a:xfrm>
                <a:off x="3765" y="2724"/>
                <a:ext cx="53" cy="53"/>
              </a:xfrm>
              <a:custGeom>
                <a:avLst/>
                <a:gdLst>
                  <a:gd name="T0" fmla="*/ 0 w 318"/>
                  <a:gd name="T1" fmla="*/ 317 h 317"/>
                  <a:gd name="T2" fmla="*/ 317 w 318"/>
                  <a:gd name="T3" fmla="*/ 0 h 317"/>
                  <a:gd name="T4" fmla="*/ 318 w 318"/>
                  <a:gd name="T5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8" h="317">
                    <a:moveTo>
                      <a:pt x="0" y="317"/>
                    </a:moveTo>
                    <a:lnTo>
                      <a:pt x="317" y="0"/>
                    </a:lnTo>
                    <a:lnTo>
                      <a:pt x="3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90" name="Freeform 730"/>
              <p:cNvSpPr>
                <a:spLocks/>
              </p:cNvSpPr>
              <p:nvPr/>
            </p:nvSpPr>
            <p:spPr bwMode="auto">
              <a:xfrm>
                <a:off x="4186" y="2325"/>
                <a:ext cx="31" cy="31"/>
              </a:xfrm>
              <a:custGeom>
                <a:avLst/>
                <a:gdLst>
                  <a:gd name="T0" fmla="*/ 0 w 184"/>
                  <a:gd name="T1" fmla="*/ 182 h 182"/>
                  <a:gd name="T2" fmla="*/ 183 w 184"/>
                  <a:gd name="T3" fmla="*/ 0 h 182"/>
                  <a:gd name="T4" fmla="*/ 184 w 184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2">
                    <a:moveTo>
                      <a:pt x="0" y="182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91" name="Freeform 731"/>
              <p:cNvSpPr>
                <a:spLocks/>
              </p:cNvSpPr>
              <p:nvPr/>
            </p:nvSpPr>
            <p:spPr bwMode="auto">
              <a:xfrm>
                <a:off x="3818" y="2654"/>
                <a:ext cx="70" cy="70"/>
              </a:xfrm>
              <a:custGeom>
                <a:avLst/>
                <a:gdLst>
                  <a:gd name="T0" fmla="*/ 0 w 423"/>
                  <a:gd name="T1" fmla="*/ 423 h 423"/>
                  <a:gd name="T2" fmla="*/ 422 w 423"/>
                  <a:gd name="T3" fmla="*/ 0 h 423"/>
                  <a:gd name="T4" fmla="*/ 423 w 423"/>
                  <a:gd name="T5" fmla="*/ 0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3" h="423">
                    <a:moveTo>
                      <a:pt x="0" y="423"/>
                    </a:moveTo>
                    <a:lnTo>
                      <a:pt x="422" y="0"/>
                    </a:lnTo>
                    <a:lnTo>
                      <a:pt x="42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92" name="Freeform 732"/>
              <p:cNvSpPr>
                <a:spLocks/>
              </p:cNvSpPr>
              <p:nvPr/>
            </p:nvSpPr>
            <p:spPr bwMode="auto">
              <a:xfrm>
                <a:off x="4024" y="2356"/>
                <a:ext cx="163" cy="162"/>
              </a:xfrm>
              <a:custGeom>
                <a:avLst/>
                <a:gdLst>
                  <a:gd name="T0" fmla="*/ 0 w 975"/>
                  <a:gd name="T1" fmla="*/ 976 h 976"/>
                  <a:gd name="T2" fmla="*/ 974 w 975"/>
                  <a:gd name="T3" fmla="*/ 0 h 976"/>
                  <a:gd name="T4" fmla="*/ 975 w 975"/>
                  <a:gd name="T5" fmla="*/ 0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5" h="976">
                    <a:moveTo>
                      <a:pt x="0" y="976"/>
                    </a:moveTo>
                    <a:lnTo>
                      <a:pt x="974" y="0"/>
                    </a:lnTo>
                    <a:lnTo>
                      <a:pt x="97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93" name="Freeform 733"/>
              <p:cNvSpPr>
                <a:spLocks/>
              </p:cNvSpPr>
              <p:nvPr/>
            </p:nvSpPr>
            <p:spPr bwMode="auto">
              <a:xfrm>
                <a:off x="3888" y="2518"/>
                <a:ext cx="136" cy="136"/>
              </a:xfrm>
              <a:custGeom>
                <a:avLst/>
                <a:gdLst>
                  <a:gd name="T0" fmla="*/ 0 w 816"/>
                  <a:gd name="T1" fmla="*/ 815 h 815"/>
                  <a:gd name="T2" fmla="*/ 815 w 816"/>
                  <a:gd name="T3" fmla="*/ 0 h 815"/>
                  <a:gd name="T4" fmla="*/ 816 w 816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6" h="815">
                    <a:moveTo>
                      <a:pt x="0" y="815"/>
                    </a:moveTo>
                    <a:lnTo>
                      <a:pt x="815" y="0"/>
                    </a:lnTo>
                    <a:lnTo>
                      <a:pt x="81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94" name="Freeform 734"/>
              <p:cNvSpPr>
                <a:spLocks/>
              </p:cNvSpPr>
              <p:nvPr/>
            </p:nvSpPr>
            <p:spPr bwMode="auto">
              <a:xfrm>
                <a:off x="3791" y="2724"/>
                <a:ext cx="61" cy="61"/>
              </a:xfrm>
              <a:custGeom>
                <a:avLst/>
                <a:gdLst>
                  <a:gd name="T0" fmla="*/ 0 w 366"/>
                  <a:gd name="T1" fmla="*/ 364 h 364"/>
                  <a:gd name="T2" fmla="*/ 365 w 366"/>
                  <a:gd name="T3" fmla="*/ 0 h 364"/>
                  <a:gd name="T4" fmla="*/ 366 w 366"/>
                  <a:gd name="T5" fmla="*/ 0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6" h="364">
                    <a:moveTo>
                      <a:pt x="0" y="364"/>
                    </a:moveTo>
                    <a:lnTo>
                      <a:pt x="365" y="0"/>
                    </a:lnTo>
                    <a:lnTo>
                      <a:pt x="36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95" name="Freeform 735"/>
              <p:cNvSpPr>
                <a:spLocks/>
              </p:cNvSpPr>
              <p:nvPr/>
            </p:nvSpPr>
            <p:spPr bwMode="auto">
              <a:xfrm>
                <a:off x="4198" y="2347"/>
                <a:ext cx="31" cy="30"/>
              </a:xfrm>
              <a:custGeom>
                <a:avLst/>
                <a:gdLst>
                  <a:gd name="T0" fmla="*/ 0 w 184"/>
                  <a:gd name="T1" fmla="*/ 184 h 184"/>
                  <a:gd name="T2" fmla="*/ 183 w 184"/>
                  <a:gd name="T3" fmla="*/ 0 h 184"/>
                  <a:gd name="T4" fmla="*/ 184 w 184"/>
                  <a:gd name="T5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4" h="184">
                    <a:moveTo>
                      <a:pt x="0" y="184"/>
                    </a:moveTo>
                    <a:lnTo>
                      <a:pt x="183" y="0"/>
                    </a:lnTo>
                    <a:lnTo>
                      <a:pt x="18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96" name="Freeform 736"/>
              <p:cNvSpPr>
                <a:spLocks/>
              </p:cNvSpPr>
              <p:nvPr/>
            </p:nvSpPr>
            <p:spPr bwMode="auto">
              <a:xfrm>
                <a:off x="3852" y="2688"/>
                <a:ext cx="36" cy="36"/>
              </a:xfrm>
              <a:custGeom>
                <a:avLst/>
                <a:gdLst>
                  <a:gd name="T0" fmla="*/ 0 w 219"/>
                  <a:gd name="T1" fmla="*/ 219 h 219"/>
                  <a:gd name="T2" fmla="*/ 218 w 219"/>
                  <a:gd name="T3" fmla="*/ 0 h 219"/>
                  <a:gd name="T4" fmla="*/ 219 w 219"/>
                  <a:gd name="T5" fmla="*/ 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9" h="219">
                    <a:moveTo>
                      <a:pt x="0" y="219"/>
                    </a:moveTo>
                    <a:lnTo>
                      <a:pt x="218" y="0"/>
                    </a:lnTo>
                    <a:lnTo>
                      <a:pt x="21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97" name="Freeform 737"/>
              <p:cNvSpPr>
                <a:spLocks/>
              </p:cNvSpPr>
              <p:nvPr/>
            </p:nvSpPr>
            <p:spPr bwMode="auto">
              <a:xfrm>
                <a:off x="4024" y="2377"/>
                <a:ext cx="175" cy="175"/>
              </a:xfrm>
              <a:custGeom>
                <a:avLst/>
                <a:gdLst>
                  <a:gd name="T0" fmla="*/ 0 w 1049"/>
                  <a:gd name="T1" fmla="*/ 1048 h 1048"/>
                  <a:gd name="T2" fmla="*/ 1048 w 1049"/>
                  <a:gd name="T3" fmla="*/ 0 h 1048"/>
                  <a:gd name="T4" fmla="*/ 1049 w 1049"/>
                  <a:gd name="T5" fmla="*/ 0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9" h="1048">
                    <a:moveTo>
                      <a:pt x="0" y="1048"/>
                    </a:moveTo>
                    <a:lnTo>
                      <a:pt x="1048" y="0"/>
                    </a:lnTo>
                    <a:lnTo>
                      <a:pt x="104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98" name="Freeform 738"/>
              <p:cNvSpPr>
                <a:spLocks/>
              </p:cNvSpPr>
              <p:nvPr/>
            </p:nvSpPr>
            <p:spPr bwMode="auto">
              <a:xfrm>
                <a:off x="3888" y="2552"/>
                <a:ext cx="136" cy="136"/>
              </a:xfrm>
              <a:custGeom>
                <a:avLst/>
                <a:gdLst>
                  <a:gd name="T0" fmla="*/ 0 w 815"/>
                  <a:gd name="T1" fmla="*/ 815 h 815"/>
                  <a:gd name="T2" fmla="*/ 814 w 815"/>
                  <a:gd name="T3" fmla="*/ 0 h 815"/>
                  <a:gd name="T4" fmla="*/ 815 w 815"/>
                  <a:gd name="T5" fmla="*/ 0 h 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5">
                    <a:moveTo>
                      <a:pt x="0" y="815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299" name="Freeform 739"/>
              <p:cNvSpPr>
                <a:spLocks/>
              </p:cNvSpPr>
              <p:nvPr/>
            </p:nvSpPr>
            <p:spPr bwMode="auto">
              <a:xfrm>
                <a:off x="3817" y="2724"/>
                <a:ext cx="69" cy="69"/>
              </a:xfrm>
              <a:custGeom>
                <a:avLst/>
                <a:gdLst>
                  <a:gd name="T0" fmla="*/ 0 w 411"/>
                  <a:gd name="T1" fmla="*/ 410 h 410"/>
                  <a:gd name="T2" fmla="*/ 410 w 411"/>
                  <a:gd name="T3" fmla="*/ 0 h 410"/>
                  <a:gd name="T4" fmla="*/ 411 w 411"/>
                  <a:gd name="T5" fmla="*/ 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11" h="410">
                    <a:moveTo>
                      <a:pt x="0" y="410"/>
                    </a:moveTo>
                    <a:lnTo>
                      <a:pt x="410" y="0"/>
                    </a:lnTo>
                    <a:lnTo>
                      <a:pt x="41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00" name="Freeform 740"/>
              <p:cNvSpPr>
                <a:spLocks/>
              </p:cNvSpPr>
              <p:nvPr/>
            </p:nvSpPr>
            <p:spPr bwMode="auto">
              <a:xfrm>
                <a:off x="4211" y="2368"/>
                <a:ext cx="31" cy="31"/>
              </a:xfrm>
              <a:custGeom>
                <a:avLst/>
                <a:gdLst>
                  <a:gd name="T0" fmla="*/ 0 w 187"/>
                  <a:gd name="T1" fmla="*/ 186 h 186"/>
                  <a:gd name="T2" fmla="*/ 186 w 187"/>
                  <a:gd name="T3" fmla="*/ 0 h 186"/>
                  <a:gd name="T4" fmla="*/ 187 w 187"/>
                  <a:gd name="T5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6">
                    <a:moveTo>
                      <a:pt x="0" y="186"/>
                    </a:moveTo>
                    <a:lnTo>
                      <a:pt x="186" y="0"/>
                    </a:lnTo>
                    <a:lnTo>
                      <a:pt x="18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01" name="Freeform 741"/>
              <p:cNvSpPr>
                <a:spLocks/>
              </p:cNvSpPr>
              <p:nvPr/>
            </p:nvSpPr>
            <p:spPr bwMode="auto">
              <a:xfrm>
                <a:off x="3885" y="2722"/>
                <a:ext cx="3" cy="2"/>
              </a:xfrm>
              <a:custGeom>
                <a:avLst/>
                <a:gdLst>
                  <a:gd name="T0" fmla="*/ 0 w 18"/>
                  <a:gd name="T1" fmla="*/ 17 h 17"/>
                  <a:gd name="T2" fmla="*/ 17 w 18"/>
                  <a:gd name="T3" fmla="*/ 0 h 17"/>
                  <a:gd name="T4" fmla="*/ 18 w 18"/>
                  <a:gd name="T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" h="17">
                    <a:moveTo>
                      <a:pt x="0" y="17"/>
                    </a:moveTo>
                    <a:lnTo>
                      <a:pt x="17" y="0"/>
                    </a:lnTo>
                    <a:lnTo>
                      <a:pt x="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02" name="Freeform 742"/>
              <p:cNvSpPr>
                <a:spLocks/>
              </p:cNvSpPr>
              <p:nvPr/>
            </p:nvSpPr>
            <p:spPr bwMode="auto">
              <a:xfrm>
                <a:off x="4024" y="2399"/>
                <a:ext cx="187" cy="187"/>
              </a:xfrm>
              <a:custGeom>
                <a:avLst/>
                <a:gdLst>
                  <a:gd name="T0" fmla="*/ 0 w 1121"/>
                  <a:gd name="T1" fmla="*/ 1121 h 1121"/>
                  <a:gd name="T2" fmla="*/ 1120 w 1121"/>
                  <a:gd name="T3" fmla="*/ 0 h 1121"/>
                  <a:gd name="T4" fmla="*/ 1121 w 1121"/>
                  <a:gd name="T5" fmla="*/ 0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1" h="1121">
                    <a:moveTo>
                      <a:pt x="0" y="1121"/>
                    </a:moveTo>
                    <a:lnTo>
                      <a:pt x="1120" y="0"/>
                    </a:lnTo>
                    <a:lnTo>
                      <a:pt x="112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03" name="Freeform 743"/>
              <p:cNvSpPr>
                <a:spLocks/>
              </p:cNvSpPr>
              <p:nvPr/>
            </p:nvSpPr>
            <p:spPr bwMode="auto">
              <a:xfrm>
                <a:off x="3888" y="2586"/>
                <a:ext cx="136" cy="136"/>
              </a:xfrm>
              <a:custGeom>
                <a:avLst/>
                <a:gdLst>
                  <a:gd name="T0" fmla="*/ 0 w 815"/>
                  <a:gd name="T1" fmla="*/ 814 h 814"/>
                  <a:gd name="T2" fmla="*/ 814 w 815"/>
                  <a:gd name="T3" fmla="*/ 0 h 814"/>
                  <a:gd name="T4" fmla="*/ 815 w 815"/>
                  <a:gd name="T5" fmla="*/ 0 h 8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5" h="814">
                    <a:moveTo>
                      <a:pt x="0" y="814"/>
                    </a:moveTo>
                    <a:lnTo>
                      <a:pt x="814" y="0"/>
                    </a:lnTo>
                    <a:lnTo>
                      <a:pt x="81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04" name="Freeform 744"/>
              <p:cNvSpPr>
                <a:spLocks/>
              </p:cNvSpPr>
              <p:nvPr/>
            </p:nvSpPr>
            <p:spPr bwMode="auto">
              <a:xfrm>
                <a:off x="3843" y="2756"/>
                <a:ext cx="45" cy="45"/>
              </a:xfrm>
              <a:custGeom>
                <a:avLst/>
                <a:gdLst>
                  <a:gd name="T0" fmla="*/ 0 w 270"/>
                  <a:gd name="T1" fmla="*/ 271 h 271"/>
                  <a:gd name="T2" fmla="*/ 269 w 270"/>
                  <a:gd name="T3" fmla="*/ 0 h 271"/>
                  <a:gd name="T4" fmla="*/ 270 w 270"/>
                  <a:gd name="T5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0" h="271">
                    <a:moveTo>
                      <a:pt x="0" y="271"/>
                    </a:moveTo>
                    <a:lnTo>
                      <a:pt x="269" y="0"/>
                    </a:lnTo>
                    <a:lnTo>
                      <a:pt x="27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05" name="Freeform 745"/>
              <p:cNvSpPr>
                <a:spLocks/>
              </p:cNvSpPr>
              <p:nvPr/>
            </p:nvSpPr>
            <p:spPr bwMode="auto">
              <a:xfrm>
                <a:off x="4223" y="2390"/>
                <a:ext cx="31" cy="31"/>
              </a:xfrm>
              <a:custGeom>
                <a:avLst/>
                <a:gdLst>
                  <a:gd name="T0" fmla="*/ 0 w 187"/>
                  <a:gd name="T1" fmla="*/ 185 h 185"/>
                  <a:gd name="T2" fmla="*/ 185 w 187"/>
                  <a:gd name="T3" fmla="*/ 0 h 185"/>
                  <a:gd name="T4" fmla="*/ 187 w 187"/>
                  <a:gd name="T5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7" h="185">
                    <a:moveTo>
                      <a:pt x="0" y="185"/>
                    </a:moveTo>
                    <a:lnTo>
                      <a:pt x="185" y="0"/>
                    </a:lnTo>
                    <a:lnTo>
                      <a:pt x="18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06" name="Freeform 746"/>
              <p:cNvSpPr>
                <a:spLocks/>
              </p:cNvSpPr>
              <p:nvPr/>
            </p:nvSpPr>
            <p:spPr bwMode="auto">
              <a:xfrm>
                <a:off x="3888" y="2725"/>
                <a:ext cx="31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07" name="Freeform 747"/>
              <p:cNvSpPr>
                <a:spLocks/>
              </p:cNvSpPr>
              <p:nvPr/>
            </p:nvSpPr>
            <p:spPr bwMode="auto">
              <a:xfrm>
                <a:off x="4024" y="2421"/>
                <a:ext cx="199" cy="199"/>
              </a:xfrm>
              <a:custGeom>
                <a:avLst/>
                <a:gdLst>
                  <a:gd name="T0" fmla="*/ 0 w 1195"/>
                  <a:gd name="T1" fmla="*/ 1194 h 1194"/>
                  <a:gd name="T2" fmla="*/ 1194 w 1195"/>
                  <a:gd name="T3" fmla="*/ 0 h 1194"/>
                  <a:gd name="T4" fmla="*/ 1195 w 1195"/>
                  <a:gd name="T5" fmla="*/ 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95" h="1194">
                    <a:moveTo>
                      <a:pt x="0" y="1194"/>
                    </a:moveTo>
                    <a:lnTo>
                      <a:pt x="1194" y="0"/>
                    </a:lnTo>
                    <a:lnTo>
                      <a:pt x="119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08" name="Freeform 748"/>
              <p:cNvSpPr>
                <a:spLocks/>
              </p:cNvSpPr>
              <p:nvPr/>
            </p:nvSpPr>
            <p:spPr bwMode="auto">
              <a:xfrm>
                <a:off x="3919" y="2620"/>
                <a:ext cx="105" cy="105"/>
              </a:xfrm>
              <a:custGeom>
                <a:avLst/>
                <a:gdLst>
                  <a:gd name="T0" fmla="*/ 0 w 632"/>
                  <a:gd name="T1" fmla="*/ 633 h 633"/>
                  <a:gd name="T2" fmla="*/ 631 w 632"/>
                  <a:gd name="T3" fmla="*/ 0 h 633"/>
                  <a:gd name="T4" fmla="*/ 632 w 632"/>
                  <a:gd name="T5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32" h="633">
                    <a:moveTo>
                      <a:pt x="0" y="633"/>
                    </a:moveTo>
                    <a:lnTo>
                      <a:pt x="631" y="0"/>
                    </a:lnTo>
                    <a:lnTo>
                      <a:pt x="63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09" name="Freeform 749"/>
              <p:cNvSpPr>
                <a:spLocks/>
              </p:cNvSpPr>
              <p:nvPr/>
            </p:nvSpPr>
            <p:spPr bwMode="auto">
              <a:xfrm>
                <a:off x="3869" y="2789"/>
                <a:ext cx="19" cy="19"/>
              </a:xfrm>
              <a:custGeom>
                <a:avLst/>
                <a:gdLst>
                  <a:gd name="T0" fmla="*/ 0 w 114"/>
                  <a:gd name="T1" fmla="*/ 114 h 114"/>
                  <a:gd name="T2" fmla="*/ 113 w 114"/>
                  <a:gd name="T3" fmla="*/ 0 h 114"/>
                  <a:gd name="T4" fmla="*/ 114 w 114"/>
                  <a:gd name="T5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4" h="114">
                    <a:moveTo>
                      <a:pt x="0" y="114"/>
                    </a:moveTo>
                    <a:lnTo>
                      <a:pt x="113" y="0"/>
                    </a:lnTo>
                    <a:lnTo>
                      <a:pt x="11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10" name="Freeform 750"/>
              <p:cNvSpPr>
                <a:spLocks/>
              </p:cNvSpPr>
              <p:nvPr/>
            </p:nvSpPr>
            <p:spPr bwMode="auto">
              <a:xfrm>
                <a:off x="4235" y="2412"/>
                <a:ext cx="30" cy="31"/>
              </a:xfrm>
              <a:custGeom>
                <a:avLst/>
                <a:gdLst>
                  <a:gd name="T0" fmla="*/ 0 w 183"/>
                  <a:gd name="T1" fmla="*/ 181 h 181"/>
                  <a:gd name="T2" fmla="*/ 182 w 183"/>
                  <a:gd name="T3" fmla="*/ 0 h 181"/>
                  <a:gd name="T4" fmla="*/ 183 w 183"/>
                  <a:gd name="T5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3" h="181">
                    <a:moveTo>
                      <a:pt x="0" y="181"/>
                    </a:moveTo>
                    <a:lnTo>
                      <a:pt x="182" y="0"/>
                    </a:lnTo>
                    <a:lnTo>
                      <a:pt x="18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11" name="Freeform 751"/>
              <p:cNvSpPr>
                <a:spLocks/>
              </p:cNvSpPr>
              <p:nvPr/>
            </p:nvSpPr>
            <p:spPr bwMode="auto">
              <a:xfrm>
                <a:off x="3888" y="2727"/>
                <a:ext cx="63" cy="62"/>
              </a:xfrm>
              <a:custGeom>
                <a:avLst/>
                <a:gdLst>
                  <a:gd name="T0" fmla="*/ 0 w 379"/>
                  <a:gd name="T1" fmla="*/ 377 h 377"/>
                  <a:gd name="T2" fmla="*/ 378 w 379"/>
                  <a:gd name="T3" fmla="*/ 0 h 377"/>
                  <a:gd name="T4" fmla="*/ 379 w 379"/>
                  <a:gd name="T5" fmla="*/ 0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9" h="377">
                    <a:moveTo>
                      <a:pt x="0" y="377"/>
                    </a:moveTo>
                    <a:lnTo>
                      <a:pt x="378" y="0"/>
                    </a:lnTo>
                    <a:lnTo>
                      <a:pt x="37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12" name="Freeform 752"/>
              <p:cNvSpPr>
                <a:spLocks/>
              </p:cNvSpPr>
              <p:nvPr/>
            </p:nvSpPr>
            <p:spPr bwMode="auto">
              <a:xfrm>
                <a:off x="4024" y="2443"/>
                <a:ext cx="211" cy="211"/>
              </a:xfrm>
              <a:custGeom>
                <a:avLst/>
                <a:gdLst>
                  <a:gd name="T0" fmla="*/ 0 w 1267"/>
                  <a:gd name="T1" fmla="*/ 1268 h 1268"/>
                  <a:gd name="T2" fmla="*/ 1266 w 1267"/>
                  <a:gd name="T3" fmla="*/ 0 h 1268"/>
                  <a:gd name="T4" fmla="*/ 1267 w 1267"/>
                  <a:gd name="T5" fmla="*/ 0 h 1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7" h="1268">
                    <a:moveTo>
                      <a:pt x="0" y="1268"/>
                    </a:moveTo>
                    <a:lnTo>
                      <a:pt x="1266" y="0"/>
                    </a:lnTo>
                    <a:lnTo>
                      <a:pt x="12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13" name="Freeform 753"/>
              <p:cNvSpPr>
                <a:spLocks/>
              </p:cNvSpPr>
              <p:nvPr/>
            </p:nvSpPr>
            <p:spPr bwMode="auto">
              <a:xfrm>
                <a:off x="3951" y="2654"/>
                <a:ext cx="73" cy="73"/>
              </a:xfrm>
              <a:custGeom>
                <a:avLst/>
                <a:gdLst>
                  <a:gd name="T0" fmla="*/ 0 w 436"/>
                  <a:gd name="T1" fmla="*/ 436 h 436"/>
                  <a:gd name="T2" fmla="*/ 435 w 436"/>
                  <a:gd name="T3" fmla="*/ 0 h 436"/>
                  <a:gd name="T4" fmla="*/ 436 w 436"/>
                  <a:gd name="T5" fmla="*/ 0 h 4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6" h="436">
                    <a:moveTo>
                      <a:pt x="0" y="436"/>
                    </a:moveTo>
                    <a:lnTo>
                      <a:pt x="435" y="0"/>
                    </a:lnTo>
                    <a:lnTo>
                      <a:pt x="43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14" name="Freeform 754"/>
              <p:cNvSpPr>
                <a:spLocks/>
              </p:cNvSpPr>
              <p:nvPr/>
            </p:nvSpPr>
            <p:spPr bwMode="auto">
              <a:xfrm>
                <a:off x="3895" y="2728"/>
                <a:ext cx="88" cy="88"/>
              </a:xfrm>
              <a:custGeom>
                <a:avLst/>
                <a:gdLst>
                  <a:gd name="T0" fmla="*/ 0 w 527"/>
                  <a:gd name="T1" fmla="*/ 527 h 527"/>
                  <a:gd name="T2" fmla="*/ 526 w 527"/>
                  <a:gd name="T3" fmla="*/ 0 h 527"/>
                  <a:gd name="T4" fmla="*/ 527 w 527"/>
                  <a:gd name="T5" fmla="*/ 0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" h="527">
                    <a:moveTo>
                      <a:pt x="0" y="527"/>
                    </a:moveTo>
                    <a:lnTo>
                      <a:pt x="526" y="0"/>
                    </a:lnTo>
                    <a:lnTo>
                      <a:pt x="52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15" name="Freeform 755"/>
              <p:cNvSpPr>
                <a:spLocks/>
              </p:cNvSpPr>
              <p:nvPr/>
            </p:nvSpPr>
            <p:spPr bwMode="auto">
              <a:xfrm>
                <a:off x="4247" y="2436"/>
                <a:ext cx="29" cy="28"/>
              </a:xfrm>
              <a:custGeom>
                <a:avLst/>
                <a:gdLst>
                  <a:gd name="T0" fmla="*/ 0 w 173"/>
                  <a:gd name="T1" fmla="*/ 173 h 173"/>
                  <a:gd name="T2" fmla="*/ 172 w 173"/>
                  <a:gd name="T3" fmla="*/ 0 h 173"/>
                  <a:gd name="T4" fmla="*/ 173 w 173"/>
                  <a:gd name="T5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" h="173">
                    <a:moveTo>
                      <a:pt x="0" y="173"/>
                    </a:moveTo>
                    <a:lnTo>
                      <a:pt x="172" y="0"/>
                    </a:lnTo>
                    <a:lnTo>
                      <a:pt x="17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16" name="Freeform 756"/>
              <p:cNvSpPr>
                <a:spLocks/>
              </p:cNvSpPr>
              <p:nvPr/>
            </p:nvSpPr>
            <p:spPr bwMode="auto">
              <a:xfrm>
                <a:off x="3983" y="2688"/>
                <a:ext cx="41" cy="40"/>
              </a:xfrm>
              <a:custGeom>
                <a:avLst/>
                <a:gdLst>
                  <a:gd name="T0" fmla="*/ 0 w 244"/>
                  <a:gd name="T1" fmla="*/ 243 h 243"/>
                  <a:gd name="T2" fmla="*/ 243 w 244"/>
                  <a:gd name="T3" fmla="*/ 0 h 243"/>
                  <a:gd name="T4" fmla="*/ 244 w 244"/>
                  <a:gd name="T5" fmla="*/ 0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4" h="243">
                    <a:moveTo>
                      <a:pt x="0" y="243"/>
                    </a:moveTo>
                    <a:lnTo>
                      <a:pt x="243" y="0"/>
                    </a:lnTo>
                    <a:lnTo>
                      <a:pt x="24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17" name="Freeform 757"/>
              <p:cNvSpPr>
                <a:spLocks/>
              </p:cNvSpPr>
              <p:nvPr/>
            </p:nvSpPr>
            <p:spPr bwMode="auto">
              <a:xfrm>
                <a:off x="4024" y="2464"/>
                <a:ext cx="223" cy="224"/>
              </a:xfrm>
              <a:custGeom>
                <a:avLst/>
                <a:gdLst>
                  <a:gd name="T0" fmla="*/ 0 w 1340"/>
                  <a:gd name="T1" fmla="*/ 1340 h 1340"/>
                  <a:gd name="T2" fmla="*/ 1339 w 1340"/>
                  <a:gd name="T3" fmla="*/ 0 h 1340"/>
                  <a:gd name="T4" fmla="*/ 1340 w 1340"/>
                  <a:gd name="T5" fmla="*/ 0 h 1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40" h="1340">
                    <a:moveTo>
                      <a:pt x="0" y="1340"/>
                    </a:moveTo>
                    <a:lnTo>
                      <a:pt x="1339" y="0"/>
                    </a:lnTo>
                    <a:lnTo>
                      <a:pt x="134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18" name="Freeform 758"/>
              <p:cNvSpPr>
                <a:spLocks/>
              </p:cNvSpPr>
              <p:nvPr/>
            </p:nvSpPr>
            <p:spPr bwMode="auto">
              <a:xfrm>
                <a:off x="3921" y="2730"/>
                <a:ext cx="94" cy="94"/>
              </a:xfrm>
              <a:custGeom>
                <a:avLst/>
                <a:gdLst>
                  <a:gd name="T0" fmla="*/ 0 w 562"/>
                  <a:gd name="T1" fmla="*/ 561 h 561"/>
                  <a:gd name="T2" fmla="*/ 560 w 562"/>
                  <a:gd name="T3" fmla="*/ 0 h 561"/>
                  <a:gd name="T4" fmla="*/ 562 w 562"/>
                  <a:gd name="T5" fmla="*/ 0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62" h="561">
                    <a:moveTo>
                      <a:pt x="0" y="561"/>
                    </a:moveTo>
                    <a:lnTo>
                      <a:pt x="560" y="0"/>
                    </a:lnTo>
                    <a:lnTo>
                      <a:pt x="56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19" name="Freeform 759"/>
              <p:cNvSpPr>
                <a:spLocks/>
              </p:cNvSpPr>
              <p:nvPr/>
            </p:nvSpPr>
            <p:spPr bwMode="auto">
              <a:xfrm>
                <a:off x="4259" y="2460"/>
                <a:ext cx="27" cy="26"/>
              </a:xfrm>
              <a:custGeom>
                <a:avLst/>
                <a:gdLst>
                  <a:gd name="T0" fmla="*/ 0 w 161"/>
                  <a:gd name="T1" fmla="*/ 160 h 160"/>
                  <a:gd name="T2" fmla="*/ 160 w 161"/>
                  <a:gd name="T3" fmla="*/ 0 h 160"/>
                  <a:gd name="T4" fmla="*/ 161 w 161"/>
                  <a:gd name="T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1" h="160">
                    <a:moveTo>
                      <a:pt x="0" y="160"/>
                    </a:moveTo>
                    <a:lnTo>
                      <a:pt x="160" y="0"/>
                    </a:lnTo>
                    <a:lnTo>
                      <a:pt x="16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20" name="Freeform 760"/>
              <p:cNvSpPr>
                <a:spLocks/>
              </p:cNvSpPr>
              <p:nvPr/>
            </p:nvSpPr>
            <p:spPr bwMode="auto">
              <a:xfrm>
                <a:off x="4015" y="2722"/>
                <a:ext cx="9" cy="8"/>
              </a:xfrm>
              <a:custGeom>
                <a:avLst/>
                <a:gdLst>
                  <a:gd name="T0" fmla="*/ 0 w 53"/>
                  <a:gd name="T1" fmla="*/ 52 h 52"/>
                  <a:gd name="T2" fmla="*/ 52 w 53"/>
                  <a:gd name="T3" fmla="*/ 0 h 52"/>
                  <a:gd name="T4" fmla="*/ 53 w 53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" h="52">
                    <a:moveTo>
                      <a:pt x="0" y="52"/>
                    </a:moveTo>
                    <a:lnTo>
                      <a:pt x="52" y="0"/>
                    </a:lnTo>
                    <a:lnTo>
                      <a:pt x="5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21" name="Freeform 761"/>
              <p:cNvSpPr>
                <a:spLocks/>
              </p:cNvSpPr>
              <p:nvPr/>
            </p:nvSpPr>
            <p:spPr bwMode="auto">
              <a:xfrm>
                <a:off x="4024" y="2486"/>
                <a:ext cx="235" cy="236"/>
              </a:xfrm>
              <a:custGeom>
                <a:avLst/>
                <a:gdLst>
                  <a:gd name="T0" fmla="*/ 0 w 1415"/>
                  <a:gd name="T1" fmla="*/ 1414 h 1414"/>
                  <a:gd name="T2" fmla="*/ 1413 w 1415"/>
                  <a:gd name="T3" fmla="*/ 0 h 1414"/>
                  <a:gd name="T4" fmla="*/ 1415 w 1415"/>
                  <a:gd name="T5" fmla="*/ 0 h 1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15" h="1414">
                    <a:moveTo>
                      <a:pt x="0" y="1414"/>
                    </a:moveTo>
                    <a:lnTo>
                      <a:pt x="1413" y="0"/>
                    </a:lnTo>
                    <a:lnTo>
                      <a:pt x="141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22" name="Freeform 762"/>
              <p:cNvSpPr>
                <a:spLocks/>
              </p:cNvSpPr>
              <p:nvPr/>
            </p:nvSpPr>
            <p:spPr bwMode="auto">
              <a:xfrm>
                <a:off x="3947" y="2756"/>
                <a:ext cx="77" cy="76"/>
              </a:xfrm>
              <a:custGeom>
                <a:avLst/>
                <a:gdLst>
                  <a:gd name="T0" fmla="*/ 0 w 457"/>
                  <a:gd name="T1" fmla="*/ 456 h 456"/>
                  <a:gd name="T2" fmla="*/ 456 w 457"/>
                  <a:gd name="T3" fmla="*/ 0 h 456"/>
                  <a:gd name="T4" fmla="*/ 457 w 457"/>
                  <a:gd name="T5" fmla="*/ 0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7" h="456">
                    <a:moveTo>
                      <a:pt x="0" y="456"/>
                    </a:moveTo>
                    <a:lnTo>
                      <a:pt x="456" y="0"/>
                    </a:lnTo>
                    <a:lnTo>
                      <a:pt x="45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23" name="Freeform 763"/>
              <p:cNvSpPr>
                <a:spLocks/>
              </p:cNvSpPr>
              <p:nvPr/>
            </p:nvSpPr>
            <p:spPr bwMode="auto">
              <a:xfrm>
                <a:off x="4271" y="2484"/>
                <a:ext cx="25" cy="24"/>
              </a:xfrm>
              <a:custGeom>
                <a:avLst/>
                <a:gdLst>
                  <a:gd name="T0" fmla="*/ 0 w 146"/>
                  <a:gd name="T1" fmla="*/ 146 h 146"/>
                  <a:gd name="T2" fmla="*/ 145 w 146"/>
                  <a:gd name="T3" fmla="*/ 0 h 146"/>
                  <a:gd name="T4" fmla="*/ 146 w 146"/>
                  <a:gd name="T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6" h="146">
                    <a:moveTo>
                      <a:pt x="0" y="146"/>
                    </a:moveTo>
                    <a:lnTo>
                      <a:pt x="145" y="0"/>
                    </a:lnTo>
                    <a:lnTo>
                      <a:pt x="14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24" name="Freeform 764"/>
              <p:cNvSpPr>
                <a:spLocks/>
              </p:cNvSpPr>
              <p:nvPr/>
            </p:nvSpPr>
            <p:spPr bwMode="auto">
              <a:xfrm>
                <a:off x="4024" y="2733"/>
                <a:ext cx="22" cy="23"/>
              </a:xfrm>
              <a:custGeom>
                <a:avLst/>
                <a:gdLst>
                  <a:gd name="T0" fmla="*/ 0 w 136"/>
                  <a:gd name="T1" fmla="*/ 135 h 135"/>
                  <a:gd name="T2" fmla="*/ 135 w 136"/>
                  <a:gd name="T3" fmla="*/ 0 h 135"/>
                  <a:gd name="T4" fmla="*/ 136 w 136"/>
                  <a:gd name="T5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6" h="135">
                    <a:moveTo>
                      <a:pt x="0" y="135"/>
                    </a:moveTo>
                    <a:lnTo>
                      <a:pt x="135" y="0"/>
                    </a:lnTo>
                    <a:lnTo>
                      <a:pt x="13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25" name="Freeform 765"/>
              <p:cNvSpPr>
                <a:spLocks/>
              </p:cNvSpPr>
              <p:nvPr/>
            </p:nvSpPr>
            <p:spPr bwMode="auto">
              <a:xfrm>
                <a:off x="4046" y="2508"/>
                <a:ext cx="225" cy="225"/>
              </a:xfrm>
              <a:custGeom>
                <a:avLst/>
                <a:gdLst>
                  <a:gd name="T0" fmla="*/ 0 w 1352"/>
                  <a:gd name="T1" fmla="*/ 1351 h 1351"/>
                  <a:gd name="T2" fmla="*/ 1351 w 1352"/>
                  <a:gd name="T3" fmla="*/ 0 h 1351"/>
                  <a:gd name="T4" fmla="*/ 1352 w 1352"/>
                  <a:gd name="T5" fmla="*/ 0 h 1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52" h="1351">
                    <a:moveTo>
                      <a:pt x="0" y="1351"/>
                    </a:moveTo>
                    <a:lnTo>
                      <a:pt x="1351" y="0"/>
                    </a:lnTo>
                    <a:lnTo>
                      <a:pt x="135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26" name="Freeform 766"/>
              <p:cNvSpPr>
                <a:spLocks/>
              </p:cNvSpPr>
              <p:nvPr/>
            </p:nvSpPr>
            <p:spPr bwMode="auto">
              <a:xfrm>
                <a:off x="3974" y="2790"/>
                <a:ext cx="50" cy="50"/>
              </a:xfrm>
              <a:custGeom>
                <a:avLst/>
                <a:gdLst>
                  <a:gd name="T0" fmla="*/ 0 w 299"/>
                  <a:gd name="T1" fmla="*/ 299 h 299"/>
                  <a:gd name="T2" fmla="*/ 298 w 299"/>
                  <a:gd name="T3" fmla="*/ 0 h 299"/>
                  <a:gd name="T4" fmla="*/ 299 w 299"/>
                  <a:gd name="T5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9" h="299">
                    <a:moveTo>
                      <a:pt x="0" y="299"/>
                    </a:moveTo>
                    <a:lnTo>
                      <a:pt x="298" y="0"/>
                    </a:lnTo>
                    <a:lnTo>
                      <a:pt x="29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27" name="Freeform 767"/>
              <p:cNvSpPr>
                <a:spLocks/>
              </p:cNvSpPr>
              <p:nvPr/>
            </p:nvSpPr>
            <p:spPr bwMode="auto">
              <a:xfrm>
                <a:off x="4283" y="2508"/>
                <a:ext cx="22" cy="22"/>
              </a:xfrm>
              <a:custGeom>
                <a:avLst/>
                <a:gdLst>
                  <a:gd name="T0" fmla="*/ 0 w 133"/>
                  <a:gd name="T1" fmla="*/ 132 h 132"/>
                  <a:gd name="T2" fmla="*/ 131 w 133"/>
                  <a:gd name="T3" fmla="*/ 0 h 132"/>
                  <a:gd name="T4" fmla="*/ 133 w 133"/>
                  <a:gd name="T5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3" h="132">
                    <a:moveTo>
                      <a:pt x="0" y="132"/>
                    </a:moveTo>
                    <a:lnTo>
                      <a:pt x="131" y="0"/>
                    </a:lnTo>
                    <a:lnTo>
                      <a:pt x="13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28" name="Freeform 768"/>
              <p:cNvSpPr>
                <a:spLocks/>
              </p:cNvSpPr>
              <p:nvPr/>
            </p:nvSpPr>
            <p:spPr bwMode="auto">
              <a:xfrm>
                <a:off x="4023" y="2736"/>
                <a:ext cx="54" cy="54"/>
              </a:xfrm>
              <a:custGeom>
                <a:avLst/>
                <a:gdLst>
                  <a:gd name="T0" fmla="*/ 0 w 322"/>
                  <a:gd name="T1" fmla="*/ 321 h 321"/>
                  <a:gd name="T2" fmla="*/ 321 w 322"/>
                  <a:gd name="T3" fmla="*/ 0 h 321"/>
                  <a:gd name="T4" fmla="*/ 322 w 322"/>
                  <a:gd name="T5" fmla="*/ 0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2" h="321">
                    <a:moveTo>
                      <a:pt x="0" y="321"/>
                    </a:moveTo>
                    <a:lnTo>
                      <a:pt x="321" y="0"/>
                    </a:lnTo>
                    <a:lnTo>
                      <a:pt x="32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29" name="Freeform 769"/>
              <p:cNvSpPr>
                <a:spLocks/>
              </p:cNvSpPr>
              <p:nvPr/>
            </p:nvSpPr>
            <p:spPr bwMode="auto">
              <a:xfrm>
                <a:off x="4077" y="2530"/>
                <a:ext cx="206" cy="206"/>
              </a:xfrm>
              <a:custGeom>
                <a:avLst/>
                <a:gdLst>
                  <a:gd name="T0" fmla="*/ 0 w 1240"/>
                  <a:gd name="T1" fmla="*/ 1240 h 1240"/>
                  <a:gd name="T2" fmla="*/ 1239 w 1240"/>
                  <a:gd name="T3" fmla="*/ 0 h 1240"/>
                  <a:gd name="T4" fmla="*/ 1240 w 1240"/>
                  <a:gd name="T5" fmla="*/ 0 h 1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40" h="1240">
                    <a:moveTo>
                      <a:pt x="0" y="1240"/>
                    </a:moveTo>
                    <a:lnTo>
                      <a:pt x="1239" y="0"/>
                    </a:lnTo>
                    <a:lnTo>
                      <a:pt x="124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30" name="Freeform 770"/>
              <p:cNvSpPr>
                <a:spLocks/>
              </p:cNvSpPr>
              <p:nvPr/>
            </p:nvSpPr>
            <p:spPr bwMode="auto">
              <a:xfrm>
                <a:off x="4000" y="2824"/>
                <a:ext cx="24" cy="23"/>
              </a:xfrm>
              <a:custGeom>
                <a:avLst/>
                <a:gdLst>
                  <a:gd name="T0" fmla="*/ 0 w 143"/>
                  <a:gd name="T1" fmla="*/ 141 h 141"/>
                  <a:gd name="T2" fmla="*/ 142 w 143"/>
                  <a:gd name="T3" fmla="*/ 0 h 141"/>
                  <a:gd name="T4" fmla="*/ 143 w 143"/>
                  <a:gd name="T5" fmla="*/ 0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141">
                    <a:moveTo>
                      <a:pt x="0" y="141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31" name="Freeform 771"/>
              <p:cNvSpPr>
                <a:spLocks/>
              </p:cNvSpPr>
              <p:nvPr/>
            </p:nvSpPr>
            <p:spPr bwMode="auto">
              <a:xfrm>
                <a:off x="4295" y="2532"/>
                <a:ext cx="20" cy="19"/>
              </a:xfrm>
              <a:custGeom>
                <a:avLst/>
                <a:gdLst>
                  <a:gd name="T0" fmla="*/ 0 w 120"/>
                  <a:gd name="T1" fmla="*/ 118 h 118"/>
                  <a:gd name="T2" fmla="*/ 119 w 120"/>
                  <a:gd name="T3" fmla="*/ 0 h 118"/>
                  <a:gd name="T4" fmla="*/ 120 w 120"/>
                  <a:gd name="T5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0" h="118">
                    <a:moveTo>
                      <a:pt x="0" y="118"/>
                    </a:moveTo>
                    <a:lnTo>
                      <a:pt x="119" y="0"/>
                    </a:lnTo>
                    <a:lnTo>
                      <a:pt x="1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32" name="Freeform 772"/>
              <p:cNvSpPr>
                <a:spLocks/>
              </p:cNvSpPr>
              <p:nvPr/>
            </p:nvSpPr>
            <p:spPr bwMode="auto">
              <a:xfrm>
                <a:off x="4023" y="2740"/>
                <a:ext cx="84" cy="84"/>
              </a:xfrm>
              <a:custGeom>
                <a:avLst/>
                <a:gdLst>
                  <a:gd name="T0" fmla="*/ 0 w 504"/>
                  <a:gd name="T1" fmla="*/ 504 h 504"/>
                  <a:gd name="T2" fmla="*/ 503 w 504"/>
                  <a:gd name="T3" fmla="*/ 0 h 504"/>
                  <a:gd name="T4" fmla="*/ 504 w 504"/>
                  <a:gd name="T5" fmla="*/ 0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4" h="504">
                    <a:moveTo>
                      <a:pt x="0" y="504"/>
                    </a:moveTo>
                    <a:lnTo>
                      <a:pt x="503" y="0"/>
                    </a:lnTo>
                    <a:lnTo>
                      <a:pt x="50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33" name="Freeform 773"/>
              <p:cNvSpPr>
                <a:spLocks/>
              </p:cNvSpPr>
              <p:nvPr/>
            </p:nvSpPr>
            <p:spPr bwMode="auto">
              <a:xfrm>
                <a:off x="4107" y="2551"/>
                <a:ext cx="189" cy="189"/>
              </a:xfrm>
              <a:custGeom>
                <a:avLst/>
                <a:gdLst>
                  <a:gd name="T0" fmla="*/ 0 w 1130"/>
                  <a:gd name="T1" fmla="*/ 1131 h 1131"/>
                  <a:gd name="T2" fmla="*/ 1129 w 1130"/>
                  <a:gd name="T3" fmla="*/ 0 h 1131"/>
                  <a:gd name="T4" fmla="*/ 1130 w 1130"/>
                  <a:gd name="T5" fmla="*/ 0 h 1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30" h="1131">
                    <a:moveTo>
                      <a:pt x="0" y="1131"/>
                    </a:moveTo>
                    <a:lnTo>
                      <a:pt x="1129" y="0"/>
                    </a:lnTo>
                    <a:lnTo>
                      <a:pt x="113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34" name="Freeform 774"/>
              <p:cNvSpPr>
                <a:spLocks/>
              </p:cNvSpPr>
              <p:nvPr/>
            </p:nvSpPr>
            <p:spPr bwMode="auto">
              <a:xfrm>
                <a:off x="4026" y="2744"/>
                <a:ext cx="111" cy="111"/>
              </a:xfrm>
              <a:custGeom>
                <a:avLst/>
                <a:gdLst>
                  <a:gd name="T0" fmla="*/ 0 w 669"/>
                  <a:gd name="T1" fmla="*/ 668 h 668"/>
                  <a:gd name="T2" fmla="*/ 667 w 669"/>
                  <a:gd name="T3" fmla="*/ 0 h 668"/>
                  <a:gd name="T4" fmla="*/ 669 w 669"/>
                  <a:gd name="T5" fmla="*/ 0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69" h="668">
                    <a:moveTo>
                      <a:pt x="0" y="668"/>
                    </a:moveTo>
                    <a:lnTo>
                      <a:pt x="667" y="0"/>
                    </a:lnTo>
                    <a:lnTo>
                      <a:pt x="66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35" name="Freeform 775"/>
              <p:cNvSpPr>
                <a:spLocks/>
              </p:cNvSpPr>
              <p:nvPr/>
            </p:nvSpPr>
            <p:spPr bwMode="auto">
              <a:xfrm>
                <a:off x="4307" y="2555"/>
                <a:ext cx="18" cy="18"/>
              </a:xfrm>
              <a:custGeom>
                <a:avLst/>
                <a:gdLst>
                  <a:gd name="T0" fmla="*/ 0 w 107"/>
                  <a:gd name="T1" fmla="*/ 106 h 106"/>
                  <a:gd name="T2" fmla="*/ 106 w 107"/>
                  <a:gd name="T3" fmla="*/ 0 h 106"/>
                  <a:gd name="T4" fmla="*/ 107 w 107"/>
                  <a:gd name="T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7" h="106">
                    <a:moveTo>
                      <a:pt x="0" y="106"/>
                    </a:moveTo>
                    <a:lnTo>
                      <a:pt x="106" y="0"/>
                    </a:lnTo>
                    <a:lnTo>
                      <a:pt x="10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36" name="Freeform 776"/>
              <p:cNvSpPr>
                <a:spLocks/>
              </p:cNvSpPr>
              <p:nvPr/>
            </p:nvSpPr>
            <p:spPr bwMode="auto">
              <a:xfrm>
                <a:off x="4137" y="2573"/>
                <a:ext cx="171" cy="171"/>
              </a:xfrm>
              <a:custGeom>
                <a:avLst/>
                <a:gdLst>
                  <a:gd name="T0" fmla="*/ 0 w 1024"/>
                  <a:gd name="T1" fmla="*/ 1024 h 1024"/>
                  <a:gd name="T2" fmla="*/ 1023 w 1024"/>
                  <a:gd name="T3" fmla="*/ 0 h 1024"/>
                  <a:gd name="T4" fmla="*/ 1024 w 1024"/>
                  <a:gd name="T5" fmla="*/ 0 h 10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24" h="1024">
                    <a:moveTo>
                      <a:pt x="0" y="1024"/>
                    </a:moveTo>
                    <a:lnTo>
                      <a:pt x="1023" y="0"/>
                    </a:lnTo>
                    <a:lnTo>
                      <a:pt x="102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37" name="Freeform 777"/>
              <p:cNvSpPr>
                <a:spLocks/>
              </p:cNvSpPr>
              <p:nvPr/>
            </p:nvSpPr>
            <p:spPr bwMode="auto">
              <a:xfrm>
                <a:off x="4052" y="2748"/>
                <a:ext cx="115" cy="115"/>
              </a:xfrm>
              <a:custGeom>
                <a:avLst/>
                <a:gdLst>
                  <a:gd name="T0" fmla="*/ 0 w 688"/>
                  <a:gd name="T1" fmla="*/ 688 h 688"/>
                  <a:gd name="T2" fmla="*/ 687 w 688"/>
                  <a:gd name="T3" fmla="*/ 0 h 688"/>
                  <a:gd name="T4" fmla="*/ 688 w 688"/>
                  <a:gd name="T5" fmla="*/ 0 h 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88" h="688">
                    <a:moveTo>
                      <a:pt x="0" y="688"/>
                    </a:moveTo>
                    <a:lnTo>
                      <a:pt x="687" y="0"/>
                    </a:lnTo>
                    <a:lnTo>
                      <a:pt x="68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38" name="Freeform 778"/>
              <p:cNvSpPr>
                <a:spLocks/>
              </p:cNvSpPr>
              <p:nvPr/>
            </p:nvSpPr>
            <p:spPr bwMode="auto">
              <a:xfrm>
                <a:off x="4320" y="2579"/>
                <a:ext cx="15" cy="16"/>
              </a:xfrm>
              <a:custGeom>
                <a:avLst/>
                <a:gdLst>
                  <a:gd name="T0" fmla="*/ 0 w 96"/>
                  <a:gd name="T1" fmla="*/ 95 h 95"/>
                  <a:gd name="T2" fmla="*/ 95 w 96"/>
                  <a:gd name="T3" fmla="*/ 0 h 95"/>
                  <a:gd name="T4" fmla="*/ 96 w 96"/>
                  <a:gd name="T5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6" h="95">
                    <a:moveTo>
                      <a:pt x="0" y="95"/>
                    </a:moveTo>
                    <a:lnTo>
                      <a:pt x="95" y="0"/>
                    </a:lnTo>
                    <a:lnTo>
                      <a:pt x="9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39" name="Freeform 779"/>
              <p:cNvSpPr>
                <a:spLocks/>
              </p:cNvSpPr>
              <p:nvPr/>
            </p:nvSpPr>
            <p:spPr bwMode="auto">
              <a:xfrm>
                <a:off x="4166" y="2595"/>
                <a:ext cx="154" cy="153"/>
              </a:xfrm>
              <a:custGeom>
                <a:avLst/>
                <a:gdLst>
                  <a:gd name="T0" fmla="*/ 0 w 920"/>
                  <a:gd name="T1" fmla="*/ 919 h 919"/>
                  <a:gd name="T2" fmla="*/ 919 w 920"/>
                  <a:gd name="T3" fmla="*/ 0 h 919"/>
                  <a:gd name="T4" fmla="*/ 920 w 920"/>
                  <a:gd name="T5" fmla="*/ 0 h 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0" h="919">
                    <a:moveTo>
                      <a:pt x="0" y="919"/>
                    </a:moveTo>
                    <a:lnTo>
                      <a:pt x="919" y="0"/>
                    </a:lnTo>
                    <a:lnTo>
                      <a:pt x="920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40" name="Freeform 780"/>
              <p:cNvSpPr>
                <a:spLocks/>
              </p:cNvSpPr>
              <p:nvPr/>
            </p:nvSpPr>
            <p:spPr bwMode="auto">
              <a:xfrm>
                <a:off x="4078" y="2753"/>
                <a:ext cx="118" cy="118"/>
              </a:xfrm>
              <a:custGeom>
                <a:avLst/>
                <a:gdLst>
                  <a:gd name="T0" fmla="*/ 0 w 706"/>
                  <a:gd name="T1" fmla="*/ 705 h 705"/>
                  <a:gd name="T2" fmla="*/ 705 w 706"/>
                  <a:gd name="T3" fmla="*/ 0 h 705"/>
                  <a:gd name="T4" fmla="*/ 706 w 706"/>
                  <a:gd name="T5" fmla="*/ 0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06" h="705">
                    <a:moveTo>
                      <a:pt x="0" y="705"/>
                    </a:moveTo>
                    <a:lnTo>
                      <a:pt x="705" y="0"/>
                    </a:lnTo>
                    <a:lnTo>
                      <a:pt x="70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41" name="Freeform 781"/>
              <p:cNvSpPr>
                <a:spLocks/>
              </p:cNvSpPr>
              <p:nvPr/>
            </p:nvSpPr>
            <p:spPr bwMode="auto">
              <a:xfrm>
                <a:off x="4332" y="2603"/>
                <a:ext cx="13" cy="14"/>
              </a:xfrm>
              <a:custGeom>
                <a:avLst/>
                <a:gdLst>
                  <a:gd name="T0" fmla="*/ 0 w 82"/>
                  <a:gd name="T1" fmla="*/ 82 h 82"/>
                  <a:gd name="T2" fmla="*/ 81 w 82"/>
                  <a:gd name="T3" fmla="*/ 0 h 82"/>
                  <a:gd name="T4" fmla="*/ 82 w 82"/>
                  <a:gd name="T5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2" h="82">
                    <a:moveTo>
                      <a:pt x="0" y="82"/>
                    </a:moveTo>
                    <a:lnTo>
                      <a:pt x="81" y="0"/>
                    </a:lnTo>
                    <a:lnTo>
                      <a:pt x="82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42" name="Freeform 782"/>
              <p:cNvSpPr>
                <a:spLocks/>
              </p:cNvSpPr>
              <p:nvPr/>
            </p:nvSpPr>
            <p:spPr bwMode="auto">
              <a:xfrm>
                <a:off x="4195" y="2617"/>
                <a:ext cx="137" cy="136"/>
              </a:xfrm>
              <a:custGeom>
                <a:avLst/>
                <a:gdLst>
                  <a:gd name="T0" fmla="*/ 0 w 819"/>
                  <a:gd name="T1" fmla="*/ 818 h 818"/>
                  <a:gd name="T2" fmla="*/ 818 w 819"/>
                  <a:gd name="T3" fmla="*/ 0 h 818"/>
                  <a:gd name="T4" fmla="*/ 819 w 819"/>
                  <a:gd name="T5" fmla="*/ 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19" h="818">
                    <a:moveTo>
                      <a:pt x="0" y="818"/>
                    </a:moveTo>
                    <a:lnTo>
                      <a:pt x="818" y="0"/>
                    </a:lnTo>
                    <a:lnTo>
                      <a:pt x="81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43" name="Freeform 783"/>
              <p:cNvSpPr>
                <a:spLocks/>
              </p:cNvSpPr>
              <p:nvPr/>
            </p:nvSpPr>
            <p:spPr bwMode="auto">
              <a:xfrm>
                <a:off x="4104" y="2759"/>
                <a:ext cx="120" cy="119"/>
              </a:xfrm>
              <a:custGeom>
                <a:avLst/>
                <a:gdLst>
                  <a:gd name="T0" fmla="*/ 0 w 718"/>
                  <a:gd name="T1" fmla="*/ 718 h 718"/>
                  <a:gd name="T2" fmla="*/ 717 w 718"/>
                  <a:gd name="T3" fmla="*/ 0 h 718"/>
                  <a:gd name="T4" fmla="*/ 718 w 718"/>
                  <a:gd name="T5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8" h="718">
                    <a:moveTo>
                      <a:pt x="0" y="718"/>
                    </a:moveTo>
                    <a:lnTo>
                      <a:pt x="717" y="0"/>
                    </a:lnTo>
                    <a:lnTo>
                      <a:pt x="71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44" name="Freeform 784"/>
              <p:cNvSpPr>
                <a:spLocks/>
              </p:cNvSpPr>
              <p:nvPr/>
            </p:nvSpPr>
            <p:spPr bwMode="auto">
              <a:xfrm>
                <a:off x="4344" y="2628"/>
                <a:ext cx="11" cy="11"/>
              </a:xfrm>
              <a:custGeom>
                <a:avLst/>
                <a:gdLst>
                  <a:gd name="T0" fmla="*/ 0 w 67"/>
                  <a:gd name="T1" fmla="*/ 66 h 66"/>
                  <a:gd name="T2" fmla="*/ 66 w 67"/>
                  <a:gd name="T3" fmla="*/ 0 h 66"/>
                  <a:gd name="T4" fmla="*/ 67 w 67"/>
                  <a:gd name="T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" h="66">
                    <a:moveTo>
                      <a:pt x="0" y="66"/>
                    </a:moveTo>
                    <a:lnTo>
                      <a:pt x="66" y="0"/>
                    </a:lnTo>
                    <a:lnTo>
                      <a:pt x="6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45" name="Freeform 785"/>
              <p:cNvSpPr>
                <a:spLocks/>
              </p:cNvSpPr>
              <p:nvPr/>
            </p:nvSpPr>
            <p:spPr bwMode="auto">
              <a:xfrm>
                <a:off x="4224" y="2639"/>
                <a:ext cx="120" cy="120"/>
              </a:xfrm>
              <a:custGeom>
                <a:avLst/>
                <a:gdLst>
                  <a:gd name="T0" fmla="*/ 0 w 721"/>
                  <a:gd name="T1" fmla="*/ 721 h 721"/>
                  <a:gd name="T2" fmla="*/ 720 w 721"/>
                  <a:gd name="T3" fmla="*/ 0 h 721"/>
                  <a:gd name="T4" fmla="*/ 721 w 721"/>
                  <a:gd name="T5" fmla="*/ 0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1" h="721">
                    <a:moveTo>
                      <a:pt x="0" y="721"/>
                    </a:moveTo>
                    <a:lnTo>
                      <a:pt x="720" y="0"/>
                    </a:lnTo>
                    <a:lnTo>
                      <a:pt x="72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46" name="Freeform 786"/>
              <p:cNvSpPr>
                <a:spLocks/>
              </p:cNvSpPr>
              <p:nvPr/>
            </p:nvSpPr>
            <p:spPr bwMode="auto">
              <a:xfrm>
                <a:off x="4130" y="2765"/>
                <a:ext cx="122" cy="121"/>
              </a:xfrm>
              <a:custGeom>
                <a:avLst/>
                <a:gdLst>
                  <a:gd name="T0" fmla="*/ 0 w 731"/>
                  <a:gd name="T1" fmla="*/ 731 h 731"/>
                  <a:gd name="T2" fmla="*/ 729 w 731"/>
                  <a:gd name="T3" fmla="*/ 0 h 731"/>
                  <a:gd name="T4" fmla="*/ 731 w 731"/>
                  <a:gd name="T5" fmla="*/ 0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1" h="731">
                    <a:moveTo>
                      <a:pt x="0" y="731"/>
                    </a:moveTo>
                    <a:lnTo>
                      <a:pt x="729" y="0"/>
                    </a:lnTo>
                    <a:lnTo>
                      <a:pt x="731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47" name="Freeform 787"/>
              <p:cNvSpPr>
                <a:spLocks/>
              </p:cNvSpPr>
              <p:nvPr/>
            </p:nvSpPr>
            <p:spPr bwMode="auto">
              <a:xfrm>
                <a:off x="4356" y="2652"/>
                <a:ext cx="8" cy="8"/>
              </a:xfrm>
              <a:custGeom>
                <a:avLst/>
                <a:gdLst>
                  <a:gd name="T0" fmla="*/ 0 w 49"/>
                  <a:gd name="T1" fmla="*/ 48 h 48"/>
                  <a:gd name="T2" fmla="*/ 48 w 49"/>
                  <a:gd name="T3" fmla="*/ 0 h 48"/>
                  <a:gd name="T4" fmla="*/ 49 w 49"/>
                  <a:gd name="T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" h="48">
                    <a:moveTo>
                      <a:pt x="0" y="48"/>
                    </a:moveTo>
                    <a:lnTo>
                      <a:pt x="48" y="0"/>
                    </a:lnTo>
                    <a:lnTo>
                      <a:pt x="49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48" name="Freeform 788"/>
              <p:cNvSpPr>
                <a:spLocks/>
              </p:cNvSpPr>
              <p:nvPr/>
            </p:nvSpPr>
            <p:spPr bwMode="auto">
              <a:xfrm>
                <a:off x="4252" y="2660"/>
                <a:ext cx="104" cy="105"/>
              </a:xfrm>
              <a:custGeom>
                <a:avLst/>
                <a:gdLst>
                  <a:gd name="T0" fmla="*/ 0 w 626"/>
                  <a:gd name="T1" fmla="*/ 625 h 625"/>
                  <a:gd name="T2" fmla="*/ 625 w 626"/>
                  <a:gd name="T3" fmla="*/ 0 h 625"/>
                  <a:gd name="T4" fmla="*/ 626 w 626"/>
                  <a:gd name="T5" fmla="*/ 0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26" h="625">
                    <a:moveTo>
                      <a:pt x="0" y="625"/>
                    </a:moveTo>
                    <a:lnTo>
                      <a:pt x="625" y="0"/>
                    </a:lnTo>
                    <a:lnTo>
                      <a:pt x="626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49" name="Freeform 789"/>
              <p:cNvSpPr>
                <a:spLocks/>
              </p:cNvSpPr>
              <p:nvPr/>
            </p:nvSpPr>
            <p:spPr bwMode="auto">
              <a:xfrm>
                <a:off x="4156" y="2771"/>
                <a:ext cx="123" cy="123"/>
              </a:xfrm>
              <a:custGeom>
                <a:avLst/>
                <a:gdLst>
                  <a:gd name="T0" fmla="*/ 0 w 737"/>
                  <a:gd name="T1" fmla="*/ 737 h 737"/>
                  <a:gd name="T2" fmla="*/ 736 w 737"/>
                  <a:gd name="T3" fmla="*/ 0 h 737"/>
                  <a:gd name="T4" fmla="*/ 737 w 737"/>
                  <a:gd name="T5" fmla="*/ 0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37" h="737">
                    <a:moveTo>
                      <a:pt x="0" y="737"/>
                    </a:moveTo>
                    <a:lnTo>
                      <a:pt x="736" y="0"/>
                    </a:lnTo>
                    <a:lnTo>
                      <a:pt x="737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50" name="Freeform 790"/>
              <p:cNvSpPr>
                <a:spLocks/>
              </p:cNvSpPr>
              <p:nvPr/>
            </p:nvSpPr>
            <p:spPr bwMode="auto">
              <a:xfrm>
                <a:off x="4368" y="2678"/>
                <a:ext cx="5" cy="4"/>
              </a:xfrm>
              <a:custGeom>
                <a:avLst/>
                <a:gdLst>
                  <a:gd name="T0" fmla="*/ 0 w 28"/>
                  <a:gd name="T1" fmla="*/ 27 h 27"/>
                  <a:gd name="T2" fmla="*/ 27 w 28"/>
                  <a:gd name="T3" fmla="*/ 0 h 27"/>
                  <a:gd name="T4" fmla="*/ 28 w 28"/>
                  <a:gd name="T5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7">
                    <a:moveTo>
                      <a:pt x="0" y="27"/>
                    </a:moveTo>
                    <a:lnTo>
                      <a:pt x="27" y="0"/>
                    </a:lnTo>
                    <a:lnTo>
                      <a:pt x="28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351" name="Freeform 791"/>
              <p:cNvSpPr>
                <a:spLocks/>
              </p:cNvSpPr>
              <p:nvPr/>
            </p:nvSpPr>
            <p:spPr bwMode="auto">
              <a:xfrm>
                <a:off x="4279" y="2682"/>
                <a:ext cx="89" cy="89"/>
              </a:xfrm>
              <a:custGeom>
                <a:avLst/>
                <a:gdLst>
                  <a:gd name="T0" fmla="*/ 0 w 535"/>
                  <a:gd name="T1" fmla="*/ 534 h 534"/>
                  <a:gd name="T2" fmla="*/ 534 w 535"/>
                  <a:gd name="T3" fmla="*/ 0 h 534"/>
                  <a:gd name="T4" fmla="*/ 535 w 535"/>
                  <a:gd name="T5" fmla="*/ 0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35" h="534">
                    <a:moveTo>
                      <a:pt x="0" y="534"/>
                    </a:moveTo>
                    <a:lnTo>
                      <a:pt x="534" y="0"/>
                    </a:lnTo>
                    <a:lnTo>
                      <a:pt x="535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67352" name="Freeform 792"/>
            <p:cNvSpPr>
              <a:spLocks/>
            </p:cNvSpPr>
            <p:nvPr/>
          </p:nvSpPr>
          <p:spPr bwMode="auto">
            <a:xfrm>
              <a:off x="3928" y="3141"/>
              <a:ext cx="124" cy="124"/>
            </a:xfrm>
            <a:custGeom>
              <a:avLst/>
              <a:gdLst>
                <a:gd name="T0" fmla="*/ 0 w 742"/>
                <a:gd name="T1" fmla="*/ 741 h 741"/>
                <a:gd name="T2" fmla="*/ 741 w 742"/>
                <a:gd name="T3" fmla="*/ 0 h 741"/>
                <a:gd name="T4" fmla="*/ 742 w 742"/>
                <a:gd name="T5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2" h="741">
                  <a:moveTo>
                    <a:pt x="0" y="741"/>
                  </a:moveTo>
                  <a:lnTo>
                    <a:pt x="741" y="0"/>
                  </a:lnTo>
                  <a:lnTo>
                    <a:pt x="74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53" name="Freeform 793"/>
            <p:cNvSpPr>
              <a:spLocks/>
            </p:cNvSpPr>
            <p:nvPr/>
          </p:nvSpPr>
          <p:spPr bwMode="auto">
            <a:xfrm>
              <a:off x="4052" y="3067"/>
              <a:ext cx="74" cy="74"/>
            </a:xfrm>
            <a:custGeom>
              <a:avLst/>
              <a:gdLst>
                <a:gd name="T0" fmla="*/ 0 w 446"/>
                <a:gd name="T1" fmla="*/ 446 h 446"/>
                <a:gd name="T2" fmla="*/ 445 w 446"/>
                <a:gd name="T3" fmla="*/ 0 h 446"/>
                <a:gd name="T4" fmla="*/ 446 w 446"/>
                <a:gd name="T5" fmla="*/ 0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6" h="446">
                  <a:moveTo>
                    <a:pt x="0" y="446"/>
                  </a:moveTo>
                  <a:lnTo>
                    <a:pt x="445" y="0"/>
                  </a:lnTo>
                  <a:lnTo>
                    <a:pt x="446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54" name="Freeform 794"/>
            <p:cNvSpPr>
              <a:spLocks/>
            </p:cNvSpPr>
            <p:nvPr/>
          </p:nvSpPr>
          <p:spPr bwMode="auto">
            <a:xfrm>
              <a:off x="3954" y="3149"/>
              <a:ext cx="124" cy="124"/>
            </a:xfrm>
            <a:custGeom>
              <a:avLst/>
              <a:gdLst>
                <a:gd name="T0" fmla="*/ 0 w 743"/>
                <a:gd name="T1" fmla="*/ 741 h 741"/>
                <a:gd name="T2" fmla="*/ 742 w 743"/>
                <a:gd name="T3" fmla="*/ 0 h 741"/>
                <a:gd name="T4" fmla="*/ 743 w 743"/>
                <a:gd name="T5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3" h="741">
                  <a:moveTo>
                    <a:pt x="0" y="741"/>
                  </a:moveTo>
                  <a:lnTo>
                    <a:pt x="742" y="0"/>
                  </a:lnTo>
                  <a:lnTo>
                    <a:pt x="74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55" name="Freeform 795"/>
            <p:cNvSpPr>
              <a:spLocks/>
            </p:cNvSpPr>
            <p:nvPr/>
          </p:nvSpPr>
          <p:spPr bwMode="auto">
            <a:xfrm>
              <a:off x="4078" y="3094"/>
              <a:ext cx="55" cy="55"/>
            </a:xfrm>
            <a:custGeom>
              <a:avLst/>
              <a:gdLst>
                <a:gd name="T0" fmla="*/ 0 w 327"/>
                <a:gd name="T1" fmla="*/ 328 h 328"/>
                <a:gd name="T2" fmla="*/ 326 w 327"/>
                <a:gd name="T3" fmla="*/ 0 h 328"/>
                <a:gd name="T4" fmla="*/ 327 w 327"/>
                <a:gd name="T5" fmla="*/ 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7" h="328">
                  <a:moveTo>
                    <a:pt x="0" y="328"/>
                  </a:moveTo>
                  <a:lnTo>
                    <a:pt x="326" y="0"/>
                  </a:lnTo>
                  <a:lnTo>
                    <a:pt x="32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56" name="Freeform 796"/>
            <p:cNvSpPr>
              <a:spLocks/>
            </p:cNvSpPr>
            <p:nvPr/>
          </p:nvSpPr>
          <p:spPr bwMode="auto">
            <a:xfrm>
              <a:off x="3981" y="3158"/>
              <a:ext cx="122" cy="122"/>
            </a:xfrm>
            <a:custGeom>
              <a:avLst/>
              <a:gdLst>
                <a:gd name="T0" fmla="*/ 0 w 738"/>
                <a:gd name="T1" fmla="*/ 737 h 737"/>
                <a:gd name="T2" fmla="*/ 737 w 738"/>
                <a:gd name="T3" fmla="*/ 0 h 737"/>
                <a:gd name="T4" fmla="*/ 738 w 738"/>
                <a:gd name="T5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38" h="737">
                  <a:moveTo>
                    <a:pt x="0" y="737"/>
                  </a:moveTo>
                  <a:lnTo>
                    <a:pt x="737" y="0"/>
                  </a:lnTo>
                  <a:lnTo>
                    <a:pt x="73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57" name="Freeform 797"/>
            <p:cNvSpPr>
              <a:spLocks/>
            </p:cNvSpPr>
            <p:nvPr/>
          </p:nvSpPr>
          <p:spPr bwMode="auto">
            <a:xfrm>
              <a:off x="4103" y="3123"/>
              <a:ext cx="35" cy="35"/>
            </a:xfrm>
            <a:custGeom>
              <a:avLst/>
              <a:gdLst>
                <a:gd name="T0" fmla="*/ 0 w 207"/>
                <a:gd name="T1" fmla="*/ 207 h 207"/>
                <a:gd name="T2" fmla="*/ 206 w 207"/>
                <a:gd name="T3" fmla="*/ 0 h 207"/>
                <a:gd name="T4" fmla="*/ 207 w 207"/>
                <a:gd name="T5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7" h="207">
                  <a:moveTo>
                    <a:pt x="0" y="207"/>
                  </a:moveTo>
                  <a:lnTo>
                    <a:pt x="206" y="0"/>
                  </a:lnTo>
                  <a:lnTo>
                    <a:pt x="20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58" name="Freeform 798"/>
            <p:cNvSpPr>
              <a:spLocks/>
            </p:cNvSpPr>
            <p:nvPr/>
          </p:nvSpPr>
          <p:spPr bwMode="auto">
            <a:xfrm>
              <a:off x="4007" y="3167"/>
              <a:ext cx="121" cy="121"/>
            </a:xfrm>
            <a:custGeom>
              <a:avLst/>
              <a:gdLst>
                <a:gd name="T0" fmla="*/ 0 w 729"/>
                <a:gd name="T1" fmla="*/ 728 h 728"/>
                <a:gd name="T2" fmla="*/ 728 w 729"/>
                <a:gd name="T3" fmla="*/ 0 h 728"/>
                <a:gd name="T4" fmla="*/ 729 w 729"/>
                <a:gd name="T5" fmla="*/ 0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9" h="728">
                  <a:moveTo>
                    <a:pt x="0" y="728"/>
                  </a:moveTo>
                  <a:lnTo>
                    <a:pt x="728" y="0"/>
                  </a:lnTo>
                  <a:lnTo>
                    <a:pt x="72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59" name="Freeform 799"/>
            <p:cNvSpPr>
              <a:spLocks/>
            </p:cNvSpPr>
            <p:nvPr/>
          </p:nvSpPr>
          <p:spPr bwMode="auto">
            <a:xfrm>
              <a:off x="4128" y="3153"/>
              <a:ext cx="14" cy="14"/>
            </a:xfrm>
            <a:custGeom>
              <a:avLst/>
              <a:gdLst>
                <a:gd name="T0" fmla="*/ 0 w 87"/>
                <a:gd name="T1" fmla="*/ 85 h 85"/>
                <a:gd name="T2" fmla="*/ 86 w 87"/>
                <a:gd name="T3" fmla="*/ 0 h 85"/>
                <a:gd name="T4" fmla="*/ 87 w 8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7" h="85">
                  <a:moveTo>
                    <a:pt x="0" y="85"/>
                  </a:moveTo>
                  <a:lnTo>
                    <a:pt x="86" y="0"/>
                  </a:lnTo>
                  <a:lnTo>
                    <a:pt x="8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60" name="Freeform 800"/>
            <p:cNvSpPr>
              <a:spLocks/>
            </p:cNvSpPr>
            <p:nvPr/>
          </p:nvSpPr>
          <p:spPr bwMode="auto">
            <a:xfrm>
              <a:off x="4033" y="3183"/>
              <a:ext cx="113" cy="113"/>
            </a:xfrm>
            <a:custGeom>
              <a:avLst/>
              <a:gdLst>
                <a:gd name="T0" fmla="*/ 0 w 679"/>
                <a:gd name="T1" fmla="*/ 679 h 679"/>
                <a:gd name="T2" fmla="*/ 677 w 679"/>
                <a:gd name="T3" fmla="*/ 0 h 679"/>
                <a:gd name="T4" fmla="*/ 679 w 679"/>
                <a:gd name="T5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9" h="679">
                  <a:moveTo>
                    <a:pt x="0" y="679"/>
                  </a:moveTo>
                  <a:lnTo>
                    <a:pt x="677" y="0"/>
                  </a:lnTo>
                  <a:lnTo>
                    <a:pt x="679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61" name="Freeform 801"/>
            <p:cNvSpPr>
              <a:spLocks/>
            </p:cNvSpPr>
            <p:nvPr/>
          </p:nvSpPr>
          <p:spPr bwMode="auto">
            <a:xfrm>
              <a:off x="4059" y="3214"/>
              <a:ext cx="90" cy="90"/>
            </a:xfrm>
            <a:custGeom>
              <a:avLst/>
              <a:gdLst>
                <a:gd name="T0" fmla="*/ 0 w 542"/>
                <a:gd name="T1" fmla="*/ 540 h 540"/>
                <a:gd name="T2" fmla="*/ 541 w 542"/>
                <a:gd name="T3" fmla="*/ 0 h 540"/>
                <a:gd name="T4" fmla="*/ 542 w 542"/>
                <a:gd name="T5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2" h="540">
                  <a:moveTo>
                    <a:pt x="0" y="540"/>
                  </a:moveTo>
                  <a:lnTo>
                    <a:pt x="541" y="0"/>
                  </a:lnTo>
                  <a:lnTo>
                    <a:pt x="54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62" name="Freeform 802"/>
            <p:cNvSpPr>
              <a:spLocks/>
            </p:cNvSpPr>
            <p:nvPr/>
          </p:nvSpPr>
          <p:spPr bwMode="auto">
            <a:xfrm>
              <a:off x="4085" y="3244"/>
              <a:ext cx="67" cy="68"/>
            </a:xfrm>
            <a:custGeom>
              <a:avLst/>
              <a:gdLst>
                <a:gd name="T0" fmla="*/ 0 w 404"/>
                <a:gd name="T1" fmla="*/ 403 h 403"/>
                <a:gd name="T2" fmla="*/ 403 w 404"/>
                <a:gd name="T3" fmla="*/ 0 h 403"/>
                <a:gd name="T4" fmla="*/ 404 w 404"/>
                <a:gd name="T5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4" h="403">
                  <a:moveTo>
                    <a:pt x="0" y="403"/>
                  </a:moveTo>
                  <a:lnTo>
                    <a:pt x="403" y="0"/>
                  </a:lnTo>
                  <a:lnTo>
                    <a:pt x="40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63" name="Freeform 803"/>
            <p:cNvSpPr>
              <a:spLocks/>
            </p:cNvSpPr>
            <p:nvPr/>
          </p:nvSpPr>
          <p:spPr bwMode="auto">
            <a:xfrm>
              <a:off x="4111" y="3275"/>
              <a:ext cx="44" cy="44"/>
            </a:xfrm>
            <a:custGeom>
              <a:avLst/>
              <a:gdLst>
                <a:gd name="T0" fmla="*/ 0 w 267"/>
                <a:gd name="T1" fmla="*/ 268 h 268"/>
                <a:gd name="T2" fmla="*/ 266 w 267"/>
                <a:gd name="T3" fmla="*/ 0 h 268"/>
                <a:gd name="T4" fmla="*/ 267 w 267"/>
                <a:gd name="T5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7" h="268">
                  <a:moveTo>
                    <a:pt x="0" y="268"/>
                  </a:moveTo>
                  <a:lnTo>
                    <a:pt x="266" y="0"/>
                  </a:lnTo>
                  <a:lnTo>
                    <a:pt x="267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64" name="Freeform 804"/>
            <p:cNvSpPr>
              <a:spLocks/>
            </p:cNvSpPr>
            <p:nvPr/>
          </p:nvSpPr>
          <p:spPr bwMode="auto">
            <a:xfrm>
              <a:off x="4137" y="3305"/>
              <a:ext cx="22" cy="22"/>
            </a:xfrm>
            <a:custGeom>
              <a:avLst/>
              <a:gdLst>
                <a:gd name="T0" fmla="*/ 0 w 134"/>
                <a:gd name="T1" fmla="*/ 133 h 133"/>
                <a:gd name="T2" fmla="*/ 133 w 134"/>
                <a:gd name="T3" fmla="*/ 0 h 133"/>
                <a:gd name="T4" fmla="*/ 134 w 134"/>
                <a:gd name="T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133">
                  <a:moveTo>
                    <a:pt x="0" y="133"/>
                  </a:moveTo>
                  <a:lnTo>
                    <a:pt x="133" y="0"/>
                  </a:lnTo>
                  <a:lnTo>
                    <a:pt x="134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65" name="Freeform 805"/>
            <p:cNvSpPr>
              <a:spLocks/>
            </p:cNvSpPr>
            <p:nvPr/>
          </p:nvSpPr>
          <p:spPr bwMode="auto">
            <a:xfrm>
              <a:off x="4163" y="3335"/>
              <a:ext cx="1" cy="1"/>
            </a:xfrm>
            <a:custGeom>
              <a:avLst/>
              <a:gdLst>
                <a:gd name="T0" fmla="*/ 0 w 3"/>
                <a:gd name="T1" fmla="*/ 2 h 2"/>
                <a:gd name="T2" fmla="*/ 2 w 3"/>
                <a:gd name="T3" fmla="*/ 0 h 2"/>
                <a:gd name="T4" fmla="*/ 3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66" name="Freeform 806"/>
            <p:cNvSpPr>
              <a:spLocks/>
            </p:cNvSpPr>
            <p:nvPr/>
          </p:nvSpPr>
          <p:spPr bwMode="auto">
            <a:xfrm>
              <a:off x="3046" y="3227"/>
              <a:ext cx="1180" cy="181"/>
            </a:xfrm>
            <a:custGeom>
              <a:avLst/>
              <a:gdLst>
                <a:gd name="T0" fmla="*/ 0 w 7811"/>
                <a:gd name="T1" fmla="*/ 0 h 1154"/>
                <a:gd name="T2" fmla="*/ 63 w 7811"/>
                <a:gd name="T3" fmla="*/ 197 h 1154"/>
                <a:gd name="T4" fmla="*/ 255 w 7811"/>
                <a:gd name="T5" fmla="*/ 389 h 1154"/>
                <a:gd name="T6" fmla="*/ 572 w 7811"/>
                <a:gd name="T7" fmla="*/ 571 h 1154"/>
                <a:gd name="T8" fmla="*/ 1003 w 7811"/>
                <a:gd name="T9" fmla="*/ 738 h 1154"/>
                <a:gd name="T10" fmla="*/ 1532 w 7811"/>
                <a:gd name="T11" fmla="*/ 882 h 1154"/>
                <a:gd name="T12" fmla="*/ 2142 w 7811"/>
                <a:gd name="T13" fmla="*/ 999 h 1154"/>
                <a:gd name="T14" fmla="*/ 2813 w 7811"/>
                <a:gd name="T15" fmla="*/ 1086 h 1154"/>
                <a:gd name="T16" fmla="*/ 3521 w 7811"/>
                <a:gd name="T17" fmla="*/ 1138 h 1154"/>
                <a:gd name="T18" fmla="*/ 4241 w 7811"/>
                <a:gd name="T19" fmla="*/ 1154 h 1154"/>
                <a:gd name="T20" fmla="*/ 4950 w 7811"/>
                <a:gd name="T21" fmla="*/ 1136 h 1154"/>
                <a:gd name="T22" fmla="*/ 5623 w 7811"/>
                <a:gd name="T23" fmla="*/ 1080 h 1154"/>
                <a:gd name="T24" fmla="*/ 6238 w 7811"/>
                <a:gd name="T25" fmla="*/ 992 h 1154"/>
                <a:gd name="T26" fmla="*/ 6774 w 7811"/>
                <a:gd name="T27" fmla="*/ 874 h 1154"/>
                <a:gd name="T28" fmla="*/ 7212 w 7811"/>
                <a:gd name="T29" fmla="*/ 728 h 1154"/>
                <a:gd name="T30" fmla="*/ 7537 w 7811"/>
                <a:gd name="T31" fmla="*/ 560 h 1154"/>
                <a:gd name="T32" fmla="*/ 7739 w 7811"/>
                <a:gd name="T33" fmla="*/ 377 h 1154"/>
                <a:gd name="T34" fmla="*/ 7810 w 7811"/>
                <a:gd name="T35" fmla="*/ 183 h 1154"/>
                <a:gd name="T36" fmla="*/ 7811 w 7811"/>
                <a:gd name="T37" fmla="*/ 183 h 1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811" h="1154">
                  <a:moveTo>
                    <a:pt x="0" y="0"/>
                  </a:moveTo>
                  <a:lnTo>
                    <a:pt x="63" y="197"/>
                  </a:lnTo>
                  <a:lnTo>
                    <a:pt x="255" y="389"/>
                  </a:lnTo>
                  <a:lnTo>
                    <a:pt x="572" y="571"/>
                  </a:lnTo>
                  <a:lnTo>
                    <a:pt x="1003" y="738"/>
                  </a:lnTo>
                  <a:lnTo>
                    <a:pt x="1532" y="882"/>
                  </a:lnTo>
                  <a:lnTo>
                    <a:pt x="2142" y="999"/>
                  </a:lnTo>
                  <a:lnTo>
                    <a:pt x="2813" y="1086"/>
                  </a:lnTo>
                  <a:lnTo>
                    <a:pt x="3521" y="1138"/>
                  </a:lnTo>
                  <a:lnTo>
                    <a:pt x="4241" y="1154"/>
                  </a:lnTo>
                  <a:lnTo>
                    <a:pt x="4950" y="1136"/>
                  </a:lnTo>
                  <a:lnTo>
                    <a:pt x="5623" y="1080"/>
                  </a:lnTo>
                  <a:lnTo>
                    <a:pt x="6238" y="992"/>
                  </a:lnTo>
                  <a:lnTo>
                    <a:pt x="6774" y="874"/>
                  </a:lnTo>
                  <a:lnTo>
                    <a:pt x="7212" y="728"/>
                  </a:lnTo>
                  <a:lnTo>
                    <a:pt x="7537" y="560"/>
                  </a:lnTo>
                  <a:lnTo>
                    <a:pt x="7739" y="377"/>
                  </a:lnTo>
                  <a:lnTo>
                    <a:pt x="7810" y="183"/>
                  </a:lnTo>
                  <a:lnTo>
                    <a:pt x="7811" y="183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67" name="Arc 807"/>
            <p:cNvSpPr>
              <a:spLocks/>
            </p:cNvSpPr>
            <p:nvPr/>
          </p:nvSpPr>
          <p:spPr bwMode="auto">
            <a:xfrm rot="-11324769">
              <a:off x="3552" y="2351"/>
              <a:ext cx="80" cy="81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68" name="Line 808"/>
            <p:cNvSpPr>
              <a:spLocks noChangeShapeType="1"/>
            </p:cNvSpPr>
            <p:nvPr/>
          </p:nvSpPr>
          <p:spPr bwMode="auto">
            <a:xfrm flipH="1">
              <a:off x="3781" y="2057"/>
              <a:ext cx="252" cy="1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369" name="Line 809"/>
            <p:cNvSpPr>
              <a:spLocks noChangeShapeType="1"/>
            </p:cNvSpPr>
            <p:nvPr/>
          </p:nvSpPr>
          <p:spPr bwMode="auto">
            <a:xfrm>
              <a:off x="4033" y="2057"/>
              <a:ext cx="2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818" name="Text Box 810"/>
            <p:cNvSpPr txBox="1">
              <a:spLocks noChangeArrowheads="1"/>
            </p:cNvSpPr>
            <p:nvPr/>
          </p:nvSpPr>
          <p:spPr bwMode="auto">
            <a:xfrm>
              <a:off x="3293" y="2069"/>
              <a:ext cx="313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l-GR" altLang="en-US" sz="3000">
                  <a:solidFill>
                    <a:schemeClr val="tx2"/>
                  </a:solidFill>
                </a:rPr>
                <a:t>θ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autoUpdateAnimBg="0"/>
      <p:bldP spid="66563" grpId="0" animBg="1" autoUpdateAnimBg="0"/>
      <p:bldP spid="66564" grpId="0" autoUpdateAnimBg="0"/>
      <p:bldP spid="66565" grpId="0" animBg="1" autoUpdateAnimBg="0"/>
      <p:bldP spid="66566" grpId="0" animBg="1"/>
      <p:bldP spid="6656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3276600" y="31750"/>
            <a:ext cx="2590800" cy="64135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600">
                <a:solidFill>
                  <a:srgbClr val="FFFF00"/>
                </a:solidFill>
                <a:latin typeface="Comic Sans MS" panose="030F0702030302020204" pitchFamily="66" charset="0"/>
              </a:rPr>
              <a:t>CONICS</a:t>
            </a: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152400" y="587375"/>
            <a:ext cx="86868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3000" b="0">
                <a:solidFill>
                  <a:srgbClr val="6E4B8B"/>
                </a:solidFill>
                <a:latin typeface="Comic Sans MS" panose="030F0702030302020204" pitchFamily="66" charset="0"/>
              </a:rPr>
              <a:t>Definition :- </a:t>
            </a:r>
            <a:r>
              <a:rPr lang="en-US" altLang="en-US" sz="3000" b="0">
                <a:latin typeface="Comic Sans MS" panose="030F0702030302020204" pitchFamily="66" charset="0"/>
              </a:rPr>
              <a:t>The locus of point moves in a plane such a way that the ratio of  its distance from </a:t>
            </a:r>
            <a:r>
              <a:rPr lang="en-US" altLang="en-US" sz="3000" b="0">
                <a:solidFill>
                  <a:srgbClr val="0000FF"/>
                </a:solidFill>
                <a:latin typeface="Comic Sans MS" panose="030F0702030302020204" pitchFamily="66" charset="0"/>
              </a:rPr>
              <a:t>fixed point (focus)</a:t>
            </a:r>
            <a:r>
              <a:rPr lang="en-US" altLang="en-US" sz="3000" b="0">
                <a:latin typeface="Comic Sans MS" panose="030F0702030302020204" pitchFamily="66" charset="0"/>
              </a:rPr>
              <a:t> to a </a:t>
            </a:r>
            <a:r>
              <a:rPr lang="en-US" altLang="en-US" sz="3000" b="0">
                <a:solidFill>
                  <a:srgbClr val="0000FF"/>
                </a:solidFill>
                <a:latin typeface="Comic Sans MS" panose="030F0702030302020204" pitchFamily="66" charset="0"/>
              </a:rPr>
              <a:t>fixed Straight line (Directrix)</a:t>
            </a:r>
            <a:r>
              <a:rPr lang="en-US" altLang="en-US" sz="3000" b="0">
                <a:latin typeface="Comic Sans MS" panose="030F0702030302020204" pitchFamily="66" charset="0"/>
              </a:rPr>
              <a:t> is always constant.</a:t>
            </a: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106363" y="6176963"/>
            <a:ext cx="6553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3000" b="0">
                <a:latin typeface="Comic Sans MS" panose="030F0702030302020204" pitchFamily="66" charset="0"/>
              </a:rPr>
              <a:t>Fixed point is called as </a:t>
            </a:r>
            <a:r>
              <a:rPr lang="en-US" altLang="en-US" sz="3000" b="0">
                <a:solidFill>
                  <a:srgbClr val="0000FF"/>
                </a:solidFill>
                <a:latin typeface="Comic Sans MS" panose="030F0702030302020204" pitchFamily="66" charset="0"/>
              </a:rPr>
              <a:t>focus</a:t>
            </a:r>
            <a:r>
              <a:rPr lang="en-US" altLang="en-US" sz="3000" b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122238" y="5638800"/>
            <a:ext cx="8259762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3000" b="0">
                <a:latin typeface="Comic Sans MS" panose="030F0702030302020204" pitchFamily="66" charset="0"/>
              </a:rPr>
              <a:t>Fixed straight line is called as </a:t>
            </a:r>
            <a:r>
              <a:rPr lang="en-US" altLang="en-US" sz="3000" b="0">
                <a:solidFill>
                  <a:srgbClr val="0000FF"/>
                </a:solidFill>
                <a:latin typeface="Comic Sans MS" panose="030F0702030302020204" pitchFamily="66" charset="0"/>
              </a:rPr>
              <a:t>directrix</a:t>
            </a:r>
            <a:r>
              <a:rPr lang="en-US" altLang="en-US" sz="3000" b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53255" name="AutoShape 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258050" y="6534150"/>
            <a:ext cx="685800" cy="304800"/>
          </a:xfrm>
          <a:prstGeom prst="actionButtonBackPreviou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256" name="Line 8"/>
          <p:cNvSpPr>
            <a:spLocks noChangeShapeType="1"/>
          </p:cNvSpPr>
          <p:nvPr/>
        </p:nvSpPr>
        <p:spPr bwMode="auto">
          <a:xfrm>
            <a:off x="2274888" y="2455863"/>
            <a:ext cx="0" cy="3254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257" name="Freeform 9"/>
          <p:cNvSpPr>
            <a:spLocks/>
          </p:cNvSpPr>
          <p:nvPr/>
        </p:nvSpPr>
        <p:spPr bwMode="auto">
          <a:xfrm rot="189019">
            <a:off x="2982913" y="2473325"/>
            <a:ext cx="1401762" cy="3236913"/>
          </a:xfrm>
          <a:custGeom>
            <a:avLst/>
            <a:gdLst>
              <a:gd name="T0" fmla="*/ 5408 w 6201"/>
              <a:gd name="T1" fmla="*/ 0 h 12527"/>
              <a:gd name="T2" fmla="*/ 4192 w 6201"/>
              <a:gd name="T3" fmla="*/ 296 h 12527"/>
              <a:gd name="T4" fmla="*/ 3061 w 6201"/>
              <a:gd name="T5" fmla="*/ 828 h 12527"/>
              <a:gd name="T6" fmla="*/ 2056 w 6201"/>
              <a:gd name="T7" fmla="*/ 1574 h 12527"/>
              <a:gd name="T8" fmla="*/ 1218 w 6201"/>
              <a:gd name="T9" fmla="*/ 2504 h 12527"/>
              <a:gd name="T10" fmla="*/ 581 w 6201"/>
              <a:gd name="T11" fmla="*/ 3581 h 12527"/>
              <a:gd name="T12" fmla="*/ 169 w 6201"/>
              <a:gd name="T13" fmla="*/ 4763 h 12527"/>
              <a:gd name="T14" fmla="*/ 0 w 6201"/>
              <a:gd name="T15" fmla="*/ 6004 h 12527"/>
              <a:gd name="T16" fmla="*/ 79 w 6201"/>
              <a:gd name="T17" fmla="*/ 7253 h 12527"/>
              <a:gd name="T18" fmla="*/ 403 w 6201"/>
              <a:gd name="T19" fmla="*/ 8463 h 12527"/>
              <a:gd name="T20" fmla="*/ 960 w 6201"/>
              <a:gd name="T21" fmla="*/ 9584 h 12527"/>
              <a:gd name="T22" fmla="*/ 1728 w 6201"/>
              <a:gd name="T23" fmla="*/ 10573 h 12527"/>
              <a:gd name="T24" fmla="*/ 2676 w 6201"/>
              <a:gd name="T25" fmla="*/ 11389 h 12527"/>
              <a:gd name="T26" fmla="*/ 3766 w 6201"/>
              <a:gd name="T27" fmla="*/ 12002 h 12527"/>
              <a:gd name="T28" fmla="*/ 4956 w 6201"/>
              <a:gd name="T29" fmla="*/ 12386 h 12527"/>
              <a:gd name="T30" fmla="*/ 6200 w 6201"/>
              <a:gd name="T31" fmla="*/ 12527 h 12527"/>
              <a:gd name="T32" fmla="*/ 6201 w 6201"/>
              <a:gd name="T33" fmla="*/ 12527 h 12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201" h="12527">
                <a:moveTo>
                  <a:pt x="5408" y="0"/>
                </a:moveTo>
                <a:lnTo>
                  <a:pt x="4192" y="296"/>
                </a:lnTo>
                <a:lnTo>
                  <a:pt x="3061" y="828"/>
                </a:lnTo>
                <a:lnTo>
                  <a:pt x="2056" y="1574"/>
                </a:lnTo>
                <a:lnTo>
                  <a:pt x="1218" y="2504"/>
                </a:lnTo>
                <a:lnTo>
                  <a:pt x="581" y="3581"/>
                </a:lnTo>
                <a:lnTo>
                  <a:pt x="169" y="4763"/>
                </a:lnTo>
                <a:lnTo>
                  <a:pt x="0" y="6004"/>
                </a:lnTo>
                <a:lnTo>
                  <a:pt x="79" y="7253"/>
                </a:lnTo>
                <a:lnTo>
                  <a:pt x="403" y="8463"/>
                </a:lnTo>
                <a:lnTo>
                  <a:pt x="960" y="9584"/>
                </a:lnTo>
                <a:lnTo>
                  <a:pt x="1728" y="10573"/>
                </a:lnTo>
                <a:lnTo>
                  <a:pt x="2676" y="11389"/>
                </a:lnTo>
                <a:lnTo>
                  <a:pt x="3766" y="12002"/>
                </a:lnTo>
                <a:lnTo>
                  <a:pt x="4956" y="12386"/>
                </a:lnTo>
                <a:lnTo>
                  <a:pt x="6200" y="12527"/>
                </a:lnTo>
                <a:lnTo>
                  <a:pt x="6201" y="12527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258" name="Freeform 10"/>
          <p:cNvSpPr>
            <a:spLocks/>
          </p:cNvSpPr>
          <p:nvPr/>
        </p:nvSpPr>
        <p:spPr bwMode="auto">
          <a:xfrm>
            <a:off x="3295650" y="3105150"/>
            <a:ext cx="471488" cy="1081088"/>
          </a:xfrm>
          <a:custGeom>
            <a:avLst/>
            <a:gdLst>
              <a:gd name="T0" fmla="*/ 0 w 2089"/>
              <a:gd name="T1" fmla="*/ 0 h 4176"/>
              <a:gd name="T2" fmla="*/ 2088 w 2089"/>
              <a:gd name="T3" fmla="*/ 4176 h 4176"/>
              <a:gd name="T4" fmla="*/ 2089 w 2089"/>
              <a:gd name="T5" fmla="*/ 4176 h 4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89" h="4176">
                <a:moveTo>
                  <a:pt x="0" y="0"/>
                </a:moveTo>
                <a:lnTo>
                  <a:pt x="2088" y="4176"/>
                </a:lnTo>
                <a:lnTo>
                  <a:pt x="2089" y="4176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259" name="Freeform 11"/>
          <p:cNvSpPr>
            <a:spLocks/>
          </p:cNvSpPr>
          <p:nvPr/>
        </p:nvSpPr>
        <p:spPr bwMode="auto">
          <a:xfrm>
            <a:off x="2265363" y="4178300"/>
            <a:ext cx="4267200" cy="1588"/>
          </a:xfrm>
          <a:custGeom>
            <a:avLst/>
            <a:gdLst>
              <a:gd name="T0" fmla="*/ 0 w 18886"/>
              <a:gd name="T1" fmla="*/ 18885 w 18886"/>
              <a:gd name="T2" fmla="*/ 18886 w 1888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8886">
                <a:moveTo>
                  <a:pt x="0" y="0"/>
                </a:moveTo>
                <a:lnTo>
                  <a:pt x="18885" y="0"/>
                </a:lnTo>
                <a:lnTo>
                  <a:pt x="18886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260" name="Freeform 12"/>
          <p:cNvSpPr>
            <a:spLocks/>
          </p:cNvSpPr>
          <p:nvPr/>
        </p:nvSpPr>
        <p:spPr bwMode="auto">
          <a:xfrm>
            <a:off x="2270125" y="3105150"/>
            <a:ext cx="1025525" cy="4763"/>
          </a:xfrm>
          <a:custGeom>
            <a:avLst/>
            <a:gdLst>
              <a:gd name="T0" fmla="*/ 0 w 4537"/>
              <a:gd name="T1" fmla="*/ 4536 w 4537"/>
              <a:gd name="T2" fmla="*/ 4537 w 453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4537">
                <a:moveTo>
                  <a:pt x="0" y="0"/>
                </a:moveTo>
                <a:lnTo>
                  <a:pt x="4536" y="0"/>
                </a:lnTo>
                <a:lnTo>
                  <a:pt x="4537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261" name="Text Box 13"/>
          <p:cNvSpPr txBox="1">
            <a:spLocks noChangeArrowheads="1"/>
          </p:cNvSpPr>
          <p:nvPr/>
        </p:nvSpPr>
        <p:spPr bwMode="auto">
          <a:xfrm>
            <a:off x="1776413" y="2759075"/>
            <a:ext cx="571500" cy="60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 b="0">
                <a:solidFill>
                  <a:srgbClr val="6E4B8B"/>
                </a:solidFill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53262" name="Text Box 14"/>
          <p:cNvSpPr txBox="1">
            <a:spLocks noChangeArrowheads="1"/>
          </p:cNvSpPr>
          <p:nvPr/>
        </p:nvSpPr>
        <p:spPr bwMode="auto">
          <a:xfrm>
            <a:off x="1825625" y="3876675"/>
            <a:ext cx="595313" cy="60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 b="0">
                <a:solidFill>
                  <a:srgbClr val="6E4B8B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53263" name="Text Box 15"/>
          <p:cNvSpPr txBox="1">
            <a:spLocks noChangeArrowheads="1"/>
          </p:cNvSpPr>
          <p:nvPr/>
        </p:nvSpPr>
        <p:spPr bwMode="auto">
          <a:xfrm>
            <a:off x="3646488" y="3692525"/>
            <a:ext cx="522287" cy="60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 b="0">
                <a:solidFill>
                  <a:srgbClr val="6E4B8B"/>
                </a:solidFill>
                <a:latin typeface="Comic Sans MS" panose="030F0702030302020204" pitchFamily="66" charset="0"/>
              </a:rPr>
              <a:t>F</a:t>
            </a:r>
          </a:p>
        </p:txBody>
      </p:sp>
      <p:sp>
        <p:nvSpPr>
          <p:cNvPr id="53264" name="Text Box 16"/>
          <p:cNvSpPr txBox="1">
            <a:spLocks noChangeArrowheads="1"/>
          </p:cNvSpPr>
          <p:nvPr/>
        </p:nvSpPr>
        <p:spPr bwMode="auto">
          <a:xfrm>
            <a:off x="2947988" y="4068763"/>
            <a:ext cx="401637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 b="0">
                <a:solidFill>
                  <a:srgbClr val="6E4B8B"/>
                </a:solidFill>
                <a:latin typeface="Comic Sans MS" panose="030F0702030302020204" pitchFamily="66" charset="0"/>
              </a:rPr>
              <a:t>V</a:t>
            </a:r>
          </a:p>
        </p:txBody>
      </p:sp>
      <p:sp>
        <p:nvSpPr>
          <p:cNvPr id="53265" name="Text Box 17"/>
          <p:cNvSpPr txBox="1">
            <a:spLocks noChangeArrowheads="1"/>
          </p:cNvSpPr>
          <p:nvPr/>
        </p:nvSpPr>
        <p:spPr bwMode="auto">
          <a:xfrm>
            <a:off x="3319463" y="2833688"/>
            <a:ext cx="400050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 b="0">
                <a:solidFill>
                  <a:srgbClr val="6E4B8B"/>
                </a:solidFill>
                <a:latin typeface="Comic Sans MS" panose="030F0702030302020204" pitchFamily="66" charset="0"/>
              </a:rPr>
              <a:t>P</a:t>
            </a:r>
          </a:p>
        </p:txBody>
      </p:sp>
      <p:grpSp>
        <p:nvGrpSpPr>
          <p:cNvPr id="53266" name="Group 18"/>
          <p:cNvGrpSpPr>
            <a:grpSpLocks/>
          </p:cNvGrpSpPr>
          <p:nvPr/>
        </p:nvGrpSpPr>
        <p:grpSpPr bwMode="auto">
          <a:xfrm>
            <a:off x="3829050" y="4210050"/>
            <a:ext cx="1725613" cy="781050"/>
            <a:chOff x="2544" y="2976"/>
            <a:chExt cx="768" cy="562"/>
          </a:xfrm>
        </p:grpSpPr>
        <p:sp>
          <p:nvSpPr>
            <p:cNvPr id="18458" name="Text Box 19"/>
            <p:cNvSpPr txBox="1">
              <a:spLocks noChangeArrowheads="1"/>
            </p:cNvSpPr>
            <p:nvPr/>
          </p:nvSpPr>
          <p:spPr bwMode="auto">
            <a:xfrm>
              <a:off x="2784" y="3072"/>
              <a:ext cx="528" cy="4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6E4B8B"/>
                  </a:solidFill>
                  <a:latin typeface="Comic Sans MS" panose="030F0702030302020204" pitchFamily="66" charset="0"/>
                </a:rPr>
                <a:t>Focus</a:t>
              </a:r>
            </a:p>
          </p:txBody>
        </p:sp>
        <p:sp>
          <p:nvSpPr>
            <p:cNvPr id="53268" name="Line 20"/>
            <p:cNvSpPr>
              <a:spLocks noChangeShapeType="1"/>
            </p:cNvSpPr>
            <p:nvPr/>
          </p:nvSpPr>
          <p:spPr bwMode="auto">
            <a:xfrm flipH="1" flipV="1">
              <a:off x="2544" y="2976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53269" name="Group 21"/>
          <p:cNvGrpSpPr>
            <a:grpSpLocks/>
          </p:cNvGrpSpPr>
          <p:nvPr/>
        </p:nvGrpSpPr>
        <p:grpSpPr bwMode="auto">
          <a:xfrm>
            <a:off x="4254500" y="2455863"/>
            <a:ext cx="3060700" cy="647700"/>
            <a:chOff x="2928" y="1728"/>
            <a:chExt cx="1344" cy="466"/>
          </a:xfrm>
        </p:grpSpPr>
        <p:sp>
          <p:nvSpPr>
            <p:cNvPr id="18456" name="Text Box 22"/>
            <p:cNvSpPr txBox="1">
              <a:spLocks noChangeArrowheads="1"/>
            </p:cNvSpPr>
            <p:nvPr/>
          </p:nvSpPr>
          <p:spPr bwMode="auto">
            <a:xfrm>
              <a:off x="3312" y="1728"/>
              <a:ext cx="960" cy="4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6E4B8B"/>
                  </a:solidFill>
                  <a:latin typeface="Comic Sans MS" panose="030F0702030302020204" pitchFamily="66" charset="0"/>
                </a:rPr>
                <a:t>Conic Curve</a:t>
              </a:r>
            </a:p>
          </p:txBody>
        </p:sp>
        <p:sp>
          <p:nvSpPr>
            <p:cNvPr id="53271" name="Line 23"/>
            <p:cNvSpPr>
              <a:spLocks noChangeShapeType="1"/>
            </p:cNvSpPr>
            <p:nvPr/>
          </p:nvSpPr>
          <p:spPr bwMode="auto">
            <a:xfrm flipH="1" flipV="1">
              <a:off x="2928" y="1776"/>
              <a:ext cx="48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53272" name="Group 24"/>
          <p:cNvGrpSpPr>
            <a:grpSpLocks/>
          </p:cNvGrpSpPr>
          <p:nvPr/>
        </p:nvGrpSpPr>
        <p:grpSpPr bwMode="auto">
          <a:xfrm>
            <a:off x="76200" y="3038475"/>
            <a:ext cx="2205038" cy="647700"/>
            <a:chOff x="-56" y="1872"/>
            <a:chExt cx="1452" cy="427"/>
          </a:xfrm>
        </p:grpSpPr>
        <p:sp>
          <p:nvSpPr>
            <p:cNvPr id="18454" name="Text Box 25"/>
            <p:cNvSpPr txBox="1">
              <a:spLocks noChangeArrowheads="1"/>
            </p:cNvSpPr>
            <p:nvPr/>
          </p:nvSpPr>
          <p:spPr bwMode="auto">
            <a:xfrm>
              <a:off x="-56" y="1872"/>
              <a:ext cx="1248" cy="4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6E4B8B"/>
                  </a:solidFill>
                  <a:latin typeface="Comic Sans MS" panose="030F0702030302020204" pitchFamily="66" charset="0"/>
                </a:rPr>
                <a:t>Directrix</a:t>
              </a:r>
            </a:p>
          </p:txBody>
        </p:sp>
        <p:sp>
          <p:nvSpPr>
            <p:cNvPr id="53274" name="Line 26"/>
            <p:cNvSpPr>
              <a:spLocks noChangeShapeType="1"/>
            </p:cNvSpPr>
            <p:nvPr/>
          </p:nvSpPr>
          <p:spPr bwMode="auto">
            <a:xfrm>
              <a:off x="1038" y="2116"/>
              <a:ext cx="3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3275" name="Oval 27"/>
          <p:cNvSpPr>
            <a:spLocks noChangeArrowheads="1"/>
          </p:cNvSpPr>
          <p:nvPr/>
        </p:nvSpPr>
        <p:spPr bwMode="auto">
          <a:xfrm>
            <a:off x="3714750" y="4095750"/>
            <a:ext cx="127000" cy="1333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276" name="Oval 28"/>
          <p:cNvSpPr>
            <a:spLocks noChangeArrowheads="1"/>
          </p:cNvSpPr>
          <p:nvPr/>
        </p:nvSpPr>
        <p:spPr bwMode="auto">
          <a:xfrm>
            <a:off x="3219450" y="3067050"/>
            <a:ext cx="127000" cy="1333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3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3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3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3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3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1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nimBg="1" autoUpdateAnimBg="0"/>
      <p:bldP spid="53251" grpId="0"/>
      <p:bldP spid="53252" grpId="0" autoUpdateAnimBg="0"/>
      <p:bldP spid="53253" grpId="0" autoUpdateAnimBg="0"/>
      <p:bldP spid="53255" grpId="0" animBg="1"/>
      <p:bldP spid="53261" grpId="0" autoUpdateAnimBg="0"/>
      <p:bldP spid="53262" grpId="0" autoUpdateAnimBg="0"/>
      <p:bldP spid="53263" grpId="0" autoUpdateAnimBg="0"/>
      <p:bldP spid="53264" grpId="0" autoUpdateAnimBg="0"/>
      <p:bldP spid="53265" grpId="0" autoUpdateAnimBg="0"/>
      <p:bldP spid="53275" grpId="0" animBg="1"/>
      <p:bldP spid="5327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AutoShape 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277100" y="6572250"/>
            <a:ext cx="685800" cy="304800"/>
          </a:xfrm>
          <a:prstGeom prst="actionButtonBackPreviou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152400" y="76200"/>
            <a:ext cx="87630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en-US" sz="3000">
                <a:latin typeface="Comic Sans MS" panose="030F0702030302020204" pitchFamily="66" charset="0"/>
              </a:rPr>
              <a:t>The line passing through focus &amp; perpendicular to directrix is called as </a:t>
            </a:r>
            <a:r>
              <a:rPr lang="en-US" altLang="en-US" sz="3000">
                <a:solidFill>
                  <a:srgbClr val="0000FF"/>
                </a:solidFill>
                <a:latin typeface="Comic Sans MS" panose="030F0702030302020204" pitchFamily="66" charset="0"/>
              </a:rPr>
              <a:t>axis</a:t>
            </a:r>
            <a:r>
              <a:rPr lang="en-US" altLang="en-US" sz="300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152400" y="1463675"/>
            <a:ext cx="8915400" cy="127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en-US" sz="3000">
                <a:latin typeface="Comic Sans MS" panose="030F0702030302020204" pitchFamily="66" charset="0"/>
              </a:rPr>
              <a:t>The intersection of conic curve with axis is called as </a:t>
            </a:r>
            <a:r>
              <a:rPr lang="en-US" altLang="en-US" sz="3000">
                <a:solidFill>
                  <a:srgbClr val="0000FF"/>
                </a:solidFill>
                <a:latin typeface="Comic Sans MS" panose="030F0702030302020204" pitchFamily="66" charset="0"/>
              </a:rPr>
              <a:t>vertex</a:t>
            </a:r>
            <a:r>
              <a:rPr lang="en-US" altLang="en-US" sz="3000">
                <a:latin typeface="Comic Sans MS" panose="030F0702030302020204" pitchFamily="66" charset="0"/>
              </a:rPr>
              <a:t>.</a:t>
            </a:r>
          </a:p>
        </p:txBody>
      </p:sp>
      <p:grpSp>
        <p:nvGrpSpPr>
          <p:cNvPr id="54277" name="Group 5"/>
          <p:cNvGrpSpPr>
            <a:grpSpLocks/>
          </p:cNvGrpSpPr>
          <p:nvPr/>
        </p:nvGrpSpPr>
        <p:grpSpPr bwMode="auto">
          <a:xfrm>
            <a:off x="6534150" y="3575050"/>
            <a:ext cx="2457450" cy="1397000"/>
            <a:chOff x="3888" y="1968"/>
            <a:chExt cx="1296" cy="960"/>
          </a:xfrm>
        </p:grpSpPr>
        <p:sp>
          <p:nvSpPr>
            <p:cNvPr id="54278" name="Line 6"/>
            <p:cNvSpPr>
              <a:spLocks noChangeShapeType="1"/>
            </p:cNvSpPr>
            <p:nvPr/>
          </p:nvSpPr>
          <p:spPr bwMode="auto">
            <a:xfrm flipH="1">
              <a:off x="3888" y="2160"/>
              <a:ext cx="81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89" name="Text Box 7"/>
            <p:cNvSpPr txBox="1">
              <a:spLocks noChangeArrowheads="1"/>
            </p:cNvSpPr>
            <p:nvPr/>
          </p:nvSpPr>
          <p:spPr bwMode="auto">
            <a:xfrm>
              <a:off x="4656" y="1968"/>
              <a:ext cx="528" cy="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b="0">
                  <a:solidFill>
                    <a:srgbClr val="6E4B8B"/>
                  </a:solidFill>
                  <a:latin typeface="Comic Sans MS" panose="030F0702030302020204" pitchFamily="66" charset="0"/>
                </a:rPr>
                <a:t>Axis</a:t>
              </a:r>
            </a:p>
          </p:txBody>
        </p:sp>
      </p:grpSp>
      <p:grpSp>
        <p:nvGrpSpPr>
          <p:cNvPr id="19462" name="Group 8"/>
          <p:cNvGrpSpPr>
            <a:grpSpLocks/>
          </p:cNvGrpSpPr>
          <p:nvPr/>
        </p:nvGrpSpPr>
        <p:grpSpPr bwMode="auto">
          <a:xfrm>
            <a:off x="0" y="3200400"/>
            <a:ext cx="7569200" cy="3581400"/>
            <a:chOff x="0" y="1488"/>
            <a:chExt cx="4768" cy="2256"/>
          </a:xfrm>
        </p:grpSpPr>
        <p:sp>
          <p:nvSpPr>
            <p:cNvPr id="54281" name="Line 9"/>
            <p:cNvSpPr>
              <a:spLocks noChangeShapeType="1"/>
            </p:cNvSpPr>
            <p:nvPr/>
          </p:nvSpPr>
          <p:spPr bwMode="auto">
            <a:xfrm>
              <a:off x="1448" y="1488"/>
              <a:ext cx="0" cy="22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4282" name="Freeform 10"/>
            <p:cNvSpPr>
              <a:spLocks/>
            </p:cNvSpPr>
            <p:nvPr/>
          </p:nvSpPr>
          <p:spPr bwMode="auto">
            <a:xfrm rot="189019">
              <a:off x="1915" y="1500"/>
              <a:ext cx="923" cy="2133"/>
            </a:xfrm>
            <a:custGeom>
              <a:avLst/>
              <a:gdLst>
                <a:gd name="T0" fmla="*/ 5408 w 6201"/>
                <a:gd name="T1" fmla="*/ 0 h 12527"/>
                <a:gd name="T2" fmla="*/ 4192 w 6201"/>
                <a:gd name="T3" fmla="*/ 296 h 12527"/>
                <a:gd name="T4" fmla="*/ 3061 w 6201"/>
                <a:gd name="T5" fmla="*/ 828 h 12527"/>
                <a:gd name="T6" fmla="*/ 2056 w 6201"/>
                <a:gd name="T7" fmla="*/ 1574 h 12527"/>
                <a:gd name="T8" fmla="*/ 1218 w 6201"/>
                <a:gd name="T9" fmla="*/ 2504 h 12527"/>
                <a:gd name="T10" fmla="*/ 581 w 6201"/>
                <a:gd name="T11" fmla="*/ 3581 h 12527"/>
                <a:gd name="T12" fmla="*/ 169 w 6201"/>
                <a:gd name="T13" fmla="*/ 4763 h 12527"/>
                <a:gd name="T14" fmla="*/ 0 w 6201"/>
                <a:gd name="T15" fmla="*/ 6004 h 12527"/>
                <a:gd name="T16" fmla="*/ 79 w 6201"/>
                <a:gd name="T17" fmla="*/ 7253 h 12527"/>
                <a:gd name="T18" fmla="*/ 403 w 6201"/>
                <a:gd name="T19" fmla="*/ 8463 h 12527"/>
                <a:gd name="T20" fmla="*/ 960 w 6201"/>
                <a:gd name="T21" fmla="*/ 9584 h 12527"/>
                <a:gd name="T22" fmla="*/ 1728 w 6201"/>
                <a:gd name="T23" fmla="*/ 10573 h 12527"/>
                <a:gd name="T24" fmla="*/ 2676 w 6201"/>
                <a:gd name="T25" fmla="*/ 11389 h 12527"/>
                <a:gd name="T26" fmla="*/ 3766 w 6201"/>
                <a:gd name="T27" fmla="*/ 12002 h 12527"/>
                <a:gd name="T28" fmla="*/ 4956 w 6201"/>
                <a:gd name="T29" fmla="*/ 12386 h 12527"/>
                <a:gd name="T30" fmla="*/ 6200 w 6201"/>
                <a:gd name="T31" fmla="*/ 12527 h 12527"/>
                <a:gd name="T32" fmla="*/ 6201 w 6201"/>
                <a:gd name="T33" fmla="*/ 12527 h 12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01" h="12527">
                  <a:moveTo>
                    <a:pt x="5408" y="0"/>
                  </a:moveTo>
                  <a:lnTo>
                    <a:pt x="4192" y="296"/>
                  </a:lnTo>
                  <a:lnTo>
                    <a:pt x="3061" y="828"/>
                  </a:lnTo>
                  <a:lnTo>
                    <a:pt x="2056" y="1574"/>
                  </a:lnTo>
                  <a:lnTo>
                    <a:pt x="1218" y="2504"/>
                  </a:lnTo>
                  <a:lnTo>
                    <a:pt x="581" y="3581"/>
                  </a:lnTo>
                  <a:lnTo>
                    <a:pt x="169" y="4763"/>
                  </a:lnTo>
                  <a:lnTo>
                    <a:pt x="0" y="6004"/>
                  </a:lnTo>
                  <a:lnTo>
                    <a:pt x="79" y="7253"/>
                  </a:lnTo>
                  <a:lnTo>
                    <a:pt x="403" y="8463"/>
                  </a:lnTo>
                  <a:lnTo>
                    <a:pt x="960" y="9584"/>
                  </a:lnTo>
                  <a:lnTo>
                    <a:pt x="1728" y="10573"/>
                  </a:lnTo>
                  <a:lnTo>
                    <a:pt x="2676" y="11389"/>
                  </a:lnTo>
                  <a:lnTo>
                    <a:pt x="3766" y="12002"/>
                  </a:lnTo>
                  <a:lnTo>
                    <a:pt x="4956" y="12386"/>
                  </a:lnTo>
                  <a:lnTo>
                    <a:pt x="6200" y="12527"/>
                  </a:lnTo>
                  <a:lnTo>
                    <a:pt x="6201" y="1252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4283" name="Freeform 11"/>
            <p:cNvSpPr>
              <a:spLocks/>
            </p:cNvSpPr>
            <p:nvPr/>
          </p:nvSpPr>
          <p:spPr bwMode="auto">
            <a:xfrm>
              <a:off x="2121" y="1916"/>
              <a:ext cx="310" cy="712"/>
            </a:xfrm>
            <a:custGeom>
              <a:avLst/>
              <a:gdLst>
                <a:gd name="T0" fmla="*/ 0 w 2089"/>
                <a:gd name="T1" fmla="*/ 0 h 4176"/>
                <a:gd name="T2" fmla="*/ 2088 w 2089"/>
                <a:gd name="T3" fmla="*/ 4176 h 4176"/>
                <a:gd name="T4" fmla="*/ 2089 w 2089"/>
                <a:gd name="T5" fmla="*/ 4176 h 4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89" h="4176">
                  <a:moveTo>
                    <a:pt x="0" y="0"/>
                  </a:moveTo>
                  <a:lnTo>
                    <a:pt x="2088" y="4176"/>
                  </a:lnTo>
                  <a:lnTo>
                    <a:pt x="2089" y="417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4284" name="Freeform 12"/>
            <p:cNvSpPr>
              <a:spLocks/>
            </p:cNvSpPr>
            <p:nvPr/>
          </p:nvSpPr>
          <p:spPr bwMode="auto">
            <a:xfrm>
              <a:off x="1442" y="2623"/>
              <a:ext cx="2810" cy="1"/>
            </a:xfrm>
            <a:custGeom>
              <a:avLst/>
              <a:gdLst>
                <a:gd name="T0" fmla="*/ 0 w 18886"/>
                <a:gd name="T1" fmla="*/ 18885 w 18886"/>
                <a:gd name="T2" fmla="*/ 18886 w 1888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8886">
                  <a:moveTo>
                    <a:pt x="0" y="0"/>
                  </a:moveTo>
                  <a:lnTo>
                    <a:pt x="18885" y="0"/>
                  </a:lnTo>
                  <a:lnTo>
                    <a:pt x="1888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4285" name="Freeform 13"/>
            <p:cNvSpPr>
              <a:spLocks/>
            </p:cNvSpPr>
            <p:nvPr/>
          </p:nvSpPr>
          <p:spPr bwMode="auto">
            <a:xfrm>
              <a:off x="1445" y="1916"/>
              <a:ext cx="676" cy="3"/>
            </a:xfrm>
            <a:custGeom>
              <a:avLst/>
              <a:gdLst>
                <a:gd name="T0" fmla="*/ 0 w 4537"/>
                <a:gd name="T1" fmla="*/ 4536 w 4537"/>
                <a:gd name="T2" fmla="*/ 4537 w 453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537">
                  <a:moveTo>
                    <a:pt x="0" y="0"/>
                  </a:moveTo>
                  <a:lnTo>
                    <a:pt x="4536" y="0"/>
                  </a:lnTo>
                  <a:lnTo>
                    <a:pt x="453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77" name="Text Box 14"/>
            <p:cNvSpPr txBox="1">
              <a:spLocks noChangeArrowheads="1"/>
            </p:cNvSpPr>
            <p:nvPr/>
          </p:nvSpPr>
          <p:spPr bwMode="auto">
            <a:xfrm>
              <a:off x="1120" y="1688"/>
              <a:ext cx="376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b="0">
                  <a:solidFill>
                    <a:srgbClr val="6E4B8B"/>
                  </a:solidFill>
                  <a:latin typeface="Comic Sans MS" panose="030F0702030302020204" pitchFamily="66" charset="0"/>
                </a:rPr>
                <a:t>M</a:t>
              </a:r>
            </a:p>
          </p:txBody>
        </p:sp>
        <p:sp>
          <p:nvSpPr>
            <p:cNvPr id="19478" name="Text Box 15"/>
            <p:cNvSpPr txBox="1">
              <a:spLocks noChangeArrowheads="1"/>
            </p:cNvSpPr>
            <p:nvPr/>
          </p:nvSpPr>
          <p:spPr bwMode="auto">
            <a:xfrm>
              <a:off x="1152" y="2424"/>
              <a:ext cx="392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b="0">
                  <a:solidFill>
                    <a:srgbClr val="6E4B8B"/>
                  </a:solidFill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19479" name="Text Box 16"/>
            <p:cNvSpPr txBox="1">
              <a:spLocks noChangeArrowheads="1"/>
            </p:cNvSpPr>
            <p:nvPr/>
          </p:nvSpPr>
          <p:spPr bwMode="auto">
            <a:xfrm>
              <a:off x="2352" y="2303"/>
              <a:ext cx="344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b="0">
                  <a:solidFill>
                    <a:srgbClr val="6E4B8B"/>
                  </a:solidFill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19480" name="Text Box 17"/>
            <p:cNvSpPr txBox="1">
              <a:spLocks noChangeArrowheads="1"/>
            </p:cNvSpPr>
            <p:nvPr/>
          </p:nvSpPr>
          <p:spPr bwMode="auto">
            <a:xfrm>
              <a:off x="1892" y="2551"/>
              <a:ext cx="264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b="0">
                  <a:solidFill>
                    <a:srgbClr val="6E4B8B"/>
                  </a:solidFill>
                  <a:latin typeface="Comic Sans MS" panose="030F0702030302020204" pitchFamily="66" charset="0"/>
                </a:rPr>
                <a:t>V</a:t>
              </a:r>
            </a:p>
          </p:txBody>
        </p:sp>
        <p:sp>
          <p:nvSpPr>
            <p:cNvPr id="19481" name="Text Box 18"/>
            <p:cNvSpPr txBox="1">
              <a:spLocks noChangeArrowheads="1"/>
            </p:cNvSpPr>
            <p:nvPr/>
          </p:nvSpPr>
          <p:spPr bwMode="auto">
            <a:xfrm>
              <a:off x="2136" y="1737"/>
              <a:ext cx="264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b="0">
                  <a:solidFill>
                    <a:srgbClr val="6E4B8B"/>
                  </a:solidFill>
                  <a:latin typeface="Comic Sans MS" panose="030F0702030302020204" pitchFamily="66" charset="0"/>
                </a:rPr>
                <a:t>P</a:t>
              </a:r>
            </a:p>
          </p:txBody>
        </p:sp>
        <p:sp>
          <p:nvSpPr>
            <p:cNvPr id="19482" name="Text Box 19"/>
            <p:cNvSpPr txBox="1">
              <a:spLocks noChangeArrowheads="1"/>
            </p:cNvSpPr>
            <p:nvPr/>
          </p:nvSpPr>
          <p:spPr bwMode="auto">
            <a:xfrm>
              <a:off x="2827" y="2732"/>
              <a:ext cx="781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6E4B8B"/>
                  </a:solidFill>
                  <a:latin typeface="Comic Sans MS" panose="030F0702030302020204" pitchFamily="66" charset="0"/>
                </a:rPr>
                <a:t>Focus</a:t>
              </a:r>
            </a:p>
          </p:txBody>
        </p:sp>
        <p:sp>
          <p:nvSpPr>
            <p:cNvPr id="54292" name="Line 20"/>
            <p:cNvSpPr>
              <a:spLocks noChangeShapeType="1"/>
            </p:cNvSpPr>
            <p:nvPr/>
          </p:nvSpPr>
          <p:spPr bwMode="auto">
            <a:xfrm flipH="1" flipV="1">
              <a:off x="2472" y="2644"/>
              <a:ext cx="497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84" name="Text Box 21"/>
            <p:cNvSpPr txBox="1">
              <a:spLocks noChangeArrowheads="1"/>
            </p:cNvSpPr>
            <p:nvPr/>
          </p:nvSpPr>
          <p:spPr bwMode="auto">
            <a:xfrm>
              <a:off x="3328" y="1488"/>
              <a:ext cx="1440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6E4B8B"/>
                  </a:solidFill>
                  <a:latin typeface="Comic Sans MS" panose="030F0702030302020204" pitchFamily="66" charset="0"/>
                </a:rPr>
                <a:t>Conic Curve</a:t>
              </a:r>
            </a:p>
          </p:txBody>
        </p:sp>
        <p:sp>
          <p:nvSpPr>
            <p:cNvPr id="54294" name="Line 22"/>
            <p:cNvSpPr>
              <a:spLocks noChangeShapeType="1"/>
            </p:cNvSpPr>
            <p:nvPr/>
          </p:nvSpPr>
          <p:spPr bwMode="auto">
            <a:xfrm flipH="1" flipV="1">
              <a:off x="2752" y="1532"/>
              <a:ext cx="720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86" name="Text Box 23"/>
            <p:cNvSpPr txBox="1">
              <a:spLocks noChangeArrowheads="1"/>
            </p:cNvSpPr>
            <p:nvPr/>
          </p:nvSpPr>
          <p:spPr bwMode="auto">
            <a:xfrm>
              <a:off x="0" y="1872"/>
              <a:ext cx="1248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6E4B8B"/>
                  </a:solidFill>
                  <a:latin typeface="Comic Sans MS" panose="030F0702030302020204" pitchFamily="66" charset="0"/>
                </a:rPr>
                <a:t>Directrix</a:t>
              </a:r>
            </a:p>
          </p:txBody>
        </p:sp>
        <p:sp>
          <p:nvSpPr>
            <p:cNvPr id="54296" name="Line 24"/>
            <p:cNvSpPr>
              <a:spLocks noChangeShapeType="1"/>
            </p:cNvSpPr>
            <p:nvPr/>
          </p:nvSpPr>
          <p:spPr bwMode="auto">
            <a:xfrm>
              <a:off x="1095" y="2116"/>
              <a:ext cx="3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54297" name="Group 25"/>
          <p:cNvGrpSpPr>
            <a:grpSpLocks/>
          </p:cNvGrpSpPr>
          <p:nvPr/>
        </p:nvGrpSpPr>
        <p:grpSpPr bwMode="auto">
          <a:xfrm>
            <a:off x="533400" y="5029200"/>
            <a:ext cx="2438400" cy="838200"/>
            <a:chOff x="336" y="2640"/>
            <a:chExt cx="1536" cy="528"/>
          </a:xfrm>
        </p:grpSpPr>
        <p:sp>
          <p:nvSpPr>
            <p:cNvPr id="19470" name="Text Box 26"/>
            <p:cNvSpPr txBox="1">
              <a:spLocks noChangeArrowheads="1"/>
            </p:cNvSpPr>
            <p:nvPr/>
          </p:nvSpPr>
          <p:spPr bwMode="auto">
            <a:xfrm>
              <a:off x="336" y="2785"/>
              <a:ext cx="1156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b="0">
                  <a:solidFill>
                    <a:srgbClr val="6E4B8B"/>
                  </a:solidFill>
                  <a:latin typeface="Comic Sans MS" panose="030F0702030302020204" pitchFamily="66" charset="0"/>
                </a:rPr>
                <a:t>Vertex</a:t>
              </a:r>
            </a:p>
          </p:txBody>
        </p:sp>
        <p:sp>
          <p:nvSpPr>
            <p:cNvPr id="54299" name="Line 27"/>
            <p:cNvSpPr>
              <a:spLocks noChangeShapeType="1"/>
            </p:cNvSpPr>
            <p:nvPr/>
          </p:nvSpPr>
          <p:spPr bwMode="auto">
            <a:xfrm flipV="1">
              <a:off x="1296" y="2640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4301" name="Oval 29"/>
          <p:cNvSpPr>
            <a:spLocks noChangeArrowheads="1"/>
          </p:cNvSpPr>
          <p:nvPr/>
        </p:nvSpPr>
        <p:spPr bwMode="auto">
          <a:xfrm>
            <a:off x="3829050" y="4914900"/>
            <a:ext cx="127000" cy="1333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302" name="Oval 30"/>
          <p:cNvSpPr>
            <a:spLocks noChangeArrowheads="1"/>
          </p:cNvSpPr>
          <p:nvPr/>
        </p:nvSpPr>
        <p:spPr bwMode="auto">
          <a:xfrm>
            <a:off x="2971800" y="4953000"/>
            <a:ext cx="127000" cy="1333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Blip>
                <a:blip r:embed="rId4"/>
              </a:buBlip>
              <a:defRPr/>
            </a:pPr>
            <a:endParaRPr lang="en-US" altLang="en-US">
              <a:solidFill>
                <a:srgbClr val="C61019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grpSp>
        <p:nvGrpSpPr>
          <p:cNvPr id="54303" name="Group 31"/>
          <p:cNvGrpSpPr>
            <a:grpSpLocks/>
          </p:cNvGrpSpPr>
          <p:nvPr/>
        </p:nvGrpSpPr>
        <p:grpSpPr bwMode="auto">
          <a:xfrm>
            <a:off x="2295525" y="4800600"/>
            <a:ext cx="190500" cy="200025"/>
            <a:chOff x="1446" y="3012"/>
            <a:chExt cx="120" cy="126"/>
          </a:xfrm>
        </p:grpSpPr>
        <p:sp>
          <p:nvSpPr>
            <p:cNvPr id="54304" name="Line 32"/>
            <p:cNvSpPr>
              <a:spLocks noChangeShapeType="1"/>
            </p:cNvSpPr>
            <p:nvPr/>
          </p:nvSpPr>
          <p:spPr bwMode="auto">
            <a:xfrm>
              <a:off x="1446" y="3012"/>
              <a:ext cx="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4305" name="Line 33"/>
            <p:cNvSpPr>
              <a:spLocks noChangeShapeType="1"/>
            </p:cNvSpPr>
            <p:nvPr/>
          </p:nvSpPr>
          <p:spPr bwMode="auto">
            <a:xfrm>
              <a:off x="1554" y="3012"/>
              <a:ext cx="0" cy="1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4306" name="Line 34"/>
          <p:cNvSpPr>
            <a:spLocks noChangeShapeType="1"/>
          </p:cNvSpPr>
          <p:nvPr/>
        </p:nvSpPr>
        <p:spPr bwMode="auto">
          <a:xfrm>
            <a:off x="2286000" y="5010150"/>
            <a:ext cx="447675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4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4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4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4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4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nimBg="1"/>
      <p:bldP spid="54275" grpId="0" autoUpdateAnimBg="0"/>
      <p:bldP spid="54276" grpId="0" autoUpdateAnimBg="0"/>
      <p:bldP spid="5430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reeform 2"/>
          <p:cNvSpPr>
            <a:spLocks/>
          </p:cNvSpPr>
          <p:nvPr/>
        </p:nvSpPr>
        <p:spPr bwMode="auto">
          <a:xfrm>
            <a:off x="3281363" y="2314575"/>
            <a:ext cx="595312" cy="871538"/>
          </a:xfrm>
          <a:custGeom>
            <a:avLst/>
            <a:gdLst>
              <a:gd name="T0" fmla="*/ 2464 w 2464"/>
              <a:gd name="T1" fmla="*/ 0 h 3029"/>
              <a:gd name="T2" fmla="*/ 0 w 2464"/>
              <a:gd name="T3" fmla="*/ 3029 h 3029"/>
              <a:gd name="T4" fmla="*/ 1 w 2464"/>
              <a:gd name="T5" fmla="*/ 3029 h 30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64" h="3029">
                <a:moveTo>
                  <a:pt x="2464" y="0"/>
                </a:moveTo>
                <a:lnTo>
                  <a:pt x="0" y="3029"/>
                </a:lnTo>
                <a:lnTo>
                  <a:pt x="1" y="3029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299" name="Freeform 3"/>
          <p:cNvSpPr>
            <a:spLocks/>
          </p:cNvSpPr>
          <p:nvPr/>
        </p:nvSpPr>
        <p:spPr bwMode="auto">
          <a:xfrm>
            <a:off x="2303463" y="3181350"/>
            <a:ext cx="984250" cy="4763"/>
          </a:xfrm>
          <a:custGeom>
            <a:avLst/>
            <a:gdLst>
              <a:gd name="T0" fmla="*/ 4163 w 4163"/>
              <a:gd name="T1" fmla="*/ 0 w 4163"/>
              <a:gd name="T2" fmla="*/ 1 w 4163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4163">
                <a:moveTo>
                  <a:pt x="4163" y="0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1905000" y="2886075"/>
            <a:ext cx="422275" cy="60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 b="0">
                <a:solidFill>
                  <a:srgbClr val="6E4B8B"/>
                </a:solidFill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2813050" y="3038475"/>
            <a:ext cx="682625" cy="60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 b="0">
                <a:solidFill>
                  <a:srgbClr val="6E4B8B"/>
                </a:solidFill>
                <a:latin typeface="Comic Sans MS" panose="030F0702030302020204" pitchFamily="66" charset="0"/>
              </a:rPr>
              <a:t>Q</a:t>
            </a:r>
          </a:p>
        </p:txBody>
      </p:sp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133350" y="4229100"/>
            <a:ext cx="1905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3000">
                <a:latin typeface="Comic Sans MS" panose="030F0702030302020204" pitchFamily="66" charset="0"/>
              </a:rPr>
              <a:t>Ratio  =</a:t>
            </a:r>
          </a:p>
        </p:txBody>
      </p:sp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1962150" y="3924300"/>
            <a:ext cx="6324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3000">
                <a:latin typeface="Comic Sans MS" panose="030F0702030302020204" pitchFamily="66" charset="0"/>
              </a:rPr>
              <a:t>Distance of a point from focus</a:t>
            </a:r>
          </a:p>
        </p:txBody>
      </p:sp>
      <p:sp>
        <p:nvSpPr>
          <p:cNvPr id="55305" name="Text Box 9"/>
          <p:cNvSpPr txBox="1">
            <a:spLocks noChangeArrowheads="1"/>
          </p:cNvSpPr>
          <p:nvPr/>
        </p:nvSpPr>
        <p:spPr bwMode="auto">
          <a:xfrm>
            <a:off x="1962150" y="4483100"/>
            <a:ext cx="7162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3000">
                <a:latin typeface="Comic Sans MS" panose="030F0702030302020204" pitchFamily="66" charset="0"/>
              </a:rPr>
              <a:t>Distance of a point from directrix</a:t>
            </a:r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1447800" y="5086350"/>
            <a:ext cx="4618038" cy="80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3600">
                <a:latin typeface="Comic Sans MS" panose="030F0702030302020204" pitchFamily="66" charset="0"/>
              </a:rPr>
              <a:t>=  </a:t>
            </a:r>
            <a:r>
              <a:rPr lang="en-US" altLang="en-US" sz="3600">
                <a:solidFill>
                  <a:srgbClr val="CC0000"/>
                </a:solidFill>
                <a:latin typeface="Copperplate Gothic Bold" panose="020E0705020206020404" pitchFamily="34" charset="0"/>
              </a:rPr>
              <a:t>Eccentricity</a:t>
            </a:r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1485900" y="5911850"/>
            <a:ext cx="6019800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3000">
                <a:latin typeface="Comic Sans MS" panose="030F0702030302020204" pitchFamily="66" charset="0"/>
              </a:rPr>
              <a:t>=   PF/PM = QF/QN  = VF/VC =   </a:t>
            </a:r>
            <a:r>
              <a:rPr lang="en-US" altLang="en-US" sz="3600">
                <a:solidFill>
                  <a:srgbClr val="CC0000"/>
                </a:solidFill>
                <a:latin typeface="Swis721 Blk BT" pitchFamily="34" charset="0"/>
              </a:rPr>
              <a:t>e</a:t>
            </a:r>
          </a:p>
        </p:txBody>
      </p:sp>
      <p:sp>
        <p:nvSpPr>
          <p:cNvPr id="55308" name="Line 12"/>
          <p:cNvSpPr>
            <a:spLocks noChangeShapeType="1"/>
          </p:cNvSpPr>
          <p:nvPr/>
        </p:nvSpPr>
        <p:spPr bwMode="auto">
          <a:xfrm>
            <a:off x="2076450" y="4565650"/>
            <a:ext cx="5943600" cy="2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309" name="AutoShape 1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270750" y="6542088"/>
            <a:ext cx="685800" cy="304800"/>
          </a:xfrm>
          <a:prstGeom prst="actionButtonBackPreviou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310" name="Freeform 14"/>
          <p:cNvSpPr>
            <a:spLocks/>
          </p:cNvSpPr>
          <p:nvPr/>
        </p:nvSpPr>
        <p:spPr bwMode="auto">
          <a:xfrm>
            <a:off x="3367088" y="1212850"/>
            <a:ext cx="492125" cy="1130300"/>
          </a:xfrm>
          <a:custGeom>
            <a:avLst/>
            <a:gdLst>
              <a:gd name="T0" fmla="*/ 0 w 2089"/>
              <a:gd name="T1" fmla="*/ 0 h 4176"/>
              <a:gd name="T2" fmla="*/ 2088 w 2089"/>
              <a:gd name="T3" fmla="*/ 4176 h 4176"/>
              <a:gd name="T4" fmla="*/ 2089 w 2089"/>
              <a:gd name="T5" fmla="*/ 4176 h 4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89" h="4176">
                <a:moveTo>
                  <a:pt x="0" y="0"/>
                </a:moveTo>
                <a:lnTo>
                  <a:pt x="2088" y="4176"/>
                </a:lnTo>
                <a:lnTo>
                  <a:pt x="2089" y="4176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311" name="Freeform 15"/>
          <p:cNvSpPr>
            <a:spLocks/>
          </p:cNvSpPr>
          <p:nvPr/>
        </p:nvSpPr>
        <p:spPr bwMode="auto">
          <a:xfrm>
            <a:off x="2293938" y="1212850"/>
            <a:ext cx="1073150" cy="4763"/>
          </a:xfrm>
          <a:custGeom>
            <a:avLst/>
            <a:gdLst>
              <a:gd name="T0" fmla="*/ 0 w 4537"/>
              <a:gd name="T1" fmla="*/ 4536 w 4537"/>
              <a:gd name="T2" fmla="*/ 4537 w 453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4537">
                <a:moveTo>
                  <a:pt x="0" y="0"/>
                </a:moveTo>
                <a:lnTo>
                  <a:pt x="4536" y="0"/>
                </a:lnTo>
                <a:lnTo>
                  <a:pt x="4537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312" name="Text Box 16"/>
          <p:cNvSpPr txBox="1">
            <a:spLocks noChangeArrowheads="1"/>
          </p:cNvSpPr>
          <p:nvPr/>
        </p:nvSpPr>
        <p:spPr bwMode="auto">
          <a:xfrm>
            <a:off x="1778000" y="850900"/>
            <a:ext cx="596900" cy="60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 b="0">
                <a:solidFill>
                  <a:srgbClr val="6E4B8B"/>
                </a:solidFill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55313" name="Text Box 17"/>
          <p:cNvSpPr txBox="1">
            <a:spLocks noChangeArrowheads="1"/>
          </p:cNvSpPr>
          <p:nvPr/>
        </p:nvSpPr>
        <p:spPr bwMode="auto">
          <a:xfrm>
            <a:off x="3390900" y="928688"/>
            <a:ext cx="419100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 b="0">
                <a:solidFill>
                  <a:srgbClr val="6E4B8B"/>
                </a:solidFill>
                <a:latin typeface="Comic Sans MS" panose="030F0702030302020204" pitchFamily="66" charset="0"/>
              </a:rPr>
              <a:t>P</a:t>
            </a:r>
          </a:p>
        </p:txBody>
      </p:sp>
      <p:sp>
        <p:nvSpPr>
          <p:cNvPr id="55314" name="Oval 18"/>
          <p:cNvSpPr>
            <a:spLocks noChangeArrowheads="1"/>
          </p:cNvSpPr>
          <p:nvPr/>
        </p:nvSpPr>
        <p:spPr bwMode="auto">
          <a:xfrm>
            <a:off x="3295650" y="1181100"/>
            <a:ext cx="127000" cy="1333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315" name="Oval 19"/>
          <p:cNvSpPr>
            <a:spLocks noChangeArrowheads="1"/>
          </p:cNvSpPr>
          <p:nvPr/>
        </p:nvSpPr>
        <p:spPr bwMode="auto">
          <a:xfrm>
            <a:off x="3181350" y="3124200"/>
            <a:ext cx="127000" cy="1333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0499" name="Group 20"/>
          <p:cNvGrpSpPr>
            <a:grpSpLocks/>
          </p:cNvGrpSpPr>
          <p:nvPr/>
        </p:nvGrpSpPr>
        <p:grpSpPr bwMode="auto">
          <a:xfrm>
            <a:off x="0" y="533400"/>
            <a:ext cx="8991600" cy="3581400"/>
            <a:chOff x="0" y="336"/>
            <a:chExt cx="5664" cy="2256"/>
          </a:xfrm>
        </p:grpSpPr>
        <p:grpSp>
          <p:nvGrpSpPr>
            <p:cNvPr id="20502" name="Group 21"/>
            <p:cNvGrpSpPr>
              <a:grpSpLocks/>
            </p:cNvGrpSpPr>
            <p:nvPr/>
          </p:nvGrpSpPr>
          <p:grpSpPr bwMode="auto">
            <a:xfrm>
              <a:off x="0" y="336"/>
              <a:ext cx="5664" cy="2256"/>
              <a:chOff x="0" y="336"/>
              <a:chExt cx="5664" cy="2256"/>
            </a:xfrm>
          </p:grpSpPr>
          <p:sp>
            <p:nvSpPr>
              <p:cNvPr id="20506" name="Text Box 22"/>
              <p:cNvSpPr txBox="1">
                <a:spLocks noChangeArrowheads="1"/>
              </p:cNvSpPr>
              <p:nvPr/>
            </p:nvSpPr>
            <p:spPr bwMode="auto">
              <a:xfrm>
                <a:off x="2352" y="1151"/>
                <a:ext cx="344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600" b="0">
                    <a:solidFill>
                      <a:srgbClr val="6E4B8B"/>
                    </a:solidFill>
                    <a:latin typeface="Comic Sans MS" panose="030F0702030302020204" pitchFamily="66" charset="0"/>
                  </a:rPr>
                  <a:t>F</a:t>
                </a:r>
              </a:p>
            </p:txBody>
          </p:sp>
          <p:grpSp>
            <p:nvGrpSpPr>
              <p:cNvPr id="20507" name="Group 23"/>
              <p:cNvGrpSpPr>
                <a:grpSpLocks/>
              </p:cNvGrpSpPr>
              <p:nvPr/>
            </p:nvGrpSpPr>
            <p:grpSpPr bwMode="auto">
              <a:xfrm>
                <a:off x="0" y="336"/>
                <a:ext cx="5664" cy="2256"/>
                <a:chOff x="0" y="336"/>
                <a:chExt cx="5664" cy="2256"/>
              </a:xfrm>
            </p:grpSpPr>
            <p:grpSp>
              <p:nvGrpSpPr>
                <p:cNvPr id="20508" name="Group 24"/>
                <p:cNvGrpSpPr>
                  <a:grpSpLocks/>
                </p:cNvGrpSpPr>
                <p:nvPr/>
              </p:nvGrpSpPr>
              <p:grpSpPr bwMode="auto">
                <a:xfrm>
                  <a:off x="4116" y="572"/>
                  <a:ext cx="1548" cy="880"/>
                  <a:chOff x="3888" y="1968"/>
                  <a:chExt cx="1296" cy="960"/>
                </a:xfrm>
              </p:grpSpPr>
              <p:sp>
                <p:nvSpPr>
                  <p:cNvPr id="55321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88" y="2160"/>
                    <a:ext cx="816" cy="76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just" eaLnBrk="1" hangingPunct="1">
                      <a:lnSpc>
                        <a:spcPct val="130000"/>
                      </a:lnSpc>
                      <a:spcBef>
                        <a:spcPct val="50000"/>
                      </a:spcBef>
                      <a:buFontTx/>
                      <a:buChar char="•"/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0525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56" y="1968"/>
                    <a:ext cx="528" cy="4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lnSpc>
                        <a:spcPct val="130000"/>
                      </a:lnSpc>
                      <a:spcBef>
                        <a:spcPct val="50000"/>
                      </a:spcBef>
                      <a:buFontTx/>
                      <a:buNone/>
                    </a:pPr>
                    <a:r>
                      <a:rPr lang="en-US" altLang="en-US" sz="2600" b="0">
                        <a:solidFill>
                          <a:srgbClr val="6E4B8B"/>
                        </a:solidFill>
                        <a:latin typeface="Comic Sans MS" panose="030F0702030302020204" pitchFamily="66" charset="0"/>
                      </a:rPr>
                      <a:t>Axis</a:t>
                    </a:r>
                  </a:p>
                </p:txBody>
              </p:sp>
            </p:grpSp>
            <p:grpSp>
              <p:nvGrpSpPr>
                <p:cNvPr id="20509" name="Group 27"/>
                <p:cNvGrpSpPr>
                  <a:grpSpLocks/>
                </p:cNvGrpSpPr>
                <p:nvPr/>
              </p:nvGrpSpPr>
              <p:grpSpPr bwMode="auto">
                <a:xfrm>
                  <a:off x="0" y="336"/>
                  <a:ext cx="4768" cy="2256"/>
                  <a:chOff x="0" y="336"/>
                  <a:chExt cx="4768" cy="2256"/>
                </a:xfrm>
              </p:grpSpPr>
              <p:sp>
                <p:nvSpPr>
                  <p:cNvPr id="55324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1448" y="336"/>
                    <a:ext cx="0" cy="225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 eaLnBrk="1" hangingPunct="1">
                      <a:lnSpc>
                        <a:spcPct val="130000"/>
                      </a:lnSpc>
                      <a:spcBef>
                        <a:spcPct val="50000"/>
                      </a:spcBef>
                      <a:buFontTx/>
                      <a:buChar char="•"/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55325" name="Freeform 29"/>
                  <p:cNvSpPr>
                    <a:spLocks/>
                  </p:cNvSpPr>
                  <p:nvPr/>
                </p:nvSpPr>
                <p:spPr bwMode="auto">
                  <a:xfrm rot="189019">
                    <a:off x="1915" y="348"/>
                    <a:ext cx="923" cy="2133"/>
                  </a:xfrm>
                  <a:custGeom>
                    <a:avLst/>
                    <a:gdLst>
                      <a:gd name="T0" fmla="*/ 5408 w 6201"/>
                      <a:gd name="T1" fmla="*/ 0 h 12527"/>
                      <a:gd name="T2" fmla="*/ 4192 w 6201"/>
                      <a:gd name="T3" fmla="*/ 296 h 12527"/>
                      <a:gd name="T4" fmla="*/ 3061 w 6201"/>
                      <a:gd name="T5" fmla="*/ 828 h 12527"/>
                      <a:gd name="T6" fmla="*/ 2056 w 6201"/>
                      <a:gd name="T7" fmla="*/ 1574 h 12527"/>
                      <a:gd name="T8" fmla="*/ 1218 w 6201"/>
                      <a:gd name="T9" fmla="*/ 2504 h 12527"/>
                      <a:gd name="T10" fmla="*/ 581 w 6201"/>
                      <a:gd name="T11" fmla="*/ 3581 h 12527"/>
                      <a:gd name="T12" fmla="*/ 169 w 6201"/>
                      <a:gd name="T13" fmla="*/ 4763 h 12527"/>
                      <a:gd name="T14" fmla="*/ 0 w 6201"/>
                      <a:gd name="T15" fmla="*/ 6004 h 12527"/>
                      <a:gd name="T16" fmla="*/ 79 w 6201"/>
                      <a:gd name="T17" fmla="*/ 7253 h 12527"/>
                      <a:gd name="T18" fmla="*/ 403 w 6201"/>
                      <a:gd name="T19" fmla="*/ 8463 h 12527"/>
                      <a:gd name="T20" fmla="*/ 960 w 6201"/>
                      <a:gd name="T21" fmla="*/ 9584 h 12527"/>
                      <a:gd name="T22" fmla="*/ 1728 w 6201"/>
                      <a:gd name="T23" fmla="*/ 10573 h 12527"/>
                      <a:gd name="T24" fmla="*/ 2676 w 6201"/>
                      <a:gd name="T25" fmla="*/ 11389 h 12527"/>
                      <a:gd name="T26" fmla="*/ 3766 w 6201"/>
                      <a:gd name="T27" fmla="*/ 12002 h 12527"/>
                      <a:gd name="T28" fmla="*/ 4956 w 6201"/>
                      <a:gd name="T29" fmla="*/ 12386 h 12527"/>
                      <a:gd name="T30" fmla="*/ 6200 w 6201"/>
                      <a:gd name="T31" fmla="*/ 12527 h 12527"/>
                      <a:gd name="T32" fmla="*/ 6201 w 6201"/>
                      <a:gd name="T33" fmla="*/ 12527 h 125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201" h="12527">
                        <a:moveTo>
                          <a:pt x="5408" y="0"/>
                        </a:moveTo>
                        <a:lnTo>
                          <a:pt x="4192" y="296"/>
                        </a:lnTo>
                        <a:lnTo>
                          <a:pt x="3061" y="828"/>
                        </a:lnTo>
                        <a:lnTo>
                          <a:pt x="2056" y="1574"/>
                        </a:lnTo>
                        <a:lnTo>
                          <a:pt x="1218" y="2504"/>
                        </a:lnTo>
                        <a:lnTo>
                          <a:pt x="581" y="3581"/>
                        </a:lnTo>
                        <a:lnTo>
                          <a:pt x="169" y="4763"/>
                        </a:lnTo>
                        <a:lnTo>
                          <a:pt x="0" y="6004"/>
                        </a:lnTo>
                        <a:lnTo>
                          <a:pt x="79" y="7253"/>
                        </a:lnTo>
                        <a:lnTo>
                          <a:pt x="403" y="8463"/>
                        </a:lnTo>
                        <a:lnTo>
                          <a:pt x="960" y="9584"/>
                        </a:lnTo>
                        <a:lnTo>
                          <a:pt x="1728" y="10573"/>
                        </a:lnTo>
                        <a:lnTo>
                          <a:pt x="2676" y="11389"/>
                        </a:lnTo>
                        <a:lnTo>
                          <a:pt x="3766" y="12002"/>
                        </a:lnTo>
                        <a:lnTo>
                          <a:pt x="4956" y="12386"/>
                        </a:lnTo>
                        <a:lnTo>
                          <a:pt x="6200" y="12527"/>
                        </a:lnTo>
                        <a:lnTo>
                          <a:pt x="6201" y="12527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algn="just" eaLnBrk="1" hangingPunct="1">
                      <a:lnSpc>
                        <a:spcPct val="130000"/>
                      </a:lnSpc>
                      <a:spcBef>
                        <a:spcPct val="50000"/>
                      </a:spcBef>
                      <a:buFontTx/>
                      <a:buChar char="•"/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55326" name="Freeform 30"/>
                  <p:cNvSpPr>
                    <a:spLocks/>
                  </p:cNvSpPr>
                  <p:nvPr/>
                </p:nvSpPr>
                <p:spPr bwMode="auto">
                  <a:xfrm>
                    <a:off x="1442" y="1471"/>
                    <a:ext cx="2810" cy="1"/>
                  </a:xfrm>
                  <a:custGeom>
                    <a:avLst/>
                    <a:gdLst>
                      <a:gd name="T0" fmla="*/ 0 w 18886"/>
                      <a:gd name="T1" fmla="*/ 18885 w 18886"/>
                      <a:gd name="T2" fmla="*/ 18886 w 18886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18886">
                        <a:moveTo>
                          <a:pt x="0" y="0"/>
                        </a:moveTo>
                        <a:lnTo>
                          <a:pt x="18885" y="0"/>
                        </a:lnTo>
                        <a:lnTo>
                          <a:pt x="18886" y="0"/>
                        </a:ln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algn="just" eaLnBrk="1" hangingPunct="1">
                      <a:lnSpc>
                        <a:spcPct val="130000"/>
                      </a:lnSpc>
                      <a:spcBef>
                        <a:spcPct val="50000"/>
                      </a:spcBef>
                      <a:buFontTx/>
                      <a:buChar char="•"/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0516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52" y="1272"/>
                    <a:ext cx="392" cy="38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lnSpc>
                        <a:spcPct val="130000"/>
                      </a:lnSpc>
                      <a:spcBef>
                        <a:spcPct val="50000"/>
                      </a:spcBef>
                      <a:buFontTx/>
                      <a:buNone/>
                    </a:pPr>
                    <a:r>
                      <a:rPr lang="en-US" altLang="en-US" sz="2600" b="0">
                        <a:solidFill>
                          <a:srgbClr val="6E4B8B"/>
                        </a:solidFill>
                        <a:latin typeface="Comic Sans MS" panose="030F0702030302020204" pitchFamily="66" charset="0"/>
                      </a:rPr>
                      <a:t>C</a:t>
                    </a:r>
                  </a:p>
                </p:txBody>
              </p:sp>
              <p:sp>
                <p:nvSpPr>
                  <p:cNvPr id="20517" name="Text Box 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92" y="1399"/>
                    <a:ext cx="264" cy="38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r" eaLnBrk="1" hangingPunct="1">
                      <a:lnSpc>
                        <a:spcPct val="130000"/>
                      </a:lnSpc>
                      <a:spcBef>
                        <a:spcPct val="50000"/>
                      </a:spcBef>
                      <a:buFontTx/>
                      <a:buNone/>
                    </a:pPr>
                    <a:r>
                      <a:rPr lang="en-US" altLang="en-US" sz="2600" b="0">
                        <a:solidFill>
                          <a:srgbClr val="6E4B8B"/>
                        </a:solidFill>
                        <a:latin typeface="Comic Sans MS" panose="030F0702030302020204" pitchFamily="66" charset="0"/>
                      </a:rPr>
                      <a:t>V</a:t>
                    </a:r>
                  </a:p>
                </p:txBody>
              </p:sp>
              <p:sp>
                <p:nvSpPr>
                  <p:cNvPr id="20518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27" y="1580"/>
                    <a:ext cx="781" cy="40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lnSpc>
                        <a:spcPct val="130000"/>
                      </a:lnSpc>
                      <a:spcBef>
                        <a:spcPct val="50000"/>
                      </a:spcBef>
                      <a:buFontTx/>
                      <a:buNone/>
                    </a:pPr>
                    <a:r>
                      <a:rPr lang="en-US" altLang="en-US" sz="2800" b="0">
                        <a:solidFill>
                          <a:srgbClr val="6E4B8B"/>
                        </a:solidFill>
                        <a:latin typeface="Comic Sans MS" panose="030F0702030302020204" pitchFamily="66" charset="0"/>
                      </a:rPr>
                      <a:t>Focus</a:t>
                    </a:r>
                  </a:p>
                </p:txBody>
              </p:sp>
              <p:sp>
                <p:nvSpPr>
                  <p:cNvPr id="55330" name="Line 3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472" y="1492"/>
                    <a:ext cx="497" cy="22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just" eaLnBrk="1" hangingPunct="1">
                      <a:lnSpc>
                        <a:spcPct val="130000"/>
                      </a:lnSpc>
                      <a:spcBef>
                        <a:spcPct val="50000"/>
                      </a:spcBef>
                      <a:buFontTx/>
                      <a:buChar char="•"/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0520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28" y="336"/>
                    <a:ext cx="1440" cy="40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lnSpc>
                        <a:spcPct val="130000"/>
                      </a:lnSpc>
                      <a:spcBef>
                        <a:spcPct val="50000"/>
                      </a:spcBef>
                      <a:buFontTx/>
                      <a:buNone/>
                    </a:pPr>
                    <a:r>
                      <a:rPr lang="en-US" altLang="en-US" sz="2800" b="0">
                        <a:solidFill>
                          <a:srgbClr val="6E4B8B"/>
                        </a:solidFill>
                        <a:latin typeface="Comic Sans MS" panose="030F0702030302020204" pitchFamily="66" charset="0"/>
                      </a:rPr>
                      <a:t>Conic Curve</a:t>
                    </a:r>
                  </a:p>
                </p:txBody>
              </p:sp>
              <p:sp>
                <p:nvSpPr>
                  <p:cNvPr id="55332" name="Line 3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752" y="380"/>
                    <a:ext cx="720" cy="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just" eaLnBrk="1" hangingPunct="1">
                      <a:lnSpc>
                        <a:spcPct val="130000"/>
                      </a:lnSpc>
                      <a:spcBef>
                        <a:spcPct val="50000"/>
                      </a:spcBef>
                      <a:buFontTx/>
                      <a:buChar char="•"/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20522" name="Text Box 3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720"/>
                    <a:ext cx="1248" cy="40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lnSpc>
                        <a:spcPct val="130000"/>
                      </a:lnSpc>
                      <a:spcBef>
                        <a:spcPct val="50000"/>
                      </a:spcBef>
                      <a:buFontTx/>
                      <a:buNone/>
                    </a:pPr>
                    <a:r>
                      <a:rPr lang="en-US" altLang="en-US" sz="2800" b="0">
                        <a:solidFill>
                          <a:srgbClr val="6E4B8B"/>
                        </a:solidFill>
                        <a:latin typeface="Comic Sans MS" panose="030F0702030302020204" pitchFamily="66" charset="0"/>
                      </a:rPr>
                      <a:t>Directrix</a:t>
                    </a:r>
                  </a:p>
                </p:txBody>
              </p:sp>
              <p:sp>
                <p:nvSpPr>
                  <p:cNvPr id="55334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1095" y="964"/>
                    <a:ext cx="35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just" eaLnBrk="1" hangingPunct="1">
                      <a:lnSpc>
                        <a:spcPct val="130000"/>
                      </a:lnSpc>
                      <a:spcBef>
                        <a:spcPct val="50000"/>
                      </a:spcBef>
                      <a:buFontTx/>
                      <a:buChar char="•"/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20510" name="Group 39"/>
                <p:cNvGrpSpPr>
                  <a:grpSpLocks/>
                </p:cNvGrpSpPr>
                <p:nvPr/>
              </p:nvGrpSpPr>
              <p:grpSpPr bwMode="auto">
                <a:xfrm>
                  <a:off x="336" y="1488"/>
                  <a:ext cx="1536" cy="528"/>
                  <a:chOff x="336" y="2640"/>
                  <a:chExt cx="1536" cy="528"/>
                </a:xfrm>
              </p:grpSpPr>
              <p:sp>
                <p:nvSpPr>
                  <p:cNvPr id="20511" name="Text Box 4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6" y="2785"/>
                    <a:ext cx="1156" cy="38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lnSpc>
                        <a:spcPct val="130000"/>
                      </a:lnSpc>
                      <a:spcBef>
                        <a:spcPct val="50000"/>
                      </a:spcBef>
                      <a:buFontTx/>
                      <a:buNone/>
                    </a:pPr>
                    <a:r>
                      <a:rPr lang="en-US" altLang="en-US" sz="2600" b="0">
                        <a:solidFill>
                          <a:srgbClr val="6E4B8B"/>
                        </a:solidFill>
                        <a:latin typeface="Comic Sans MS" panose="030F0702030302020204" pitchFamily="66" charset="0"/>
                      </a:rPr>
                      <a:t>Vertex</a:t>
                    </a:r>
                  </a:p>
                </p:txBody>
              </p:sp>
              <p:sp>
                <p:nvSpPr>
                  <p:cNvPr id="55337" name="Line 4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96" y="2640"/>
                    <a:ext cx="576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lg"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 eaLnBrk="1" hangingPunct="1">
                      <a:lnSpc>
                        <a:spcPct val="130000"/>
                      </a:lnSpc>
                      <a:spcBef>
                        <a:spcPct val="50000"/>
                      </a:spcBef>
                      <a:buFontTx/>
                      <a:buChar char="•"/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</p:grpSp>
        </p:grpSp>
        <p:sp>
          <p:nvSpPr>
            <p:cNvPr id="55338" name="Oval 42"/>
            <p:cNvSpPr>
              <a:spLocks noChangeArrowheads="1"/>
            </p:cNvSpPr>
            <p:nvPr/>
          </p:nvSpPr>
          <p:spPr bwMode="auto">
            <a:xfrm>
              <a:off x="2388" y="1428"/>
              <a:ext cx="80" cy="8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339" name="Oval 43"/>
            <p:cNvSpPr>
              <a:spLocks noChangeArrowheads="1"/>
            </p:cNvSpPr>
            <p:nvPr/>
          </p:nvSpPr>
          <p:spPr bwMode="auto">
            <a:xfrm>
              <a:off x="1872" y="1440"/>
              <a:ext cx="80" cy="8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340" name="Oval 44"/>
            <p:cNvSpPr>
              <a:spLocks noChangeArrowheads="1"/>
            </p:cNvSpPr>
            <p:nvPr/>
          </p:nvSpPr>
          <p:spPr bwMode="auto">
            <a:xfrm>
              <a:off x="1416" y="1428"/>
              <a:ext cx="80" cy="8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5341" name="Oval 45"/>
          <p:cNvSpPr>
            <a:spLocks noChangeArrowheads="1"/>
          </p:cNvSpPr>
          <p:nvPr/>
        </p:nvSpPr>
        <p:spPr bwMode="auto">
          <a:xfrm>
            <a:off x="2247900" y="1143000"/>
            <a:ext cx="127000" cy="1333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342" name="Oval 46"/>
          <p:cNvSpPr>
            <a:spLocks noChangeArrowheads="1"/>
          </p:cNvSpPr>
          <p:nvPr/>
        </p:nvSpPr>
        <p:spPr bwMode="auto">
          <a:xfrm>
            <a:off x="2247900" y="3124200"/>
            <a:ext cx="127000" cy="1333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5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5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5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5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0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 autoUpdateAnimBg="0"/>
      <p:bldP spid="55301" grpId="0" autoUpdateAnimBg="0"/>
      <p:bldP spid="55303" grpId="0" autoUpdateAnimBg="0"/>
      <p:bldP spid="55304" grpId="0" autoUpdateAnimBg="0"/>
      <p:bldP spid="55305" grpId="0" autoUpdateAnimBg="0"/>
      <p:bldP spid="55306" grpId="0" autoUpdateAnimBg="0"/>
      <p:bldP spid="55307" grpId="0" autoUpdateAnimBg="0"/>
      <p:bldP spid="55309" grpId="0" animBg="1"/>
      <p:bldP spid="55312" grpId="0" autoUpdateAnimBg="0"/>
      <p:bldP spid="55313" grpId="0" build="p" autoUpdateAnimBg="0"/>
      <p:bldP spid="55314" grpId="0" animBg="1"/>
      <p:bldP spid="55315" grpId="0" animBg="1"/>
      <p:bldP spid="55341" grpId="0" animBg="1"/>
      <p:bldP spid="553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-342900" y="4025900"/>
            <a:ext cx="3033713" cy="647700"/>
            <a:chOff x="-204" y="2364"/>
            <a:chExt cx="1911" cy="408"/>
          </a:xfrm>
        </p:grpSpPr>
        <p:sp>
          <p:nvSpPr>
            <p:cNvPr id="21547" name="Text Box 3"/>
            <p:cNvSpPr txBox="1">
              <a:spLocks noChangeArrowheads="1"/>
            </p:cNvSpPr>
            <p:nvPr/>
          </p:nvSpPr>
          <p:spPr bwMode="auto">
            <a:xfrm>
              <a:off x="-204" y="2364"/>
              <a:ext cx="1182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solidFill>
                    <a:srgbClr val="666699"/>
                  </a:solidFill>
                  <a:latin typeface="Comic Sans MS" panose="030F0702030302020204" pitchFamily="66" charset="0"/>
                </a:rPr>
                <a:t>Vertex</a:t>
              </a:r>
            </a:p>
          </p:txBody>
        </p:sp>
        <p:sp>
          <p:nvSpPr>
            <p:cNvPr id="60420" name="Line 4"/>
            <p:cNvSpPr>
              <a:spLocks noChangeShapeType="1"/>
            </p:cNvSpPr>
            <p:nvPr/>
          </p:nvSpPr>
          <p:spPr bwMode="auto">
            <a:xfrm>
              <a:off x="817" y="2649"/>
              <a:ext cx="890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90488" y="542925"/>
            <a:ext cx="8915400" cy="2147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3000">
                <a:latin typeface="Comic Sans MS" panose="030F0702030302020204" pitchFamily="66" charset="0"/>
              </a:rPr>
              <a:t>Ellipse is the locus of a point which moves in a  plane so that the ratio of its distance from a </a:t>
            </a:r>
            <a:r>
              <a:rPr lang="en-US" altLang="en-US" sz="3000">
                <a:solidFill>
                  <a:srgbClr val="0000FF"/>
                </a:solidFill>
                <a:latin typeface="Comic Sans MS" panose="030F0702030302020204" pitchFamily="66" charset="0"/>
              </a:rPr>
              <a:t>fixed point (focus)</a:t>
            </a:r>
            <a:r>
              <a:rPr lang="en-US" altLang="en-US" sz="3000">
                <a:latin typeface="Comic Sans MS" panose="030F0702030302020204" pitchFamily="66" charset="0"/>
              </a:rPr>
              <a:t> and a </a:t>
            </a:r>
            <a:r>
              <a:rPr lang="en-US" altLang="en-US" sz="3000">
                <a:solidFill>
                  <a:srgbClr val="0000FF"/>
                </a:solidFill>
                <a:latin typeface="Comic Sans MS" panose="030F0702030302020204" pitchFamily="66" charset="0"/>
              </a:rPr>
              <a:t>fixed straight line (Directrix)</a:t>
            </a:r>
            <a:r>
              <a:rPr lang="en-US" altLang="en-US" sz="3000">
                <a:latin typeface="Comic Sans MS" panose="030F0702030302020204" pitchFamily="66" charset="0"/>
              </a:rPr>
              <a:t> is a constant and </a:t>
            </a:r>
            <a:r>
              <a:rPr lang="en-US" altLang="en-US" sz="3000">
                <a:solidFill>
                  <a:schemeClr val="accent2"/>
                </a:solidFill>
                <a:latin typeface="Comic Sans MS" panose="030F0702030302020204" pitchFamily="66" charset="0"/>
              </a:rPr>
              <a:t>less than one. </a:t>
            </a: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3290888" y="30163"/>
            <a:ext cx="2590800" cy="579437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FFFF00"/>
                </a:solidFill>
                <a:latin typeface="Comic Sans MS" panose="030F0702030302020204" pitchFamily="66" charset="0"/>
              </a:rPr>
              <a:t>ELLIPSE</a:t>
            </a:r>
          </a:p>
        </p:txBody>
      </p:sp>
      <p:sp>
        <p:nvSpPr>
          <p:cNvPr id="60423" name="Freeform 7"/>
          <p:cNvSpPr>
            <a:spLocks/>
          </p:cNvSpPr>
          <p:nvPr/>
        </p:nvSpPr>
        <p:spPr bwMode="auto">
          <a:xfrm>
            <a:off x="3032125" y="3527425"/>
            <a:ext cx="466725" cy="1098550"/>
          </a:xfrm>
          <a:custGeom>
            <a:avLst/>
            <a:gdLst>
              <a:gd name="T0" fmla="*/ 0 w 2089"/>
              <a:gd name="T1" fmla="*/ 0 h 4176"/>
              <a:gd name="T2" fmla="*/ 2088 w 2089"/>
              <a:gd name="T3" fmla="*/ 4176 h 4176"/>
              <a:gd name="T4" fmla="*/ 2089 w 2089"/>
              <a:gd name="T5" fmla="*/ 4176 h 4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89" h="4176">
                <a:moveTo>
                  <a:pt x="0" y="0"/>
                </a:moveTo>
                <a:lnTo>
                  <a:pt x="2088" y="4176"/>
                </a:lnTo>
                <a:lnTo>
                  <a:pt x="2089" y="4176"/>
                </a:lnTo>
              </a:path>
            </a:pathLst>
          </a:custGeom>
          <a:noFill/>
          <a:ln w="28575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24" name="Freeform 8"/>
          <p:cNvSpPr>
            <a:spLocks/>
          </p:cNvSpPr>
          <p:nvPr/>
        </p:nvSpPr>
        <p:spPr bwMode="auto">
          <a:xfrm>
            <a:off x="1958975" y="3521075"/>
            <a:ext cx="1073150" cy="4763"/>
          </a:xfrm>
          <a:custGeom>
            <a:avLst/>
            <a:gdLst>
              <a:gd name="T0" fmla="*/ 0 w 4537"/>
              <a:gd name="T1" fmla="*/ 4536 w 4537"/>
              <a:gd name="T2" fmla="*/ 4537 w 4537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4537">
                <a:moveTo>
                  <a:pt x="0" y="0"/>
                </a:moveTo>
                <a:lnTo>
                  <a:pt x="4536" y="0"/>
                </a:lnTo>
                <a:lnTo>
                  <a:pt x="4537" y="0"/>
                </a:lnTo>
              </a:path>
            </a:pathLst>
          </a:custGeom>
          <a:noFill/>
          <a:ln w="28575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25" name="Freeform 9"/>
          <p:cNvSpPr>
            <a:spLocks/>
          </p:cNvSpPr>
          <p:nvPr/>
        </p:nvSpPr>
        <p:spPr bwMode="auto">
          <a:xfrm>
            <a:off x="2941638" y="4618038"/>
            <a:ext cx="550862" cy="871537"/>
          </a:xfrm>
          <a:custGeom>
            <a:avLst/>
            <a:gdLst>
              <a:gd name="T0" fmla="*/ 2464 w 2464"/>
              <a:gd name="T1" fmla="*/ 0 h 3029"/>
              <a:gd name="T2" fmla="*/ 0 w 2464"/>
              <a:gd name="T3" fmla="*/ 3029 h 3029"/>
              <a:gd name="T4" fmla="*/ 1 w 2464"/>
              <a:gd name="T5" fmla="*/ 3029 h 30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64" h="3029">
                <a:moveTo>
                  <a:pt x="2464" y="0"/>
                </a:moveTo>
                <a:lnTo>
                  <a:pt x="0" y="3029"/>
                </a:lnTo>
                <a:lnTo>
                  <a:pt x="1" y="3029"/>
                </a:lnTo>
              </a:path>
            </a:pathLst>
          </a:custGeom>
          <a:noFill/>
          <a:ln w="28575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26" name="Freeform 10"/>
          <p:cNvSpPr>
            <a:spLocks/>
          </p:cNvSpPr>
          <p:nvPr/>
        </p:nvSpPr>
        <p:spPr bwMode="auto">
          <a:xfrm>
            <a:off x="1981200" y="5486400"/>
            <a:ext cx="984250" cy="4763"/>
          </a:xfrm>
          <a:custGeom>
            <a:avLst/>
            <a:gdLst>
              <a:gd name="T0" fmla="*/ 4163 w 4163"/>
              <a:gd name="T1" fmla="*/ 0 w 4163"/>
              <a:gd name="T2" fmla="*/ 1 w 4163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4163">
                <a:moveTo>
                  <a:pt x="4163" y="0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28575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27" name="Text Box 11"/>
          <p:cNvSpPr txBox="1">
            <a:spLocks noChangeArrowheads="1"/>
          </p:cNvSpPr>
          <p:nvPr/>
        </p:nvSpPr>
        <p:spPr bwMode="auto">
          <a:xfrm>
            <a:off x="1524000" y="3171825"/>
            <a:ext cx="279400" cy="60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>
                <a:solidFill>
                  <a:srgbClr val="6E4B8B"/>
                </a:solidFill>
                <a:latin typeface="Comic Sans MS" panose="030F0702030302020204" pitchFamily="66" charset="0"/>
              </a:rPr>
              <a:t>M</a:t>
            </a:r>
          </a:p>
        </p:txBody>
      </p:sp>
      <p:sp>
        <p:nvSpPr>
          <p:cNvPr id="60428" name="Text Box 12"/>
          <p:cNvSpPr txBox="1">
            <a:spLocks noChangeArrowheads="1"/>
          </p:cNvSpPr>
          <p:nvPr/>
        </p:nvSpPr>
        <p:spPr bwMode="auto">
          <a:xfrm>
            <a:off x="1524000" y="5176838"/>
            <a:ext cx="279400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>
                <a:solidFill>
                  <a:srgbClr val="6E4B8B"/>
                </a:solidFill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60429" name="Text Box 13"/>
          <p:cNvSpPr txBox="1">
            <a:spLocks noChangeArrowheads="1"/>
          </p:cNvSpPr>
          <p:nvPr/>
        </p:nvSpPr>
        <p:spPr bwMode="auto">
          <a:xfrm>
            <a:off x="2617788" y="5353050"/>
            <a:ext cx="419100" cy="60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>
                <a:solidFill>
                  <a:srgbClr val="6E4B8B"/>
                </a:solidFill>
                <a:latin typeface="Comic Sans MS" panose="030F0702030302020204" pitchFamily="66" charset="0"/>
              </a:rPr>
              <a:t>Q</a:t>
            </a:r>
          </a:p>
        </p:txBody>
      </p:sp>
      <p:sp>
        <p:nvSpPr>
          <p:cNvPr id="60430" name="Text Box 14"/>
          <p:cNvSpPr txBox="1">
            <a:spLocks noChangeArrowheads="1"/>
          </p:cNvSpPr>
          <p:nvPr/>
        </p:nvSpPr>
        <p:spPr bwMode="auto">
          <a:xfrm>
            <a:off x="2886075" y="2971800"/>
            <a:ext cx="419100" cy="60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>
                <a:solidFill>
                  <a:srgbClr val="6E4B8B"/>
                </a:solidFill>
                <a:latin typeface="Comic Sans MS" panose="030F0702030302020204" pitchFamily="66" charset="0"/>
              </a:rPr>
              <a:t>P</a:t>
            </a:r>
          </a:p>
        </p:txBody>
      </p:sp>
      <p:sp>
        <p:nvSpPr>
          <p:cNvPr id="60431" name="Freeform 15"/>
          <p:cNvSpPr>
            <a:spLocks/>
          </p:cNvSpPr>
          <p:nvPr/>
        </p:nvSpPr>
        <p:spPr bwMode="auto">
          <a:xfrm>
            <a:off x="1966913" y="2838450"/>
            <a:ext cx="0" cy="3562350"/>
          </a:xfrm>
          <a:custGeom>
            <a:avLst/>
            <a:gdLst>
              <a:gd name="T0" fmla="*/ 0 w 1"/>
              <a:gd name="T1" fmla="*/ 0 h 13175"/>
              <a:gd name="T2" fmla="*/ 0 w 1"/>
              <a:gd name="T3" fmla="*/ 13175 h 13175"/>
              <a:gd name="T4" fmla="*/ 1 w 1"/>
              <a:gd name="T5" fmla="*/ 13175 h 13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3175">
                <a:moveTo>
                  <a:pt x="0" y="0"/>
                </a:moveTo>
                <a:lnTo>
                  <a:pt x="0" y="13175"/>
                </a:lnTo>
                <a:lnTo>
                  <a:pt x="1" y="13175"/>
                </a:lnTo>
              </a:path>
            </a:pathLst>
          </a:custGeom>
          <a:noFill/>
          <a:ln w="38100" cmpd="sng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32" name="Freeform 16"/>
          <p:cNvSpPr>
            <a:spLocks/>
          </p:cNvSpPr>
          <p:nvPr/>
        </p:nvSpPr>
        <p:spPr bwMode="auto">
          <a:xfrm>
            <a:off x="1966913" y="4621213"/>
            <a:ext cx="4460875" cy="1587"/>
          </a:xfrm>
          <a:custGeom>
            <a:avLst/>
            <a:gdLst>
              <a:gd name="T0" fmla="*/ 0 w 18886"/>
              <a:gd name="T1" fmla="*/ 18885 w 18886"/>
              <a:gd name="T2" fmla="*/ 18886 w 18886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8886">
                <a:moveTo>
                  <a:pt x="0" y="0"/>
                </a:moveTo>
                <a:lnTo>
                  <a:pt x="18885" y="0"/>
                </a:lnTo>
                <a:lnTo>
                  <a:pt x="18886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33" name="Freeform 17"/>
          <p:cNvSpPr>
            <a:spLocks/>
          </p:cNvSpPr>
          <p:nvPr/>
        </p:nvSpPr>
        <p:spPr bwMode="auto">
          <a:xfrm rot="189019">
            <a:off x="2717800" y="2838450"/>
            <a:ext cx="1465263" cy="3386138"/>
          </a:xfrm>
          <a:custGeom>
            <a:avLst/>
            <a:gdLst>
              <a:gd name="T0" fmla="*/ 5408 w 6201"/>
              <a:gd name="T1" fmla="*/ 0 h 12527"/>
              <a:gd name="T2" fmla="*/ 4192 w 6201"/>
              <a:gd name="T3" fmla="*/ 296 h 12527"/>
              <a:gd name="T4" fmla="*/ 3061 w 6201"/>
              <a:gd name="T5" fmla="*/ 828 h 12527"/>
              <a:gd name="T6" fmla="*/ 2056 w 6201"/>
              <a:gd name="T7" fmla="*/ 1574 h 12527"/>
              <a:gd name="T8" fmla="*/ 1218 w 6201"/>
              <a:gd name="T9" fmla="*/ 2504 h 12527"/>
              <a:gd name="T10" fmla="*/ 581 w 6201"/>
              <a:gd name="T11" fmla="*/ 3581 h 12527"/>
              <a:gd name="T12" fmla="*/ 169 w 6201"/>
              <a:gd name="T13" fmla="*/ 4763 h 12527"/>
              <a:gd name="T14" fmla="*/ 0 w 6201"/>
              <a:gd name="T15" fmla="*/ 6004 h 12527"/>
              <a:gd name="T16" fmla="*/ 79 w 6201"/>
              <a:gd name="T17" fmla="*/ 7253 h 12527"/>
              <a:gd name="T18" fmla="*/ 403 w 6201"/>
              <a:gd name="T19" fmla="*/ 8463 h 12527"/>
              <a:gd name="T20" fmla="*/ 960 w 6201"/>
              <a:gd name="T21" fmla="*/ 9584 h 12527"/>
              <a:gd name="T22" fmla="*/ 1728 w 6201"/>
              <a:gd name="T23" fmla="*/ 10573 h 12527"/>
              <a:gd name="T24" fmla="*/ 2676 w 6201"/>
              <a:gd name="T25" fmla="*/ 11389 h 12527"/>
              <a:gd name="T26" fmla="*/ 3766 w 6201"/>
              <a:gd name="T27" fmla="*/ 12002 h 12527"/>
              <a:gd name="T28" fmla="*/ 4956 w 6201"/>
              <a:gd name="T29" fmla="*/ 12386 h 12527"/>
              <a:gd name="T30" fmla="*/ 6200 w 6201"/>
              <a:gd name="T31" fmla="*/ 12527 h 12527"/>
              <a:gd name="T32" fmla="*/ 6201 w 6201"/>
              <a:gd name="T33" fmla="*/ 12527 h 12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201" h="12527">
                <a:moveTo>
                  <a:pt x="5408" y="0"/>
                </a:moveTo>
                <a:lnTo>
                  <a:pt x="4192" y="296"/>
                </a:lnTo>
                <a:lnTo>
                  <a:pt x="3061" y="828"/>
                </a:lnTo>
                <a:lnTo>
                  <a:pt x="2056" y="1574"/>
                </a:lnTo>
                <a:lnTo>
                  <a:pt x="1218" y="2504"/>
                </a:lnTo>
                <a:lnTo>
                  <a:pt x="581" y="3581"/>
                </a:lnTo>
                <a:lnTo>
                  <a:pt x="169" y="4763"/>
                </a:lnTo>
                <a:lnTo>
                  <a:pt x="0" y="6004"/>
                </a:lnTo>
                <a:lnTo>
                  <a:pt x="79" y="7253"/>
                </a:lnTo>
                <a:lnTo>
                  <a:pt x="403" y="8463"/>
                </a:lnTo>
                <a:lnTo>
                  <a:pt x="960" y="9584"/>
                </a:lnTo>
                <a:lnTo>
                  <a:pt x="1728" y="10573"/>
                </a:lnTo>
                <a:lnTo>
                  <a:pt x="2676" y="11389"/>
                </a:lnTo>
                <a:lnTo>
                  <a:pt x="3766" y="12002"/>
                </a:lnTo>
                <a:lnTo>
                  <a:pt x="4956" y="12386"/>
                </a:lnTo>
                <a:lnTo>
                  <a:pt x="6200" y="12527"/>
                </a:lnTo>
                <a:lnTo>
                  <a:pt x="6201" y="12527"/>
                </a:lnTo>
              </a:path>
            </a:pathLst>
          </a:custGeom>
          <a:noFill/>
          <a:ln w="38100" cmpd="sng">
            <a:solidFill>
              <a:srgbClr val="CC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520" name="Text Box 18"/>
          <p:cNvSpPr txBox="1">
            <a:spLocks noChangeArrowheads="1"/>
          </p:cNvSpPr>
          <p:nvPr/>
        </p:nvSpPr>
        <p:spPr bwMode="auto">
          <a:xfrm>
            <a:off x="1563688" y="4349750"/>
            <a:ext cx="279400" cy="60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>
                <a:solidFill>
                  <a:srgbClr val="6E4B8B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21521" name="Text Box 19"/>
          <p:cNvSpPr txBox="1">
            <a:spLocks noChangeArrowheads="1"/>
          </p:cNvSpPr>
          <p:nvPr/>
        </p:nvSpPr>
        <p:spPr bwMode="auto">
          <a:xfrm>
            <a:off x="3422650" y="4119563"/>
            <a:ext cx="279400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>
                <a:solidFill>
                  <a:srgbClr val="FF0000"/>
                </a:solidFill>
                <a:latin typeface="Comic Sans MS" panose="030F0702030302020204" pitchFamily="66" charset="0"/>
              </a:rPr>
              <a:t>F</a:t>
            </a:r>
          </a:p>
        </p:txBody>
      </p:sp>
      <p:sp>
        <p:nvSpPr>
          <p:cNvPr id="21522" name="Text Box 20"/>
          <p:cNvSpPr txBox="1">
            <a:spLocks noChangeArrowheads="1"/>
          </p:cNvSpPr>
          <p:nvPr/>
        </p:nvSpPr>
        <p:spPr bwMode="auto">
          <a:xfrm>
            <a:off x="2662238" y="4462463"/>
            <a:ext cx="419100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>
                <a:solidFill>
                  <a:srgbClr val="6E4B8B"/>
                </a:solidFill>
                <a:latin typeface="Comic Sans MS" panose="030F0702030302020204" pitchFamily="66" charset="0"/>
              </a:rPr>
              <a:t>V</a:t>
            </a:r>
          </a:p>
        </p:txBody>
      </p:sp>
      <p:grpSp>
        <p:nvGrpSpPr>
          <p:cNvPr id="21523" name="Group 21"/>
          <p:cNvGrpSpPr>
            <a:grpSpLocks/>
          </p:cNvGrpSpPr>
          <p:nvPr/>
        </p:nvGrpSpPr>
        <p:grpSpPr bwMode="auto">
          <a:xfrm>
            <a:off x="5229225" y="3187700"/>
            <a:ext cx="2466975" cy="1397000"/>
            <a:chOff x="3888" y="1968"/>
            <a:chExt cx="1296" cy="960"/>
          </a:xfrm>
        </p:grpSpPr>
        <p:sp>
          <p:nvSpPr>
            <p:cNvPr id="60438" name="Line 22"/>
            <p:cNvSpPr>
              <a:spLocks noChangeShapeType="1"/>
            </p:cNvSpPr>
            <p:nvPr/>
          </p:nvSpPr>
          <p:spPr bwMode="auto">
            <a:xfrm flipH="1">
              <a:off x="3888" y="2160"/>
              <a:ext cx="81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546" name="Text Box 23"/>
            <p:cNvSpPr txBox="1">
              <a:spLocks noChangeArrowheads="1"/>
            </p:cNvSpPr>
            <p:nvPr/>
          </p:nvSpPr>
          <p:spPr bwMode="auto">
            <a:xfrm>
              <a:off x="4656" y="1968"/>
              <a:ext cx="528" cy="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solidFill>
                    <a:srgbClr val="666699"/>
                  </a:solidFill>
                  <a:latin typeface="Comic Sans MS" panose="030F0702030302020204" pitchFamily="66" charset="0"/>
                </a:rPr>
                <a:t>Axis</a:t>
              </a:r>
            </a:p>
          </p:txBody>
        </p:sp>
      </p:grpSp>
      <p:grpSp>
        <p:nvGrpSpPr>
          <p:cNvPr id="21524" name="Group 24"/>
          <p:cNvGrpSpPr>
            <a:grpSpLocks/>
          </p:cNvGrpSpPr>
          <p:nvPr/>
        </p:nvGrpSpPr>
        <p:grpSpPr bwMode="auto">
          <a:xfrm>
            <a:off x="3506788" y="4654550"/>
            <a:ext cx="1660525" cy="787400"/>
            <a:chOff x="2544" y="2976"/>
            <a:chExt cx="768" cy="541"/>
          </a:xfrm>
        </p:grpSpPr>
        <p:sp>
          <p:nvSpPr>
            <p:cNvPr id="21543" name="Text Box 25"/>
            <p:cNvSpPr txBox="1">
              <a:spLocks noChangeArrowheads="1"/>
            </p:cNvSpPr>
            <p:nvPr/>
          </p:nvSpPr>
          <p:spPr bwMode="auto">
            <a:xfrm>
              <a:off x="2784" y="3072"/>
              <a:ext cx="528" cy="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solidFill>
                    <a:srgbClr val="FF0000"/>
                  </a:solidFill>
                  <a:latin typeface="Comic Sans MS" panose="030F0702030302020204" pitchFamily="66" charset="0"/>
                </a:rPr>
                <a:t>Focus</a:t>
              </a:r>
            </a:p>
          </p:txBody>
        </p:sp>
        <p:sp>
          <p:nvSpPr>
            <p:cNvPr id="60442" name="Line 26"/>
            <p:cNvSpPr>
              <a:spLocks noChangeShapeType="1"/>
            </p:cNvSpPr>
            <p:nvPr/>
          </p:nvSpPr>
          <p:spPr bwMode="auto">
            <a:xfrm flipH="1" flipV="1">
              <a:off x="2544" y="2976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1525" name="Group 27"/>
          <p:cNvGrpSpPr>
            <a:grpSpLocks/>
          </p:cNvGrpSpPr>
          <p:nvPr/>
        </p:nvGrpSpPr>
        <p:grpSpPr bwMode="auto">
          <a:xfrm>
            <a:off x="4122738" y="2838450"/>
            <a:ext cx="1955800" cy="647700"/>
            <a:chOff x="2928" y="1728"/>
            <a:chExt cx="1344" cy="445"/>
          </a:xfrm>
        </p:grpSpPr>
        <p:sp>
          <p:nvSpPr>
            <p:cNvPr id="21541" name="Text Box 28"/>
            <p:cNvSpPr txBox="1">
              <a:spLocks noChangeArrowheads="1"/>
            </p:cNvSpPr>
            <p:nvPr/>
          </p:nvSpPr>
          <p:spPr bwMode="auto">
            <a:xfrm>
              <a:off x="3312" y="1728"/>
              <a:ext cx="960" cy="4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solidFill>
                    <a:srgbClr val="666699"/>
                  </a:solidFill>
                  <a:latin typeface="Comic Sans MS" panose="030F0702030302020204" pitchFamily="66" charset="0"/>
                </a:rPr>
                <a:t>Ellipse</a:t>
              </a:r>
            </a:p>
          </p:txBody>
        </p:sp>
        <p:sp>
          <p:nvSpPr>
            <p:cNvPr id="60445" name="Line 29"/>
            <p:cNvSpPr>
              <a:spLocks noChangeShapeType="1"/>
            </p:cNvSpPr>
            <p:nvPr/>
          </p:nvSpPr>
          <p:spPr bwMode="auto">
            <a:xfrm flipH="1" flipV="1">
              <a:off x="2928" y="1776"/>
              <a:ext cx="48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1526" name="Text Box 30"/>
          <p:cNvSpPr txBox="1">
            <a:spLocks noChangeArrowheads="1"/>
          </p:cNvSpPr>
          <p:nvPr/>
        </p:nvSpPr>
        <p:spPr bwMode="auto">
          <a:xfrm>
            <a:off x="-52388" y="3430588"/>
            <a:ext cx="1768476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>
                <a:solidFill>
                  <a:srgbClr val="666699"/>
                </a:solidFill>
                <a:latin typeface="Comic Sans MS" panose="030F0702030302020204" pitchFamily="66" charset="0"/>
              </a:rPr>
              <a:t>Directrix</a:t>
            </a:r>
          </a:p>
        </p:txBody>
      </p:sp>
      <p:sp>
        <p:nvSpPr>
          <p:cNvPr id="60447" name="Line 31"/>
          <p:cNvSpPr>
            <a:spLocks noChangeShapeType="1"/>
          </p:cNvSpPr>
          <p:nvPr/>
        </p:nvSpPr>
        <p:spPr bwMode="auto">
          <a:xfrm>
            <a:off x="1533525" y="3779838"/>
            <a:ext cx="430213" cy="36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48" name="Text Box 32"/>
          <p:cNvSpPr txBox="1">
            <a:spLocks noChangeArrowheads="1"/>
          </p:cNvSpPr>
          <p:nvPr/>
        </p:nvSpPr>
        <p:spPr bwMode="auto">
          <a:xfrm>
            <a:off x="5138738" y="4770438"/>
            <a:ext cx="4038600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tx2"/>
                </a:solidFill>
                <a:latin typeface="Comic Sans MS" panose="030F0702030302020204" pitchFamily="66" charset="0"/>
              </a:rPr>
              <a:t>Eccentricity</a:t>
            </a:r>
            <a:r>
              <a:rPr lang="en-US" altLang="en-US" sz="2800">
                <a:latin typeface="Comic Sans MS" panose="030F0702030302020204" pitchFamily="66" charset="0"/>
              </a:rPr>
              <a:t>=PF/PM 		        = QF/QN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latin typeface="Comic Sans MS" panose="030F0702030302020204" pitchFamily="66" charset="0"/>
              </a:rPr>
              <a:t>	       	</a:t>
            </a:r>
            <a:r>
              <a:rPr lang="en-US" altLang="en-US" sz="2800">
                <a:solidFill>
                  <a:srgbClr val="0000FF"/>
                </a:solidFill>
                <a:latin typeface="Comic Sans MS" panose="030F0702030302020204" pitchFamily="66" charset="0"/>
              </a:rPr>
              <a:t>&lt; 1.</a:t>
            </a:r>
          </a:p>
        </p:txBody>
      </p:sp>
      <p:sp>
        <p:nvSpPr>
          <p:cNvPr id="60449" name="AutoShape 3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977188" y="6553200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60450" name="AutoShape 3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272338" y="6553200"/>
            <a:ext cx="685800" cy="304800"/>
          </a:xfrm>
          <a:prstGeom prst="actionButtonBackPreviou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51" name="Oval 35"/>
          <p:cNvSpPr>
            <a:spLocks noChangeArrowheads="1"/>
          </p:cNvSpPr>
          <p:nvPr/>
        </p:nvSpPr>
        <p:spPr bwMode="auto">
          <a:xfrm>
            <a:off x="3429000" y="4533900"/>
            <a:ext cx="127000" cy="1333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52" name="Oval 36"/>
          <p:cNvSpPr>
            <a:spLocks noChangeArrowheads="1"/>
          </p:cNvSpPr>
          <p:nvPr/>
        </p:nvSpPr>
        <p:spPr bwMode="auto">
          <a:xfrm>
            <a:off x="2667000" y="4533900"/>
            <a:ext cx="127000" cy="1333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53" name="Oval 37"/>
          <p:cNvSpPr>
            <a:spLocks noChangeArrowheads="1"/>
          </p:cNvSpPr>
          <p:nvPr/>
        </p:nvSpPr>
        <p:spPr bwMode="auto">
          <a:xfrm>
            <a:off x="2971800" y="3448050"/>
            <a:ext cx="127000" cy="1333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54" name="Oval 38"/>
          <p:cNvSpPr>
            <a:spLocks noChangeArrowheads="1"/>
          </p:cNvSpPr>
          <p:nvPr/>
        </p:nvSpPr>
        <p:spPr bwMode="auto">
          <a:xfrm>
            <a:off x="2876550" y="5391150"/>
            <a:ext cx="127000" cy="13335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1535" name="Group 41"/>
          <p:cNvGrpSpPr>
            <a:grpSpLocks/>
          </p:cNvGrpSpPr>
          <p:nvPr/>
        </p:nvGrpSpPr>
        <p:grpSpPr bwMode="auto">
          <a:xfrm>
            <a:off x="1962150" y="3313113"/>
            <a:ext cx="266700" cy="193675"/>
            <a:chOff x="57" y="3755"/>
            <a:chExt cx="183" cy="166"/>
          </a:xfrm>
        </p:grpSpPr>
        <p:sp>
          <p:nvSpPr>
            <p:cNvPr id="60455" name="Line 39"/>
            <p:cNvSpPr>
              <a:spLocks noChangeShapeType="1"/>
            </p:cNvSpPr>
            <p:nvPr/>
          </p:nvSpPr>
          <p:spPr bwMode="auto">
            <a:xfrm>
              <a:off x="57" y="3755"/>
              <a:ext cx="18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0456" name="Line 40"/>
            <p:cNvSpPr>
              <a:spLocks noChangeShapeType="1"/>
            </p:cNvSpPr>
            <p:nvPr/>
          </p:nvSpPr>
          <p:spPr bwMode="auto">
            <a:xfrm>
              <a:off x="240" y="3755"/>
              <a:ext cx="0" cy="1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1536" name="Group 42"/>
          <p:cNvGrpSpPr>
            <a:grpSpLocks/>
          </p:cNvGrpSpPr>
          <p:nvPr/>
        </p:nvGrpSpPr>
        <p:grpSpPr bwMode="auto">
          <a:xfrm flipV="1">
            <a:off x="1955800" y="5500688"/>
            <a:ext cx="230188" cy="176212"/>
            <a:chOff x="57" y="3755"/>
            <a:chExt cx="183" cy="166"/>
          </a:xfrm>
        </p:grpSpPr>
        <p:sp>
          <p:nvSpPr>
            <p:cNvPr id="60459" name="Line 43"/>
            <p:cNvSpPr>
              <a:spLocks noChangeShapeType="1"/>
            </p:cNvSpPr>
            <p:nvPr/>
          </p:nvSpPr>
          <p:spPr bwMode="auto">
            <a:xfrm>
              <a:off x="57" y="3755"/>
              <a:ext cx="18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0460" name="Line 44"/>
            <p:cNvSpPr>
              <a:spLocks noChangeShapeType="1"/>
            </p:cNvSpPr>
            <p:nvPr/>
          </p:nvSpPr>
          <p:spPr bwMode="auto">
            <a:xfrm>
              <a:off x="240" y="3755"/>
              <a:ext cx="0" cy="1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0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0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0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0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0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0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0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0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8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0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0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0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0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6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 autoUpdateAnimBg="0"/>
      <p:bldP spid="60422" grpId="0" animBg="1" autoUpdateAnimBg="0"/>
      <p:bldP spid="60427" grpId="0" autoUpdateAnimBg="0"/>
      <p:bldP spid="60428" grpId="0" autoUpdateAnimBg="0"/>
      <p:bldP spid="60429" grpId="0" autoUpdateAnimBg="0"/>
      <p:bldP spid="60430" grpId="0" autoUpdateAnimBg="0"/>
      <p:bldP spid="60448" grpId="0" autoUpdateAnimBg="0"/>
      <p:bldP spid="60449" grpId="0" animBg="1" autoUpdateAnimBg="0"/>
      <p:bldP spid="60450" grpId="0" animBg="1"/>
      <p:bldP spid="60451" grpId="0" animBg="1"/>
      <p:bldP spid="60452" grpId="0" animBg="1"/>
      <p:bldP spid="60453" grpId="0" animBg="1"/>
      <p:bldP spid="6045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125413" y="614363"/>
            <a:ext cx="8888412" cy="237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3000" b="0">
                <a:latin typeface="Comic Sans MS" panose="030F0702030302020204" pitchFamily="66" charset="0"/>
              </a:rPr>
              <a:t>Ellipse is the locus of a point, which moves in a plane so that the sum of its distance from two fixed points, called focal points or foci, is a constant. The </a:t>
            </a:r>
            <a:r>
              <a:rPr lang="en-US" altLang="en-US" sz="3000">
                <a:solidFill>
                  <a:srgbClr val="FF0000"/>
                </a:solidFill>
                <a:latin typeface="Comic Sans MS" panose="030F0702030302020204" pitchFamily="66" charset="0"/>
              </a:rPr>
              <a:t>sum of distances</a:t>
            </a:r>
            <a:r>
              <a:rPr lang="en-US" altLang="en-US" sz="3000" b="0">
                <a:latin typeface="Comic Sans MS" panose="030F0702030302020204" pitchFamily="66" charset="0"/>
              </a:rPr>
              <a:t> is equal to the </a:t>
            </a:r>
            <a:r>
              <a:rPr lang="en-US" altLang="en-US" sz="3000">
                <a:solidFill>
                  <a:srgbClr val="FF0000"/>
                </a:solidFill>
                <a:latin typeface="Comic Sans MS" panose="030F0702030302020204" pitchFamily="66" charset="0"/>
              </a:rPr>
              <a:t>major axis</a:t>
            </a:r>
            <a:r>
              <a:rPr lang="en-US" altLang="en-US" sz="3000" b="0">
                <a:latin typeface="Comic Sans MS" panose="030F0702030302020204" pitchFamily="66" charset="0"/>
              </a:rPr>
              <a:t> of the ellipse.</a:t>
            </a:r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3325813" y="53975"/>
            <a:ext cx="2590800" cy="64135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600">
                <a:solidFill>
                  <a:srgbClr val="FFFF00"/>
                </a:solidFill>
                <a:latin typeface="Comic Sans MS" panose="030F0702030302020204" pitchFamily="66" charset="0"/>
              </a:rPr>
              <a:t>ELLIPSE</a:t>
            </a:r>
          </a:p>
        </p:txBody>
      </p:sp>
      <p:sp>
        <p:nvSpPr>
          <p:cNvPr id="6144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958138" y="6553200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61445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272338" y="6553200"/>
            <a:ext cx="685800" cy="304800"/>
          </a:xfrm>
          <a:prstGeom prst="actionButtonBackPreviou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1446" name="Group 6"/>
          <p:cNvGrpSpPr>
            <a:grpSpLocks/>
          </p:cNvGrpSpPr>
          <p:nvPr/>
        </p:nvGrpSpPr>
        <p:grpSpPr bwMode="auto">
          <a:xfrm>
            <a:off x="138113" y="2763838"/>
            <a:ext cx="5957887" cy="4113212"/>
            <a:chOff x="87" y="1741"/>
            <a:chExt cx="3753" cy="2591"/>
          </a:xfrm>
        </p:grpSpPr>
        <p:sp>
          <p:nvSpPr>
            <p:cNvPr id="22535" name="Text Box 7"/>
            <p:cNvSpPr txBox="1">
              <a:spLocks noChangeArrowheads="1"/>
            </p:cNvSpPr>
            <p:nvPr/>
          </p:nvSpPr>
          <p:spPr bwMode="auto">
            <a:xfrm>
              <a:off x="509" y="3048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F</a:t>
              </a:r>
              <a:r>
                <a:rPr lang="en-US" altLang="en-US" sz="2800" baseline="-25000"/>
                <a:t>1</a:t>
              </a:r>
            </a:p>
          </p:txBody>
        </p:sp>
        <p:sp>
          <p:nvSpPr>
            <p:cNvPr id="61448" name="Freeform 8"/>
            <p:cNvSpPr>
              <a:spLocks/>
            </p:cNvSpPr>
            <p:nvPr/>
          </p:nvSpPr>
          <p:spPr bwMode="auto">
            <a:xfrm>
              <a:off x="1880" y="2818"/>
              <a:ext cx="1" cy="233"/>
            </a:xfrm>
            <a:custGeom>
              <a:avLst/>
              <a:gdLst>
                <a:gd name="T0" fmla="*/ 0 w 1"/>
                <a:gd name="T1" fmla="*/ 1616 h 1616"/>
                <a:gd name="T2" fmla="*/ 0 w 1"/>
                <a:gd name="T3" fmla="*/ 0 h 1616"/>
                <a:gd name="T4" fmla="*/ 1 w 1"/>
                <a:gd name="T5" fmla="*/ 0 h 1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6">
                  <a:moveTo>
                    <a:pt x="0" y="16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49" name="Freeform 9"/>
            <p:cNvSpPr>
              <a:spLocks/>
            </p:cNvSpPr>
            <p:nvPr/>
          </p:nvSpPr>
          <p:spPr bwMode="auto">
            <a:xfrm>
              <a:off x="1880" y="2714"/>
              <a:ext cx="1" cy="52"/>
            </a:xfrm>
            <a:custGeom>
              <a:avLst/>
              <a:gdLst>
                <a:gd name="T0" fmla="*/ 0 w 1"/>
                <a:gd name="T1" fmla="*/ 359 h 359"/>
                <a:gd name="T2" fmla="*/ 0 w 1"/>
                <a:gd name="T3" fmla="*/ 0 h 359"/>
                <a:gd name="T4" fmla="*/ 1 w 1"/>
                <a:gd name="T5" fmla="*/ 0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9">
                  <a:moveTo>
                    <a:pt x="0" y="35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50" name="Freeform 10"/>
            <p:cNvSpPr>
              <a:spLocks/>
            </p:cNvSpPr>
            <p:nvPr/>
          </p:nvSpPr>
          <p:spPr bwMode="auto">
            <a:xfrm>
              <a:off x="1880" y="2404"/>
              <a:ext cx="1" cy="259"/>
            </a:xfrm>
            <a:custGeom>
              <a:avLst/>
              <a:gdLst>
                <a:gd name="T0" fmla="*/ 0 w 1"/>
                <a:gd name="T1" fmla="*/ 1796 h 1796"/>
                <a:gd name="T2" fmla="*/ 0 w 1"/>
                <a:gd name="T3" fmla="*/ 0 h 1796"/>
                <a:gd name="T4" fmla="*/ 1 w 1"/>
                <a:gd name="T5" fmla="*/ 0 h 1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96">
                  <a:moveTo>
                    <a:pt x="0" y="179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51" name="Freeform 11"/>
            <p:cNvSpPr>
              <a:spLocks/>
            </p:cNvSpPr>
            <p:nvPr/>
          </p:nvSpPr>
          <p:spPr bwMode="auto">
            <a:xfrm>
              <a:off x="1880" y="2301"/>
              <a:ext cx="1" cy="52"/>
            </a:xfrm>
            <a:custGeom>
              <a:avLst/>
              <a:gdLst>
                <a:gd name="T0" fmla="*/ 0 w 1"/>
                <a:gd name="T1" fmla="*/ 360 h 360"/>
                <a:gd name="T2" fmla="*/ 0 w 1"/>
                <a:gd name="T3" fmla="*/ 0 h 360"/>
                <a:gd name="T4" fmla="*/ 1 w 1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0">
                  <a:moveTo>
                    <a:pt x="0" y="36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52" name="Freeform 12"/>
            <p:cNvSpPr>
              <a:spLocks/>
            </p:cNvSpPr>
            <p:nvPr/>
          </p:nvSpPr>
          <p:spPr bwMode="auto">
            <a:xfrm>
              <a:off x="1880" y="2016"/>
              <a:ext cx="1" cy="233"/>
            </a:xfrm>
            <a:custGeom>
              <a:avLst/>
              <a:gdLst>
                <a:gd name="T0" fmla="*/ 0 w 1"/>
                <a:gd name="T1" fmla="*/ 1616 h 1616"/>
                <a:gd name="T2" fmla="*/ 0 w 1"/>
                <a:gd name="T3" fmla="*/ 0 h 1616"/>
                <a:gd name="T4" fmla="*/ 1 w 1"/>
                <a:gd name="T5" fmla="*/ 0 h 1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6">
                  <a:moveTo>
                    <a:pt x="0" y="16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53" name="Freeform 13"/>
            <p:cNvSpPr>
              <a:spLocks/>
            </p:cNvSpPr>
            <p:nvPr/>
          </p:nvSpPr>
          <p:spPr bwMode="auto">
            <a:xfrm>
              <a:off x="1880" y="3051"/>
              <a:ext cx="1" cy="233"/>
            </a:xfrm>
            <a:custGeom>
              <a:avLst/>
              <a:gdLst>
                <a:gd name="T0" fmla="*/ 0 w 1"/>
                <a:gd name="T1" fmla="*/ 0 h 1617"/>
                <a:gd name="T2" fmla="*/ 0 w 1"/>
                <a:gd name="T3" fmla="*/ 1617 h 1617"/>
                <a:gd name="T4" fmla="*/ 1 w 1"/>
                <a:gd name="T5" fmla="*/ 1617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7">
                  <a:moveTo>
                    <a:pt x="0" y="0"/>
                  </a:moveTo>
                  <a:lnTo>
                    <a:pt x="0" y="1617"/>
                  </a:lnTo>
                  <a:lnTo>
                    <a:pt x="1" y="16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54" name="Freeform 14"/>
            <p:cNvSpPr>
              <a:spLocks/>
            </p:cNvSpPr>
            <p:nvPr/>
          </p:nvSpPr>
          <p:spPr bwMode="auto">
            <a:xfrm>
              <a:off x="1880" y="3336"/>
              <a:ext cx="1" cy="52"/>
            </a:xfrm>
            <a:custGeom>
              <a:avLst/>
              <a:gdLst>
                <a:gd name="T0" fmla="*/ 0 w 1"/>
                <a:gd name="T1" fmla="*/ 0 h 358"/>
                <a:gd name="T2" fmla="*/ 0 w 1"/>
                <a:gd name="T3" fmla="*/ 358 h 358"/>
                <a:gd name="T4" fmla="*/ 1 w 1"/>
                <a:gd name="T5" fmla="*/ 358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8">
                  <a:moveTo>
                    <a:pt x="0" y="0"/>
                  </a:moveTo>
                  <a:lnTo>
                    <a:pt x="0" y="358"/>
                  </a:lnTo>
                  <a:lnTo>
                    <a:pt x="1" y="35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55" name="Freeform 15"/>
            <p:cNvSpPr>
              <a:spLocks/>
            </p:cNvSpPr>
            <p:nvPr/>
          </p:nvSpPr>
          <p:spPr bwMode="auto">
            <a:xfrm>
              <a:off x="1880" y="3439"/>
              <a:ext cx="1" cy="259"/>
            </a:xfrm>
            <a:custGeom>
              <a:avLst/>
              <a:gdLst>
                <a:gd name="T0" fmla="*/ 0 w 1"/>
                <a:gd name="T1" fmla="*/ 0 h 1796"/>
                <a:gd name="T2" fmla="*/ 0 w 1"/>
                <a:gd name="T3" fmla="*/ 1796 h 1796"/>
                <a:gd name="T4" fmla="*/ 1 w 1"/>
                <a:gd name="T5" fmla="*/ 1796 h 1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96">
                  <a:moveTo>
                    <a:pt x="0" y="0"/>
                  </a:moveTo>
                  <a:lnTo>
                    <a:pt x="0" y="1796"/>
                  </a:lnTo>
                  <a:lnTo>
                    <a:pt x="1" y="179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56" name="Freeform 16"/>
            <p:cNvSpPr>
              <a:spLocks/>
            </p:cNvSpPr>
            <p:nvPr/>
          </p:nvSpPr>
          <p:spPr bwMode="auto">
            <a:xfrm>
              <a:off x="1880" y="3750"/>
              <a:ext cx="1" cy="51"/>
            </a:xfrm>
            <a:custGeom>
              <a:avLst/>
              <a:gdLst>
                <a:gd name="T0" fmla="*/ 0 w 1"/>
                <a:gd name="T1" fmla="*/ 0 h 359"/>
                <a:gd name="T2" fmla="*/ 0 w 1"/>
                <a:gd name="T3" fmla="*/ 359 h 359"/>
                <a:gd name="T4" fmla="*/ 1 w 1"/>
                <a:gd name="T5" fmla="*/ 359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9">
                  <a:moveTo>
                    <a:pt x="0" y="0"/>
                  </a:moveTo>
                  <a:lnTo>
                    <a:pt x="0" y="359"/>
                  </a:lnTo>
                  <a:lnTo>
                    <a:pt x="1" y="35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57" name="Freeform 17"/>
            <p:cNvSpPr>
              <a:spLocks/>
            </p:cNvSpPr>
            <p:nvPr/>
          </p:nvSpPr>
          <p:spPr bwMode="auto">
            <a:xfrm>
              <a:off x="1880" y="3853"/>
              <a:ext cx="1" cy="233"/>
            </a:xfrm>
            <a:custGeom>
              <a:avLst/>
              <a:gdLst>
                <a:gd name="T0" fmla="*/ 0 w 1"/>
                <a:gd name="T1" fmla="*/ 0 h 1616"/>
                <a:gd name="T2" fmla="*/ 0 w 1"/>
                <a:gd name="T3" fmla="*/ 1616 h 1616"/>
                <a:gd name="T4" fmla="*/ 1 w 1"/>
                <a:gd name="T5" fmla="*/ 1616 h 1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6">
                  <a:moveTo>
                    <a:pt x="0" y="0"/>
                  </a:moveTo>
                  <a:lnTo>
                    <a:pt x="0" y="1616"/>
                  </a:lnTo>
                  <a:lnTo>
                    <a:pt x="1" y="16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58" name="Freeform 18"/>
            <p:cNvSpPr>
              <a:spLocks/>
            </p:cNvSpPr>
            <p:nvPr/>
          </p:nvSpPr>
          <p:spPr bwMode="auto">
            <a:xfrm>
              <a:off x="333" y="2509"/>
              <a:ext cx="225" cy="1085"/>
            </a:xfrm>
            <a:custGeom>
              <a:avLst/>
              <a:gdLst>
                <a:gd name="T0" fmla="*/ 1559 w 1560"/>
                <a:gd name="T1" fmla="*/ 0 h 7528"/>
                <a:gd name="T2" fmla="*/ 800 w 1560"/>
                <a:gd name="T3" fmla="*/ 925 h 7528"/>
                <a:gd name="T4" fmla="*/ 272 w 1560"/>
                <a:gd name="T5" fmla="*/ 1999 h 7528"/>
                <a:gd name="T6" fmla="*/ 0 w 1560"/>
                <a:gd name="T7" fmla="*/ 3165 h 7528"/>
                <a:gd name="T8" fmla="*/ 0 w 1560"/>
                <a:gd name="T9" fmla="*/ 4363 h 7528"/>
                <a:gd name="T10" fmla="*/ 272 w 1560"/>
                <a:gd name="T11" fmla="*/ 5530 h 7528"/>
                <a:gd name="T12" fmla="*/ 800 w 1560"/>
                <a:gd name="T13" fmla="*/ 6603 h 7528"/>
                <a:gd name="T14" fmla="*/ 1559 w 1560"/>
                <a:gd name="T15" fmla="*/ 7528 h 7528"/>
                <a:gd name="T16" fmla="*/ 1560 w 1560"/>
                <a:gd name="T17" fmla="*/ 7528 h 7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0" h="7528">
                  <a:moveTo>
                    <a:pt x="1559" y="0"/>
                  </a:moveTo>
                  <a:lnTo>
                    <a:pt x="800" y="925"/>
                  </a:lnTo>
                  <a:lnTo>
                    <a:pt x="272" y="1999"/>
                  </a:lnTo>
                  <a:lnTo>
                    <a:pt x="0" y="3165"/>
                  </a:lnTo>
                  <a:lnTo>
                    <a:pt x="0" y="4363"/>
                  </a:lnTo>
                  <a:lnTo>
                    <a:pt x="272" y="5530"/>
                  </a:lnTo>
                  <a:lnTo>
                    <a:pt x="800" y="6603"/>
                  </a:lnTo>
                  <a:lnTo>
                    <a:pt x="1559" y="7528"/>
                  </a:lnTo>
                  <a:lnTo>
                    <a:pt x="1560" y="752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59" name="Freeform 19"/>
            <p:cNvSpPr>
              <a:spLocks/>
            </p:cNvSpPr>
            <p:nvPr/>
          </p:nvSpPr>
          <p:spPr bwMode="auto">
            <a:xfrm>
              <a:off x="558" y="2128"/>
              <a:ext cx="621" cy="381"/>
            </a:xfrm>
            <a:custGeom>
              <a:avLst/>
              <a:gdLst>
                <a:gd name="T0" fmla="*/ 4301 w 4301"/>
                <a:gd name="T1" fmla="*/ 0 h 2646"/>
                <a:gd name="T2" fmla="*/ 2728 w 4301"/>
                <a:gd name="T3" fmla="*/ 639 h 2646"/>
                <a:gd name="T4" fmla="*/ 1282 w 4301"/>
                <a:gd name="T5" fmla="*/ 1529 h 2646"/>
                <a:gd name="T6" fmla="*/ 0 w 4301"/>
                <a:gd name="T7" fmla="*/ 2646 h 2646"/>
                <a:gd name="T8" fmla="*/ 1 w 4301"/>
                <a:gd name="T9" fmla="*/ 2646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1" h="2646">
                  <a:moveTo>
                    <a:pt x="4301" y="0"/>
                  </a:moveTo>
                  <a:lnTo>
                    <a:pt x="2728" y="639"/>
                  </a:lnTo>
                  <a:lnTo>
                    <a:pt x="1282" y="1529"/>
                  </a:lnTo>
                  <a:lnTo>
                    <a:pt x="0" y="2646"/>
                  </a:lnTo>
                  <a:lnTo>
                    <a:pt x="1" y="26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60" name="Freeform 20"/>
            <p:cNvSpPr>
              <a:spLocks/>
            </p:cNvSpPr>
            <p:nvPr/>
          </p:nvSpPr>
          <p:spPr bwMode="auto">
            <a:xfrm>
              <a:off x="1179" y="2016"/>
              <a:ext cx="701" cy="112"/>
            </a:xfrm>
            <a:custGeom>
              <a:avLst/>
              <a:gdLst>
                <a:gd name="T0" fmla="*/ 4856 w 4856"/>
                <a:gd name="T1" fmla="*/ 0 h 774"/>
                <a:gd name="T2" fmla="*/ 2397 w 4856"/>
                <a:gd name="T3" fmla="*/ 190 h 774"/>
                <a:gd name="T4" fmla="*/ 0 w 4856"/>
                <a:gd name="T5" fmla="*/ 774 h 774"/>
                <a:gd name="T6" fmla="*/ 1 w 4856"/>
                <a:gd name="T7" fmla="*/ 77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6" h="774">
                  <a:moveTo>
                    <a:pt x="4856" y="0"/>
                  </a:moveTo>
                  <a:lnTo>
                    <a:pt x="2397" y="190"/>
                  </a:lnTo>
                  <a:lnTo>
                    <a:pt x="0" y="774"/>
                  </a:lnTo>
                  <a:lnTo>
                    <a:pt x="1" y="77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61" name="Freeform 21"/>
            <p:cNvSpPr>
              <a:spLocks/>
            </p:cNvSpPr>
            <p:nvPr/>
          </p:nvSpPr>
          <p:spPr bwMode="auto">
            <a:xfrm>
              <a:off x="558" y="3594"/>
              <a:ext cx="621" cy="381"/>
            </a:xfrm>
            <a:custGeom>
              <a:avLst/>
              <a:gdLst>
                <a:gd name="T0" fmla="*/ 0 w 4302"/>
                <a:gd name="T1" fmla="*/ 0 h 2646"/>
                <a:gd name="T2" fmla="*/ 1282 w 4302"/>
                <a:gd name="T3" fmla="*/ 1117 h 2646"/>
                <a:gd name="T4" fmla="*/ 2728 w 4302"/>
                <a:gd name="T5" fmla="*/ 2007 h 2646"/>
                <a:gd name="T6" fmla="*/ 4301 w 4302"/>
                <a:gd name="T7" fmla="*/ 2646 h 2646"/>
                <a:gd name="T8" fmla="*/ 4302 w 4302"/>
                <a:gd name="T9" fmla="*/ 2646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2" h="2646">
                  <a:moveTo>
                    <a:pt x="0" y="0"/>
                  </a:moveTo>
                  <a:lnTo>
                    <a:pt x="1282" y="1117"/>
                  </a:lnTo>
                  <a:lnTo>
                    <a:pt x="2728" y="2007"/>
                  </a:lnTo>
                  <a:lnTo>
                    <a:pt x="4301" y="2646"/>
                  </a:lnTo>
                  <a:lnTo>
                    <a:pt x="4302" y="26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62" name="Freeform 22"/>
            <p:cNvSpPr>
              <a:spLocks/>
            </p:cNvSpPr>
            <p:nvPr/>
          </p:nvSpPr>
          <p:spPr bwMode="auto">
            <a:xfrm>
              <a:off x="1179" y="3975"/>
              <a:ext cx="701" cy="111"/>
            </a:xfrm>
            <a:custGeom>
              <a:avLst/>
              <a:gdLst>
                <a:gd name="T0" fmla="*/ 0 w 4857"/>
                <a:gd name="T1" fmla="*/ 0 h 774"/>
                <a:gd name="T2" fmla="*/ 2397 w 4857"/>
                <a:gd name="T3" fmla="*/ 584 h 774"/>
                <a:gd name="T4" fmla="*/ 4856 w 4857"/>
                <a:gd name="T5" fmla="*/ 774 h 774"/>
                <a:gd name="T6" fmla="*/ 4857 w 4857"/>
                <a:gd name="T7" fmla="*/ 77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7" h="774">
                  <a:moveTo>
                    <a:pt x="0" y="0"/>
                  </a:moveTo>
                  <a:lnTo>
                    <a:pt x="2397" y="584"/>
                  </a:lnTo>
                  <a:lnTo>
                    <a:pt x="4856" y="774"/>
                  </a:lnTo>
                  <a:lnTo>
                    <a:pt x="4857" y="77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63" name="Freeform 23"/>
            <p:cNvSpPr>
              <a:spLocks/>
            </p:cNvSpPr>
            <p:nvPr/>
          </p:nvSpPr>
          <p:spPr bwMode="auto">
            <a:xfrm>
              <a:off x="3202" y="2509"/>
              <a:ext cx="225" cy="1085"/>
            </a:xfrm>
            <a:custGeom>
              <a:avLst/>
              <a:gdLst>
                <a:gd name="T0" fmla="*/ 0 w 1559"/>
                <a:gd name="T1" fmla="*/ 7528 h 7528"/>
                <a:gd name="T2" fmla="*/ 758 w 1559"/>
                <a:gd name="T3" fmla="*/ 6603 h 7528"/>
                <a:gd name="T4" fmla="*/ 1287 w 1559"/>
                <a:gd name="T5" fmla="*/ 5530 h 7528"/>
                <a:gd name="T6" fmla="*/ 1559 w 1559"/>
                <a:gd name="T7" fmla="*/ 4363 h 7528"/>
                <a:gd name="T8" fmla="*/ 1559 w 1559"/>
                <a:gd name="T9" fmla="*/ 3165 h 7528"/>
                <a:gd name="T10" fmla="*/ 1287 w 1559"/>
                <a:gd name="T11" fmla="*/ 1999 h 7528"/>
                <a:gd name="T12" fmla="*/ 758 w 1559"/>
                <a:gd name="T13" fmla="*/ 925 h 7528"/>
                <a:gd name="T14" fmla="*/ 0 w 1559"/>
                <a:gd name="T15" fmla="*/ 0 h 7528"/>
                <a:gd name="T16" fmla="*/ 1 w 1559"/>
                <a:gd name="T17" fmla="*/ 0 h 7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59" h="7528">
                  <a:moveTo>
                    <a:pt x="0" y="7528"/>
                  </a:moveTo>
                  <a:lnTo>
                    <a:pt x="758" y="6603"/>
                  </a:lnTo>
                  <a:lnTo>
                    <a:pt x="1287" y="5530"/>
                  </a:lnTo>
                  <a:lnTo>
                    <a:pt x="1559" y="4363"/>
                  </a:lnTo>
                  <a:lnTo>
                    <a:pt x="1559" y="3165"/>
                  </a:lnTo>
                  <a:lnTo>
                    <a:pt x="1287" y="1999"/>
                  </a:lnTo>
                  <a:lnTo>
                    <a:pt x="758" y="925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64" name="Freeform 24"/>
            <p:cNvSpPr>
              <a:spLocks/>
            </p:cNvSpPr>
            <p:nvPr/>
          </p:nvSpPr>
          <p:spPr bwMode="auto">
            <a:xfrm>
              <a:off x="2581" y="2128"/>
              <a:ext cx="621" cy="381"/>
            </a:xfrm>
            <a:custGeom>
              <a:avLst/>
              <a:gdLst>
                <a:gd name="T0" fmla="*/ 4302 w 4302"/>
                <a:gd name="T1" fmla="*/ 2646 h 2646"/>
                <a:gd name="T2" fmla="*/ 3020 w 4302"/>
                <a:gd name="T3" fmla="*/ 1529 h 2646"/>
                <a:gd name="T4" fmla="*/ 1574 w 4302"/>
                <a:gd name="T5" fmla="*/ 639 h 2646"/>
                <a:gd name="T6" fmla="*/ 0 w 4302"/>
                <a:gd name="T7" fmla="*/ 0 h 2646"/>
                <a:gd name="T8" fmla="*/ 1 w 4302"/>
                <a:gd name="T9" fmla="*/ 0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2" h="2646">
                  <a:moveTo>
                    <a:pt x="4302" y="2646"/>
                  </a:moveTo>
                  <a:lnTo>
                    <a:pt x="3020" y="1529"/>
                  </a:lnTo>
                  <a:lnTo>
                    <a:pt x="1574" y="639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65" name="Freeform 25"/>
            <p:cNvSpPr>
              <a:spLocks/>
            </p:cNvSpPr>
            <p:nvPr/>
          </p:nvSpPr>
          <p:spPr bwMode="auto">
            <a:xfrm>
              <a:off x="1880" y="2016"/>
              <a:ext cx="701" cy="112"/>
            </a:xfrm>
            <a:custGeom>
              <a:avLst/>
              <a:gdLst>
                <a:gd name="T0" fmla="*/ 4856 w 4856"/>
                <a:gd name="T1" fmla="*/ 774 h 774"/>
                <a:gd name="T2" fmla="*/ 2460 w 4856"/>
                <a:gd name="T3" fmla="*/ 190 h 774"/>
                <a:gd name="T4" fmla="*/ 0 w 4856"/>
                <a:gd name="T5" fmla="*/ 0 h 774"/>
                <a:gd name="T6" fmla="*/ 1 w 4856"/>
                <a:gd name="T7" fmla="*/ 0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6" h="774">
                  <a:moveTo>
                    <a:pt x="4856" y="774"/>
                  </a:moveTo>
                  <a:lnTo>
                    <a:pt x="2460" y="19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66" name="Freeform 26"/>
            <p:cNvSpPr>
              <a:spLocks/>
            </p:cNvSpPr>
            <p:nvPr/>
          </p:nvSpPr>
          <p:spPr bwMode="auto">
            <a:xfrm>
              <a:off x="2581" y="3594"/>
              <a:ext cx="621" cy="381"/>
            </a:xfrm>
            <a:custGeom>
              <a:avLst/>
              <a:gdLst>
                <a:gd name="T0" fmla="*/ 0 w 4303"/>
                <a:gd name="T1" fmla="*/ 2646 h 2646"/>
                <a:gd name="T2" fmla="*/ 1574 w 4303"/>
                <a:gd name="T3" fmla="*/ 2007 h 2646"/>
                <a:gd name="T4" fmla="*/ 3020 w 4303"/>
                <a:gd name="T5" fmla="*/ 1117 h 2646"/>
                <a:gd name="T6" fmla="*/ 4302 w 4303"/>
                <a:gd name="T7" fmla="*/ 0 h 2646"/>
                <a:gd name="T8" fmla="*/ 4303 w 4303"/>
                <a:gd name="T9" fmla="*/ 0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3" h="2646">
                  <a:moveTo>
                    <a:pt x="0" y="2646"/>
                  </a:moveTo>
                  <a:lnTo>
                    <a:pt x="1574" y="2007"/>
                  </a:lnTo>
                  <a:lnTo>
                    <a:pt x="3020" y="1117"/>
                  </a:lnTo>
                  <a:lnTo>
                    <a:pt x="4302" y="0"/>
                  </a:lnTo>
                  <a:lnTo>
                    <a:pt x="430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67" name="Freeform 27"/>
            <p:cNvSpPr>
              <a:spLocks/>
            </p:cNvSpPr>
            <p:nvPr/>
          </p:nvSpPr>
          <p:spPr bwMode="auto">
            <a:xfrm>
              <a:off x="1880" y="3975"/>
              <a:ext cx="701" cy="111"/>
            </a:xfrm>
            <a:custGeom>
              <a:avLst/>
              <a:gdLst>
                <a:gd name="T0" fmla="*/ 0 w 4857"/>
                <a:gd name="T1" fmla="*/ 774 h 774"/>
                <a:gd name="T2" fmla="*/ 2460 w 4857"/>
                <a:gd name="T3" fmla="*/ 584 h 774"/>
                <a:gd name="T4" fmla="*/ 4856 w 4857"/>
                <a:gd name="T5" fmla="*/ 0 h 774"/>
                <a:gd name="T6" fmla="*/ 4857 w 4857"/>
                <a:gd name="T7" fmla="*/ 0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7" h="774">
                  <a:moveTo>
                    <a:pt x="0" y="774"/>
                  </a:moveTo>
                  <a:lnTo>
                    <a:pt x="2460" y="584"/>
                  </a:lnTo>
                  <a:lnTo>
                    <a:pt x="4856" y="0"/>
                  </a:lnTo>
                  <a:lnTo>
                    <a:pt x="4857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68" name="Freeform 28"/>
            <p:cNvSpPr>
              <a:spLocks/>
            </p:cNvSpPr>
            <p:nvPr/>
          </p:nvSpPr>
          <p:spPr bwMode="auto">
            <a:xfrm rot="-249819">
              <a:off x="690" y="2145"/>
              <a:ext cx="522" cy="887"/>
            </a:xfrm>
            <a:custGeom>
              <a:avLst/>
              <a:gdLst>
                <a:gd name="T0" fmla="*/ 0 w 3617"/>
                <a:gd name="T1" fmla="*/ 6161 h 6161"/>
                <a:gd name="T2" fmla="*/ 1 w 3617"/>
                <a:gd name="T3" fmla="*/ 6161 h 6161"/>
                <a:gd name="T4" fmla="*/ 3616 w 3617"/>
                <a:gd name="T5" fmla="*/ 0 h 6161"/>
                <a:gd name="T6" fmla="*/ 3617 w 3617"/>
                <a:gd name="T7" fmla="*/ 0 h 6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17" h="6161">
                  <a:moveTo>
                    <a:pt x="0" y="6161"/>
                  </a:moveTo>
                  <a:lnTo>
                    <a:pt x="1" y="6161"/>
                  </a:lnTo>
                  <a:lnTo>
                    <a:pt x="3616" y="0"/>
                  </a:lnTo>
                  <a:lnTo>
                    <a:pt x="3617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69" name="Freeform 29"/>
            <p:cNvSpPr>
              <a:spLocks/>
            </p:cNvSpPr>
            <p:nvPr/>
          </p:nvSpPr>
          <p:spPr bwMode="auto">
            <a:xfrm>
              <a:off x="701" y="3026"/>
              <a:ext cx="50" cy="56"/>
            </a:xfrm>
            <a:custGeom>
              <a:avLst/>
              <a:gdLst>
                <a:gd name="T0" fmla="*/ 0 w 349"/>
                <a:gd name="T1" fmla="*/ 0 h 388"/>
                <a:gd name="T2" fmla="*/ 348 w 349"/>
                <a:gd name="T3" fmla="*/ 388 h 388"/>
                <a:gd name="T4" fmla="*/ 349 w 349"/>
                <a:gd name="T5" fmla="*/ 388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9" h="388">
                  <a:moveTo>
                    <a:pt x="0" y="0"/>
                  </a:moveTo>
                  <a:lnTo>
                    <a:pt x="348" y="388"/>
                  </a:lnTo>
                  <a:lnTo>
                    <a:pt x="349" y="38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70" name="Freeform 30"/>
            <p:cNvSpPr>
              <a:spLocks/>
            </p:cNvSpPr>
            <p:nvPr/>
          </p:nvSpPr>
          <p:spPr bwMode="auto">
            <a:xfrm>
              <a:off x="721" y="3051"/>
              <a:ext cx="1" cy="1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1 w 1"/>
                <a:gd name="T5" fmla="*/ 0 h 1"/>
                <a:gd name="T6" fmla="*/ 0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71" name="Freeform 31"/>
            <p:cNvSpPr>
              <a:spLocks/>
            </p:cNvSpPr>
            <p:nvPr/>
          </p:nvSpPr>
          <p:spPr bwMode="auto">
            <a:xfrm>
              <a:off x="722" y="3051"/>
              <a:ext cx="0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72" name="Freeform 32"/>
            <p:cNvSpPr>
              <a:spLocks/>
            </p:cNvSpPr>
            <p:nvPr/>
          </p:nvSpPr>
          <p:spPr bwMode="auto">
            <a:xfrm>
              <a:off x="722" y="3051"/>
              <a:ext cx="0" cy="1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1 h 1"/>
                <a:gd name="T4" fmla="*/ 1 w 2"/>
                <a:gd name="T5" fmla="*/ 0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73" name="Freeform 33"/>
            <p:cNvSpPr>
              <a:spLocks/>
            </p:cNvSpPr>
            <p:nvPr/>
          </p:nvSpPr>
          <p:spPr bwMode="auto">
            <a:xfrm>
              <a:off x="722" y="3051"/>
              <a:ext cx="0" cy="1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1 h 1"/>
                <a:gd name="T4" fmla="*/ 1 w 2"/>
                <a:gd name="T5" fmla="*/ 0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74" name="Freeform 34"/>
            <p:cNvSpPr>
              <a:spLocks/>
            </p:cNvSpPr>
            <p:nvPr/>
          </p:nvSpPr>
          <p:spPr bwMode="auto">
            <a:xfrm>
              <a:off x="722" y="3051"/>
              <a:ext cx="0" cy="1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1 h 1"/>
                <a:gd name="T4" fmla="*/ 1 w 2"/>
                <a:gd name="T5" fmla="*/ 0 h 1"/>
                <a:gd name="T6" fmla="*/ 1 w 2"/>
                <a:gd name="T7" fmla="*/ 1 h 1"/>
                <a:gd name="T8" fmla="*/ 2 w 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75" name="Line 35"/>
            <p:cNvSpPr>
              <a:spLocks noChangeShapeType="1"/>
            </p:cNvSpPr>
            <p:nvPr/>
          </p:nvSpPr>
          <p:spPr bwMode="auto">
            <a:xfrm>
              <a:off x="722" y="3051"/>
              <a:ext cx="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76" name="Freeform 36"/>
            <p:cNvSpPr>
              <a:spLocks/>
            </p:cNvSpPr>
            <p:nvPr/>
          </p:nvSpPr>
          <p:spPr bwMode="auto">
            <a:xfrm>
              <a:off x="722" y="3051"/>
              <a:ext cx="1" cy="1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1 h 1"/>
                <a:gd name="T4" fmla="*/ 1 w 2"/>
                <a:gd name="T5" fmla="*/ 0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77" name="Freeform 37"/>
            <p:cNvSpPr>
              <a:spLocks/>
            </p:cNvSpPr>
            <p:nvPr/>
          </p:nvSpPr>
          <p:spPr bwMode="auto">
            <a:xfrm>
              <a:off x="722" y="3051"/>
              <a:ext cx="1" cy="1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78" name="Freeform 38"/>
            <p:cNvSpPr>
              <a:spLocks/>
            </p:cNvSpPr>
            <p:nvPr/>
          </p:nvSpPr>
          <p:spPr bwMode="auto">
            <a:xfrm>
              <a:off x="722" y="3051"/>
              <a:ext cx="1" cy="1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1 h 1"/>
                <a:gd name="T4" fmla="*/ 1 w 2"/>
                <a:gd name="T5" fmla="*/ 0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79" name="Freeform 39"/>
            <p:cNvSpPr>
              <a:spLocks/>
            </p:cNvSpPr>
            <p:nvPr/>
          </p:nvSpPr>
          <p:spPr bwMode="auto">
            <a:xfrm>
              <a:off x="723" y="3051"/>
              <a:ext cx="1" cy="1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80" name="Freeform 40"/>
            <p:cNvSpPr>
              <a:spLocks/>
            </p:cNvSpPr>
            <p:nvPr/>
          </p:nvSpPr>
          <p:spPr bwMode="auto">
            <a:xfrm rot="-97790">
              <a:off x="1190" y="2104"/>
              <a:ext cx="1833" cy="973"/>
            </a:xfrm>
            <a:custGeom>
              <a:avLst/>
              <a:gdLst>
                <a:gd name="T0" fmla="*/ 12692 w 12692"/>
                <a:gd name="T1" fmla="*/ 6758 h 6758"/>
                <a:gd name="T2" fmla="*/ 12690 w 12692"/>
                <a:gd name="T3" fmla="*/ 6758 h 6758"/>
                <a:gd name="T4" fmla="*/ 0 w 12692"/>
                <a:gd name="T5" fmla="*/ 0 h 6758"/>
                <a:gd name="T6" fmla="*/ 1 w 12692"/>
                <a:gd name="T7" fmla="*/ 0 h 6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92" h="6758">
                  <a:moveTo>
                    <a:pt x="12692" y="6758"/>
                  </a:moveTo>
                  <a:lnTo>
                    <a:pt x="12690" y="6758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81" name="Freeform 41"/>
            <p:cNvSpPr>
              <a:spLocks/>
            </p:cNvSpPr>
            <p:nvPr/>
          </p:nvSpPr>
          <p:spPr bwMode="auto">
            <a:xfrm>
              <a:off x="3008" y="3026"/>
              <a:ext cx="51" cy="56"/>
            </a:xfrm>
            <a:custGeom>
              <a:avLst/>
              <a:gdLst>
                <a:gd name="T0" fmla="*/ 0 w 349"/>
                <a:gd name="T1" fmla="*/ 388 h 388"/>
                <a:gd name="T2" fmla="*/ 348 w 349"/>
                <a:gd name="T3" fmla="*/ 0 h 388"/>
                <a:gd name="T4" fmla="*/ 349 w 349"/>
                <a:gd name="T5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9" h="388">
                  <a:moveTo>
                    <a:pt x="0" y="388"/>
                  </a:moveTo>
                  <a:lnTo>
                    <a:pt x="348" y="0"/>
                  </a:lnTo>
                  <a:lnTo>
                    <a:pt x="349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82" name="Freeform 42"/>
            <p:cNvSpPr>
              <a:spLocks/>
            </p:cNvSpPr>
            <p:nvPr/>
          </p:nvSpPr>
          <p:spPr bwMode="auto">
            <a:xfrm>
              <a:off x="3037" y="3051"/>
              <a:ext cx="1" cy="1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1 w 1"/>
                <a:gd name="T5" fmla="*/ 0 h 1"/>
                <a:gd name="T6" fmla="*/ 0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83" name="Freeform 43"/>
            <p:cNvSpPr>
              <a:spLocks/>
            </p:cNvSpPr>
            <p:nvPr/>
          </p:nvSpPr>
          <p:spPr bwMode="auto">
            <a:xfrm>
              <a:off x="3037" y="3051"/>
              <a:ext cx="1" cy="1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84" name="Freeform 44"/>
            <p:cNvSpPr>
              <a:spLocks/>
            </p:cNvSpPr>
            <p:nvPr/>
          </p:nvSpPr>
          <p:spPr bwMode="auto">
            <a:xfrm>
              <a:off x="3037" y="3051"/>
              <a:ext cx="1" cy="1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85" name="Freeform 45"/>
            <p:cNvSpPr>
              <a:spLocks/>
            </p:cNvSpPr>
            <p:nvPr/>
          </p:nvSpPr>
          <p:spPr bwMode="auto">
            <a:xfrm>
              <a:off x="3037" y="3051"/>
              <a:ext cx="1" cy="1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86" name="Freeform 46"/>
            <p:cNvSpPr>
              <a:spLocks/>
            </p:cNvSpPr>
            <p:nvPr/>
          </p:nvSpPr>
          <p:spPr bwMode="auto">
            <a:xfrm>
              <a:off x="3038" y="3051"/>
              <a:ext cx="0" cy="1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87" name="Freeform 47"/>
            <p:cNvSpPr>
              <a:spLocks/>
            </p:cNvSpPr>
            <p:nvPr/>
          </p:nvSpPr>
          <p:spPr bwMode="auto">
            <a:xfrm>
              <a:off x="3038" y="3051"/>
              <a:ext cx="0" cy="1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1 h 1"/>
                <a:gd name="T4" fmla="*/ 1 w 2"/>
                <a:gd name="T5" fmla="*/ 0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88" name="Line 48"/>
            <p:cNvSpPr>
              <a:spLocks noChangeShapeType="1"/>
            </p:cNvSpPr>
            <p:nvPr/>
          </p:nvSpPr>
          <p:spPr bwMode="auto">
            <a:xfrm>
              <a:off x="3038" y="3051"/>
              <a:ext cx="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89" name="Freeform 49"/>
            <p:cNvSpPr>
              <a:spLocks/>
            </p:cNvSpPr>
            <p:nvPr/>
          </p:nvSpPr>
          <p:spPr bwMode="auto">
            <a:xfrm>
              <a:off x="3038" y="3051"/>
              <a:ext cx="0" cy="1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90" name="Freeform 50"/>
            <p:cNvSpPr>
              <a:spLocks/>
            </p:cNvSpPr>
            <p:nvPr/>
          </p:nvSpPr>
          <p:spPr bwMode="auto">
            <a:xfrm>
              <a:off x="3038" y="3051"/>
              <a:ext cx="1" cy="1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0 h 1"/>
                <a:gd name="T4" fmla="*/ 0 w 2"/>
                <a:gd name="T5" fmla="*/ 0 h 1"/>
                <a:gd name="T6" fmla="*/ 0 w 2"/>
                <a:gd name="T7" fmla="*/ 1 h 1"/>
                <a:gd name="T8" fmla="*/ 1 w 2"/>
                <a:gd name="T9" fmla="*/ 1 h 1"/>
                <a:gd name="T10" fmla="*/ 2 w 2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91" name="Freeform 51"/>
            <p:cNvSpPr>
              <a:spLocks/>
            </p:cNvSpPr>
            <p:nvPr/>
          </p:nvSpPr>
          <p:spPr bwMode="auto">
            <a:xfrm>
              <a:off x="3038" y="3051"/>
              <a:ext cx="1" cy="1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0 h 1"/>
                <a:gd name="T4" fmla="*/ 0 w 2"/>
                <a:gd name="T5" fmla="*/ 0 h 1"/>
                <a:gd name="T6" fmla="*/ 0 w 2"/>
                <a:gd name="T7" fmla="*/ 1 h 1"/>
                <a:gd name="T8" fmla="*/ 1 w 2"/>
                <a:gd name="T9" fmla="*/ 1 h 1"/>
                <a:gd name="T10" fmla="*/ 2 w 2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92" name="Freeform 52"/>
            <p:cNvSpPr>
              <a:spLocks/>
            </p:cNvSpPr>
            <p:nvPr/>
          </p:nvSpPr>
          <p:spPr bwMode="auto">
            <a:xfrm>
              <a:off x="3038" y="3051"/>
              <a:ext cx="1" cy="1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1 w 1"/>
                <a:gd name="T5" fmla="*/ 0 h 1"/>
                <a:gd name="T6" fmla="*/ 1 w 1"/>
                <a:gd name="T7" fmla="*/ 1 h 1"/>
                <a:gd name="T8" fmla="*/ 0 w 1"/>
                <a:gd name="T9" fmla="*/ 1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93" name="Freeform 53"/>
            <p:cNvSpPr>
              <a:spLocks/>
            </p:cNvSpPr>
            <p:nvPr/>
          </p:nvSpPr>
          <p:spPr bwMode="auto">
            <a:xfrm>
              <a:off x="1128" y="2104"/>
              <a:ext cx="117" cy="60"/>
            </a:xfrm>
            <a:custGeom>
              <a:avLst/>
              <a:gdLst>
                <a:gd name="T0" fmla="*/ 812 w 812"/>
                <a:gd name="T1" fmla="*/ 412 h 412"/>
                <a:gd name="T2" fmla="*/ 0 w 812"/>
                <a:gd name="T3" fmla="*/ 0 h 412"/>
                <a:gd name="T4" fmla="*/ 1 w 812"/>
                <a:gd name="T5" fmla="*/ 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2" h="412">
                  <a:moveTo>
                    <a:pt x="812" y="41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94" name="Freeform 54"/>
            <p:cNvSpPr>
              <a:spLocks/>
            </p:cNvSpPr>
            <p:nvPr/>
          </p:nvSpPr>
          <p:spPr bwMode="auto">
            <a:xfrm>
              <a:off x="1149" y="2078"/>
              <a:ext cx="55" cy="113"/>
            </a:xfrm>
            <a:custGeom>
              <a:avLst/>
              <a:gdLst>
                <a:gd name="T0" fmla="*/ 387 w 387"/>
                <a:gd name="T1" fmla="*/ 0 h 786"/>
                <a:gd name="T2" fmla="*/ 0 w 387"/>
                <a:gd name="T3" fmla="*/ 786 h 786"/>
                <a:gd name="T4" fmla="*/ 1 w 387"/>
                <a:gd name="T5" fmla="*/ 786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7" h="786">
                  <a:moveTo>
                    <a:pt x="387" y="0"/>
                  </a:moveTo>
                  <a:lnTo>
                    <a:pt x="0" y="786"/>
                  </a:lnTo>
                  <a:lnTo>
                    <a:pt x="1" y="78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95" name="Freeform 55"/>
            <p:cNvSpPr>
              <a:spLocks/>
            </p:cNvSpPr>
            <p:nvPr/>
          </p:nvSpPr>
          <p:spPr bwMode="auto">
            <a:xfrm>
              <a:off x="1245" y="2164"/>
              <a:ext cx="0" cy="0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96" name="Freeform 56"/>
            <p:cNvSpPr>
              <a:spLocks/>
            </p:cNvSpPr>
            <p:nvPr/>
          </p:nvSpPr>
          <p:spPr bwMode="auto">
            <a:xfrm>
              <a:off x="1245" y="2164"/>
              <a:ext cx="0" cy="0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97" name="Freeform 57"/>
            <p:cNvSpPr>
              <a:spLocks/>
            </p:cNvSpPr>
            <p:nvPr/>
          </p:nvSpPr>
          <p:spPr bwMode="auto">
            <a:xfrm>
              <a:off x="1204" y="2078"/>
              <a:ext cx="1" cy="1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98" name="Freeform 58"/>
            <p:cNvSpPr>
              <a:spLocks/>
            </p:cNvSpPr>
            <p:nvPr/>
          </p:nvSpPr>
          <p:spPr bwMode="auto">
            <a:xfrm>
              <a:off x="1204" y="2078"/>
              <a:ext cx="1" cy="1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587" name="Text Box 59"/>
            <p:cNvSpPr txBox="1">
              <a:spLocks noChangeArrowheads="1"/>
            </p:cNvSpPr>
            <p:nvPr/>
          </p:nvSpPr>
          <p:spPr bwMode="auto">
            <a:xfrm>
              <a:off x="87" y="2907"/>
              <a:ext cx="1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A</a:t>
              </a:r>
            </a:p>
          </p:txBody>
        </p:sp>
        <p:sp>
          <p:nvSpPr>
            <p:cNvPr id="22588" name="Text Box 60"/>
            <p:cNvSpPr txBox="1">
              <a:spLocks noChangeArrowheads="1"/>
            </p:cNvSpPr>
            <p:nvPr/>
          </p:nvSpPr>
          <p:spPr bwMode="auto">
            <a:xfrm>
              <a:off x="3424" y="2889"/>
              <a:ext cx="4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B</a:t>
              </a:r>
            </a:p>
          </p:txBody>
        </p:sp>
        <p:sp>
          <p:nvSpPr>
            <p:cNvPr id="22589" name="Text Box 61"/>
            <p:cNvSpPr txBox="1">
              <a:spLocks noChangeArrowheads="1"/>
            </p:cNvSpPr>
            <p:nvPr/>
          </p:nvSpPr>
          <p:spPr bwMode="auto">
            <a:xfrm>
              <a:off x="948" y="1872"/>
              <a:ext cx="3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P</a:t>
              </a:r>
              <a:endParaRPr lang="en-US" altLang="en-US" sz="2800" baseline="-25000"/>
            </a:p>
          </p:txBody>
        </p:sp>
        <p:sp>
          <p:nvSpPr>
            <p:cNvPr id="22590" name="Text Box 62"/>
            <p:cNvSpPr txBox="1">
              <a:spLocks noChangeArrowheads="1"/>
            </p:cNvSpPr>
            <p:nvPr/>
          </p:nvSpPr>
          <p:spPr bwMode="auto">
            <a:xfrm>
              <a:off x="2880" y="3030"/>
              <a:ext cx="3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F</a:t>
              </a:r>
              <a:r>
                <a:rPr lang="en-US" altLang="en-US" sz="2800" baseline="-25000"/>
                <a:t>2</a:t>
              </a:r>
            </a:p>
          </p:txBody>
        </p:sp>
        <p:sp>
          <p:nvSpPr>
            <p:cNvPr id="22591" name="Text Box 63"/>
            <p:cNvSpPr txBox="1">
              <a:spLocks noChangeArrowheads="1"/>
            </p:cNvSpPr>
            <p:nvPr/>
          </p:nvSpPr>
          <p:spPr bwMode="auto">
            <a:xfrm>
              <a:off x="1854" y="2775"/>
              <a:ext cx="3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O</a:t>
              </a:r>
            </a:p>
          </p:txBody>
        </p:sp>
        <p:sp>
          <p:nvSpPr>
            <p:cNvPr id="61504" name="Freeform 64"/>
            <p:cNvSpPr>
              <a:spLocks/>
            </p:cNvSpPr>
            <p:nvPr/>
          </p:nvSpPr>
          <p:spPr bwMode="auto">
            <a:xfrm>
              <a:off x="3199" y="3052"/>
              <a:ext cx="233" cy="0"/>
            </a:xfrm>
            <a:custGeom>
              <a:avLst/>
              <a:gdLst>
                <a:gd name="T0" fmla="*/ 0 w 1613"/>
                <a:gd name="T1" fmla="*/ 1612 w 1613"/>
                <a:gd name="T2" fmla="*/ 1613 w 16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613">
                  <a:moveTo>
                    <a:pt x="0" y="0"/>
                  </a:moveTo>
                  <a:lnTo>
                    <a:pt x="1612" y="0"/>
                  </a:lnTo>
                  <a:lnTo>
                    <a:pt x="1613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2593" name="Group 65"/>
            <p:cNvGrpSpPr>
              <a:grpSpLocks/>
            </p:cNvGrpSpPr>
            <p:nvPr/>
          </p:nvGrpSpPr>
          <p:grpSpPr bwMode="auto">
            <a:xfrm>
              <a:off x="328" y="3052"/>
              <a:ext cx="2716" cy="0"/>
              <a:chOff x="228" y="2106"/>
              <a:chExt cx="4704" cy="1"/>
            </a:xfrm>
          </p:grpSpPr>
          <p:sp>
            <p:nvSpPr>
              <p:cNvPr id="61506" name="Freeform 66"/>
              <p:cNvSpPr>
                <a:spLocks/>
              </p:cNvSpPr>
              <p:nvPr/>
            </p:nvSpPr>
            <p:spPr bwMode="auto">
              <a:xfrm>
                <a:off x="930114618" y="4845050"/>
                <a:ext cx="90" cy="0"/>
              </a:xfrm>
              <a:custGeom>
                <a:avLst/>
                <a:gdLst>
                  <a:gd name="T0" fmla="*/ 0 w 359"/>
                  <a:gd name="T1" fmla="*/ 358 w 359"/>
                  <a:gd name="T2" fmla="*/ 359 w 35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59">
                    <a:moveTo>
                      <a:pt x="0" y="0"/>
                    </a:moveTo>
                    <a:lnTo>
                      <a:pt x="358" y="0"/>
                    </a:lnTo>
                    <a:lnTo>
                      <a:pt x="359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1507" name="Freeform 67"/>
              <p:cNvSpPr>
                <a:spLocks/>
              </p:cNvSpPr>
              <p:nvPr/>
            </p:nvSpPr>
            <p:spPr bwMode="auto">
              <a:xfrm>
                <a:off x="1230590882" y="4845050"/>
                <a:ext cx="449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1508" name="Freeform 68"/>
              <p:cNvSpPr>
                <a:spLocks/>
              </p:cNvSpPr>
              <p:nvPr/>
            </p:nvSpPr>
            <p:spPr bwMode="auto">
              <a:xfrm>
                <a:off x="1531793787" y="4845050"/>
                <a:ext cx="88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1509" name="Freeform 69"/>
              <p:cNvSpPr>
                <a:spLocks/>
              </p:cNvSpPr>
              <p:nvPr/>
            </p:nvSpPr>
            <p:spPr bwMode="auto">
              <a:xfrm>
                <a:off x="1832997920" y="4845050"/>
                <a:ext cx="449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1510" name="Freeform 70"/>
              <p:cNvSpPr>
                <a:spLocks/>
              </p:cNvSpPr>
              <p:nvPr/>
            </p:nvSpPr>
            <p:spPr bwMode="auto">
              <a:xfrm>
                <a:off x="2133474543" y="4845050"/>
                <a:ext cx="90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1511" name="Freeform 71"/>
              <p:cNvSpPr>
                <a:spLocks/>
              </p:cNvSpPr>
              <p:nvPr/>
            </p:nvSpPr>
            <p:spPr bwMode="auto">
              <a:xfrm>
                <a:off x="2147483647" y="4845050"/>
                <a:ext cx="449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1512" name="Freeform 72"/>
              <p:cNvSpPr>
                <a:spLocks/>
              </p:cNvSpPr>
              <p:nvPr/>
            </p:nvSpPr>
            <p:spPr bwMode="auto">
              <a:xfrm>
                <a:off x="2147483647" y="4845050"/>
                <a:ext cx="449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1513" name="Freeform 73"/>
              <p:cNvSpPr>
                <a:spLocks/>
              </p:cNvSpPr>
              <p:nvPr/>
            </p:nvSpPr>
            <p:spPr bwMode="auto">
              <a:xfrm>
                <a:off x="2147483647" y="4845050"/>
                <a:ext cx="90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1514" name="Freeform 74"/>
              <p:cNvSpPr>
                <a:spLocks/>
              </p:cNvSpPr>
              <p:nvPr/>
            </p:nvSpPr>
            <p:spPr bwMode="auto">
              <a:xfrm>
                <a:off x="2147483647" y="4845050"/>
                <a:ext cx="449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1515" name="Freeform 75"/>
              <p:cNvSpPr>
                <a:spLocks/>
              </p:cNvSpPr>
              <p:nvPr/>
            </p:nvSpPr>
            <p:spPr bwMode="auto">
              <a:xfrm>
                <a:off x="2147483647" y="4845050"/>
                <a:ext cx="88" cy="0"/>
              </a:xfrm>
              <a:custGeom>
                <a:avLst/>
                <a:gdLst>
                  <a:gd name="T0" fmla="*/ 0 w 359"/>
                  <a:gd name="T1" fmla="*/ 358 w 359"/>
                  <a:gd name="T2" fmla="*/ 359 w 35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59">
                    <a:moveTo>
                      <a:pt x="0" y="0"/>
                    </a:moveTo>
                    <a:lnTo>
                      <a:pt x="358" y="0"/>
                    </a:lnTo>
                    <a:lnTo>
                      <a:pt x="359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1516" name="Freeform 76"/>
              <p:cNvSpPr>
                <a:spLocks/>
              </p:cNvSpPr>
              <p:nvPr/>
            </p:nvSpPr>
            <p:spPr bwMode="auto">
              <a:xfrm>
                <a:off x="2147483647" y="4845050"/>
                <a:ext cx="450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1517" name="Freeform 77"/>
              <p:cNvSpPr>
                <a:spLocks/>
              </p:cNvSpPr>
              <p:nvPr/>
            </p:nvSpPr>
            <p:spPr bwMode="auto">
              <a:xfrm>
                <a:off x="2147483647" y="4845050"/>
                <a:ext cx="90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1518" name="Freeform 78"/>
              <p:cNvSpPr>
                <a:spLocks/>
              </p:cNvSpPr>
              <p:nvPr/>
            </p:nvSpPr>
            <p:spPr bwMode="auto">
              <a:xfrm>
                <a:off x="647098930" y="4845050"/>
                <a:ext cx="404" cy="0"/>
              </a:xfrm>
              <a:custGeom>
                <a:avLst/>
                <a:gdLst>
                  <a:gd name="T0" fmla="*/ 0 w 1613"/>
                  <a:gd name="T1" fmla="*/ 1612 w 1613"/>
                  <a:gd name="T2" fmla="*/ 1613 w 161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613">
                    <a:moveTo>
                      <a:pt x="0" y="0"/>
                    </a:moveTo>
                    <a:lnTo>
                      <a:pt x="1612" y="0"/>
                    </a:lnTo>
                    <a:lnTo>
                      <a:pt x="161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61519" name="Line 79"/>
            <p:cNvSpPr>
              <a:spLocks noChangeShapeType="1"/>
            </p:cNvSpPr>
            <p:nvPr/>
          </p:nvSpPr>
          <p:spPr bwMode="auto">
            <a:xfrm rot="245508" flipV="1">
              <a:off x="749" y="1963"/>
              <a:ext cx="1109" cy="11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520" name="Line 80"/>
            <p:cNvSpPr>
              <a:spLocks noChangeShapeType="1"/>
            </p:cNvSpPr>
            <p:nvPr/>
          </p:nvSpPr>
          <p:spPr bwMode="auto">
            <a:xfrm>
              <a:off x="1878" y="2016"/>
              <a:ext cx="1140" cy="10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521" name="Freeform 81"/>
            <p:cNvSpPr>
              <a:spLocks/>
            </p:cNvSpPr>
            <p:nvPr/>
          </p:nvSpPr>
          <p:spPr bwMode="auto">
            <a:xfrm>
              <a:off x="1234" y="3968"/>
              <a:ext cx="117" cy="60"/>
            </a:xfrm>
            <a:custGeom>
              <a:avLst/>
              <a:gdLst>
                <a:gd name="T0" fmla="*/ 812 w 812"/>
                <a:gd name="T1" fmla="*/ 412 h 412"/>
                <a:gd name="T2" fmla="*/ 0 w 812"/>
                <a:gd name="T3" fmla="*/ 0 h 412"/>
                <a:gd name="T4" fmla="*/ 1 w 812"/>
                <a:gd name="T5" fmla="*/ 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2" h="412">
                  <a:moveTo>
                    <a:pt x="812" y="41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522" name="Freeform 82"/>
            <p:cNvSpPr>
              <a:spLocks/>
            </p:cNvSpPr>
            <p:nvPr/>
          </p:nvSpPr>
          <p:spPr bwMode="auto">
            <a:xfrm>
              <a:off x="1255" y="3942"/>
              <a:ext cx="55" cy="113"/>
            </a:xfrm>
            <a:custGeom>
              <a:avLst/>
              <a:gdLst>
                <a:gd name="T0" fmla="*/ 387 w 387"/>
                <a:gd name="T1" fmla="*/ 0 h 786"/>
                <a:gd name="T2" fmla="*/ 0 w 387"/>
                <a:gd name="T3" fmla="*/ 786 h 786"/>
                <a:gd name="T4" fmla="*/ 1 w 387"/>
                <a:gd name="T5" fmla="*/ 786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7" h="786">
                  <a:moveTo>
                    <a:pt x="387" y="0"/>
                  </a:moveTo>
                  <a:lnTo>
                    <a:pt x="0" y="786"/>
                  </a:lnTo>
                  <a:lnTo>
                    <a:pt x="1" y="78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523" name="Freeform 83"/>
            <p:cNvSpPr>
              <a:spLocks/>
            </p:cNvSpPr>
            <p:nvPr/>
          </p:nvSpPr>
          <p:spPr bwMode="auto">
            <a:xfrm>
              <a:off x="1351" y="4028"/>
              <a:ext cx="0" cy="0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524" name="Freeform 84"/>
            <p:cNvSpPr>
              <a:spLocks/>
            </p:cNvSpPr>
            <p:nvPr/>
          </p:nvSpPr>
          <p:spPr bwMode="auto">
            <a:xfrm>
              <a:off x="1351" y="4028"/>
              <a:ext cx="0" cy="0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525" name="Freeform 85"/>
            <p:cNvSpPr>
              <a:spLocks/>
            </p:cNvSpPr>
            <p:nvPr/>
          </p:nvSpPr>
          <p:spPr bwMode="auto">
            <a:xfrm>
              <a:off x="1310" y="3942"/>
              <a:ext cx="1" cy="1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526" name="Freeform 86"/>
            <p:cNvSpPr>
              <a:spLocks/>
            </p:cNvSpPr>
            <p:nvPr/>
          </p:nvSpPr>
          <p:spPr bwMode="auto">
            <a:xfrm>
              <a:off x="1310" y="3942"/>
              <a:ext cx="1" cy="1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527" name="Line 87"/>
            <p:cNvSpPr>
              <a:spLocks noChangeShapeType="1"/>
            </p:cNvSpPr>
            <p:nvPr/>
          </p:nvSpPr>
          <p:spPr bwMode="auto">
            <a:xfrm>
              <a:off x="711" y="3054"/>
              <a:ext cx="570" cy="9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528" name="Line 88"/>
            <p:cNvSpPr>
              <a:spLocks noChangeShapeType="1"/>
            </p:cNvSpPr>
            <p:nvPr/>
          </p:nvSpPr>
          <p:spPr bwMode="auto">
            <a:xfrm flipV="1">
              <a:off x="1275" y="3054"/>
              <a:ext cx="1746" cy="9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604" name="Text Box 89"/>
            <p:cNvSpPr txBox="1">
              <a:spLocks noChangeArrowheads="1"/>
            </p:cNvSpPr>
            <p:nvPr/>
          </p:nvSpPr>
          <p:spPr bwMode="auto">
            <a:xfrm>
              <a:off x="1096" y="3979"/>
              <a:ext cx="3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Q</a:t>
              </a:r>
              <a:endParaRPr lang="en-US" altLang="en-US" sz="2800" baseline="-25000"/>
            </a:p>
          </p:txBody>
        </p:sp>
        <p:grpSp>
          <p:nvGrpSpPr>
            <p:cNvPr id="22605" name="Group 90"/>
            <p:cNvGrpSpPr>
              <a:grpSpLocks/>
            </p:cNvGrpSpPr>
            <p:nvPr/>
          </p:nvGrpSpPr>
          <p:grpSpPr bwMode="auto">
            <a:xfrm flipH="1" flipV="1">
              <a:off x="3144" y="2958"/>
              <a:ext cx="218" cy="181"/>
              <a:chOff x="4105" y="3049"/>
              <a:chExt cx="235" cy="245"/>
            </a:xfrm>
          </p:grpSpPr>
          <p:sp>
            <p:nvSpPr>
              <p:cNvPr id="61531" name="Line 91"/>
              <p:cNvSpPr>
                <a:spLocks noChangeShapeType="1"/>
              </p:cNvSpPr>
              <p:nvPr/>
            </p:nvSpPr>
            <p:spPr bwMode="auto">
              <a:xfrm>
                <a:off x="4105" y="3067"/>
                <a:ext cx="181" cy="22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1532" name="Line 92"/>
              <p:cNvSpPr>
                <a:spLocks noChangeShapeType="1"/>
              </p:cNvSpPr>
              <p:nvPr/>
            </p:nvSpPr>
            <p:spPr bwMode="auto">
              <a:xfrm>
                <a:off x="4159" y="3049"/>
                <a:ext cx="181" cy="22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2606" name="Group 93"/>
            <p:cNvGrpSpPr>
              <a:grpSpLocks/>
            </p:cNvGrpSpPr>
            <p:nvPr/>
          </p:nvGrpSpPr>
          <p:grpSpPr bwMode="auto">
            <a:xfrm flipH="1" flipV="1">
              <a:off x="368" y="2958"/>
              <a:ext cx="218" cy="181"/>
              <a:chOff x="4105" y="3049"/>
              <a:chExt cx="235" cy="245"/>
            </a:xfrm>
          </p:grpSpPr>
          <p:sp>
            <p:nvSpPr>
              <p:cNvPr id="61534" name="Line 94"/>
              <p:cNvSpPr>
                <a:spLocks noChangeShapeType="1"/>
              </p:cNvSpPr>
              <p:nvPr/>
            </p:nvSpPr>
            <p:spPr bwMode="auto">
              <a:xfrm>
                <a:off x="4105" y="3067"/>
                <a:ext cx="181" cy="22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1535" name="Line 95"/>
              <p:cNvSpPr>
                <a:spLocks noChangeShapeType="1"/>
              </p:cNvSpPr>
              <p:nvPr/>
            </p:nvSpPr>
            <p:spPr bwMode="auto">
              <a:xfrm>
                <a:off x="4159" y="3049"/>
                <a:ext cx="181" cy="22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2607" name="Group 96"/>
            <p:cNvGrpSpPr>
              <a:grpSpLocks/>
            </p:cNvGrpSpPr>
            <p:nvPr/>
          </p:nvGrpSpPr>
          <p:grpSpPr bwMode="auto">
            <a:xfrm>
              <a:off x="1734" y="1741"/>
              <a:ext cx="271" cy="2591"/>
              <a:chOff x="1650" y="-63"/>
              <a:chExt cx="271" cy="2591"/>
            </a:xfrm>
          </p:grpSpPr>
          <p:sp>
            <p:nvSpPr>
              <p:cNvPr id="22608" name="Text Box 97"/>
              <p:cNvSpPr txBox="1">
                <a:spLocks noChangeArrowheads="1"/>
              </p:cNvSpPr>
              <p:nvPr/>
            </p:nvSpPr>
            <p:spPr bwMode="auto">
              <a:xfrm>
                <a:off x="1650" y="-63"/>
                <a:ext cx="26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/>
                  <a:t>C</a:t>
                </a:r>
              </a:p>
            </p:txBody>
          </p:sp>
          <p:sp>
            <p:nvSpPr>
              <p:cNvPr id="22609" name="Text Box 98"/>
              <p:cNvSpPr txBox="1">
                <a:spLocks noChangeArrowheads="1"/>
              </p:cNvSpPr>
              <p:nvPr/>
            </p:nvSpPr>
            <p:spPr bwMode="auto">
              <a:xfrm>
                <a:off x="1655" y="2201"/>
                <a:ext cx="26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/>
                  <a:t>D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autoUpdateAnimBg="0"/>
      <p:bldP spid="61443" grpId="0" animBg="1" autoUpdateAnimBg="0"/>
      <p:bldP spid="61444" grpId="0" animBg="1" autoUpdateAnimBg="0"/>
      <p:bldP spid="6144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709613" y="181927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F</a:t>
            </a:r>
            <a:r>
              <a:rPr lang="en-US" altLang="en-US" sz="2800" baseline="-25000"/>
              <a:t>1</a:t>
            </a:r>
          </a:p>
        </p:txBody>
      </p:sp>
      <p:grpSp>
        <p:nvGrpSpPr>
          <p:cNvPr id="62467" name="Group 3"/>
          <p:cNvGrpSpPr>
            <a:grpSpLocks/>
          </p:cNvGrpSpPr>
          <p:nvPr/>
        </p:nvGrpSpPr>
        <p:grpSpPr bwMode="auto">
          <a:xfrm>
            <a:off x="2886075" y="180975"/>
            <a:ext cx="1588" cy="3286125"/>
            <a:chOff x="2916" y="310"/>
            <a:chExt cx="1" cy="3592"/>
          </a:xfrm>
        </p:grpSpPr>
        <p:sp>
          <p:nvSpPr>
            <p:cNvPr id="62468" name="Freeform 4"/>
            <p:cNvSpPr>
              <a:spLocks/>
            </p:cNvSpPr>
            <p:nvPr/>
          </p:nvSpPr>
          <p:spPr bwMode="auto">
            <a:xfrm>
              <a:off x="2916" y="1702"/>
              <a:ext cx="1" cy="404"/>
            </a:xfrm>
            <a:custGeom>
              <a:avLst/>
              <a:gdLst>
                <a:gd name="T0" fmla="*/ 0 w 1"/>
                <a:gd name="T1" fmla="*/ 1616 h 1616"/>
                <a:gd name="T2" fmla="*/ 0 w 1"/>
                <a:gd name="T3" fmla="*/ 0 h 1616"/>
                <a:gd name="T4" fmla="*/ 1 w 1"/>
                <a:gd name="T5" fmla="*/ 0 h 1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6">
                  <a:moveTo>
                    <a:pt x="0" y="16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69" name="Freeform 5"/>
            <p:cNvSpPr>
              <a:spLocks/>
            </p:cNvSpPr>
            <p:nvPr/>
          </p:nvSpPr>
          <p:spPr bwMode="auto">
            <a:xfrm>
              <a:off x="2916" y="1521"/>
              <a:ext cx="1" cy="90"/>
            </a:xfrm>
            <a:custGeom>
              <a:avLst/>
              <a:gdLst>
                <a:gd name="T0" fmla="*/ 0 w 1"/>
                <a:gd name="T1" fmla="*/ 359 h 359"/>
                <a:gd name="T2" fmla="*/ 0 w 1"/>
                <a:gd name="T3" fmla="*/ 0 h 359"/>
                <a:gd name="T4" fmla="*/ 1 w 1"/>
                <a:gd name="T5" fmla="*/ 0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9">
                  <a:moveTo>
                    <a:pt x="0" y="35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70" name="Freeform 6"/>
            <p:cNvSpPr>
              <a:spLocks/>
            </p:cNvSpPr>
            <p:nvPr/>
          </p:nvSpPr>
          <p:spPr bwMode="auto">
            <a:xfrm>
              <a:off x="2916" y="983"/>
              <a:ext cx="1" cy="449"/>
            </a:xfrm>
            <a:custGeom>
              <a:avLst/>
              <a:gdLst>
                <a:gd name="T0" fmla="*/ 0 w 1"/>
                <a:gd name="T1" fmla="*/ 1796 h 1796"/>
                <a:gd name="T2" fmla="*/ 0 w 1"/>
                <a:gd name="T3" fmla="*/ 0 h 1796"/>
                <a:gd name="T4" fmla="*/ 1 w 1"/>
                <a:gd name="T5" fmla="*/ 0 h 1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96">
                  <a:moveTo>
                    <a:pt x="0" y="179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71" name="Freeform 7"/>
            <p:cNvSpPr>
              <a:spLocks/>
            </p:cNvSpPr>
            <p:nvPr/>
          </p:nvSpPr>
          <p:spPr bwMode="auto">
            <a:xfrm>
              <a:off x="2916" y="805"/>
              <a:ext cx="1" cy="90"/>
            </a:xfrm>
            <a:custGeom>
              <a:avLst/>
              <a:gdLst>
                <a:gd name="T0" fmla="*/ 0 w 1"/>
                <a:gd name="T1" fmla="*/ 360 h 360"/>
                <a:gd name="T2" fmla="*/ 0 w 1"/>
                <a:gd name="T3" fmla="*/ 0 h 360"/>
                <a:gd name="T4" fmla="*/ 1 w 1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0">
                  <a:moveTo>
                    <a:pt x="0" y="36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72" name="Freeform 8"/>
            <p:cNvSpPr>
              <a:spLocks/>
            </p:cNvSpPr>
            <p:nvPr/>
          </p:nvSpPr>
          <p:spPr bwMode="auto">
            <a:xfrm>
              <a:off x="2916" y="310"/>
              <a:ext cx="1" cy="404"/>
            </a:xfrm>
            <a:custGeom>
              <a:avLst/>
              <a:gdLst>
                <a:gd name="T0" fmla="*/ 0 w 1"/>
                <a:gd name="T1" fmla="*/ 1616 h 1616"/>
                <a:gd name="T2" fmla="*/ 0 w 1"/>
                <a:gd name="T3" fmla="*/ 0 h 1616"/>
                <a:gd name="T4" fmla="*/ 1 w 1"/>
                <a:gd name="T5" fmla="*/ 0 h 1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6">
                  <a:moveTo>
                    <a:pt x="0" y="16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73" name="Freeform 9"/>
            <p:cNvSpPr>
              <a:spLocks/>
            </p:cNvSpPr>
            <p:nvPr/>
          </p:nvSpPr>
          <p:spPr bwMode="auto">
            <a:xfrm>
              <a:off x="2916" y="2106"/>
              <a:ext cx="1" cy="404"/>
            </a:xfrm>
            <a:custGeom>
              <a:avLst/>
              <a:gdLst>
                <a:gd name="T0" fmla="*/ 0 w 1"/>
                <a:gd name="T1" fmla="*/ 0 h 1617"/>
                <a:gd name="T2" fmla="*/ 0 w 1"/>
                <a:gd name="T3" fmla="*/ 1617 h 1617"/>
                <a:gd name="T4" fmla="*/ 1 w 1"/>
                <a:gd name="T5" fmla="*/ 1617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7">
                  <a:moveTo>
                    <a:pt x="0" y="0"/>
                  </a:moveTo>
                  <a:lnTo>
                    <a:pt x="0" y="1617"/>
                  </a:lnTo>
                  <a:lnTo>
                    <a:pt x="1" y="161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74" name="Freeform 10"/>
            <p:cNvSpPr>
              <a:spLocks/>
            </p:cNvSpPr>
            <p:nvPr/>
          </p:nvSpPr>
          <p:spPr bwMode="auto">
            <a:xfrm>
              <a:off x="2916" y="2601"/>
              <a:ext cx="1" cy="90"/>
            </a:xfrm>
            <a:custGeom>
              <a:avLst/>
              <a:gdLst>
                <a:gd name="T0" fmla="*/ 0 w 1"/>
                <a:gd name="T1" fmla="*/ 0 h 358"/>
                <a:gd name="T2" fmla="*/ 0 w 1"/>
                <a:gd name="T3" fmla="*/ 358 h 358"/>
                <a:gd name="T4" fmla="*/ 1 w 1"/>
                <a:gd name="T5" fmla="*/ 358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8">
                  <a:moveTo>
                    <a:pt x="0" y="0"/>
                  </a:moveTo>
                  <a:lnTo>
                    <a:pt x="0" y="358"/>
                  </a:lnTo>
                  <a:lnTo>
                    <a:pt x="1" y="35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75" name="Freeform 11"/>
            <p:cNvSpPr>
              <a:spLocks/>
            </p:cNvSpPr>
            <p:nvPr/>
          </p:nvSpPr>
          <p:spPr bwMode="auto">
            <a:xfrm>
              <a:off x="2916" y="2779"/>
              <a:ext cx="1" cy="449"/>
            </a:xfrm>
            <a:custGeom>
              <a:avLst/>
              <a:gdLst>
                <a:gd name="T0" fmla="*/ 0 w 1"/>
                <a:gd name="T1" fmla="*/ 0 h 1796"/>
                <a:gd name="T2" fmla="*/ 0 w 1"/>
                <a:gd name="T3" fmla="*/ 1796 h 1796"/>
                <a:gd name="T4" fmla="*/ 1 w 1"/>
                <a:gd name="T5" fmla="*/ 1796 h 1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96">
                  <a:moveTo>
                    <a:pt x="0" y="0"/>
                  </a:moveTo>
                  <a:lnTo>
                    <a:pt x="0" y="1796"/>
                  </a:lnTo>
                  <a:lnTo>
                    <a:pt x="1" y="179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76" name="Freeform 12"/>
            <p:cNvSpPr>
              <a:spLocks/>
            </p:cNvSpPr>
            <p:nvPr/>
          </p:nvSpPr>
          <p:spPr bwMode="auto">
            <a:xfrm>
              <a:off x="2916" y="3319"/>
              <a:ext cx="1" cy="88"/>
            </a:xfrm>
            <a:custGeom>
              <a:avLst/>
              <a:gdLst>
                <a:gd name="T0" fmla="*/ 0 w 1"/>
                <a:gd name="T1" fmla="*/ 0 h 359"/>
                <a:gd name="T2" fmla="*/ 0 w 1"/>
                <a:gd name="T3" fmla="*/ 359 h 359"/>
                <a:gd name="T4" fmla="*/ 1 w 1"/>
                <a:gd name="T5" fmla="*/ 359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9">
                  <a:moveTo>
                    <a:pt x="0" y="0"/>
                  </a:moveTo>
                  <a:lnTo>
                    <a:pt x="0" y="359"/>
                  </a:lnTo>
                  <a:lnTo>
                    <a:pt x="1" y="35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77" name="Freeform 13"/>
            <p:cNvSpPr>
              <a:spLocks/>
            </p:cNvSpPr>
            <p:nvPr/>
          </p:nvSpPr>
          <p:spPr bwMode="auto">
            <a:xfrm>
              <a:off x="2916" y="3498"/>
              <a:ext cx="1" cy="404"/>
            </a:xfrm>
            <a:custGeom>
              <a:avLst/>
              <a:gdLst>
                <a:gd name="T0" fmla="*/ 0 w 1"/>
                <a:gd name="T1" fmla="*/ 0 h 1616"/>
                <a:gd name="T2" fmla="*/ 0 w 1"/>
                <a:gd name="T3" fmla="*/ 1616 h 1616"/>
                <a:gd name="T4" fmla="*/ 1 w 1"/>
                <a:gd name="T5" fmla="*/ 1616 h 1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6">
                  <a:moveTo>
                    <a:pt x="0" y="0"/>
                  </a:moveTo>
                  <a:lnTo>
                    <a:pt x="0" y="1616"/>
                  </a:lnTo>
                  <a:lnTo>
                    <a:pt x="1" y="161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2478" name="Group 14"/>
          <p:cNvGrpSpPr>
            <a:grpSpLocks/>
          </p:cNvGrpSpPr>
          <p:nvPr/>
        </p:nvGrpSpPr>
        <p:grpSpPr bwMode="auto">
          <a:xfrm>
            <a:off x="430213" y="180975"/>
            <a:ext cx="4911725" cy="3286125"/>
            <a:chOff x="168" y="2071"/>
            <a:chExt cx="3094" cy="2070"/>
          </a:xfrm>
        </p:grpSpPr>
        <p:sp>
          <p:nvSpPr>
            <p:cNvPr id="62479" name="Freeform 15"/>
            <p:cNvSpPr>
              <a:spLocks/>
            </p:cNvSpPr>
            <p:nvPr/>
          </p:nvSpPr>
          <p:spPr bwMode="auto">
            <a:xfrm>
              <a:off x="168" y="2564"/>
              <a:ext cx="225" cy="1085"/>
            </a:xfrm>
            <a:custGeom>
              <a:avLst/>
              <a:gdLst>
                <a:gd name="T0" fmla="*/ 1559 w 1560"/>
                <a:gd name="T1" fmla="*/ 0 h 7528"/>
                <a:gd name="T2" fmla="*/ 800 w 1560"/>
                <a:gd name="T3" fmla="*/ 925 h 7528"/>
                <a:gd name="T4" fmla="*/ 272 w 1560"/>
                <a:gd name="T5" fmla="*/ 1999 h 7528"/>
                <a:gd name="T6" fmla="*/ 0 w 1560"/>
                <a:gd name="T7" fmla="*/ 3165 h 7528"/>
                <a:gd name="T8" fmla="*/ 0 w 1560"/>
                <a:gd name="T9" fmla="*/ 4363 h 7528"/>
                <a:gd name="T10" fmla="*/ 272 w 1560"/>
                <a:gd name="T11" fmla="*/ 5530 h 7528"/>
                <a:gd name="T12" fmla="*/ 800 w 1560"/>
                <a:gd name="T13" fmla="*/ 6603 h 7528"/>
                <a:gd name="T14" fmla="*/ 1559 w 1560"/>
                <a:gd name="T15" fmla="*/ 7528 h 7528"/>
                <a:gd name="T16" fmla="*/ 1560 w 1560"/>
                <a:gd name="T17" fmla="*/ 7528 h 7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0" h="7528">
                  <a:moveTo>
                    <a:pt x="1559" y="0"/>
                  </a:moveTo>
                  <a:lnTo>
                    <a:pt x="800" y="925"/>
                  </a:lnTo>
                  <a:lnTo>
                    <a:pt x="272" y="1999"/>
                  </a:lnTo>
                  <a:lnTo>
                    <a:pt x="0" y="3165"/>
                  </a:lnTo>
                  <a:lnTo>
                    <a:pt x="0" y="4363"/>
                  </a:lnTo>
                  <a:lnTo>
                    <a:pt x="272" y="5530"/>
                  </a:lnTo>
                  <a:lnTo>
                    <a:pt x="800" y="6603"/>
                  </a:lnTo>
                  <a:lnTo>
                    <a:pt x="1559" y="7528"/>
                  </a:lnTo>
                  <a:lnTo>
                    <a:pt x="1560" y="752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80" name="Freeform 16"/>
            <p:cNvSpPr>
              <a:spLocks/>
            </p:cNvSpPr>
            <p:nvPr/>
          </p:nvSpPr>
          <p:spPr bwMode="auto">
            <a:xfrm>
              <a:off x="393" y="2183"/>
              <a:ext cx="621" cy="381"/>
            </a:xfrm>
            <a:custGeom>
              <a:avLst/>
              <a:gdLst>
                <a:gd name="T0" fmla="*/ 4301 w 4301"/>
                <a:gd name="T1" fmla="*/ 0 h 2646"/>
                <a:gd name="T2" fmla="*/ 2728 w 4301"/>
                <a:gd name="T3" fmla="*/ 639 h 2646"/>
                <a:gd name="T4" fmla="*/ 1282 w 4301"/>
                <a:gd name="T5" fmla="*/ 1529 h 2646"/>
                <a:gd name="T6" fmla="*/ 0 w 4301"/>
                <a:gd name="T7" fmla="*/ 2646 h 2646"/>
                <a:gd name="T8" fmla="*/ 1 w 4301"/>
                <a:gd name="T9" fmla="*/ 2646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1" h="2646">
                  <a:moveTo>
                    <a:pt x="4301" y="0"/>
                  </a:moveTo>
                  <a:lnTo>
                    <a:pt x="2728" y="639"/>
                  </a:lnTo>
                  <a:lnTo>
                    <a:pt x="1282" y="1529"/>
                  </a:lnTo>
                  <a:lnTo>
                    <a:pt x="0" y="2646"/>
                  </a:lnTo>
                  <a:lnTo>
                    <a:pt x="1" y="26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81" name="Freeform 17"/>
            <p:cNvSpPr>
              <a:spLocks/>
            </p:cNvSpPr>
            <p:nvPr/>
          </p:nvSpPr>
          <p:spPr bwMode="auto">
            <a:xfrm>
              <a:off x="1014" y="2071"/>
              <a:ext cx="701" cy="112"/>
            </a:xfrm>
            <a:custGeom>
              <a:avLst/>
              <a:gdLst>
                <a:gd name="T0" fmla="*/ 4856 w 4856"/>
                <a:gd name="T1" fmla="*/ 0 h 774"/>
                <a:gd name="T2" fmla="*/ 2397 w 4856"/>
                <a:gd name="T3" fmla="*/ 190 h 774"/>
                <a:gd name="T4" fmla="*/ 0 w 4856"/>
                <a:gd name="T5" fmla="*/ 774 h 774"/>
                <a:gd name="T6" fmla="*/ 1 w 4856"/>
                <a:gd name="T7" fmla="*/ 77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6" h="774">
                  <a:moveTo>
                    <a:pt x="4856" y="0"/>
                  </a:moveTo>
                  <a:lnTo>
                    <a:pt x="2397" y="190"/>
                  </a:lnTo>
                  <a:lnTo>
                    <a:pt x="0" y="774"/>
                  </a:lnTo>
                  <a:lnTo>
                    <a:pt x="1" y="77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82" name="Freeform 18"/>
            <p:cNvSpPr>
              <a:spLocks/>
            </p:cNvSpPr>
            <p:nvPr/>
          </p:nvSpPr>
          <p:spPr bwMode="auto">
            <a:xfrm>
              <a:off x="393" y="3649"/>
              <a:ext cx="621" cy="381"/>
            </a:xfrm>
            <a:custGeom>
              <a:avLst/>
              <a:gdLst>
                <a:gd name="T0" fmla="*/ 0 w 4302"/>
                <a:gd name="T1" fmla="*/ 0 h 2646"/>
                <a:gd name="T2" fmla="*/ 1282 w 4302"/>
                <a:gd name="T3" fmla="*/ 1117 h 2646"/>
                <a:gd name="T4" fmla="*/ 2728 w 4302"/>
                <a:gd name="T5" fmla="*/ 2007 h 2646"/>
                <a:gd name="T6" fmla="*/ 4301 w 4302"/>
                <a:gd name="T7" fmla="*/ 2646 h 2646"/>
                <a:gd name="T8" fmla="*/ 4302 w 4302"/>
                <a:gd name="T9" fmla="*/ 2646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2" h="2646">
                  <a:moveTo>
                    <a:pt x="0" y="0"/>
                  </a:moveTo>
                  <a:lnTo>
                    <a:pt x="1282" y="1117"/>
                  </a:lnTo>
                  <a:lnTo>
                    <a:pt x="2728" y="2007"/>
                  </a:lnTo>
                  <a:lnTo>
                    <a:pt x="4301" y="2646"/>
                  </a:lnTo>
                  <a:lnTo>
                    <a:pt x="4302" y="264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83" name="Freeform 19"/>
            <p:cNvSpPr>
              <a:spLocks/>
            </p:cNvSpPr>
            <p:nvPr/>
          </p:nvSpPr>
          <p:spPr bwMode="auto">
            <a:xfrm>
              <a:off x="1014" y="4030"/>
              <a:ext cx="701" cy="111"/>
            </a:xfrm>
            <a:custGeom>
              <a:avLst/>
              <a:gdLst>
                <a:gd name="T0" fmla="*/ 0 w 4857"/>
                <a:gd name="T1" fmla="*/ 0 h 774"/>
                <a:gd name="T2" fmla="*/ 2397 w 4857"/>
                <a:gd name="T3" fmla="*/ 584 h 774"/>
                <a:gd name="T4" fmla="*/ 4856 w 4857"/>
                <a:gd name="T5" fmla="*/ 774 h 774"/>
                <a:gd name="T6" fmla="*/ 4857 w 4857"/>
                <a:gd name="T7" fmla="*/ 77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7" h="774">
                  <a:moveTo>
                    <a:pt x="0" y="0"/>
                  </a:moveTo>
                  <a:lnTo>
                    <a:pt x="2397" y="584"/>
                  </a:lnTo>
                  <a:lnTo>
                    <a:pt x="4856" y="774"/>
                  </a:lnTo>
                  <a:lnTo>
                    <a:pt x="4857" y="774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84" name="Freeform 20"/>
            <p:cNvSpPr>
              <a:spLocks/>
            </p:cNvSpPr>
            <p:nvPr/>
          </p:nvSpPr>
          <p:spPr bwMode="auto">
            <a:xfrm>
              <a:off x="3037" y="2564"/>
              <a:ext cx="225" cy="1085"/>
            </a:xfrm>
            <a:custGeom>
              <a:avLst/>
              <a:gdLst>
                <a:gd name="T0" fmla="*/ 0 w 1559"/>
                <a:gd name="T1" fmla="*/ 7528 h 7528"/>
                <a:gd name="T2" fmla="*/ 758 w 1559"/>
                <a:gd name="T3" fmla="*/ 6603 h 7528"/>
                <a:gd name="T4" fmla="*/ 1287 w 1559"/>
                <a:gd name="T5" fmla="*/ 5530 h 7528"/>
                <a:gd name="T6" fmla="*/ 1559 w 1559"/>
                <a:gd name="T7" fmla="*/ 4363 h 7528"/>
                <a:gd name="T8" fmla="*/ 1559 w 1559"/>
                <a:gd name="T9" fmla="*/ 3165 h 7528"/>
                <a:gd name="T10" fmla="*/ 1287 w 1559"/>
                <a:gd name="T11" fmla="*/ 1999 h 7528"/>
                <a:gd name="T12" fmla="*/ 758 w 1559"/>
                <a:gd name="T13" fmla="*/ 925 h 7528"/>
                <a:gd name="T14" fmla="*/ 0 w 1559"/>
                <a:gd name="T15" fmla="*/ 0 h 7528"/>
                <a:gd name="T16" fmla="*/ 1 w 1559"/>
                <a:gd name="T17" fmla="*/ 0 h 7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59" h="7528">
                  <a:moveTo>
                    <a:pt x="0" y="7528"/>
                  </a:moveTo>
                  <a:lnTo>
                    <a:pt x="758" y="6603"/>
                  </a:lnTo>
                  <a:lnTo>
                    <a:pt x="1287" y="5530"/>
                  </a:lnTo>
                  <a:lnTo>
                    <a:pt x="1559" y="4363"/>
                  </a:lnTo>
                  <a:lnTo>
                    <a:pt x="1559" y="3165"/>
                  </a:lnTo>
                  <a:lnTo>
                    <a:pt x="1287" y="1999"/>
                  </a:lnTo>
                  <a:lnTo>
                    <a:pt x="758" y="925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85" name="Freeform 21"/>
            <p:cNvSpPr>
              <a:spLocks/>
            </p:cNvSpPr>
            <p:nvPr/>
          </p:nvSpPr>
          <p:spPr bwMode="auto">
            <a:xfrm>
              <a:off x="2416" y="2183"/>
              <a:ext cx="621" cy="381"/>
            </a:xfrm>
            <a:custGeom>
              <a:avLst/>
              <a:gdLst>
                <a:gd name="T0" fmla="*/ 4302 w 4302"/>
                <a:gd name="T1" fmla="*/ 2646 h 2646"/>
                <a:gd name="T2" fmla="*/ 3020 w 4302"/>
                <a:gd name="T3" fmla="*/ 1529 h 2646"/>
                <a:gd name="T4" fmla="*/ 1574 w 4302"/>
                <a:gd name="T5" fmla="*/ 639 h 2646"/>
                <a:gd name="T6" fmla="*/ 0 w 4302"/>
                <a:gd name="T7" fmla="*/ 0 h 2646"/>
                <a:gd name="T8" fmla="*/ 1 w 4302"/>
                <a:gd name="T9" fmla="*/ 0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2" h="2646">
                  <a:moveTo>
                    <a:pt x="4302" y="2646"/>
                  </a:moveTo>
                  <a:lnTo>
                    <a:pt x="3020" y="1529"/>
                  </a:lnTo>
                  <a:lnTo>
                    <a:pt x="1574" y="639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86" name="Freeform 22"/>
            <p:cNvSpPr>
              <a:spLocks/>
            </p:cNvSpPr>
            <p:nvPr/>
          </p:nvSpPr>
          <p:spPr bwMode="auto">
            <a:xfrm>
              <a:off x="1715" y="2071"/>
              <a:ext cx="701" cy="112"/>
            </a:xfrm>
            <a:custGeom>
              <a:avLst/>
              <a:gdLst>
                <a:gd name="T0" fmla="*/ 4856 w 4856"/>
                <a:gd name="T1" fmla="*/ 774 h 774"/>
                <a:gd name="T2" fmla="*/ 2460 w 4856"/>
                <a:gd name="T3" fmla="*/ 190 h 774"/>
                <a:gd name="T4" fmla="*/ 0 w 4856"/>
                <a:gd name="T5" fmla="*/ 0 h 774"/>
                <a:gd name="T6" fmla="*/ 1 w 4856"/>
                <a:gd name="T7" fmla="*/ 0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6" h="774">
                  <a:moveTo>
                    <a:pt x="4856" y="774"/>
                  </a:moveTo>
                  <a:lnTo>
                    <a:pt x="2460" y="19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87" name="Freeform 23"/>
            <p:cNvSpPr>
              <a:spLocks/>
            </p:cNvSpPr>
            <p:nvPr/>
          </p:nvSpPr>
          <p:spPr bwMode="auto">
            <a:xfrm>
              <a:off x="2416" y="3649"/>
              <a:ext cx="621" cy="381"/>
            </a:xfrm>
            <a:custGeom>
              <a:avLst/>
              <a:gdLst>
                <a:gd name="T0" fmla="*/ 0 w 4303"/>
                <a:gd name="T1" fmla="*/ 2646 h 2646"/>
                <a:gd name="T2" fmla="*/ 1574 w 4303"/>
                <a:gd name="T3" fmla="*/ 2007 h 2646"/>
                <a:gd name="T4" fmla="*/ 3020 w 4303"/>
                <a:gd name="T5" fmla="*/ 1117 h 2646"/>
                <a:gd name="T6" fmla="*/ 4302 w 4303"/>
                <a:gd name="T7" fmla="*/ 0 h 2646"/>
                <a:gd name="T8" fmla="*/ 4303 w 4303"/>
                <a:gd name="T9" fmla="*/ 0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3" h="2646">
                  <a:moveTo>
                    <a:pt x="0" y="2646"/>
                  </a:moveTo>
                  <a:lnTo>
                    <a:pt x="1574" y="2007"/>
                  </a:lnTo>
                  <a:lnTo>
                    <a:pt x="3020" y="1117"/>
                  </a:lnTo>
                  <a:lnTo>
                    <a:pt x="4302" y="0"/>
                  </a:lnTo>
                  <a:lnTo>
                    <a:pt x="430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88" name="Freeform 24"/>
            <p:cNvSpPr>
              <a:spLocks/>
            </p:cNvSpPr>
            <p:nvPr/>
          </p:nvSpPr>
          <p:spPr bwMode="auto">
            <a:xfrm>
              <a:off x="1715" y="4030"/>
              <a:ext cx="701" cy="111"/>
            </a:xfrm>
            <a:custGeom>
              <a:avLst/>
              <a:gdLst>
                <a:gd name="T0" fmla="*/ 0 w 4857"/>
                <a:gd name="T1" fmla="*/ 774 h 774"/>
                <a:gd name="T2" fmla="*/ 2460 w 4857"/>
                <a:gd name="T3" fmla="*/ 584 h 774"/>
                <a:gd name="T4" fmla="*/ 4856 w 4857"/>
                <a:gd name="T5" fmla="*/ 0 h 774"/>
                <a:gd name="T6" fmla="*/ 4857 w 4857"/>
                <a:gd name="T7" fmla="*/ 0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7" h="774">
                  <a:moveTo>
                    <a:pt x="0" y="774"/>
                  </a:moveTo>
                  <a:lnTo>
                    <a:pt x="2460" y="584"/>
                  </a:lnTo>
                  <a:lnTo>
                    <a:pt x="4856" y="0"/>
                  </a:lnTo>
                  <a:lnTo>
                    <a:pt x="4857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2489" name="Freeform 25"/>
          <p:cNvSpPr>
            <a:spLocks/>
          </p:cNvSpPr>
          <p:nvPr/>
        </p:nvSpPr>
        <p:spPr bwMode="auto">
          <a:xfrm rot="-249819">
            <a:off x="996950" y="385763"/>
            <a:ext cx="828675" cy="1408112"/>
          </a:xfrm>
          <a:custGeom>
            <a:avLst/>
            <a:gdLst>
              <a:gd name="T0" fmla="*/ 0 w 3617"/>
              <a:gd name="T1" fmla="*/ 6161 h 6161"/>
              <a:gd name="T2" fmla="*/ 1 w 3617"/>
              <a:gd name="T3" fmla="*/ 6161 h 6161"/>
              <a:gd name="T4" fmla="*/ 3616 w 3617"/>
              <a:gd name="T5" fmla="*/ 0 h 6161"/>
              <a:gd name="T6" fmla="*/ 3617 w 3617"/>
              <a:gd name="T7" fmla="*/ 0 h 6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17" h="6161">
                <a:moveTo>
                  <a:pt x="0" y="6161"/>
                </a:moveTo>
                <a:lnTo>
                  <a:pt x="1" y="6161"/>
                </a:lnTo>
                <a:lnTo>
                  <a:pt x="3616" y="0"/>
                </a:lnTo>
                <a:lnTo>
                  <a:pt x="3617" y="0"/>
                </a:lnTo>
              </a:path>
            </a:pathLst>
          </a:custGeom>
          <a:noFill/>
          <a:ln w="28575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2490" name="Group 26"/>
          <p:cNvGrpSpPr>
            <a:grpSpLocks/>
          </p:cNvGrpSpPr>
          <p:nvPr/>
        </p:nvGrpSpPr>
        <p:grpSpPr bwMode="auto">
          <a:xfrm>
            <a:off x="1014413" y="1784350"/>
            <a:ext cx="79375" cy="88900"/>
            <a:chOff x="563" y="2570"/>
            <a:chExt cx="50" cy="56"/>
          </a:xfrm>
        </p:grpSpPr>
        <p:sp>
          <p:nvSpPr>
            <p:cNvPr id="62491" name="Freeform 27"/>
            <p:cNvSpPr>
              <a:spLocks/>
            </p:cNvSpPr>
            <p:nvPr/>
          </p:nvSpPr>
          <p:spPr bwMode="auto">
            <a:xfrm>
              <a:off x="563" y="2570"/>
              <a:ext cx="50" cy="56"/>
            </a:xfrm>
            <a:custGeom>
              <a:avLst/>
              <a:gdLst>
                <a:gd name="T0" fmla="*/ 0 w 349"/>
                <a:gd name="T1" fmla="*/ 0 h 388"/>
                <a:gd name="T2" fmla="*/ 348 w 349"/>
                <a:gd name="T3" fmla="*/ 388 h 388"/>
                <a:gd name="T4" fmla="*/ 349 w 349"/>
                <a:gd name="T5" fmla="*/ 388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9" h="388">
                  <a:moveTo>
                    <a:pt x="0" y="0"/>
                  </a:moveTo>
                  <a:lnTo>
                    <a:pt x="348" y="388"/>
                  </a:lnTo>
                  <a:lnTo>
                    <a:pt x="349" y="38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92" name="Freeform 28"/>
            <p:cNvSpPr>
              <a:spLocks/>
            </p:cNvSpPr>
            <p:nvPr/>
          </p:nvSpPr>
          <p:spPr bwMode="auto">
            <a:xfrm>
              <a:off x="583" y="2595"/>
              <a:ext cx="1" cy="1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1 w 1"/>
                <a:gd name="T5" fmla="*/ 0 h 1"/>
                <a:gd name="T6" fmla="*/ 0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93" name="Freeform 29"/>
            <p:cNvSpPr>
              <a:spLocks/>
            </p:cNvSpPr>
            <p:nvPr/>
          </p:nvSpPr>
          <p:spPr bwMode="auto">
            <a:xfrm>
              <a:off x="584" y="2595"/>
              <a:ext cx="0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94" name="Freeform 30"/>
            <p:cNvSpPr>
              <a:spLocks/>
            </p:cNvSpPr>
            <p:nvPr/>
          </p:nvSpPr>
          <p:spPr bwMode="auto">
            <a:xfrm>
              <a:off x="584" y="2595"/>
              <a:ext cx="0" cy="1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1 h 1"/>
                <a:gd name="T4" fmla="*/ 1 w 2"/>
                <a:gd name="T5" fmla="*/ 0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95" name="Freeform 31"/>
            <p:cNvSpPr>
              <a:spLocks/>
            </p:cNvSpPr>
            <p:nvPr/>
          </p:nvSpPr>
          <p:spPr bwMode="auto">
            <a:xfrm>
              <a:off x="584" y="2595"/>
              <a:ext cx="0" cy="1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1 h 1"/>
                <a:gd name="T4" fmla="*/ 1 w 2"/>
                <a:gd name="T5" fmla="*/ 0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96" name="Freeform 32"/>
            <p:cNvSpPr>
              <a:spLocks/>
            </p:cNvSpPr>
            <p:nvPr/>
          </p:nvSpPr>
          <p:spPr bwMode="auto">
            <a:xfrm>
              <a:off x="584" y="2595"/>
              <a:ext cx="0" cy="1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1 h 1"/>
                <a:gd name="T4" fmla="*/ 1 w 2"/>
                <a:gd name="T5" fmla="*/ 0 h 1"/>
                <a:gd name="T6" fmla="*/ 1 w 2"/>
                <a:gd name="T7" fmla="*/ 1 h 1"/>
                <a:gd name="T8" fmla="*/ 2 w 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97" name="Line 33"/>
            <p:cNvSpPr>
              <a:spLocks noChangeShapeType="1"/>
            </p:cNvSpPr>
            <p:nvPr/>
          </p:nvSpPr>
          <p:spPr bwMode="auto">
            <a:xfrm>
              <a:off x="584" y="2595"/>
              <a:ext cx="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98" name="Freeform 34"/>
            <p:cNvSpPr>
              <a:spLocks/>
            </p:cNvSpPr>
            <p:nvPr/>
          </p:nvSpPr>
          <p:spPr bwMode="auto">
            <a:xfrm>
              <a:off x="584" y="2595"/>
              <a:ext cx="1" cy="1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1 h 1"/>
                <a:gd name="T4" fmla="*/ 1 w 2"/>
                <a:gd name="T5" fmla="*/ 0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499" name="Freeform 35"/>
            <p:cNvSpPr>
              <a:spLocks/>
            </p:cNvSpPr>
            <p:nvPr/>
          </p:nvSpPr>
          <p:spPr bwMode="auto">
            <a:xfrm>
              <a:off x="584" y="2595"/>
              <a:ext cx="1" cy="1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00" name="Freeform 36"/>
            <p:cNvSpPr>
              <a:spLocks/>
            </p:cNvSpPr>
            <p:nvPr/>
          </p:nvSpPr>
          <p:spPr bwMode="auto">
            <a:xfrm>
              <a:off x="584" y="2595"/>
              <a:ext cx="1" cy="1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1 h 1"/>
                <a:gd name="T4" fmla="*/ 1 w 2"/>
                <a:gd name="T5" fmla="*/ 0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01" name="Freeform 37"/>
            <p:cNvSpPr>
              <a:spLocks/>
            </p:cNvSpPr>
            <p:nvPr/>
          </p:nvSpPr>
          <p:spPr bwMode="auto">
            <a:xfrm>
              <a:off x="585" y="2595"/>
              <a:ext cx="1" cy="1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2502" name="Freeform 38"/>
          <p:cNvSpPr>
            <a:spLocks/>
          </p:cNvSpPr>
          <p:nvPr/>
        </p:nvSpPr>
        <p:spPr bwMode="auto">
          <a:xfrm rot="-97790">
            <a:off x="1790700" y="320675"/>
            <a:ext cx="2909888" cy="1544638"/>
          </a:xfrm>
          <a:custGeom>
            <a:avLst/>
            <a:gdLst>
              <a:gd name="T0" fmla="*/ 12692 w 12692"/>
              <a:gd name="T1" fmla="*/ 6758 h 6758"/>
              <a:gd name="T2" fmla="*/ 12690 w 12692"/>
              <a:gd name="T3" fmla="*/ 6758 h 6758"/>
              <a:gd name="T4" fmla="*/ 0 w 12692"/>
              <a:gd name="T5" fmla="*/ 0 h 6758"/>
              <a:gd name="T6" fmla="*/ 1 w 12692"/>
              <a:gd name="T7" fmla="*/ 0 h 6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692" h="6758">
                <a:moveTo>
                  <a:pt x="12692" y="6758"/>
                </a:moveTo>
                <a:lnTo>
                  <a:pt x="12690" y="6758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28575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2503" name="Group 39"/>
          <p:cNvGrpSpPr>
            <a:grpSpLocks/>
          </p:cNvGrpSpPr>
          <p:nvPr/>
        </p:nvGrpSpPr>
        <p:grpSpPr bwMode="auto">
          <a:xfrm>
            <a:off x="4676775" y="1784350"/>
            <a:ext cx="80963" cy="88900"/>
            <a:chOff x="2843" y="3081"/>
            <a:chExt cx="51" cy="56"/>
          </a:xfrm>
        </p:grpSpPr>
        <p:sp>
          <p:nvSpPr>
            <p:cNvPr id="62504" name="Freeform 40"/>
            <p:cNvSpPr>
              <a:spLocks/>
            </p:cNvSpPr>
            <p:nvPr/>
          </p:nvSpPr>
          <p:spPr bwMode="auto">
            <a:xfrm>
              <a:off x="2843" y="3081"/>
              <a:ext cx="51" cy="56"/>
            </a:xfrm>
            <a:custGeom>
              <a:avLst/>
              <a:gdLst>
                <a:gd name="T0" fmla="*/ 0 w 349"/>
                <a:gd name="T1" fmla="*/ 388 h 388"/>
                <a:gd name="T2" fmla="*/ 348 w 349"/>
                <a:gd name="T3" fmla="*/ 0 h 388"/>
                <a:gd name="T4" fmla="*/ 349 w 349"/>
                <a:gd name="T5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9" h="388">
                  <a:moveTo>
                    <a:pt x="0" y="388"/>
                  </a:moveTo>
                  <a:lnTo>
                    <a:pt x="348" y="0"/>
                  </a:lnTo>
                  <a:lnTo>
                    <a:pt x="349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05" name="Freeform 41"/>
            <p:cNvSpPr>
              <a:spLocks/>
            </p:cNvSpPr>
            <p:nvPr/>
          </p:nvSpPr>
          <p:spPr bwMode="auto">
            <a:xfrm>
              <a:off x="2872" y="3106"/>
              <a:ext cx="1" cy="1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1 w 1"/>
                <a:gd name="T5" fmla="*/ 0 h 1"/>
                <a:gd name="T6" fmla="*/ 0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06" name="Freeform 42"/>
            <p:cNvSpPr>
              <a:spLocks/>
            </p:cNvSpPr>
            <p:nvPr/>
          </p:nvSpPr>
          <p:spPr bwMode="auto">
            <a:xfrm>
              <a:off x="2872" y="3106"/>
              <a:ext cx="1" cy="1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07" name="Freeform 43"/>
            <p:cNvSpPr>
              <a:spLocks/>
            </p:cNvSpPr>
            <p:nvPr/>
          </p:nvSpPr>
          <p:spPr bwMode="auto">
            <a:xfrm>
              <a:off x="2872" y="3106"/>
              <a:ext cx="1" cy="1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08" name="Freeform 44"/>
            <p:cNvSpPr>
              <a:spLocks/>
            </p:cNvSpPr>
            <p:nvPr/>
          </p:nvSpPr>
          <p:spPr bwMode="auto">
            <a:xfrm>
              <a:off x="2872" y="3106"/>
              <a:ext cx="1" cy="1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09" name="Freeform 45"/>
            <p:cNvSpPr>
              <a:spLocks/>
            </p:cNvSpPr>
            <p:nvPr/>
          </p:nvSpPr>
          <p:spPr bwMode="auto">
            <a:xfrm>
              <a:off x="2873" y="3106"/>
              <a:ext cx="0" cy="1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10" name="Freeform 46"/>
            <p:cNvSpPr>
              <a:spLocks/>
            </p:cNvSpPr>
            <p:nvPr/>
          </p:nvSpPr>
          <p:spPr bwMode="auto">
            <a:xfrm>
              <a:off x="2873" y="3106"/>
              <a:ext cx="0" cy="1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1 h 1"/>
                <a:gd name="T4" fmla="*/ 1 w 2"/>
                <a:gd name="T5" fmla="*/ 0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11" name="Line 47"/>
            <p:cNvSpPr>
              <a:spLocks noChangeShapeType="1"/>
            </p:cNvSpPr>
            <p:nvPr/>
          </p:nvSpPr>
          <p:spPr bwMode="auto">
            <a:xfrm>
              <a:off x="2873" y="3106"/>
              <a:ext cx="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12" name="Freeform 48"/>
            <p:cNvSpPr>
              <a:spLocks/>
            </p:cNvSpPr>
            <p:nvPr/>
          </p:nvSpPr>
          <p:spPr bwMode="auto">
            <a:xfrm>
              <a:off x="2873" y="3106"/>
              <a:ext cx="0" cy="1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13" name="Freeform 49"/>
            <p:cNvSpPr>
              <a:spLocks/>
            </p:cNvSpPr>
            <p:nvPr/>
          </p:nvSpPr>
          <p:spPr bwMode="auto">
            <a:xfrm>
              <a:off x="2873" y="3106"/>
              <a:ext cx="1" cy="1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0 h 1"/>
                <a:gd name="T4" fmla="*/ 0 w 2"/>
                <a:gd name="T5" fmla="*/ 0 h 1"/>
                <a:gd name="T6" fmla="*/ 0 w 2"/>
                <a:gd name="T7" fmla="*/ 1 h 1"/>
                <a:gd name="T8" fmla="*/ 1 w 2"/>
                <a:gd name="T9" fmla="*/ 1 h 1"/>
                <a:gd name="T10" fmla="*/ 2 w 2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14" name="Freeform 50"/>
            <p:cNvSpPr>
              <a:spLocks/>
            </p:cNvSpPr>
            <p:nvPr/>
          </p:nvSpPr>
          <p:spPr bwMode="auto">
            <a:xfrm>
              <a:off x="2873" y="3106"/>
              <a:ext cx="1" cy="1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0 h 1"/>
                <a:gd name="T4" fmla="*/ 0 w 2"/>
                <a:gd name="T5" fmla="*/ 0 h 1"/>
                <a:gd name="T6" fmla="*/ 0 w 2"/>
                <a:gd name="T7" fmla="*/ 1 h 1"/>
                <a:gd name="T8" fmla="*/ 1 w 2"/>
                <a:gd name="T9" fmla="*/ 1 h 1"/>
                <a:gd name="T10" fmla="*/ 2 w 2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15" name="Freeform 51"/>
            <p:cNvSpPr>
              <a:spLocks/>
            </p:cNvSpPr>
            <p:nvPr/>
          </p:nvSpPr>
          <p:spPr bwMode="auto">
            <a:xfrm>
              <a:off x="2873" y="3106"/>
              <a:ext cx="1" cy="1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1 w 1"/>
                <a:gd name="T5" fmla="*/ 0 h 1"/>
                <a:gd name="T6" fmla="*/ 1 w 1"/>
                <a:gd name="T7" fmla="*/ 1 h 1"/>
                <a:gd name="T8" fmla="*/ 0 w 1"/>
                <a:gd name="T9" fmla="*/ 1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2516" name="Group 52"/>
          <p:cNvGrpSpPr>
            <a:grpSpLocks/>
          </p:cNvGrpSpPr>
          <p:nvPr/>
        </p:nvGrpSpPr>
        <p:grpSpPr bwMode="auto">
          <a:xfrm>
            <a:off x="1692275" y="279400"/>
            <a:ext cx="185738" cy="179388"/>
            <a:chOff x="963" y="2133"/>
            <a:chExt cx="117" cy="113"/>
          </a:xfrm>
        </p:grpSpPr>
        <p:sp>
          <p:nvSpPr>
            <p:cNvPr id="62517" name="Freeform 53"/>
            <p:cNvSpPr>
              <a:spLocks/>
            </p:cNvSpPr>
            <p:nvPr/>
          </p:nvSpPr>
          <p:spPr bwMode="auto">
            <a:xfrm>
              <a:off x="963" y="2159"/>
              <a:ext cx="117" cy="60"/>
            </a:xfrm>
            <a:custGeom>
              <a:avLst/>
              <a:gdLst>
                <a:gd name="T0" fmla="*/ 812 w 812"/>
                <a:gd name="T1" fmla="*/ 412 h 412"/>
                <a:gd name="T2" fmla="*/ 0 w 812"/>
                <a:gd name="T3" fmla="*/ 0 h 412"/>
                <a:gd name="T4" fmla="*/ 1 w 812"/>
                <a:gd name="T5" fmla="*/ 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2" h="412">
                  <a:moveTo>
                    <a:pt x="812" y="41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18" name="Freeform 54"/>
            <p:cNvSpPr>
              <a:spLocks/>
            </p:cNvSpPr>
            <p:nvPr/>
          </p:nvSpPr>
          <p:spPr bwMode="auto">
            <a:xfrm>
              <a:off x="984" y="2133"/>
              <a:ext cx="55" cy="113"/>
            </a:xfrm>
            <a:custGeom>
              <a:avLst/>
              <a:gdLst>
                <a:gd name="T0" fmla="*/ 387 w 387"/>
                <a:gd name="T1" fmla="*/ 0 h 786"/>
                <a:gd name="T2" fmla="*/ 0 w 387"/>
                <a:gd name="T3" fmla="*/ 786 h 786"/>
                <a:gd name="T4" fmla="*/ 1 w 387"/>
                <a:gd name="T5" fmla="*/ 786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7" h="786">
                  <a:moveTo>
                    <a:pt x="387" y="0"/>
                  </a:moveTo>
                  <a:lnTo>
                    <a:pt x="0" y="786"/>
                  </a:lnTo>
                  <a:lnTo>
                    <a:pt x="1" y="78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19" name="Freeform 55"/>
            <p:cNvSpPr>
              <a:spLocks/>
            </p:cNvSpPr>
            <p:nvPr/>
          </p:nvSpPr>
          <p:spPr bwMode="auto">
            <a:xfrm>
              <a:off x="1080" y="2219"/>
              <a:ext cx="0" cy="0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20" name="Freeform 56"/>
            <p:cNvSpPr>
              <a:spLocks/>
            </p:cNvSpPr>
            <p:nvPr/>
          </p:nvSpPr>
          <p:spPr bwMode="auto">
            <a:xfrm>
              <a:off x="1080" y="2219"/>
              <a:ext cx="0" cy="0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21" name="Freeform 57"/>
            <p:cNvSpPr>
              <a:spLocks/>
            </p:cNvSpPr>
            <p:nvPr/>
          </p:nvSpPr>
          <p:spPr bwMode="auto">
            <a:xfrm>
              <a:off x="1039" y="2133"/>
              <a:ext cx="1" cy="1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22" name="Freeform 58"/>
            <p:cNvSpPr>
              <a:spLocks/>
            </p:cNvSpPr>
            <p:nvPr/>
          </p:nvSpPr>
          <p:spPr bwMode="auto">
            <a:xfrm>
              <a:off x="1039" y="2133"/>
              <a:ext cx="1" cy="1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2523" name="Group 59"/>
          <p:cNvGrpSpPr>
            <a:grpSpLocks/>
          </p:cNvGrpSpPr>
          <p:nvPr/>
        </p:nvGrpSpPr>
        <p:grpSpPr bwMode="auto">
          <a:xfrm>
            <a:off x="39688" y="1566863"/>
            <a:ext cx="5957887" cy="547687"/>
            <a:chOff x="-11" y="1095"/>
            <a:chExt cx="3753" cy="345"/>
          </a:xfrm>
        </p:grpSpPr>
        <p:sp>
          <p:nvSpPr>
            <p:cNvPr id="23614" name="Text Box 60"/>
            <p:cNvSpPr txBox="1">
              <a:spLocks noChangeArrowheads="1"/>
            </p:cNvSpPr>
            <p:nvPr/>
          </p:nvSpPr>
          <p:spPr bwMode="auto">
            <a:xfrm>
              <a:off x="-11" y="1113"/>
              <a:ext cx="1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A</a:t>
              </a:r>
            </a:p>
          </p:txBody>
        </p:sp>
        <p:sp>
          <p:nvSpPr>
            <p:cNvPr id="23615" name="Text Box 61"/>
            <p:cNvSpPr txBox="1">
              <a:spLocks noChangeArrowheads="1"/>
            </p:cNvSpPr>
            <p:nvPr/>
          </p:nvSpPr>
          <p:spPr bwMode="auto">
            <a:xfrm>
              <a:off x="3326" y="1095"/>
              <a:ext cx="4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B</a:t>
              </a:r>
            </a:p>
          </p:txBody>
        </p:sp>
      </p:grpSp>
      <p:grpSp>
        <p:nvGrpSpPr>
          <p:cNvPr id="62526" name="Group 62"/>
          <p:cNvGrpSpPr>
            <a:grpSpLocks/>
          </p:cNvGrpSpPr>
          <p:nvPr/>
        </p:nvGrpSpPr>
        <p:grpSpPr bwMode="auto">
          <a:xfrm>
            <a:off x="2676525" y="-214313"/>
            <a:ext cx="430213" cy="4113213"/>
            <a:chOff x="1650" y="-63"/>
            <a:chExt cx="271" cy="2591"/>
          </a:xfrm>
        </p:grpSpPr>
        <p:sp>
          <p:nvSpPr>
            <p:cNvPr id="23612" name="Text Box 63"/>
            <p:cNvSpPr txBox="1">
              <a:spLocks noChangeArrowheads="1"/>
            </p:cNvSpPr>
            <p:nvPr/>
          </p:nvSpPr>
          <p:spPr bwMode="auto">
            <a:xfrm>
              <a:off x="1650" y="-63"/>
              <a:ext cx="26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C</a:t>
              </a:r>
            </a:p>
          </p:txBody>
        </p:sp>
        <p:sp>
          <p:nvSpPr>
            <p:cNvPr id="23613" name="Text Box 64"/>
            <p:cNvSpPr txBox="1">
              <a:spLocks noChangeArrowheads="1"/>
            </p:cNvSpPr>
            <p:nvPr/>
          </p:nvSpPr>
          <p:spPr bwMode="auto">
            <a:xfrm>
              <a:off x="1655" y="2201"/>
              <a:ext cx="2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D</a:t>
              </a:r>
            </a:p>
          </p:txBody>
        </p:sp>
      </p:grpSp>
      <p:sp>
        <p:nvSpPr>
          <p:cNvPr id="62529" name="Text Box 65"/>
          <p:cNvSpPr txBox="1">
            <a:spLocks noChangeArrowheads="1"/>
          </p:cNvSpPr>
          <p:nvPr/>
        </p:nvSpPr>
        <p:spPr bwMode="auto">
          <a:xfrm>
            <a:off x="1406525" y="-47625"/>
            <a:ext cx="51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P</a:t>
            </a:r>
            <a:endParaRPr lang="en-US" altLang="en-US" sz="2800" baseline="-25000"/>
          </a:p>
        </p:txBody>
      </p:sp>
      <p:sp>
        <p:nvSpPr>
          <p:cNvPr id="62530" name="Text Box 66"/>
          <p:cNvSpPr txBox="1">
            <a:spLocks noChangeArrowheads="1"/>
          </p:cNvSpPr>
          <p:nvPr/>
        </p:nvSpPr>
        <p:spPr bwMode="auto">
          <a:xfrm>
            <a:off x="4473575" y="1790700"/>
            <a:ext cx="571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F</a:t>
            </a:r>
            <a:r>
              <a:rPr lang="en-US" altLang="en-US" sz="2800" baseline="-25000"/>
              <a:t>2</a:t>
            </a:r>
          </a:p>
        </p:txBody>
      </p:sp>
      <p:sp>
        <p:nvSpPr>
          <p:cNvPr id="62531" name="Text Box 67"/>
          <p:cNvSpPr txBox="1">
            <a:spLocks noChangeArrowheads="1"/>
          </p:cNvSpPr>
          <p:nvPr/>
        </p:nvSpPr>
        <p:spPr bwMode="auto">
          <a:xfrm>
            <a:off x="2844800" y="1385888"/>
            <a:ext cx="590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O</a:t>
            </a:r>
          </a:p>
        </p:txBody>
      </p:sp>
      <p:grpSp>
        <p:nvGrpSpPr>
          <p:cNvPr id="62532" name="Group 68"/>
          <p:cNvGrpSpPr>
            <a:grpSpLocks/>
          </p:cNvGrpSpPr>
          <p:nvPr/>
        </p:nvGrpSpPr>
        <p:grpSpPr bwMode="auto">
          <a:xfrm>
            <a:off x="422275" y="1825625"/>
            <a:ext cx="4927600" cy="0"/>
            <a:chOff x="228" y="2106"/>
            <a:chExt cx="5376" cy="1"/>
          </a:xfrm>
        </p:grpSpPr>
        <p:sp>
          <p:nvSpPr>
            <p:cNvPr id="62533" name="Freeform 69"/>
            <p:cNvSpPr>
              <a:spLocks/>
            </p:cNvSpPr>
            <p:nvPr/>
          </p:nvSpPr>
          <p:spPr bwMode="auto">
            <a:xfrm>
              <a:off x="2147483647" y="1825625"/>
              <a:ext cx="404" cy="0"/>
            </a:xfrm>
            <a:custGeom>
              <a:avLst/>
              <a:gdLst>
                <a:gd name="T0" fmla="*/ 0 w 1613"/>
                <a:gd name="T1" fmla="*/ 1612 w 1613"/>
                <a:gd name="T2" fmla="*/ 1613 w 16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613">
                  <a:moveTo>
                    <a:pt x="0" y="0"/>
                  </a:moveTo>
                  <a:lnTo>
                    <a:pt x="1612" y="0"/>
                  </a:lnTo>
                  <a:lnTo>
                    <a:pt x="1613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3598" name="Group 70"/>
            <p:cNvGrpSpPr>
              <a:grpSpLocks/>
            </p:cNvGrpSpPr>
            <p:nvPr/>
          </p:nvGrpSpPr>
          <p:grpSpPr bwMode="auto">
            <a:xfrm>
              <a:off x="228" y="2106"/>
              <a:ext cx="4704" cy="1"/>
              <a:chOff x="228" y="2106"/>
              <a:chExt cx="4704" cy="1"/>
            </a:xfrm>
          </p:grpSpPr>
          <p:sp>
            <p:nvSpPr>
              <p:cNvPr id="62535" name="Freeform 71"/>
              <p:cNvSpPr>
                <a:spLocks/>
              </p:cNvSpPr>
              <p:nvPr/>
            </p:nvSpPr>
            <p:spPr bwMode="auto">
              <a:xfrm>
                <a:off x="839800155" y="1825625"/>
                <a:ext cx="90" cy="0"/>
              </a:xfrm>
              <a:custGeom>
                <a:avLst/>
                <a:gdLst>
                  <a:gd name="T0" fmla="*/ 0 w 359"/>
                  <a:gd name="T1" fmla="*/ 358 w 359"/>
                  <a:gd name="T2" fmla="*/ 359 w 35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59">
                    <a:moveTo>
                      <a:pt x="0" y="0"/>
                    </a:moveTo>
                    <a:lnTo>
                      <a:pt x="358" y="0"/>
                    </a:lnTo>
                    <a:lnTo>
                      <a:pt x="359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536" name="Freeform 72"/>
              <p:cNvSpPr>
                <a:spLocks/>
              </p:cNvSpPr>
              <p:nvPr/>
            </p:nvSpPr>
            <p:spPr bwMode="auto">
              <a:xfrm>
                <a:off x="1140276420" y="1825625"/>
                <a:ext cx="449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537" name="Freeform 73"/>
              <p:cNvSpPr>
                <a:spLocks/>
              </p:cNvSpPr>
              <p:nvPr/>
            </p:nvSpPr>
            <p:spPr bwMode="auto">
              <a:xfrm>
                <a:off x="1441480912" y="1825625"/>
                <a:ext cx="88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538" name="Freeform 74"/>
              <p:cNvSpPr>
                <a:spLocks/>
              </p:cNvSpPr>
              <p:nvPr/>
            </p:nvSpPr>
            <p:spPr bwMode="auto">
              <a:xfrm>
                <a:off x="1742683457" y="1825625"/>
                <a:ext cx="449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539" name="Freeform 75"/>
              <p:cNvSpPr>
                <a:spLocks/>
              </p:cNvSpPr>
              <p:nvPr/>
            </p:nvSpPr>
            <p:spPr bwMode="auto">
              <a:xfrm>
                <a:off x="2043160080" y="1825625"/>
                <a:ext cx="90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540" name="Freeform 76"/>
              <p:cNvSpPr>
                <a:spLocks/>
              </p:cNvSpPr>
              <p:nvPr/>
            </p:nvSpPr>
            <p:spPr bwMode="auto">
              <a:xfrm>
                <a:off x="2147483647" y="1825625"/>
                <a:ext cx="450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541" name="Freeform 77"/>
              <p:cNvSpPr>
                <a:spLocks/>
              </p:cNvSpPr>
              <p:nvPr/>
            </p:nvSpPr>
            <p:spPr bwMode="auto">
              <a:xfrm>
                <a:off x="2147483647" y="1825625"/>
                <a:ext cx="449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542" name="Freeform 78"/>
              <p:cNvSpPr>
                <a:spLocks/>
              </p:cNvSpPr>
              <p:nvPr/>
            </p:nvSpPr>
            <p:spPr bwMode="auto">
              <a:xfrm>
                <a:off x="2147483647" y="1825625"/>
                <a:ext cx="90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543" name="Freeform 79"/>
              <p:cNvSpPr>
                <a:spLocks/>
              </p:cNvSpPr>
              <p:nvPr/>
            </p:nvSpPr>
            <p:spPr bwMode="auto">
              <a:xfrm>
                <a:off x="2147483647" y="1825625"/>
                <a:ext cx="450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544" name="Freeform 80"/>
              <p:cNvSpPr>
                <a:spLocks/>
              </p:cNvSpPr>
              <p:nvPr/>
            </p:nvSpPr>
            <p:spPr bwMode="auto">
              <a:xfrm>
                <a:off x="2147483647" y="1825625"/>
                <a:ext cx="87" cy="0"/>
              </a:xfrm>
              <a:custGeom>
                <a:avLst/>
                <a:gdLst>
                  <a:gd name="T0" fmla="*/ 0 w 359"/>
                  <a:gd name="T1" fmla="*/ 358 w 359"/>
                  <a:gd name="T2" fmla="*/ 359 w 35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59">
                    <a:moveTo>
                      <a:pt x="0" y="0"/>
                    </a:moveTo>
                    <a:lnTo>
                      <a:pt x="358" y="0"/>
                    </a:lnTo>
                    <a:lnTo>
                      <a:pt x="359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545" name="Freeform 81"/>
              <p:cNvSpPr>
                <a:spLocks/>
              </p:cNvSpPr>
              <p:nvPr/>
            </p:nvSpPr>
            <p:spPr bwMode="auto">
              <a:xfrm>
                <a:off x="2147483647" y="1825625"/>
                <a:ext cx="449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546" name="Freeform 82"/>
              <p:cNvSpPr>
                <a:spLocks/>
              </p:cNvSpPr>
              <p:nvPr/>
            </p:nvSpPr>
            <p:spPr bwMode="auto">
              <a:xfrm>
                <a:off x="2147483647" y="1825625"/>
                <a:ext cx="90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547" name="Freeform 83"/>
              <p:cNvSpPr>
                <a:spLocks/>
              </p:cNvSpPr>
              <p:nvPr/>
            </p:nvSpPr>
            <p:spPr bwMode="auto">
              <a:xfrm>
                <a:off x="556785260" y="1825625"/>
                <a:ext cx="405" cy="0"/>
              </a:xfrm>
              <a:custGeom>
                <a:avLst/>
                <a:gdLst>
                  <a:gd name="T0" fmla="*/ 0 w 1613"/>
                  <a:gd name="T1" fmla="*/ 1612 w 1613"/>
                  <a:gd name="T2" fmla="*/ 1613 w 161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613">
                    <a:moveTo>
                      <a:pt x="0" y="0"/>
                    </a:moveTo>
                    <a:lnTo>
                      <a:pt x="1612" y="0"/>
                    </a:lnTo>
                    <a:lnTo>
                      <a:pt x="1613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62548" name="Line 84"/>
          <p:cNvSpPr>
            <a:spLocks noChangeShapeType="1"/>
          </p:cNvSpPr>
          <p:nvPr/>
        </p:nvSpPr>
        <p:spPr bwMode="auto">
          <a:xfrm rot="245508" flipV="1">
            <a:off x="1090613" y="96838"/>
            <a:ext cx="1760537" cy="17827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549" name="Line 85"/>
          <p:cNvSpPr>
            <a:spLocks noChangeShapeType="1"/>
          </p:cNvSpPr>
          <p:nvPr/>
        </p:nvSpPr>
        <p:spPr bwMode="auto">
          <a:xfrm>
            <a:off x="2882900" y="180975"/>
            <a:ext cx="1809750" cy="162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550" name="Text Box 86"/>
          <p:cNvSpPr txBox="1">
            <a:spLocks noChangeArrowheads="1"/>
          </p:cNvSpPr>
          <p:nvPr/>
        </p:nvSpPr>
        <p:spPr bwMode="auto">
          <a:xfrm>
            <a:off x="452438" y="3609975"/>
            <a:ext cx="7929562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3000" b="0">
                <a:latin typeface="Comic Sans MS" panose="030F0702030302020204" pitchFamily="66" charset="0"/>
              </a:rPr>
              <a:t>PF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1</a:t>
            </a:r>
            <a:r>
              <a:rPr lang="en-US" altLang="en-US" sz="3000" b="0">
                <a:latin typeface="Comic Sans MS" panose="030F0702030302020204" pitchFamily="66" charset="0"/>
              </a:rPr>
              <a:t> + PF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2</a:t>
            </a:r>
            <a:r>
              <a:rPr lang="en-US" altLang="en-US" sz="3000" b="0">
                <a:latin typeface="Comic Sans MS" panose="030F0702030302020204" pitchFamily="66" charset="0"/>
              </a:rPr>
              <a:t> = QF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1</a:t>
            </a:r>
            <a:r>
              <a:rPr lang="en-US" altLang="en-US" sz="3000" b="0">
                <a:latin typeface="Comic Sans MS" panose="030F0702030302020204" pitchFamily="66" charset="0"/>
              </a:rPr>
              <a:t> + QF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2</a:t>
            </a:r>
            <a:r>
              <a:rPr lang="en-US" altLang="en-US" sz="3000" b="0">
                <a:latin typeface="Comic Sans MS" panose="030F0702030302020204" pitchFamily="66" charset="0"/>
              </a:rPr>
              <a:t> = CF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1</a:t>
            </a:r>
            <a:r>
              <a:rPr lang="en-US" altLang="en-US" sz="3000" b="0">
                <a:latin typeface="Comic Sans MS" panose="030F0702030302020204" pitchFamily="66" charset="0"/>
              </a:rPr>
              <a:t> +CF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2 </a:t>
            </a:r>
            <a:r>
              <a:rPr lang="en-US" altLang="en-US" sz="3000" b="0">
                <a:latin typeface="Comic Sans MS" panose="030F0702030302020204" pitchFamily="66" charset="0"/>
              </a:rPr>
              <a:t>= constant</a:t>
            </a:r>
          </a:p>
        </p:txBody>
      </p:sp>
      <p:sp>
        <p:nvSpPr>
          <p:cNvPr id="62551" name="Text Box 87"/>
          <p:cNvSpPr txBox="1">
            <a:spLocks noChangeArrowheads="1"/>
          </p:cNvSpPr>
          <p:nvPr/>
        </p:nvSpPr>
        <p:spPr bwMode="auto">
          <a:xfrm>
            <a:off x="1676400" y="6142038"/>
            <a:ext cx="5761038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en-US" sz="3000" b="0">
                <a:latin typeface="Comic Sans MS" panose="030F0702030302020204" pitchFamily="66" charset="0"/>
              </a:rPr>
              <a:t>  =  </a:t>
            </a:r>
            <a:r>
              <a:rPr lang="en-US" altLang="en-US" sz="3000" b="0">
                <a:solidFill>
                  <a:srgbClr val="3333FF"/>
                </a:solidFill>
                <a:latin typeface="Comic Sans MS" panose="030F0702030302020204" pitchFamily="66" charset="0"/>
              </a:rPr>
              <a:t>Major Axis</a:t>
            </a:r>
          </a:p>
        </p:txBody>
      </p:sp>
      <p:grpSp>
        <p:nvGrpSpPr>
          <p:cNvPr id="62552" name="Group 88"/>
          <p:cNvGrpSpPr>
            <a:grpSpLocks/>
          </p:cNvGrpSpPr>
          <p:nvPr/>
        </p:nvGrpSpPr>
        <p:grpSpPr bwMode="auto">
          <a:xfrm>
            <a:off x="1860550" y="3238500"/>
            <a:ext cx="185738" cy="179388"/>
            <a:chOff x="1099" y="1758"/>
            <a:chExt cx="117" cy="113"/>
          </a:xfrm>
        </p:grpSpPr>
        <p:sp>
          <p:nvSpPr>
            <p:cNvPr id="62553" name="Freeform 89"/>
            <p:cNvSpPr>
              <a:spLocks/>
            </p:cNvSpPr>
            <p:nvPr/>
          </p:nvSpPr>
          <p:spPr bwMode="auto">
            <a:xfrm>
              <a:off x="1099" y="1784"/>
              <a:ext cx="117" cy="60"/>
            </a:xfrm>
            <a:custGeom>
              <a:avLst/>
              <a:gdLst>
                <a:gd name="T0" fmla="*/ 812 w 812"/>
                <a:gd name="T1" fmla="*/ 412 h 412"/>
                <a:gd name="T2" fmla="*/ 0 w 812"/>
                <a:gd name="T3" fmla="*/ 0 h 412"/>
                <a:gd name="T4" fmla="*/ 1 w 812"/>
                <a:gd name="T5" fmla="*/ 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2" h="412">
                  <a:moveTo>
                    <a:pt x="812" y="41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54" name="Freeform 90"/>
            <p:cNvSpPr>
              <a:spLocks/>
            </p:cNvSpPr>
            <p:nvPr/>
          </p:nvSpPr>
          <p:spPr bwMode="auto">
            <a:xfrm>
              <a:off x="1120" y="1758"/>
              <a:ext cx="55" cy="113"/>
            </a:xfrm>
            <a:custGeom>
              <a:avLst/>
              <a:gdLst>
                <a:gd name="T0" fmla="*/ 387 w 387"/>
                <a:gd name="T1" fmla="*/ 0 h 786"/>
                <a:gd name="T2" fmla="*/ 0 w 387"/>
                <a:gd name="T3" fmla="*/ 786 h 786"/>
                <a:gd name="T4" fmla="*/ 1 w 387"/>
                <a:gd name="T5" fmla="*/ 786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7" h="786">
                  <a:moveTo>
                    <a:pt x="387" y="0"/>
                  </a:moveTo>
                  <a:lnTo>
                    <a:pt x="0" y="786"/>
                  </a:lnTo>
                  <a:lnTo>
                    <a:pt x="1" y="78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55" name="Freeform 91"/>
            <p:cNvSpPr>
              <a:spLocks/>
            </p:cNvSpPr>
            <p:nvPr/>
          </p:nvSpPr>
          <p:spPr bwMode="auto">
            <a:xfrm>
              <a:off x="1216" y="1844"/>
              <a:ext cx="0" cy="0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56" name="Freeform 92"/>
            <p:cNvSpPr>
              <a:spLocks/>
            </p:cNvSpPr>
            <p:nvPr/>
          </p:nvSpPr>
          <p:spPr bwMode="auto">
            <a:xfrm>
              <a:off x="1216" y="1844"/>
              <a:ext cx="0" cy="0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57" name="Freeform 93"/>
            <p:cNvSpPr>
              <a:spLocks/>
            </p:cNvSpPr>
            <p:nvPr/>
          </p:nvSpPr>
          <p:spPr bwMode="auto">
            <a:xfrm>
              <a:off x="1175" y="1758"/>
              <a:ext cx="1" cy="1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558" name="Freeform 94"/>
            <p:cNvSpPr>
              <a:spLocks/>
            </p:cNvSpPr>
            <p:nvPr/>
          </p:nvSpPr>
          <p:spPr bwMode="auto">
            <a:xfrm>
              <a:off x="1175" y="1758"/>
              <a:ext cx="1" cy="1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2559" name="Line 95"/>
          <p:cNvSpPr>
            <a:spLocks noChangeShapeType="1"/>
          </p:cNvSpPr>
          <p:nvPr/>
        </p:nvSpPr>
        <p:spPr bwMode="auto">
          <a:xfrm>
            <a:off x="1030288" y="1828800"/>
            <a:ext cx="904875" cy="1495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560" name="Line 96"/>
          <p:cNvSpPr>
            <a:spLocks noChangeShapeType="1"/>
          </p:cNvSpPr>
          <p:nvPr/>
        </p:nvSpPr>
        <p:spPr bwMode="auto">
          <a:xfrm flipV="1">
            <a:off x="1925638" y="1828800"/>
            <a:ext cx="2771775" cy="1495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561" name="Text Box 97"/>
          <p:cNvSpPr txBox="1">
            <a:spLocks noChangeArrowheads="1"/>
          </p:cNvSpPr>
          <p:nvPr/>
        </p:nvSpPr>
        <p:spPr bwMode="auto">
          <a:xfrm>
            <a:off x="1641475" y="3297238"/>
            <a:ext cx="514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Q</a:t>
            </a:r>
            <a:endParaRPr lang="en-US" altLang="en-US" sz="2800" baseline="-25000"/>
          </a:p>
        </p:txBody>
      </p:sp>
      <p:grpSp>
        <p:nvGrpSpPr>
          <p:cNvPr id="62562" name="Group 98"/>
          <p:cNvGrpSpPr>
            <a:grpSpLocks/>
          </p:cNvGrpSpPr>
          <p:nvPr/>
        </p:nvGrpSpPr>
        <p:grpSpPr bwMode="auto">
          <a:xfrm>
            <a:off x="485775" y="1676400"/>
            <a:ext cx="4752975" cy="287338"/>
            <a:chOff x="203" y="3013"/>
            <a:chExt cx="2994" cy="181"/>
          </a:xfrm>
        </p:grpSpPr>
        <p:grpSp>
          <p:nvGrpSpPr>
            <p:cNvPr id="23585" name="Group 99"/>
            <p:cNvGrpSpPr>
              <a:grpSpLocks/>
            </p:cNvGrpSpPr>
            <p:nvPr/>
          </p:nvGrpSpPr>
          <p:grpSpPr bwMode="auto">
            <a:xfrm flipH="1" flipV="1">
              <a:off x="2979" y="3013"/>
              <a:ext cx="218" cy="181"/>
              <a:chOff x="4105" y="3049"/>
              <a:chExt cx="235" cy="245"/>
            </a:xfrm>
          </p:grpSpPr>
          <p:sp>
            <p:nvSpPr>
              <p:cNvPr id="62564" name="Line 100"/>
              <p:cNvSpPr>
                <a:spLocks noChangeShapeType="1"/>
              </p:cNvSpPr>
              <p:nvPr/>
            </p:nvSpPr>
            <p:spPr bwMode="auto">
              <a:xfrm>
                <a:off x="4105" y="3067"/>
                <a:ext cx="181" cy="22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565" name="Line 101"/>
              <p:cNvSpPr>
                <a:spLocks noChangeShapeType="1"/>
              </p:cNvSpPr>
              <p:nvPr/>
            </p:nvSpPr>
            <p:spPr bwMode="auto">
              <a:xfrm>
                <a:off x="4159" y="3049"/>
                <a:ext cx="181" cy="22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3586" name="Group 102"/>
            <p:cNvGrpSpPr>
              <a:grpSpLocks/>
            </p:cNvGrpSpPr>
            <p:nvPr/>
          </p:nvGrpSpPr>
          <p:grpSpPr bwMode="auto">
            <a:xfrm flipH="1" flipV="1">
              <a:off x="203" y="3013"/>
              <a:ext cx="218" cy="181"/>
              <a:chOff x="4105" y="3049"/>
              <a:chExt cx="235" cy="245"/>
            </a:xfrm>
          </p:grpSpPr>
          <p:sp>
            <p:nvSpPr>
              <p:cNvPr id="62567" name="Line 103"/>
              <p:cNvSpPr>
                <a:spLocks noChangeShapeType="1"/>
              </p:cNvSpPr>
              <p:nvPr/>
            </p:nvSpPr>
            <p:spPr bwMode="auto">
              <a:xfrm>
                <a:off x="4105" y="3067"/>
                <a:ext cx="181" cy="22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2568" name="Line 104"/>
              <p:cNvSpPr>
                <a:spLocks noChangeShapeType="1"/>
              </p:cNvSpPr>
              <p:nvPr/>
            </p:nvSpPr>
            <p:spPr bwMode="auto">
              <a:xfrm>
                <a:off x="4159" y="3049"/>
                <a:ext cx="181" cy="22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62569" name="AutoShape 10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272338" y="6534150"/>
            <a:ext cx="685800" cy="304800"/>
          </a:xfrm>
          <a:prstGeom prst="actionButtonBackPreviou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570" name="AutoShape 10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977188" y="6534150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62571" name="Rectangle 107"/>
          <p:cNvSpPr>
            <a:spLocks noChangeArrowheads="1"/>
          </p:cNvSpPr>
          <p:nvPr/>
        </p:nvSpPr>
        <p:spPr bwMode="auto">
          <a:xfrm>
            <a:off x="1914525" y="4114800"/>
            <a:ext cx="43561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3000" b="0">
                <a:latin typeface="Comic Sans MS" panose="030F0702030302020204" pitchFamily="66" charset="0"/>
              </a:rPr>
              <a:t>=  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1</a:t>
            </a:r>
            <a:r>
              <a:rPr lang="en-US" altLang="en-US" sz="3000" b="0">
                <a:latin typeface="Comic Sans MS" panose="030F0702030302020204" pitchFamily="66" charset="0"/>
              </a:rPr>
              <a:t>A + 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1</a:t>
            </a:r>
            <a:r>
              <a:rPr lang="en-US" altLang="en-US" sz="3000" b="0">
                <a:latin typeface="Comic Sans MS" panose="030F0702030302020204" pitchFamily="66" charset="0"/>
              </a:rPr>
              <a:t>B = 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2</a:t>
            </a:r>
            <a:r>
              <a:rPr lang="en-US" altLang="en-US" sz="3000" b="0">
                <a:latin typeface="Comic Sans MS" panose="030F0702030302020204" pitchFamily="66" charset="0"/>
              </a:rPr>
              <a:t>A + 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2</a:t>
            </a:r>
            <a:r>
              <a:rPr lang="en-US" altLang="en-US" sz="3000" b="0">
                <a:latin typeface="Comic Sans MS" panose="030F0702030302020204" pitchFamily="66" charset="0"/>
              </a:rPr>
              <a:t>B</a:t>
            </a:r>
            <a:endParaRPr lang="en-GB" altLang="en-US" sz="3000" b="0">
              <a:latin typeface="Comic Sans MS" panose="030F0702030302020204" pitchFamily="66" charset="0"/>
            </a:endParaRPr>
          </a:p>
        </p:txBody>
      </p:sp>
      <p:sp>
        <p:nvSpPr>
          <p:cNvPr id="62572" name="Rectangle 108"/>
          <p:cNvSpPr>
            <a:spLocks noChangeArrowheads="1"/>
          </p:cNvSpPr>
          <p:nvPr/>
        </p:nvSpPr>
        <p:spPr bwMode="auto">
          <a:xfrm>
            <a:off x="2057400" y="4714875"/>
            <a:ext cx="27051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3000" b="0">
                <a:latin typeface="Comic Sans MS" panose="030F0702030302020204" pitchFamily="66" charset="0"/>
              </a:rPr>
              <a:t>But  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1</a:t>
            </a:r>
            <a:r>
              <a:rPr lang="en-US" altLang="en-US" sz="3000" b="0">
                <a:latin typeface="Comic Sans MS" panose="030F0702030302020204" pitchFamily="66" charset="0"/>
              </a:rPr>
              <a:t>A = 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2</a:t>
            </a:r>
            <a:r>
              <a:rPr lang="en-US" altLang="en-US" sz="3000" b="0">
                <a:latin typeface="Comic Sans MS" panose="030F0702030302020204" pitchFamily="66" charset="0"/>
              </a:rPr>
              <a:t>B</a:t>
            </a:r>
            <a:endParaRPr lang="en-GB" altLang="en-US" sz="3000" b="0">
              <a:latin typeface="Comic Sans MS" panose="030F0702030302020204" pitchFamily="66" charset="0"/>
            </a:endParaRPr>
          </a:p>
        </p:txBody>
      </p:sp>
      <p:sp>
        <p:nvSpPr>
          <p:cNvPr id="62573" name="Rectangle 109"/>
          <p:cNvSpPr>
            <a:spLocks noChangeArrowheads="1"/>
          </p:cNvSpPr>
          <p:nvPr/>
        </p:nvSpPr>
        <p:spPr bwMode="auto">
          <a:xfrm>
            <a:off x="2085975" y="5514975"/>
            <a:ext cx="47942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3000" b="0">
                <a:latin typeface="Comic Sans MS" panose="030F0702030302020204" pitchFamily="66" charset="0"/>
              </a:rPr>
              <a:t>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1</a:t>
            </a:r>
            <a:r>
              <a:rPr lang="en-US" altLang="en-US" sz="3000" b="0">
                <a:latin typeface="Comic Sans MS" panose="030F0702030302020204" pitchFamily="66" charset="0"/>
              </a:rPr>
              <a:t>A + 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1</a:t>
            </a:r>
            <a:r>
              <a:rPr lang="en-US" altLang="en-US" sz="3000" b="0">
                <a:latin typeface="Comic Sans MS" panose="030F0702030302020204" pitchFamily="66" charset="0"/>
              </a:rPr>
              <a:t>B = 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2</a:t>
            </a:r>
            <a:r>
              <a:rPr lang="en-US" altLang="en-US" sz="3000" b="0">
                <a:latin typeface="Comic Sans MS" panose="030F0702030302020204" pitchFamily="66" charset="0"/>
              </a:rPr>
              <a:t>B + 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1</a:t>
            </a:r>
            <a:r>
              <a:rPr lang="en-US" altLang="en-US" sz="3000" b="0">
                <a:latin typeface="Comic Sans MS" panose="030F0702030302020204" pitchFamily="66" charset="0"/>
              </a:rPr>
              <a:t>B = </a:t>
            </a:r>
            <a:r>
              <a:rPr lang="en-US" altLang="en-US" sz="3000" b="0">
                <a:solidFill>
                  <a:srgbClr val="3333FF"/>
                </a:solidFill>
                <a:latin typeface="Comic Sans MS" panose="030F0702030302020204" pitchFamily="66" charset="0"/>
              </a:rPr>
              <a:t>AB</a:t>
            </a:r>
            <a:endParaRPr lang="en-GB" altLang="en-US" sz="3000" b="0">
              <a:solidFill>
                <a:srgbClr val="3333FF"/>
              </a:solidFill>
              <a:latin typeface="Comic Sans MS" panose="030F0702030302020204" pitchFamily="66" charset="0"/>
            </a:endParaRPr>
          </a:p>
        </p:txBody>
      </p:sp>
      <p:sp>
        <p:nvSpPr>
          <p:cNvPr id="62574" name="Rectangle 110"/>
          <p:cNvSpPr>
            <a:spLocks noChangeArrowheads="1"/>
          </p:cNvSpPr>
          <p:nvPr/>
        </p:nvSpPr>
        <p:spPr bwMode="auto">
          <a:xfrm>
            <a:off x="6148388" y="796925"/>
            <a:ext cx="25781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3000" b="0">
                <a:latin typeface="Comic Sans MS" panose="030F0702030302020204" pitchFamily="66" charset="0"/>
              </a:rPr>
              <a:t>CF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1</a:t>
            </a:r>
            <a:r>
              <a:rPr lang="en-US" altLang="en-US" sz="3000" b="0">
                <a:latin typeface="Comic Sans MS" panose="030F0702030302020204" pitchFamily="66" charset="0"/>
              </a:rPr>
              <a:t> +CF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2 </a:t>
            </a:r>
            <a:r>
              <a:rPr lang="en-US" altLang="en-US" sz="3000" b="0">
                <a:latin typeface="Comic Sans MS" panose="030F0702030302020204" pitchFamily="66" charset="0"/>
              </a:rPr>
              <a:t>= AB</a:t>
            </a:r>
            <a:endParaRPr lang="en-GB" altLang="en-US" sz="3000" b="0" baseline="-25000">
              <a:latin typeface="Comic Sans MS" panose="030F0702030302020204" pitchFamily="66" charset="0"/>
            </a:endParaRPr>
          </a:p>
        </p:txBody>
      </p:sp>
      <p:sp>
        <p:nvSpPr>
          <p:cNvPr id="62575" name="Rectangle 111"/>
          <p:cNvSpPr>
            <a:spLocks noChangeArrowheads="1"/>
          </p:cNvSpPr>
          <p:nvPr/>
        </p:nvSpPr>
        <p:spPr bwMode="auto">
          <a:xfrm>
            <a:off x="6319838" y="1504950"/>
            <a:ext cx="251777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3000" b="0">
                <a:latin typeface="Comic Sans MS" panose="030F0702030302020204" pitchFamily="66" charset="0"/>
              </a:rPr>
              <a:t>but CF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1</a:t>
            </a:r>
            <a:r>
              <a:rPr lang="en-US" altLang="en-US" sz="3000" b="0">
                <a:latin typeface="Comic Sans MS" panose="030F0702030302020204" pitchFamily="66" charset="0"/>
              </a:rPr>
              <a:t> = CF</a:t>
            </a:r>
            <a:r>
              <a:rPr lang="en-US" altLang="en-US" sz="3000" b="0" baseline="-25000">
                <a:latin typeface="Comic Sans MS" panose="030F0702030302020204" pitchFamily="66" charset="0"/>
              </a:rPr>
              <a:t>2</a:t>
            </a:r>
            <a:endParaRPr lang="en-GB" altLang="en-US" sz="3000" b="0">
              <a:latin typeface="Comic Sans MS" panose="030F0702030302020204" pitchFamily="66" charset="0"/>
            </a:endParaRPr>
          </a:p>
        </p:txBody>
      </p:sp>
      <p:sp>
        <p:nvSpPr>
          <p:cNvPr id="62576" name="Rectangle 112"/>
          <p:cNvSpPr>
            <a:spLocks noChangeArrowheads="1"/>
          </p:cNvSpPr>
          <p:nvPr/>
        </p:nvSpPr>
        <p:spPr bwMode="auto">
          <a:xfrm>
            <a:off x="5145159" y="2244725"/>
            <a:ext cx="4162574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3000" b="0" dirty="0">
                <a:solidFill>
                  <a:srgbClr val="0000FF"/>
                </a:solidFill>
                <a:latin typeface="Comic Sans MS" panose="030F0702030302020204" pitchFamily="66" charset="0"/>
              </a:rPr>
              <a:t>  </a:t>
            </a:r>
            <a:r>
              <a:rPr lang="en-US" altLang="en-US" sz="3000" dirty="0" smtClean="0">
                <a:solidFill>
                  <a:srgbClr val="0000FF"/>
                </a:solidFill>
                <a:latin typeface="Comic Sans MS" panose="030F0702030302020204" pitchFamily="66" charset="0"/>
              </a:rPr>
              <a:t>hence,CF</a:t>
            </a:r>
            <a:r>
              <a:rPr lang="en-US" altLang="en-US" sz="3000" baseline="-25000" dirty="0" smtClean="0">
                <a:solidFill>
                  <a:srgbClr val="0000FF"/>
                </a:solidFill>
                <a:latin typeface="Comic Sans MS" panose="030F0702030302020204" pitchFamily="66" charset="0"/>
              </a:rPr>
              <a:t>1</a:t>
            </a:r>
            <a:r>
              <a:rPr lang="en-US" altLang="en-US" sz="3000" dirty="0" smtClean="0">
                <a:solidFill>
                  <a:srgbClr val="0000FF"/>
                </a:solidFill>
                <a:latin typeface="Comic Sans MS" panose="030F0702030302020204" pitchFamily="66" charset="0"/>
              </a:rPr>
              <a:t>=(1/2) AB</a:t>
            </a:r>
            <a:endParaRPr lang="en-GB" altLang="en-US" sz="3000" dirty="0">
              <a:solidFill>
                <a:srgbClr val="0000FF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2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2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2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2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2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5" dur="500"/>
                                        <p:tgtEl>
                                          <p:spTgt spid="6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0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6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4" dur="500"/>
                                        <p:tgtEl>
                                          <p:spTgt spid="6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9" dur="500"/>
                                        <p:tgtEl>
                                          <p:spTgt spid="6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4" dur="500"/>
                                        <p:tgtEl>
                                          <p:spTgt spid="6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9" dur="500"/>
                                        <p:tgtEl>
                                          <p:spTgt spid="6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75"/>
                                        <p:tgtEl>
                                          <p:spTgt spid="625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75"/>
                                        <p:tgtEl>
                                          <p:spTgt spid="625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75"/>
                                        <p:tgtEl>
                                          <p:spTgt spid="625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6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62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62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62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autoUpdateAnimBg="0"/>
      <p:bldP spid="62529" grpId="0" autoUpdateAnimBg="0"/>
      <p:bldP spid="62530" grpId="0" autoUpdateAnimBg="0"/>
      <p:bldP spid="62531" grpId="0" autoUpdateAnimBg="0"/>
      <p:bldP spid="62550" grpId="0" autoUpdateAnimBg="0"/>
      <p:bldP spid="62551" grpId="0" autoUpdateAnimBg="0"/>
      <p:bldP spid="62561" grpId="0" autoUpdateAnimBg="0"/>
      <p:bldP spid="62569" grpId="0" animBg="1"/>
      <p:bldP spid="62570" grpId="0" animBg="1" autoUpdateAnimBg="0"/>
      <p:bldP spid="62571" grpId="0" autoUpdateAnimBg="0"/>
      <p:bldP spid="62572" grpId="0" autoUpdateAnimBg="0"/>
      <p:bldP spid="62573" grpId="0" autoUpdateAnimBg="0"/>
      <p:bldP spid="62574" grpId="0" build="p" autoUpdateAnimBg="0"/>
      <p:bldP spid="62575" grpId="0" build="p" autoUpdateAnimBg="0"/>
      <p:bldP spid="62576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727075" y="1687513"/>
            <a:ext cx="606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F</a:t>
            </a:r>
            <a:r>
              <a:rPr lang="en-US" altLang="en-US" sz="2800" baseline="-25000"/>
              <a:t>1</a:t>
            </a:r>
          </a:p>
        </p:txBody>
      </p:sp>
      <p:grpSp>
        <p:nvGrpSpPr>
          <p:cNvPr id="63491" name="Group 3"/>
          <p:cNvGrpSpPr>
            <a:grpSpLocks/>
          </p:cNvGrpSpPr>
          <p:nvPr/>
        </p:nvGrpSpPr>
        <p:grpSpPr bwMode="auto">
          <a:xfrm>
            <a:off x="2474913" y="381000"/>
            <a:ext cx="1587" cy="2698750"/>
            <a:chOff x="2916" y="310"/>
            <a:chExt cx="1" cy="3592"/>
          </a:xfrm>
        </p:grpSpPr>
        <p:sp>
          <p:nvSpPr>
            <p:cNvPr id="63492" name="Freeform 4"/>
            <p:cNvSpPr>
              <a:spLocks/>
            </p:cNvSpPr>
            <p:nvPr/>
          </p:nvSpPr>
          <p:spPr bwMode="auto">
            <a:xfrm>
              <a:off x="2916" y="1702"/>
              <a:ext cx="1" cy="404"/>
            </a:xfrm>
            <a:custGeom>
              <a:avLst/>
              <a:gdLst>
                <a:gd name="T0" fmla="*/ 0 w 1"/>
                <a:gd name="T1" fmla="*/ 1616 h 1616"/>
                <a:gd name="T2" fmla="*/ 0 w 1"/>
                <a:gd name="T3" fmla="*/ 0 h 1616"/>
                <a:gd name="T4" fmla="*/ 1 w 1"/>
                <a:gd name="T5" fmla="*/ 0 h 1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6">
                  <a:moveTo>
                    <a:pt x="0" y="16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493" name="Freeform 5"/>
            <p:cNvSpPr>
              <a:spLocks/>
            </p:cNvSpPr>
            <p:nvPr/>
          </p:nvSpPr>
          <p:spPr bwMode="auto">
            <a:xfrm>
              <a:off x="2916" y="1523"/>
              <a:ext cx="1" cy="89"/>
            </a:xfrm>
            <a:custGeom>
              <a:avLst/>
              <a:gdLst>
                <a:gd name="T0" fmla="*/ 0 w 1"/>
                <a:gd name="T1" fmla="*/ 359 h 359"/>
                <a:gd name="T2" fmla="*/ 0 w 1"/>
                <a:gd name="T3" fmla="*/ 0 h 359"/>
                <a:gd name="T4" fmla="*/ 1 w 1"/>
                <a:gd name="T5" fmla="*/ 0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9">
                  <a:moveTo>
                    <a:pt x="0" y="35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494" name="Freeform 6"/>
            <p:cNvSpPr>
              <a:spLocks/>
            </p:cNvSpPr>
            <p:nvPr/>
          </p:nvSpPr>
          <p:spPr bwMode="auto">
            <a:xfrm>
              <a:off x="2916" y="984"/>
              <a:ext cx="1" cy="448"/>
            </a:xfrm>
            <a:custGeom>
              <a:avLst/>
              <a:gdLst>
                <a:gd name="T0" fmla="*/ 0 w 1"/>
                <a:gd name="T1" fmla="*/ 1796 h 1796"/>
                <a:gd name="T2" fmla="*/ 0 w 1"/>
                <a:gd name="T3" fmla="*/ 0 h 1796"/>
                <a:gd name="T4" fmla="*/ 1 w 1"/>
                <a:gd name="T5" fmla="*/ 0 h 1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96">
                  <a:moveTo>
                    <a:pt x="0" y="179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495" name="Freeform 7"/>
            <p:cNvSpPr>
              <a:spLocks/>
            </p:cNvSpPr>
            <p:nvPr/>
          </p:nvSpPr>
          <p:spPr bwMode="auto">
            <a:xfrm>
              <a:off x="2916" y="804"/>
              <a:ext cx="1" cy="89"/>
            </a:xfrm>
            <a:custGeom>
              <a:avLst/>
              <a:gdLst>
                <a:gd name="T0" fmla="*/ 0 w 1"/>
                <a:gd name="T1" fmla="*/ 360 h 360"/>
                <a:gd name="T2" fmla="*/ 0 w 1"/>
                <a:gd name="T3" fmla="*/ 0 h 360"/>
                <a:gd name="T4" fmla="*/ 1 w 1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0">
                  <a:moveTo>
                    <a:pt x="0" y="36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496" name="Freeform 8"/>
            <p:cNvSpPr>
              <a:spLocks/>
            </p:cNvSpPr>
            <p:nvPr/>
          </p:nvSpPr>
          <p:spPr bwMode="auto">
            <a:xfrm>
              <a:off x="2916" y="310"/>
              <a:ext cx="1" cy="404"/>
            </a:xfrm>
            <a:custGeom>
              <a:avLst/>
              <a:gdLst>
                <a:gd name="T0" fmla="*/ 0 w 1"/>
                <a:gd name="T1" fmla="*/ 1616 h 1616"/>
                <a:gd name="T2" fmla="*/ 0 w 1"/>
                <a:gd name="T3" fmla="*/ 0 h 1616"/>
                <a:gd name="T4" fmla="*/ 1 w 1"/>
                <a:gd name="T5" fmla="*/ 0 h 1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6">
                  <a:moveTo>
                    <a:pt x="0" y="16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497" name="Freeform 9"/>
            <p:cNvSpPr>
              <a:spLocks/>
            </p:cNvSpPr>
            <p:nvPr/>
          </p:nvSpPr>
          <p:spPr bwMode="auto">
            <a:xfrm>
              <a:off x="2916" y="2106"/>
              <a:ext cx="1" cy="404"/>
            </a:xfrm>
            <a:custGeom>
              <a:avLst/>
              <a:gdLst>
                <a:gd name="T0" fmla="*/ 0 w 1"/>
                <a:gd name="T1" fmla="*/ 0 h 1617"/>
                <a:gd name="T2" fmla="*/ 0 w 1"/>
                <a:gd name="T3" fmla="*/ 1617 h 1617"/>
                <a:gd name="T4" fmla="*/ 1 w 1"/>
                <a:gd name="T5" fmla="*/ 1617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7">
                  <a:moveTo>
                    <a:pt x="0" y="0"/>
                  </a:moveTo>
                  <a:lnTo>
                    <a:pt x="0" y="1617"/>
                  </a:lnTo>
                  <a:lnTo>
                    <a:pt x="1" y="161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498" name="Freeform 10"/>
            <p:cNvSpPr>
              <a:spLocks/>
            </p:cNvSpPr>
            <p:nvPr/>
          </p:nvSpPr>
          <p:spPr bwMode="auto">
            <a:xfrm>
              <a:off x="2916" y="2600"/>
              <a:ext cx="1" cy="89"/>
            </a:xfrm>
            <a:custGeom>
              <a:avLst/>
              <a:gdLst>
                <a:gd name="T0" fmla="*/ 0 w 1"/>
                <a:gd name="T1" fmla="*/ 0 h 358"/>
                <a:gd name="T2" fmla="*/ 0 w 1"/>
                <a:gd name="T3" fmla="*/ 358 h 358"/>
                <a:gd name="T4" fmla="*/ 1 w 1"/>
                <a:gd name="T5" fmla="*/ 358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8">
                  <a:moveTo>
                    <a:pt x="0" y="0"/>
                  </a:moveTo>
                  <a:lnTo>
                    <a:pt x="0" y="358"/>
                  </a:lnTo>
                  <a:lnTo>
                    <a:pt x="1" y="35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499" name="Freeform 11"/>
            <p:cNvSpPr>
              <a:spLocks/>
            </p:cNvSpPr>
            <p:nvPr/>
          </p:nvSpPr>
          <p:spPr bwMode="auto">
            <a:xfrm>
              <a:off x="2916" y="2780"/>
              <a:ext cx="1" cy="448"/>
            </a:xfrm>
            <a:custGeom>
              <a:avLst/>
              <a:gdLst>
                <a:gd name="T0" fmla="*/ 0 w 1"/>
                <a:gd name="T1" fmla="*/ 0 h 1796"/>
                <a:gd name="T2" fmla="*/ 0 w 1"/>
                <a:gd name="T3" fmla="*/ 1796 h 1796"/>
                <a:gd name="T4" fmla="*/ 1 w 1"/>
                <a:gd name="T5" fmla="*/ 1796 h 1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96">
                  <a:moveTo>
                    <a:pt x="0" y="0"/>
                  </a:moveTo>
                  <a:lnTo>
                    <a:pt x="0" y="1796"/>
                  </a:lnTo>
                  <a:lnTo>
                    <a:pt x="1" y="179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00" name="Freeform 12"/>
            <p:cNvSpPr>
              <a:spLocks/>
            </p:cNvSpPr>
            <p:nvPr/>
          </p:nvSpPr>
          <p:spPr bwMode="auto">
            <a:xfrm>
              <a:off x="2916" y="3319"/>
              <a:ext cx="1" cy="89"/>
            </a:xfrm>
            <a:custGeom>
              <a:avLst/>
              <a:gdLst>
                <a:gd name="T0" fmla="*/ 0 w 1"/>
                <a:gd name="T1" fmla="*/ 0 h 359"/>
                <a:gd name="T2" fmla="*/ 0 w 1"/>
                <a:gd name="T3" fmla="*/ 359 h 359"/>
                <a:gd name="T4" fmla="*/ 1 w 1"/>
                <a:gd name="T5" fmla="*/ 359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9">
                  <a:moveTo>
                    <a:pt x="0" y="0"/>
                  </a:moveTo>
                  <a:lnTo>
                    <a:pt x="0" y="359"/>
                  </a:lnTo>
                  <a:lnTo>
                    <a:pt x="1" y="35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01" name="Freeform 13"/>
            <p:cNvSpPr>
              <a:spLocks/>
            </p:cNvSpPr>
            <p:nvPr/>
          </p:nvSpPr>
          <p:spPr bwMode="auto">
            <a:xfrm>
              <a:off x="2916" y="3498"/>
              <a:ext cx="1" cy="404"/>
            </a:xfrm>
            <a:custGeom>
              <a:avLst/>
              <a:gdLst>
                <a:gd name="T0" fmla="*/ 0 w 1"/>
                <a:gd name="T1" fmla="*/ 0 h 1616"/>
                <a:gd name="T2" fmla="*/ 0 w 1"/>
                <a:gd name="T3" fmla="*/ 1616 h 1616"/>
                <a:gd name="T4" fmla="*/ 1 w 1"/>
                <a:gd name="T5" fmla="*/ 1616 h 1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6">
                  <a:moveTo>
                    <a:pt x="0" y="0"/>
                  </a:moveTo>
                  <a:lnTo>
                    <a:pt x="0" y="1616"/>
                  </a:lnTo>
                  <a:lnTo>
                    <a:pt x="1" y="161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3502" name="Group 14"/>
          <p:cNvGrpSpPr>
            <a:grpSpLocks/>
          </p:cNvGrpSpPr>
          <p:nvPr/>
        </p:nvGrpSpPr>
        <p:grpSpPr bwMode="auto">
          <a:xfrm>
            <a:off x="460375" y="381000"/>
            <a:ext cx="4030663" cy="2698750"/>
            <a:chOff x="168" y="2071"/>
            <a:chExt cx="3094" cy="2070"/>
          </a:xfrm>
        </p:grpSpPr>
        <p:sp>
          <p:nvSpPr>
            <p:cNvPr id="63503" name="Freeform 15"/>
            <p:cNvSpPr>
              <a:spLocks/>
            </p:cNvSpPr>
            <p:nvPr/>
          </p:nvSpPr>
          <p:spPr bwMode="auto">
            <a:xfrm>
              <a:off x="168" y="2564"/>
              <a:ext cx="225" cy="1085"/>
            </a:xfrm>
            <a:custGeom>
              <a:avLst/>
              <a:gdLst>
                <a:gd name="T0" fmla="*/ 1559 w 1560"/>
                <a:gd name="T1" fmla="*/ 0 h 7528"/>
                <a:gd name="T2" fmla="*/ 800 w 1560"/>
                <a:gd name="T3" fmla="*/ 925 h 7528"/>
                <a:gd name="T4" fmla="*/ 272 w 1560"/>
                <a:gd name="T5" fmla="*/ 1999 h 7528"/>
                <a:gd name="T6" fmla="*/ 0 w 1560"/>
                <a:gd name="T7" fmla="*/ 3165 h 7528"/>
                <a:gd name="T8" fmla="*/ 0 w 1560"/>
                <a:gd name="T9" fmla="*/ 4363 h 7528"/>
                <a:gd name="T10" fmla="*/ 272 w 1560"/>
                <a:gd name="T11" fmla="*/ 5530 h 7528"/>
                <a:gd name="T12" fmla="*/ 800 w 1560"/>
                <a:gd name="T13" fmla="*/ 6603 h 7528"/>
                <a:gd name="T14" fmla="*/ 1559 w 1560"/>
                <a:gd name="T15" fmla="*/ 7528 h 7528"/>
                <a:gd name="T16" fmla="*/ 1560 w 1560"/>
                <a:gd name="T17" fmla="*/ 7528 h 7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0" h="7528">
                  <a:moveTo>
                    <a:pt x="1559" y="0"/>
                  </a:moveTo>
                  <a:lnTo>
                    <a:pt x="800" y="925"/>
                  </a:lnTo>
                  <a:lnTo>
                    <a:pt x="272" y="1999"/>
                  </a:lnTo>
                  <a:lnTo>
                    <a:pt x="0" y="3165"/>
                  </a:lnTo>
                  <a:lnTo>
                    <a:pt x="0" y="4363"/>
                  </a:lnTo>
                  <a:lnTo>
                    <a:pt x="272" y="5530"/>
                  </a:lnTo>
                  <a:lnTo>
                    <a:pt x="800" y="6603"/>
                  </a:lnTo>
                  <a:lnTo>
                    <a:pt x="1559" y="7528"/>
                  </a:lnTo>
                  <a:lnTo>
                    <a:pt x="1560" y="7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04" name="Freeform 16"/>
            <p:cNvSpPr>
              <a:spLocks/>
            </p:cNvSpPr>
            <p:nvPr/>
          </p:nvSpPr>
          <p:spPr bwMode="auto">
            <a:xfrm>
              <a:off x="393" y="2183"/>
              <a:ext cx="619" cy="381"/>
            </a:xfrm>
            <a:custGeom>
              <a:avLst/>
              <a:gdLst>
                <a:gd name="T0" fmla="*/ 4301 w 4301"/>
                <a:gd name="T1" fmla="*/ 0 h 2646"/>
                <a:gd name="T2" fmla="*/ 2728 w 4301"/>
                <a:gd name="T3" fmla="*/ 639 h 2646"/>
                <a:gd name="T4" fmla="*/ 1282 w 4301"/>
                <a:gd name="T5" fmla="*/ 1529 h 2646"/>
                <a:gd name="T6" fmla="*/ 0 w 4301"/>
                <a:gd name="T7" fmla="*/ 2646 h 2646"/>
                <a:gd name="T8" fmla="*/ 1 w 4301"/>
                <a:gd name="T9" fmla="*/ 2646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1" h="2646">
                  <a:moveTo>
                    <a:pt x="4301" y="0"/>
                  </a:moveTo>
                  <a:lnTo>
                    <a:pt x="2728" y="639"/>
                  </a:lnTo>
                  <a:lnTo>
                    <a:pt x="1282" y="1529"/>
                  </a:lnTo>
                  <a:lnTo>
                    <a:pt x="0" y="2646"/>
                  </a:lnTo>
                  <a:lnTo>
                    <a:pt x="1" y="264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05" name="Freeform 17"/>
            <p:cNvSpPr>
              <a:spLocks/>
            </p:cNvSpPr>
            <p:nvPr/>
          </p:nvSpPr>
          <p:spPr bwMode="auto">
            <a:xfrm>
              <a:off x="1014" y="2071"/>
              <a:ext cx="702" cy="112"/>
            </a:xfrm>
            <a:custGeom>
              <a:avLst/>
              <a:gdLst>
                <a:gd name="T0" fmla="*/ 4856 w 4856"/>
                <a:gd name="T1" fmla="*/ 0 h 774"/>
                <a:gd name="T2" fmla="*/ 2397 w 4856"/>
                <a:gd name="T3" fmla="*/ 190 h 774"/>
                <a:gd name="T4" fmla="*/ 0 w 4856"/>
                <a:gd name="T5" fmla="*/ 774 h 774"/>
                <a:gd name="T6" fmla="*/ 1 w 4856"/>
                <a:gd name="T7" fmla="*/ 77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6" h="774">
                  <a:moveTo>
                    <a:pt x="4856" y="0"/>
                  </a:moveTo>
                  <a:lnTo>
                    <a:pt x="2397" y="190"/>
                  </a:lnTo>
                  <a:lnTo>
                    <a:pt x="0" y="774"/>
                  </a:lnTo>
                  <a:lnTo>
                    <a:pt x="1" y="77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06" name="Freeform 18"/>
            <p:cNvSpPr>
              <a:spLocks/>
            </p:cNvSpPr>
            <p:nvPr/>
          </p:nvSpPr>
          <p:spPr bwMode="auto">
            <a:xfrm>
              <a:off x="393" y="3649"/>
              <a:ext cx="619" cy="381"/>
            </a:xfrm>
            <a:custGeom>
              <a:avLst/>
              <a:gdLst>
                <a:gd name="T0" fmla="*/ 0 w 4302"/>
                <a:gd name="T1" fmla="*/ 0 h 2646"/>
                <a:gd name="T2" fmla="*/ 1282 w 4302"/>
                <a:gd name="T3" fmla="*/ 1117 h 2646"/>
                <a:gd name="T4" fmla="*/ 2728 w 4302"/>
                <a:gd name="T5" fmla="*/ 2007 h 2646"/>
                <a:gd name="T6" fmla="*/ 4301 w 4302"/>
                <a:gd name="T7" fmla="*/ 2646 h 2646"/>
                <a:gd name="T8" fmla="*/ 4302 w 4302"/>
                <a:gd name="T9" fmla="*/ 2646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2" h="2646">
                  <a:moveTo>
                    <a:pt x="0" y="0"/>
                  </a:moveTo>
                  <a:lnTo>
                    <a:pt x="1282" y="1117"/>
                  </a:lnTo>
                  <a:lnTo>
                    <a:pt x="2728" y="2007"/>
                  </a:lnTo>
                  <a:lnTo>
                    <a:pt x="4301" y="2646"/>
                  </a:lnTo>
                  <a:lnTo>
                    <a:pt x="4302" y="264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07" name="Freeform 19"/>
            <p:cNvSpPr>
              <a:spLocks/>
            </p:cNvSpPr>
            <p:nvPr/>
          </p:nvSpPr>
          <p:spPr bwMode="auto">
            <a:xfrm>
              <a:off x="1014" y="4030"/>
              <a:ext cx="702" cy="111"/>
            </a:xfrm>
            <a:custGeom>
              <a:avLst/>
              <a:gdLst>
                <a:gd name="T0" fmla="*/ 0 w 4857"/>
                <a:gd name="T1" fmla="*/ 0 h 774"/>
                <a:gd name="T2" fmla="*/ 2397 w 4857"/>
                <a:gd name="T3" fmla="*/ 584 h 774"/>
                <a:gd name="T4" fmla="*/ 4856 w 4857"/>
                <a:gd name="T5" fmla="*/ 774 h 774"/>
                <a:gd name="T6" fmla="*/ 4857 w 4857"/>
                <a:gd name="T7" fmla="*/ 77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7" h="774">
                  <a:moveTo>
                    <a:pt x="0" y="0"/>
                  </a:moveTo>
                  <a:lnTo>
                    <a:pt x="2397" y="584"/>
                  </a:lnTo>
                  <a:lnTo>
                    <a:pt x="4856" y="774"/>
                  </a:lnTo>
                  <a:lnTo>
                    <a:pt x="4857" y="77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08" name="Freeform 20"/>
            <p:cNvSpPr>
              <a:spLocks/>
            </p:cNvSpPr>
            <p:nvPr/>
          </p:nvSpPr>
          <p:spPr bwMode="auto">
            <a:xfrm>
              <a:off x="3037" y="2564"/>
              <a:ext cx="225" cy="1085"/>
            </a:xfrm>
            <a:custGeom>
              <a:avLst/>
              <a:gdLst>
                <a:gd name="T0" fmla="*/ 0 w 1559"/>
                <a:gd name="T1" fmla="*/ 7528 h 7528"/>
                <a:gd name="T2" fmla="*/ 758 w 1559"/>
                <a:gd name="T3" fmla="*/ 6603 h 7528"/>
                <a:gd name="T4" fmla="*/ 1287 w 1559"/>
                <a:gd name="T5" fmla="*/ 5530 h 7528"/>
                <a:gd name="T6" fmla="*/ 1559 w 1559"/>
                <a:gd name="T7" fmla="*/ 4363 h 7528"/>
                <a:gd name="T8" fmla="*/ 1559 w 1559"/>
                <a:gd name="T9" fmla="*/ 3165 h 7528"/>
                <a:gd name="T10" fmla="*/ 1287 w 1559"/>
                <a:gd name="T11" fmla="*/ 1999 h 7528"/>
                <a:gd name="T12" fmla="*/ 758 w 1559"/>
                <a:gd name="T13" fmla="*/ 925 h 7528"/>
                <a:gd name="T14" fmla="*/ 0 w 1559"/>
                <a:gd name="T15" fmla="*/ 0 h 7528"/>
                <a:gd name="T16" fmla="*/ 1 w 1559"/>
                <a:gd name="T17" fmla="*/ 0 h 7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59" h="7528">
                  <a:moveTo>
                    <a:pt x="0" y="7528"/>
                  </a:moveTo>
                  <a:lnTo>
                    <a:pt x="758" y="6603"/>
                  </a:lnTo>
                  <a:lnTo>
                    <a:pt x="1287" y="5530"/>
                  </a:lnTo>
                  <a:lnTo>
                    <a:pt x="1559" y="4363"/>
                  </a:lnTo>
                  <a:lnTo>
                    <a:pt x="1559" y="3165"/>
                  </a:lnTo>
                  <a:lnTo>
                    <a:pt x="1287" y="1999"/>
                  </a:lnTo>
                  <a:lnTo>
                    <a:pt x="758" y="925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09" name="Freeform 21"/>
            <p:cNvSpPr>
              <a:spLocks/>
            </p:cNvSpPr>
            <p:nvPr/>
          </p:nvSpPr>
          <p:spPr bwMode="auto">
            <a:xfrm>
              <a:off x="2416" y="2183"/>
              <a:ext cx="620" cy="381"/>
            </a:xfrm>
            <a:custGeom>
              <a:avLst/>
              <a:gdLst>
                <a:gd name="T0" fmla="*/ 4302 w 4302"/>
                <a:gd name="T1" fmla="*/ 2646 h 2646"/>
                <a:gd name="T2" fmla="*/ 3020 w 4302"/>
                <a:gd name="T3" fmla="*/ 1529 h 2646"/>
                <a:gd name="T4" fmla="*/ 1574 w 4302"/>
                <a:gd name="T5" fmla="*/ 639 h 2646"/>
                <a:gd name="T6" fmla="*/ 0 w 4302"/>
                <a:gd name="T7" fmla="*/ 0 h 2646"/>
                <a:gd name="T8" fmla="*/ 1 w 4302"/>
                <a:gd name="T9" fmla="*/ 0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2" h="2646">
                  <a:moveTo>
                    <a:pt x="4302" y="2646"/>
                  </a:moveTo>
                  <a:lnTo>
                    <a:pt x="3020" y="1529"/>
                  </a:lnTo>
                  <a:lnTo>
                    <a:pt x="1574" y="639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10" name="Freeform 22"/>
            <p:cNvSpPr>
              <a:spLocks/>
            </p:cNvSpPr>
            <p:nvPr/>
          </p:nvSpPr>
          <p:spPr bwMode="auto">
            <a:xfrm>
              <a:off x="1716" y="2071"/>
              <a:ext cx="702" cy="112"/>
            </a:xfrm>
            <a:custGeom>
              <a:avLst/>
              <a:gdLst>
                <a:gd name="T0" fmla="*/ 4856 w 4856"/>
                <a:gd name="T1" fmla="*/ 774 h 774"/>
                <a:gd name="T2" fmla="*/ 2460 w 4856"/>
                <a:gd name="T3" fmla="*/ 190 h 774"/>
                <a:gd name="T4" fmla="*/ 0 w 4856"/>
                <a:gd name="T5" fmla="*/ 0 h 774"/>
                <a:gd name="T6" fmla="*/ 1 w 4856"/>
                <a:gd name="T7" fmla="*/ 0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6" h="774">
                  <a:moveTo>
                    <a:pt x="4856" y="774"/>
                  </a:moveTo>
                  <a:lnTo>
                    <a:pt x="2460" y="19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11" name="Freeform 23"/>
            <p:cNvSpPr>
              <a:spLocks/>
            </p:cNvSpPr>
            <p:nvPr/>
          </p:nvSpPr>
          <p:spPr bwMode="auto">
            <a:xfrm>
              <a:off x="2416" y="3649"/>
              <a:ext cx="620" cy="381"/>
            </a:xfrm>
            <a:custGeom>
              <a:avLst/>
              <a:gdLst>
                <a:gd name="T0" fmla="*/ 0 w 4303"/>
                <a:gd name="T1" fmla="*/ 2646 h 2646"/>
                <a:gd name="T2" fmla="*/ 1574 w 4303"/>
                <a:gd name="T3" fmla="*/ 2007 h 2646"/>
                <a:gd name="T4" fmla="*/ 3020 w 4303"/>
                <a:gd name="T5" fmla="*/ 1117 h 2646"/>
                <a:gd name="T6" fmla="*/ 4302 w 4303"/>
                <a:gd name="T7" fmla="*/ 0 h 2646"/>
                <a:gd name="T8" fmla="*/ 4303 w 4303"/>
                <a:gd name="T9" fmla="*/ 0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3" h="2646">
                  <a:moveTo>
                    <a:pt x="0" y="2646"/>
                  </a:moveTo>
                  <a:lnTo>
                    <a:pt x="1574" y="2007"/>
                  </a:lnTo>
                  <a:lnTo>
                    <a:pt x="3020" y="1117"/>
                  </a:lnTo>
                  <a:lnTo>
                    <a:pt x="4302" y="0"/>
                  </a:lnTo>
                  <a:lnTo>
                    <a:pt x="430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12" name="Freeform 24"/>
            <p:cNvSpPr>
              <a:spLocks/>
            </p:cNvSpPr>
            <p:nvPr/>
          </p:nvSpPr>
          <p:spPr bwMode="auto">
            <a:xfrm>
              <a:off x="1716" y="4030"/>
              <a:ext cx="702" cy="111"/>
            </a:xfrm>
            <a:custGeom>
              <a:avLst/>
              <a:gdLst>
                <a:gd name="T0" fmla="*/ 0 w 4857"/>
                <a:gd name="T1" fmla="*/ 774 h 774"/>
                <a:gd name="T2" fmla="*/ 2460 w 4857"/>
                <a:gd name="T3" fmla="*/ 584 h 774"/>
                <a:gd name="T4" fmla="*/ 4856 w 4857"/>
                <a:gd name="T5" fmla="*/ 0 h 774"/>
                <a:gd name="T6" fmla="*/ 4857 w 4857"/>
                <a:gd name="T7" fmla="*/ 0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7" h="774">
                  <a:moveTo>
                    <a:pt x="0" y="774"/>
                  </a:moveTo>
                  <a:lnTo>
                    <a:pt x="2460" y="584"/>
                  </a:lnTo>
                  <a:lnTo>
                    <a:pt x="4856" y="0"/>
                  </a:lnTo>
                  <a:lnTo>
                    <a:pt x="485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3513" name="Group 25"/>
          <p:cNvGrpSpPr>
            <a:grpSpLocks/>
          </p:cNvGrpSpPr>
          <p:nvPr/>
        </p:nvGrpSpPr>
        <p:grpSpPr bwMode="auto">
          <a:xfrm>
            <a:off x="939800" y="1697038"/>
            <a:ext cx="65088" cy="73025"/>
            <a:chOff x="563" y="2570"/>
            <a:chExt cx="50" cy="56"/>
          </a:xfrm>
        </p:grpSpPr>
        <p:sp>
          <p:nvSpPr>
            <p:cNvPr id="63514" name="Freeform 26"/>
            <p:cNvSpPr>
              <a:spLocks/>
            </p:cNvSpPr>
            <p:nvPr/>
          </p:nvSpPr>
          <p:spPr bwMode="auto">
            <a:xfrm>
              <a:off x="563" y="2570"/>
              <a:ext cx="50" cy="56"/>
            </a:xfrm>
            <a:custGeom>
              <a:avLst/>
              <a:gdLst>
                <a:gd name="T0" fmla="*/ 0 w 349"/>
                <a:gd name="T1" fmla="*/ 0 h 388"/>
                <a:gd name="T2" fmla="*/ 348 w 349"/>
                <a:gd name="T3" fmla="*/ 388 h 388"/>
                <a:gd name="T4" fmla="*/ 349 w 349"/>
                <a:gd name="T5" fmla="*/ 388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9" h="388">
                  <a:moveTo>
                    <a:pt x="0" y="0"/>
                  </a:moveTo>
                  <a:lnTo>
                    <a:pt x="348" y="388"/>
                  </a:lnTo>
                  <a:lnTo>
                    <a:pt x="349" y="38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15" name="Freeform 27"/>
            <p:cNvSpPr>
              <a:spLocks/>
            </p:cNvSpPr>
            <p:nvPr/>
          </p:nvSpPr>
          <p:spPr bwMode="auto">
            <a:xfrm>
              <a:off x="583" y="2596"/>
              <a:ext cx="1" cy="0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1 w 1"/>
                <a:gd name="T5" fmla="*/ 0 h 1"/>
                <a:gd name="T6" fmla="*/ 0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16" name="Freeform 28"/>
            <p:cNvSpPr>
              <a:spLocks/>
            </p:cNvSpPr>
            <p:nvPr/>
          </p:nvSpPr>
          <p:spPr bwMode="auto">
            <a:xfrm>
              <a:off x="584" y="2596"/>
              <a:ext cx="0" cy="0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17" name="Freeform 29"/>
            <p:cNvSpPr>
              <a:spLocks/>
            </p:cNvSpPr>
            <p:nvPr/>
          </p:nvSpPr>
          <p:spPr bwMode="auto">
            <a:xfrm>
              <a:off x="584" y="2596"/>
              <a:ext cx="0" cy="0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1 h 1"/>
                <a:gd name="T4" fmla="*/ 1 w 2"/>
                <a:gd name="T5" fmla="*/ 0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18" name="Freeform 30"/>
            <p:cNvSpPr>
              <a:spLocks/>
            </p:cNvSpPr>
            <p:nvPr/>
          </p:nvSpPr>
          <p:spPr bwMode="auto">
            <a:xfrm>
              <a:off x="584" y="2596"/>
              <a:ext cx="0" cy="0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1 h 1"/>
                <a:gd name="T4" fmla="*/ 1 w 2"/>
                <a:gd name="T5" fmla="*/ 0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19" name="Freeform 31"/>
            <p:cNvSpPr>
              <a:spLocks/>
            </p:cNvSpPr>
            <p:nvPr/>
          </p:nvSpPr>
          <p:spPr bwMode="auto">
            <a:xfrm>
              <a:off x="584" y="2596"/>
              <a:ext cx="0" cy="0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1 h 1"/>
                <a:gd name="T4" fmla="*/ 1 w 2"/>
                <a:gd name="T5" fmla="*/ 0 h 1"/>
                <a:gd name="T6" fmla="*/ 1 w 2"/>
                <a:gd name="T7" fmla="*/ 1 h 1"/>
                <a:gd name="T8" fmla="*/ 2 w 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20" name="Line 32"/>
            <p:cNvSpPr>
              <a:spLocks noChangeShapeType="1"/>
            </p:cNvSpPr>
            <p:nvPr/>
          </p:nvSpPr>
          <p:spPr bwMode="auto">
            <a:xfrm>
              <a:off x="584" y="2596"/>
              <a:ext cx="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21" name="Freeform 33"/>
            <p:cNvSpPr>
              <a:spLocks/>
            </p:cNvSpPr>
            <p:nvPr/>
          </p:nvSpPr>
          <p:spPr bwMode="auto">
            <a:xfrm>
              <a:off x="584" y="2596"/>
              <a:ext cx="1" cy="0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1 h 1"/>
                <a:gd name="T4" fmla="*/ 1 w 2"/>
                <a:gd name="T5" fmla="*/ 0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22" name="Freeform 34"/>
            <p:cNvSpPr>
              <a:spLocks/>
            </p:cNvSpPr>
            <p:nvPr/>
          </p:nvSpPr>
          <p:spPr bwMode="auto">
            <a:xfrm>
              <a:off x="584" y="2596"/>
              <a:ext cx="1" cy="0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23" name="Freeform 35"/>
            <p:cNvSpPr>
              <a:spLocks/>
            </p:cNvSpPr>
            <p:nvPr/>
          </p:nvSpPr>
          <p:spPr bwMode="auto">
            <a:xfrm>
              <a:off x="584" y="2596"/>
              <a:ext cx="1" cy="0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1 h 1"/>
                <a:gd name="T4" fmla="*/ 1 w 2"/>
                <a:gd name="T5" fmla="*/ 0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24" name="Freeform 36"/>
            <p:cNvSpPr>
              <a:spLocks/>
            </p:cNvSpPr>
            <p:nvPr/>
          </p:nvSpPr>
          <p:spPr bwMode="auto">
            <a:xfrm>
              <a:off x="585" y="2596"/>
              <a:ext cx="1" cy="0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3525" name="Group 37"/>
          <p:cNvGrpSpPr>
            <a:grpSpLocks/>
          </p:cNvGrpSpPr>
          <p:nvPr/>
        </p:nvGrpSpPr>
        <p:grpSpPr bwMode="auto">
          <a:xfrm>
            <a:off x="3944938" y="1697038"/>
            <a:ext cx="66675" cy="73025"/>
            <a:chOff x="2843" y="3081"/>
            <a:chExt cx="51" cy="56"/>
          </a:xfrm>
        </p:grpSpPr>
        <p:sp>
          <p:nvSpPr>
            <p:cNvPr id="63526" name="Freeform 38"/>
            <p:cNvSpPr>
              <a:spLocks/>
            </p:cNvSpPr>
            <p:nvPr/>
          </p:nvSpPr>
          <p:spPr bwMode="auto">
            <a:xfrm>
              <a:off x="2843" y="3081"/>
              <a:ext cx="51" cy="56"/>
            </a:xfrm>
            <a:custGeom>
              <a:avLst/>
              <a:gdLst>
                <a:gd name="T0" fmla="*/ 0 w 349"/>
                <a:gd name="T1" fmla="*/ 388 h 388"/>
                <a:gd name="T2" fmla="*/ 348 w 349"/>
                <a:gd name="T3" fmla="*/ 0 h 388"/>
                <a:gd name="T4" fmla="*/ 349 w 349"/>
                <a:gd name="T5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9" h="388">
                  <a:moveTo>
                    <a:pt x="0" y="388"/>
                  </a:moveTo>
                  <a:lnTo>
                    <a:pt x="348" y="0"/>
                  </a:lnTo>
                  <a:lnTo>
                    <a:pt x="349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27" name="Freeform 39"/>
            <p:cNvSpPr>
              <a:spLocks/>
            </p:cNvSpPr>
            <p:nvPr/>
          </p:nvSpPr>
          <p:spPr bwMode="auto">
            <a:xfrm>
              <a:off x="2872" y="3107"/>
              <a:ext cx="1" cy="0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1 w 1"/>
                <a:gd name="T5" fmla="*/ 0 h 1"/>
                <a:gd name="T6" fmla="*/ 0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28" name="Freeform 40"/>
            <p:cNvSpPr>
              <a:spLocks/>
            </p:cNvSpPr>
            <p:nvPr/>
          </p:nvSpPr>
          <p:spPr bwMode="auto">
            <a:xfrm>
              <a:off x="2872" y="3107"/>
              <a:ext cx="1" cy="0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1 h 1"/>
                <a:gd name="T4" fmla="*/ 2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29" name="Freeform 41"/>
            <p:cNvSpPr>
              <a:spLocks/>
            </p:cNvSpPr>
            <p:nvPr/>
          </p:nvSpPr>
          <p:spPr bwMode="auto">
            <a:xfrm>
              <a:off x="2872" y="3107"/>
              <a:ext cx="1" cy="0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0 h 1"/>
                <a:gd name="T4" fmla="*/ 0 w 2"/>
                <a:gd name="T5" fmla="*/ 1 h 1"/>
                <a:gd name="T6" fmla="*/ 1 w 2"/>
                <a:gd name="T7" fmla="*/ 1 h 1"/>
                <a:gd name="T8" fmla="*/ 2 w 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30" name="Freeform 42"/>
            <p:cNvSpPr>
              <a:spLocks/>
            </p:cNvSpPr>
            <p:nvPr/>
          </p:nvSpPr>
          <p:spPr bwMode="auto">
            <a:xfrm>
              <a:off x="2872" y="3107"/>
              <a:ext cx="1" cy="0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31" name="Freeform 43"/>
            <p:cNvSpPr>
              <a:spLocks/>
            </p:cNvSpPr>
            <p:nvPr/>
          </p:nvSpPr>
          <p:spPr bwMode="auto">
            <a:xfrm>
              <a:off x="2873" y="3107"/>
              <a:ext cx="0" cy="0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32" name="Freeform 44"/>
            <p:cNvSpPr>
              <a:spLocks/>
            </p:cNvSpPr>
            <p:nvPr/>
          </p:nvSpPr>
          <p:spPr bwMode="auto">
            <a:xfrm>
              <a:off x="2873" y="3107"/>
              <a:ext cx="0" cy="0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1 h 1"/>
                <a:gd name="T4" fmla="*/ 1 w 2"/>
                <a:gd name="T5" fmla="*/ 0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33" name="Line 45"/>
            <p:cNvSpPr>
              <a:spLocks noChangeShapeType="1"/>
            </p:cNvSpPr>
            <p:nvPr/>
          </p:nvSpPr>
          <p:spPr bwMode="auto">
            <a:xfrm>
              <a:off x="2873" y="3107"/>
              <a:ext cx="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34" name="Freeform 46"/>
            <p:cNvSpPr>
              <a:spLocks/>
            </p:cNvSpPr>
            <p:nvPr/>
          </p:nvSpPr>
          <p:spPr bwMode="auto">
            <a:xfrm>
              <a:off x="2873" y="3107"/>
              <a:ext cx="0" cy="0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35" name="Freeform 47"/>
            <p:cNvSpPr>
              <a:spLocks/>
            </p:cNvSpPr>
            <p:nvPr/>
          </p:nvSpPr>
          <p:spPr bwMode="auto">
            <a:xfrm>
              <a:off x="2873" y="3107"/>
              <a:ext cx="1" cy="0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0 h 1"/>
                <a:gd name="T4" fmla="*/ 0 w 2"/>
                <a:gd name="T5" fmla="*/ 0 h 1"/>
                <a:gd name="T6" fmla="*/ 0 w 2"/>
                <a:gd name="T7" fmla="*/ 1 h 1"/>
                <a:gd name="T8" fmla="*/ 1 w 2"/>
                <a:gd name="T9" fmla="*/ 1 h 1"/>
                <a:gd name="T10" fmla="*/ 2 w 2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36" name="Freeform 48"/>
            <p:cNvSpPr>
              <a:spLocks/>
            </p:cNvSpPr>
            <p:nvPr/>
          </p:nvSpPr>
          <p:spPr bwMode="auto">
            <a:xfrm>
              <a:off x="2873" y="3107"/>
              <a:ext cx="1" cy="0"/>
            </a:xfrm>
            <a:custGeom>
              <a:avLst/>
              <a:gdLst>
                <a:gd name="T0" fmla="*/ 0 w 2"/>
                <a:gd name="T1" fmla="*/ 0 h 1"/>
                <a:gd name="T2" fmla="*/ 1 w 2"/>
                <a:gd name="T3" fmla="*/ 0 h 1"/>
                <a:gd name="T4" fmla="*/ 0 w 2"/>
                <a:gd name="T5" fmla="*/ 0 h 1"/>
                <a:gd name="T6" fmla="*/ 0 w 2"/>
                <a:gd name="T7" fmla="*/ 1 h 1"/>
                <a:gd name="T8" fmla="*/ 1 w 2"/>
                <a:gd name="T9" fmla="*/ 1 h 1"/>
                <a:gd name="T10" fmla="*/ 2 w 2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37" name="Freeform 49"/>
            <p:cNvSpPr>
              <a:spLocks/>
            </p:cNvSpPr>
            <p:nvPr/>
          </p:nvSpPr>
          <p:spPr bwMode="auto">
            <a:xfrm>
              <a:off x="2873" y="3107"/>
              <a:ext cx="1" cy="0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1 w 1"/>
                <a:gd name="T5" fmla="*/ 0 h 1"/>
                <a:gd name="T6" fmla="*/ 1 w 1"/>
                <a:gd name="T7" fmla="*/ 1 h 1"/>
                <a:gd name="T8" fmla="*/ 0 w 1"/>
                <a:gd name="T9" fmla="*/ 1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3538" name="Text Box 50"/>
          <p:cNvSpPr txBox="1">
            <a:spLocks noChangeArrowheads="1"/>
          </p:cNvSpPr>
          <p:nvPr/>
        </p:nvSpPr>
        <p:spPr bwMode="auto">
          <a:xfrm>
            <a:off x="3581400" y="1701800"/>
            <a:ext cx="86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F</a:t>
            </a:r>
            <a:r>
              <a:rPr lang="en-US" altLang="en-US" sz="2800" baseline="-25000"/>
              <a:t>2</a:t>
            </a:r>
          </a:p>
        </p:txBody>
      </p:sp>
      <p:sp>
        <p:nvSpPr>
          <p:cNvPr id="63539" name="Text Box 51"/>
          <p:cNvSpPr txBox="1">
            <a:spLocks noChangeArrowheads="1"/>
          </p:cNvSpPr>
          <p:nvPr/>
        </p:nvSpPr>
        <p:spPr bwMode="auto">
          <a:xfrm>
            <a:off x="2441575" y="1274763"/>
            <a:ext cx="4841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O</a:t>
            </a:r>
          </a:p>
        </p:txBody>
      </p:sp>
      <p:grpSp>
        <p:nvGrpSpPr>
          <p:cNvPr id="63540" name="Group 52"/>
          <p:cNvGrpSpPr>
            <a:grpSpLocks/>
          </p:cNvGrpSpPr>
          <p:nvPr/>
        </p:nvGrpSpPr>
        <p:grpSpPr bwMode="auto">
          <a:xfrm>
            <a:off x="454025" y="1730375"/>
            <a:ext cx="4043363" cy="0"/>
            <a:chOff x="228" y="2106"/>
            <a:chExt cx="5376" cy="1"/>
          </a:xfrm>
        </p:grpSpPr>
        <p:sp>
          <p:nvSpPr>
            <p:cNvPr id="63541" name="Freeform 53"/>
            <p:cNvSpPr>
              <a:spLocks/>
            </p:cNvSpPr>
            <p:nvPr/>
          </p:nvSpPr>
          <p:spPr bwMode="auto">
            <a:xfrm>
              <a:off x="2147483647" y="1730375"/>
              <a:ext cx="401" cy="0"/>
            </a:xfrm>
            <a:custGeom>
              <a:avLst/>
              <a:gdLst>
                <a:gd name="T0" fmla="*/ 0 w 1613"/>
                <a:gd name="T1" fmla="*/ 1612 w 1613"/>
                <a:gd name="T2" fmla="*/ 1613 w 16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613">
                  <a:moveTo>
                    <a:pt x="0" y="0"/>
                  </a:moveTo>
                  <a:lnTo>
                    <a:pt x="1612" y="0"/>
                  </a:lnTo>
                  <a:lnTo>
                    <a:pt x="161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4675" name="Group 54"/>
            <p:cNvGrpSpPr>
              <a:grpSpLocks/>
            </p:cNvGrpSpPr>
            <p:nvPr/>
          </p:nvGrpSpPr>
          <p:grpSpPr bwMode="auto">
            <a:xfrm>
              <a:off x="228" y="2106"/>
              <a:ext cx="4704" cy="1"/>
              <a:chOff x="228" y="2106"/>
              <a:chExt cx="4704" cy="1"/>
            </a:xfrm>
          </p:grpSpPr>
          <p:sp>
            <p:nvSpPr>
              <p:cNvPr id="63543" name="Freeform 55"/>
              <p:cNvSpPr>
                <a:spLocks/>
              </p:cNvSpPr>
              <p:nvPr/>
            </p:nvSpPr>
            <p:spPr bwMode="auto">
              <a:xfrm>
                <a:off x="646334706" y="1730375"/>
                <a:ext cx="89" cy="0"/>
              </a:xfrm>
              <a:custGeom>
                <a:avLst/>
                <a:gdLst>
                  <a:gd name="T0" fmla="*/ 0 w 359"/>
                  <a:gd name="T1" fmla="*/ 358 w 359"/>
                  <a:gd name="T2" fmla="*/ 359 w 35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59">
                    <a:moveTo>
                      <a:pt x="0" y="0"/>
                    </a:moveTo>
                    <a:lnTo>
                      <a:pt x="358" y="0"/>
                    </a:lnTo>
                    <a:lnTo>
                      <a:pt x="35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44" name="Freeform 56"/>
              <p:cNvSpPr>
                <a:spLocks/>
              </p:cNvSpPr>
              <p:nvPr/>
            </p:nvSpPr>
            <p:spPr bwMode="auto">
              <a:xfrm>
                <a:off x="848747919" y="1730375"/>
                <a:ext cx="450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45" name="Freeform 57"/>
              <p:cNvSpPr>
                <a:spLocks/>
              </p:cNvSpPr>
              <p:nvPr/>
            </p:nvSpPr>
            <p:spPr bwMode="auto">
              <a:xfrm>
                <a:off x="1051759186" y="1730375"/>
                <a:ext cx="91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46" name="Freeform 58"/>
              <p:cNvSpPr>
                <a:spLocks/>
              </p:cNvSpPr>
              <p:nvPr/>
            </p:nvSpPr>
            <p:spPr bwMode="auto">
              <a:xfrm>
                <a:off x="1254172401" y="1730375"/>
                <a:ext cx="447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47" name="Freeform 59"/>
              <p:cNvSpPr>
                <a:spLocks/>
              </p:cNvSpPr>
              <p:nvPr/>
            </p:nvSpPr>
            <p:spPr bwMode="auto">
              <a:xfrm>
                <a:off x="1457183668" y="1730375"/>
                <a:ext cx="89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48" name="Freeform 60"/>
              <p:cNvSpPr>
                <a:spLocks/>
              </p:cNvSpPr>
              <p:nvPr/>
            </p:nvSpPr>
            <p:spPr bwMode="auto">
              <a:xfrm>
                <a:off x="1660193784" y="1730375"/>
                <a:ext cx="445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49" name="Freeform 61"/>
              <p:cNvSpPr>
                <a:spLocks/>
              </p:cNvSpPr>
              <p:nvPr/>
            </p:nvSpPr>
            <p:spPr bwMode="auto">
              <a:xfrm>
                <a:off x="2065021364" y="1730375"/>
                <a:ext cx="447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50" name="Freeform 62"/>
              <p:cNvSpPr>
                <a:spLocks/>
              </p:cNvSpPr>
              <p:nvPr/>
            </p:nvSpPr>
            <p:spPr bwMode="auto">
              <a:xfrm>
                <a:off x="2147483647" y="1730375"/>
                <a:ext cx="91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51" name="Freeform 63"/>
              <p:cNvSpPr>
                <a:spLocks/>
              </p:cNvSpPr>
              <p:nvPr/>
            </p:nvSpPr>
            <p:spPr bwMode="auto">
              <a:xfrm>
                <a:off x="2147483647" y="1730375"/>
                <a:ext cx="447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52" name="Freeform 64"/>
              <p:cNvSpPr>
                <a:spLocks/>
              </p:cNvSpPr>
              <p:nvPr/>
            </p:nvSpPr>
            <p:spPr bwMode="auto">
              <a:xfrm>
                <a:off x="2147483647" y="1730375"/>
                <a:ext cx="91" cy="0"/>
              </a:xfrm>
              <a:custGeom>
                <a:avLst/>
                <a:gdLst>
                  <a:gd name="T0" fmla="*/ 0 w 359"/>
                  <a:gd name="T1" fmla="*/ 358 w 359"/>
                  <a:gd name="T2" fmla="*/ 359 w 35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59">
                    <a:moveTo>
                      <a:pt x="0" y="0"/>
                    </a:moveTo>
                    <a:lnTo>
                      <a:pt x="358" y="0"/>
                    </a:lnTo>
                    <a:lnTo>
                      <a:pt x="35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53" name="Freeform 65"/>
              <p:cNvSpPr>
                <a:spLocks/>
              </p:cNvSpPr>
              <p:nvPr/>
            </p:nvSpPr>
            <p:spPr bwMode="auto">
              <a:xfrm>
                <a:off x="2147483647" y="1730375"/>
                <a:ext cx="447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54" name="Freeform 66"/>
              <p:cNvSpPr>
                <a:spLocks/>
              </p:cNvSpPr>
              <p:nvPr/>
            </p:nvSpPr>
            <p:spPr bwMode="auto">
              <a:xfrm>
                <a:off x="1862608149" y="1730375"/>
                <a:ext cx="91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55" name="Freeform 67"/>
              <p:cNvSpPr>
                <a:spLocks/>
              </p:cNvSpPr>
              <p:nvPr/>
            </p:nvSpPr>
            <p:spPr bwMode="auto">
              <a:xfrm>
                <a:off x="455862330" y="1730375"/>
                <a:ext cx="403" cy="0"/>
              </a:xfrm>
              <a:custGeom>
                <a:avLst/>
                <a:gdLst>
                  <a:gd name="T0" fmla="*/ 0 w 1613"/>
                  <a:gd name="T1" fmla="*/ 1612 w 1613"/>
                  <a:gd name="T2" fmla="*/ 1613 w 161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613">
                    <a:moveTo>
                      <a:pt x="0" y="0"/>
                    </a:moveTo>
                    <a:lnTo>
                      <a:pt x="1612" y="0"/>
                    </a:lnTo>
                    <a:lnTo>
                      <a:pt x="161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63556" name="Line 68"/>
          <p:cNvSpPr>
            <a:spLocks noChangeShapeType="1"/>
          </p:cNvSpPr>
          <p:nvPr/>
        </p:nvSpPr>
        <p:spPr bwMode="auto">
          <a:xfrm rot="245508" flipV="1">
            <a:off x="1001713" y="311150"/>
            <a:ext cx="1444625" cy="14636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557" name="Line 69"/>
          <p:cNvSpPr>
            <a:spLocks noChangeShapeType="1"/>
          </p:cNvSpPr>
          <p:nvPr/>
        </p:nvSpPr>
        <p:spPr bwMode="auto">
          <a:xfrm>
            <a:off x="2473325" y="381000"/>
            <a:ext cx="1484313" cy="13366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3558" name="Group 70"/>
          <p:cNvGrpSpPr>
            <a:grpSpLocks/>
          </p:cNvGrpSpPr>
          <p:nvPr/>
        </p:nvGrpSpPr>
        <p:grpSpPr bwMode="auto">
          <a:xfrm>
            <a:off x="22225" y="1468438"/>
            <a:ext cx="5006975" cy="533400"/>
            <a:chOff x="14" y="925"/>
            <a:chExt cx="3154" cy="336"/>
          </a:xfrm>
        </p:grpSpPr>
        <p:sp>
          <p:nvSpPr>
            <p:cNvPr id="24672" name="Text Box 71"/>
            <p:cNvSpPr txBox="1">
              <a:spLocks noChangeArrowheads="1"/>
            </p:cNvSpPr>
            <p:nvPr/>
          </p:nvSpPr>
          <p:spPr bwMode="auto">
            <a:xfrm>
              <a:off x="14" y="925"/>
              <a:ext cx="3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A</a:t>
              </a:r>
            </a:p>
          </p:txBody>
        </p:sp>
        <p:sp>
          <p:nvSpPr>
            <p:cNvPr id="24673" name="Text Box 72"/>
            <p:cNvSpPr txBox="1">
              <a:spLocks noChangeArrowheads="1"/>
            </p:cNvSpPr>
            <p:nvPr/>
          </p:nvSpPr>
          <p:spPr bwMode="auto">
            <a:xfrm>
              <a:off x="2826" y="934"/>
              <a:ext cx="3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B</a:t>
              </a:r>
            </a:p>
          </p:txBody>
        </p:sp>
      </p:grpSp>
      <p:grpSp>
        <p:nvGrpSpPr>
          <p:cNvPr id="63561" name="Group 73"/>
          <p:cNvGrpSpPr>
            <a:grpSpLocks/>
          </p:cNvGrpSpPr>
          <p:nvPr/>
        </p:nvGrpSpPr>
        <p:grpSpPr bwMode="auto">
          <a:xfrm>
            <a:off x="2271713" y="-74613"/>
            <a:ext cx="355600" cy="3565526"/>
            <a:chOff x="1431" y="-47"/>
            <a:chExt cx="224" cy="2246"/>
          </a:xfrm>
        </p:grpSpPr>
        <p:sp>
          <p:nvSpPr>
            <p:cNvPr id="24670" name="Text Box 74"/>
            <p:cNvSpPr txBox="1">
              <a:spLocks noChangeArrowheads="1"/>
            </p:cNvSpPr>
            <p:nvPr/>
          </p:nvSpPr>
          <p:spPr bwMode="auto">
            <a:xfrm>
              <a:off x="1440" y="-47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C</a:t>
              </a:r>
            </a:p>
          </p:txBody>
        </p:sp>
        <p:sp>
          <p:nvSpPr>
            <p:cNvPr id="24671" name="Text Box 75"/>
            <p:cNvSpPr txBox="1">
              <a:spLocks noChangeArrowheads="1"/>
            </p:cNvSpPr>
            <p:nvPr/>
          </p:nvSpPr>
          <p:spPr bwMode="auto">
            <a:xfrm>
              <a:off x="1431" y="1872"/>
              <a:ext cx="21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D</a:t>
              </a:r>
            </a:p>
          </p:txBody>
        </p:sp>
      </p:grpSp>
      <p:sp>
        <p:nvSpPr>
          <p:cNvPr id="63564" name="Text Box 76"/>
          <p:cNvSpPr txBox="1">
            <a:spLocks noChangeArrowheads="1"/>
          </p:cNvSpPr>
          <p:nvPr/>
        </p:nvSpPr>
        <p:spPr bwMode="auto">
          <a:xfrm>
            <a:off x="5314950" y="228600"/>
            <a:ext cx="3810000" cy="123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 b="0">
                <a:latin typeface="Arial" panose="020B0604020202020204" pitchFamily="34" charset="0"/>
              </a:rPr>
              <a:t>Major Axis = 100 mm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 b="0">
                <a:latin typeface="Arial" panose="020B0604020202020204" pitchFamily="34" charset="0"/>
              </a:rPr>
              <a:t>Minor Axis = 60 mm</a:t>
            </a:r>
            <a:endParaRPr lang="en-GB" altLang="en-US" sz="3000" b="0">
              <a:latin typeface="Arial" panose="020B0604020202020204" pitchFamily="34" charset="0"/>
            </a:endParaRPr>
          </a:p>
        </p:txBody>
      </p:sp>
      <p:sp>
        <p:nvSpPr>
          <p:cNvPr id="63565" name="Text Box 77"/>
          <p:cNvSpPr txBox="1">
            <a:spLocks noChangeArrowheads="1"/>
          </p:cNvSpPr>
          <p:nvPr/>
        </p:nvSpPr>
        <p:spPr bwMode="auto">
          <a:xfrm>
            <a:off x="5791200" y="1676400"/>
            <a:ext cx="3810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 b="0">
                <a:latin typeface="Arial" panose="020B0604020202020204" pitchFamily="34" charset="0"/>
              </a:rPr>
              <a:t>CF</a:t>
            </a:r>
            <a:r>
              <a:rPr lang="en-US" altLang="en-US" sz="3000" b="0" baseline="-25000">
                <a:latin typeface="Arial" panose="020B0604020202020204" pitchFamily="34" charset="0"/>
              </a:rPr>
              <a:t>1</a:t>
            </a:r>
            <a:r>
              <a:rPr lang="en-US" altLang="en-US" sz="3000" b="0">
                <a:latin typeface="Arial" panose="020B0604020202020204" pitchFamily="34" charset="0"/>
              </a:rPr>
              <a:t> = ½ AB = AO</a:t>
            </a:r>
            <a:endParaRPr lang="en-GB" altLang="en-US" sz="3000" b="0" baseline="-25000">
              <a:latin typeface="Arial" panose="020B0604020202020204" pitchFamily="34" charset="0"/>
            </a:endParaRPr>
          </a:p>
        </p:txBody>
      </p:sp>
      <p:grpSp>
        <p:nvGrpSpPr>
          <p:cNvPr id="63566" name="Group 78"/>
          <p:cNvGrpSpPr>
            <a:grpSpLocks/>
          </p:cNvGrpSpPr>
          <p:nvPr/>
        </p:nvGrpSpPr>
        <p:grpSpPr bwMode="auto">
          <a:xfrm>
            <a:off x="2490788" y="3771900"/>
            <a:ext cx="1587" cy="2698750"/>
            <a:chOff x="2916" y="310"/>
            <a:chExt cx="1" cy="3592"/>
          </a:xfrm>
        </p:grpSpPr>
        <p:sp>
          <p:nvSpPr>
            <p:cNvPr id="63567" name="Freeform 79"/>
            <p:cNvSpPr>
              <a:spLocks/>
            </p:cNvSpPr>
            <p:nvPr/>
          </p:nvSpPr>
          <p:spPr bwMode="auto">
            <a:xfrm>
              <a:off x="2916" y="1702"/>
              <a:ext cx="1" cy="404"/>
            </a:xfrm>
            <a:custGeom>
              <a:avLst/>
              <a:gdLst>
                <a:gd name="T0" fmla="*/ 0 w 1"/>
                <a:gd name="T1" fmla="*/ 1616 h 1616"/>
                <a:gd name="T2" fmla="*/ 0 w 1"/>
                <a:gd name="T3" fmla="*/ 0 h 1616"/>
                <a:gd name="T4" fmla="*/ 1 w 1"/>
                <a:gd name="T5" fmla="*/ 0 h 1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6">
                  <a:moveTo>
                    <a:pt x="0" y="16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68" name="Freeform 80"/>
            <p:cNvSpPr>
              <a:spLocks/>
            </p:cNvSpPr>
            <p:nvPr/>
          </p:nvSpPr>
          <p:spPr bwMode="auto">
            <a:xfrm>
              <a:off x="2916" y="1523"/>
              <a:ext cx="1" cy="89"/>
            </a:xfrm>
            <a:custGeom>
              <a:avLst/>
              <a:gdLst>
                <a:gd name="T0" fmla="*/ 0 w 1"/>
                <a:gd name="T1" fmla="*/ 359 h 359"/>
                <a:gd name="T2" fmla="*/ 0 w 1"/>
                <a:gd name="T3" fmla="*/ 0 h 359"/>
                <a:gd name="T4" fmla="*/ 1 w 1"/>
                <a:gd name="T5" fmla="*/ 0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9">
                  <a:moveTo>
                    <a:pt x="0" y="35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69" name="Freeform 81"/>
            <p:cNvSpPr>
              <a:spLocks/>
            </p:cNvSpPr>
            <p:nvPr/>
          </p:nvSpPr>
          <p:spPr bwMode="auto">
            <a:xfrm>
              <a:off x="2916" y="984"/>
              <a:ext cx="1" cy="448"/>
            </a:xfrm>
            <a:custGeom>
              <a:avLst/>
              <a:gdLst>
                <a:gd name="T0" fmla="*/ 0 w 1"/>
                <a:gd name="T1" fmla="*/ 1796 h 1796"/>
                <a:gd name="T2" fmla="*/ 0 w 1"/>
                <a:gd name="T3" fmla="*/ 0 h 1796"/>
                <a:gd name="T4" fmla="*/ 1 w 1"/>
                <a:gd name="T5" fmla="*/ 0 h 1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96">
                  <a:moveTo>
                    <a:pt x="0" y="179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70" name="Freeform 82"/>
            <p:cNvSpPr>
              <a:spLocks/>
            </p:cNvSpPr>
            <p:nvPr/>
          </p:nvSpPr>
          <p:spPr bwMode="auto">
            <a:xfrm>
              <a:off x="2916" y="804"/>
              <a:ext cx="1" cy="89"/>
            </a:xfrm>
            <a:custGeom>
              <a:avLst/>
              <a:gdLst>
                <a:gd name="T0" fmla="*/ 0 w 1"/>
                <a:gd name="T1" fmla="*/ 360 h 360"/>
                <a:gd name="T2" fmla="*/ 0 w 1"/>
                <a:gd name="T3" fmla="*/ 0 h 360"/>
                <a:gd name="T4" fmla="*/ 1 w 1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60">
                  <a:moveTo>
                    <a:pt x="0" y="36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71" name="Freeform 83"/>
            <p:cNvSpPr>
              <a:spLocks/>
            </p:cNvSpPr>
            <p:nvPr/>
          </p:nvSpPr>
          <p:spPr bwMode="auto">
            <a:xfrm>
              <a:off x="2916" y="310"/>
              <a:ext cx="1" cy="404"/>
            </a:xfrm>
            <a:custGeom>
              <a:avLst/>
              <a:gdLst>
                <a:gd name="T0" fmla="*/ 0 w 1"/>
                <a:gd name="T1" fmla="*/ 1616 h 1616"/>
                <a:gd name="T2" fmla="*/ 0 w 1"/>
                <a:gd name="T3" fmla="*/ 0 h 1616"/>
                <a:gd name="T4" fmla="*/ 1 w 1"/>
                <a:gd name="T5" fmla="*/ 0 h 1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6">
                  <a:moveTo>
                    <a:pt x="0" y="16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72" name="Freeform 84"/>
            <p:cNvSpPr>
              <a:spLocks/>
            </p:cNvSpPr>
            <p:nvPr/>
          </p:nvSpPr>
          <p:spPr bwMode="auto">
            <a:xfrm>
              <a:off x="2916" y="2106"/>
              <a:ext cx="1" cy="404"/>
            </a:xfrm>
            <a:custGeom>
              <a:avLst/>
              <a:gdLst>
                <a:gd name="T0" fmla="*/ 0 w 1"/>
                <a:gd name="T1" fmla="*/ 0 h 1617"/>
                <a:gd name="T2" fmla="*/ 0 w 1"/>
                <a:gd name="T3" fmla="*/ 1617 h 1617"/>
                <a:gd name="T4" fmla="*/ 1 w 1"/>
                <a:gd name="T5" fmla="*/ 1617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7">
                  <a:moveTo>
                    <a:pt x="0" y="0"/>
                  </a:moveTo>
                  <a:lnTo>
                    <a:pt x="0" y="1617"/>
                  </a:lnTo>
                  <a:lnTo>
                    <a:pt x="1" y="161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73" name="Freeform 85"/>
            <p:cNvSpPr>
              <a:spLocks/>
            </p:cNvSpPr>
            <p:nvPr/>
          </p:nvSpPr>
          <p:spPr bwMode="auto">
            <a:xfrm>
              <a:off x="2916" y="2600"/>
              <a:ext cx="1" cy="89"/>
            </a:xfrm>
            <a:custGeom>
              <a:avLst/>
              <a:gdLst>
                <a:gd name="T0" fmla="*/ 0 w 1"/>
                <a:gd name="T1" fmla="*/ 0 h 358"/>
                <a:gd name="T2" fmla="*/ 0 w 1"/>
                <a:gd name="T3" fmla="*/ 358 h 358"/>
                <a:gd name="T4" fmla="*/ 1 w 1"/>
                <a:gd name="T5" fmla="*/ 358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8">
                  <a:moveTo>
                    <a:pt x="0" y="0"/>
                  </a:moveTo>
                  <a:lnTo>
                    <a:pt x="0" y="358"/>
                  </a:lnTo>
                  <a:lnTo>
                    <a:pt x="1" y="35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74" name="Freeform 86"/>
            <p:cNvSpPr>
              <a:spLocks/>
            </p:cNvSpPr>
            <p:nvPr/>
          </p:nvSpPr>
          <p:spPr bwMode="auto">
            <a:xfrm>
              <a:off x="2916" y="2780"/>
              <a:ext cx="1" cy="448"/>
            </a:xfrm>
            <a:custGeom>
              <a:avLst/>
              <a:gdLst>
                <a:gd name="T0" fmla="*/ 0 w 1"/>
                <a:gd name="T1" fmla="*/ 0 h 1796"/>
                <a:gd name="T2" fmla="*/ 0 w 1"/>
                <a:gd name="T3" fmla="*/ 1796 h 1796"/>
                <a:gd name="T4" fmla="*/ 1 w 1"/>
                <a:gd name="T5" fmla="*/ 1796 h 1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96">
                  <a:moveTo>
                    <a:pt x="0" y="0"/>
                  </a:moveTo>
                  <a:lnTo>
                    <a:pt x="0" y="1796"/>
                  </a:lnTo>
                  <a:lnTo>
                    <a:pt x="1" y="179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75" name="Freeform 87"/>
            <p:cNvSpPr>
              <a:spLocks/>
            </p:cNvSpPr>
            <p:nvPr/>
          </p:nvSpPr>
          <p:spPr bwMode="auto">
            <a:xfrm>
              <a:off x="2916" y="3319"/>
              <a:ext cx="1" cy="89"/>
            </a:xfrm>
            <a:custGeom>
              <a:avLst/>
              <a:gdLst>
                <a:gd name="T0" fmla="*/ 0 w 1"/>
                <a:gd name="T1" fmla="*/ 0 h 359"/>
                <a:gd name="T2" fmla="*/ 0 w 1"/>
                <a:gd name="T3" fmla="*/ 359 h 359"/>
                <a:gd name="T4" fmla="*/ 1 w 1"/>
                <a:gd name="T5" fmla="*/ 359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59">
                  <a:moveTo>
                    <a:pt x="0" y="0"/>
                  </a:moveTo>
                  <a:lnTo>
                    <a:pt x="0" y="359"/>
                  </a:lnTo>
                  <a:lnTo>
                    <a:pt x="1" y="35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76" name="Freeform 88"/>
            <p:cNvSpPr>
              <a:spLocks/>
            </p:cNvSpPr>
            <p:nvPr/>
          </p:nvSpPr>
          <p:spPr bwMode="auto">
            <a:xfrm>
              <a:off x="2916" y="3498"/>
              <a:ext cx="1" cy="404"/>
            </a:xfrm>
            <a:custGeom>
              <a:avLst/>
              <a:gdLst>
                <a:gd name="T0" fmla="*/ 0 w 1"/>
                <a:gd name="T1" fmla="*/ 0 h 1616"/>
                <a:gd name="T2" fmla="*/ 0 w 1"/>
                <a:gd name="T3" fmla="*/ 1616 h 1616"/>
                <a:gd name="T4" fmla="*/ 1 w 1"/>
                <a:gd name="T5" fmla="*/ 1616 h 1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616">
                  <a:moveTo>
                    <a:pt x="0" y="0"/>
                  </a:moveTo>
                  <a:lnTo>
                    <a:pt x="0" y="1616"/>
                  </a:lnTo>
                  <a:lnTo>
                    <a:pt x="1" y="161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3577" name="Group 89"/>
          <p:cNvGrpSpPr>
            <a:grpSpLocks/>
          </p:cNvGrpSpPr>
          <p:nvPr/>
        </p:nvGrpSpPr>
        <p:grpSpPr bwMode="auto">
          <a:xfrm>
            <a:off x="476250" y="3771900"/>
            <a:ext cx="4030663" cy="2698750"/>
            <a:chOff x="168" y="2071"/>
            <a:chExt cx="3094" cy="2070"/>
          </a:xfrm>
        </p:grpSpPr>
        <p:sp>
          <p:nvSpPr>
            <p:cNvPr id="63578" name="Freeform 90"/>
            <p:cNvSpPr>
              <a:spLocks/>
            </p:cNvSpPr>
            <p:nvPr/>
          </p:nvSpPr>
          <p:spPr bwMode="auto">
            <a:xfrm>
              <a:off x="168" y="2564"/>
              <a:ext cx="225" cy="1085"/>
            </a:xfrm>
            <a:custGeom>
              <a:avLst/>
              <a:gdLst>
                <a:gd name="T0" fmla="*/ 1559 w 1560"/>
                <a:gd name="T1" fmla="*/ 0 h 7528"/>
                <a:gd name="T2" fmla="*/ 800 w 1560"/>
                <a:gd name="T3" fmla="*/ 925 h 7528"/>
                <a:gd name="T4" fmla="*/ 272 w 1560"/>
                <a:gd name="T5" fmla="*/ 1999 h 7528"/>
                <a:gd name="T6" fmla="*/ 0 w 1560"/>
                <a:gd name="T7" fmla="*/ 3165 h 7528"/>
                <a:gd name="T8" fmla="*/ 0 w 1560"/>
                <a:gd name="T9" fmla="*/ 4363 h 7528"/>
                <a:gd name="T10" fmla="*/ 272 w 1560"/>
                <a:gd name="T11" fmla="*/ 5530 h 7528"/>
                <a:gd name="T12" fmla="*/ 800 w 1560"/>
                <a:gd name="T13" fmla="*/ 6603 h 7528"/>
                <a:gd name="T14" fmla="*/ 1559 w 1560"/>
                <a:gd name="T15" fmla="*/ 7528 h 7528"/>
                <a:gd name="T16" fmla="*/ 1560 w 1560"/>
                <a:gd name="T17" fmla="*/ 7528 h 7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0" h="7528">
                  <a:moveTo>
                    <a:pt x="1559" y="0"/>
                  </a:moveTo>
                  <a:lnTo>
                    <a:pt x="800" y="925"/>
                  </a:lnTo>
                  <a:lnTo>
                    <a:pt x="272" y="1999"/>
                  </a:lnTo>
                  <a:lnTo>
                    <a:pt x="0" y="3165"/>
                  </a:lnTo>
                  <a:lnTo>
                    <a:pt x="0" y="4363"/>
                  </a:lnTo>
                  <a:lnTo>
                    <a:pt x="272" y="5530"/>
                  </a:lnTo>
                  <a:lnTo>
                    <a:pt x="800" y="6603"/>
                  </a:lnTo>
                  <a:lnTo>
                    <a:pt x="1559" y="7528"/>
                  </a:lnTo>
                  <a:lnTo>
                    <a:pt x="1560" y="75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79" name="Freeform 91"/>
            <p:cNvSpPr>
              <a:spLocks/>
            </p:cNvSpPr>
            <p:nvPr/>
          </p:nvSpPr>
          <p:spPr bwMode="auto">
            <a:xfrm>
              <a:off x="393" y="2183"/>
              <a:ext cx="619" cy="381"/>
            </a:xfrm>
            <a:custGeom>
              <a:avLst/>
              <a:gdLst>
                <a:gd name="T0" fmla="*/ 4301 w 4301"/>
                <a:gd name="T1" fmla="*/ 0 h 2646"/>
                <a:gd name="T2" fmla="*/ 2728 w 4301"/>
                <a:gd name="T3" fmla="*/ 639 h 2646"/>
                <a:gd name="T4" fmla="*/ 1282 w 4301"/>
                <a:gd name="T5" fmla="*/ 1529 h 2646"/>
                <a:gd name="T6" fmla="*/ 0 w 4301"/>
                <a:gd name="T7" fmla="*/ 2646 h 2646"/>
                <a:gd name="T8" fmla="*/ 1 w 4301"/>
                <a:gd name="T9" fmla="*/ 2646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1" h="2646">
                  <a:moveTo>
                    <a:pt x="4301" y="0"/>
                  </a:moveTo>
                  <a:lnTo>
                    <a:pt x="2728" y="639"/>
                  </a:lnTo>
                  <a:lnTo>
                    <a:pt x="1282" y="1529"/>
                  </a:lnTo>
                  <a:lnTo>
                    <a:pt x="0" y="2646"/>
                  </a:lnTo>
                  <a:lnTo>
                    <a:pt x="1" y="264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80" name="Freeform 92"/>
            <p:cNvSpPr>
              <a:spLocks/>
            </p:cNvSpPr>
            <p:nvPr/>
          </p:nvSpPr>
          <p:spPr bwMode="auto">
            <a:xfrm>
              <a:off x="1014" y="2071"/>
              <a:ext cx="702" cy="112"/>
            </a:xfrm>
            <a:custGeom>
              <a:avLst/>
              <a:gdLst>
                <a:gd name="T0" fmla="*/ 4856 w 4856"/>
                <a:gd name="T1" fmla="*/ 0 h 774"/>
                <a:gd name="T2" fmla="*/ 2397 w 4856"/>
                <a:gd name="T3" fmla="*/ 190 h 774"/>
                <a:gd name="T4" fmla="*/ 0 w 4856"/>
                <a:gd name="T5" fmla="*/ 774 h 774"/>
                <a:gd name="T6" fmla="*/ 1 w 4856"/>
                <a:gd name="T7" fmla="*/ 77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6" h="774">
                  <a:moveTo>
                    <a:pt x="4856" y="0"/>
                  </a:moveTo>
                  <a:lnTo>
                    <a:pt x="2397" y="190"/>
                  </a:lnTo>
                  <a:lnTo>
                    <a:pt x="0" y="774"/>
                  </a:lnTo>
                  <a:lnTo>
                    <a:pt x="1" y="77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81" name="Freeform 93"/>
            <p:cNvSpPr>
              <a:spLocks/>
            </p:cNvSpPr>
            <p:nvPr/>
          </p:nvSpPr>
          <p:spPr bwMode="auto">
            <a:xfrm>
              <a:off x="393" y="3649"/>
              <a:ext cx="619" cy="381"/>
            </a:xfrm>
            <a:custGeom>
              <a:avLst/>
              <a:gdLst>
                <a:gd name="T0" fmla="*/ 0 w 4302"/>
                <a:gd name="T1" fmla="*/ 0 h 2646"/>
                <a:gd name="T2" fmla="*/ 1282 w 4302"/>
                <a:gd name="T3" fmla="*/ 1117 h 2646"/>
                <a:gd name="T4" fmla="*/ 2728 w 4302"/>
                <a:gd name="T5" fmla="*/ 2007 h 2646"/>
                <a:gd name="T6" fmla="*/ 4301 w 4302"/>
                <a:gd name="T7" fmla="*/ 2646 h 2646"/>
                <a:gd name="T8" fmla="*/ 4302 w 4302"/>
                <a:gd name="T9" fmla="*/ 2646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2" h="2646">
                  <a:moveTo>
                    <a:pt x="0" y="0"/>
                  </a:moveTo>
                  <a:lnTo>
                    <a:pt x="1282" y="1117"/>
                  </a:lnTo>
                  <a:lnTo>
                    <a:pt x="2728" y="2007"/>
                  </a:lnTo>
                  <a:lnTo>
                    <a:pt x="4301" y="2646"/>
                  </a:lnTo>
                  <a:lnTo>
                    <a:pt x="4302" y="264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82" name="Freeform 94"/>
            <p:cNvSpPr>
              <a:spLocks/>
            </p:cNvSpPr>
            <p:nvPr/>
          </p:nvSpPr>
          <p:spPr bwMode="auto">
            <a:xfrm>
              <a:off x="1014" y="4030"/>
              <a:ext cx="702" cy="111"/>
            </a:xfrm>
            <a:custGeom>
              <a:avLst/>
              <a:gdLst>
                <a:gd name="T0" fmla="*/ 0 w 4857"/>
                <a:gd name="T1" fmla="*/ 0 h 774"/>
                <a:gd name="T2" fmla="*/ 2397 w 4857"/>
                <a:gd name="T3" fmla="*/ 584 h 774"/>
                <a:gd name="T4" fmla="*/ 4856 w 4857"/>
                <a:gd name="T5" fmla="*/ 774 h 774"/>
                <a:gd name="T6" fmla="*/ 4857 w 4857"/>
                <a:gd name="T7" fmla="*/ 77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7" h="774">
                  <a:moveTo>
                    <a:pt x="0" y="0"/>
                  </a:moveTo>
                  <a:lnTo>
                    <a:pt x="2397" y="584"/>
                  </a:lnTo>
                  <a:lnTo>
                    <a:pt x="4856" y="774"/>
                  </a:lnTo>
                  <a:lnTo>
                    <a:pt x="4857" y="77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83" name="Freeform 95"/>
            <p:cNvSpPr>
              <a:spLocks/>
            </p:cNvSpPr>
            <p:nvPr/>
          </p:nvSpPr>
          <p:spPr bwMode="auto">
            <a:xfrm>
              <a:off x="3037" y="2564"/>
              <a:ext cx="225" cy="1085"/>
            </a:xfrm>
            <a:custGeom>
              <a:avLst/>
              <a:gdLst>
                <a:gd name="T0" fmla="*/ 0 w 1559"/>
                <a:gd name="T1" fmla="*/ 7528 h 7528"/>
                <a:gd name="T2" fmla="*/ 758 w 1559"/>
                <a:gd name="T3" fmla="*/ 6603 h 7528"/>
                <a:gd name="T4" fmla="*/ 1287 w 1559"/>
                <a:gd name="T5" fmla="*/ 5530 h 7528"/>
                <a:gd name="T6" fmla="*/ 1559 w 1559"/>
                <a:gd name="T7" fmla="*/ 4363 h 7528"/>
                <a:gd name="T8" fmla="*/ 1559 w 1559"/>
                <a:gd name="T9" fmla="*/ 3165 h 7528"/>
                <a:gd name="T10" fmla="*/ 1287 w 1559"/>
                <a:gd name="T11" fmla="*/ 1999 h 7528"/>
                <a:gd name="T12" fmla="*/ 758 w 1559"/>
                <a:gd name="T13" fmla="*/ 925 h 7528"/>
                <a:gd name="T14" fmla="*/ 0 w 1559"/>
                <a:gd name="T15" fmla="*/ 0 h 7528"/>
                <a:gd name="T16" fmla="*/ 1 w 1559"/>
                <a:gd name="T17" fmla="*/ 0 h 7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59" h="7528">
                  <a:moveTo>
                    <a:pt x="0" y="7528"/>
                  </a:moveTo>
                  <a:lnTo>
                    <a:pt x="758" y="6603"/>
                  </a:lnTo>
                  <a:lnTo>
                    <a:pt x="1287" y="5530"/>
                  </a:lnTo>
                  <a:lnTo>
                    <a:pt x="1559" y="4363"/>
                  </a:lnTo>
                  <a:lnTo>
                    <a:pt x="1559" y="3165"/>
                  </a:lnTo>
                  <a:lnTo>
                    <a:pt x="1287" y="1999"/>
                  </a:lnTo>
                  <a:lnTo>
                    <a:pt x="758" y="925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84" name="Freeform 96"/>
            <p:cNvSpPr>
              <a:spLocks/>
            </p:cNvSpPr>
            <p:nvPr/>
          </p:nvSpPr>
          <p:spPr bwMode="auto">
            <a:xfrm>
              <a:off x="2416" y="2183"/>
              <a:ext cx="620" cy="381"/>
            </a:xfrm>
            <a:custGeom>
              <a:avLst/>
              <a:gdLst>
                <a:gd name="T0" fmla="*/ 4302 w 4302"/>
                <a:gd name="T1" fmla="*/ 2646 h 2646"/>
                <a:gd name="T2" fmla="*/ 3020 w 4302"/>
                <a:gd name="T3" fmla="*/ 1529 h 2646"/>
                <a:gd name="T4" fmla="*/ 1574 w 4302"/>
                <a:gd name="T5" fmla="*/ 639 h 2646"/>
                <a:gd name="T6" fmla="*/ 0 w 4302"/>
                <a:gd name="T7" fmla="*/ 0 h 2646"/>
                <a:gd name="T8" fmla="*/ 1 w 4302"/>
                <a:gd name="T9" fmla="*/ 0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2" h="2646">
                  <a:moveTo>
                    <a:pt x="4302" y="2646"/>
                  </a:moveTo>
                  <a:lnTo>
                    <a:pt x="3020" y="1529"/>
                  </a:lnTo>
                  <a:lnTo>
                    <a:pt x="1574" y="639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85" name="Freeform 97"/>
            <p:cNvSpPr>
              <a:spLocks/>
            </p:cNvSpPr>
            <p:nvPr/>
          </p:nvSpPr>
          <p:spPr bwMode="auto">
            <a:xfrm>
              <a:off x="1716" y="2071"/>
              <a:ext cx="702" cy="112"/>
            </a:xfrm>
            <a:custGeom>
              <a:avLst/>
              <a:gdLst>
                <a:gd name="T0" fmla="*/ 4856 w 4856"/>
                <a:gd name="T1" fmla="*/ 774 h 774"/>
                <a:gd name="T2" fmla="*/ 2460 w 4856"/>
                <a:gd name="T3" fmla="*/ 190 h 774"/>
                <a:gd name="T4" fmla="*/ 0 w 4856"/>
                <a:gd name="T5" fmla="*/ 0 h 774"/>
                <a:gd name="T6" fmla="*/ 1 w 4856"/>
                <a:gd name="T7" fmla="*/ 0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6" h="774">
                  <a:moveTo>
                    <a:pt x="4856" y="774"/>
                  </a:moveTo>
                  <a:lnTo>
                    <a:pt x="2460" y="19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86" name="Freeform 98"/>
            <p:cNvSpPr>
              <a:spLocks/>
            </p:cNvSpPr>
            <p:nvPr/>
          </p:nvSpPr>
          <p:spPr bwMode="auto">
            <a:xfrm>
              <a:off x="2416" y="3649"/>
              <a:ext cx="620" cy="381"/>
            </a:xfrm>
            <a:custGeom>
              <a:avLst/>
              <a:gdLst>
                <a:gd name="T0" fmla="*/ 0 w 4303"/>
                <a:gd name="T1" fmla="*/ 2646 h 2646"/>
                <a:gd name="T2" fmla="*/ 1574 w 4303"/>
                <a:gd name="T3" fmla="*/ 2007 h 2646"/>
                <a:gd name="T4" fmla="*/ 3020 w 4303"/>
                <a:gd name="T5" fmla="*/ 1117 h 2646"/>
                <a:gd name="T6" fmla="*/ 4302 w 4303"/>
                <a:gd name="T7" fmla="*/ 0 h 2646"/>
                <a:gd name="T8" fmla="*/ 4303 w 4303"/>
                <a:gd name="T9" fmla="*/ 0 h 2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03" h="2646">
                  <a:moveTo>
                    <a:pt x="0" y="2646"/>
                  </a:moveTo>
                  <a:lnTo>
                    <a:pt x="1574" y="2007"/>
                  </a:lnTo>
                  <a:lnTo>
                    <a:pt x="3020" y="1117"/>
                  </a:lnTo>
                  <a:lnTo>
                    <a:pt x="4302" y="0"/>
                  </a:lnTo>
                  <a:lnTo>
                    <a:pt x="430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587" name="Freeform 99"/>
            <p:cNvSpPr>
              <a:spLocks/>
            </p:cNvSpPr>
            <p:nvPr/>
          </p:nvSpPr>
          <p:spPr bwMode="auto">
            <a:xfrm>
              <a:off x="1716" y="4030"/>
              <a:ext cx="702" cy="111"/>
            </a:xfrm>
            <a:custGeom>
              <a:avLst/>
              <a:gdLst>
                <a:gd name="T0" fmla="*/ 0 w 4857"/>
                <a:gd name="T1" fmla="*/ 774 h 774"/>
                <a:gd name="T2" fmla="*/ 2460 w 4857"/>
                <a:gd name="T3" fmla="*/ 584 h 774"/>
                <a:gd name="T4" fmla="*/ 4856 w 4857"/>
                <a:gd name="T5" fmla="*/ 0 h 774"/>
                <a:gd name="T6" fmla="*/ 4857 w 4857"/>
                <a:gd name="T7" fmla="*/ 0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57" h="774">
                  <a:moveTo>
                    <a:pt x="0" y="774"/>
                  </a:moveTo>
                  <a:lnTo>
                    <a:pt x="2460" y="584"/>
                  </a:lnTo>
                  <a:lnTo>
                    <a:pt x="4856" y="0"/>
                  </a:lnTo>
                  <a:lnTo>
                    <a:pt x="485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3588" name="Group 100"/>
          <p:cNvGrpSpPr>
            <a:grpSpLocks/>
          </p:cNvGrpSpPr>
          <p:nvPr/>
        </p:nvGrpSpPr>
        <p:grpSpPr bwMode="auto">
          <a:xfrm>
            <a:off x="955675" y="5087938"/>
            <a:ext cx="3071813" cy="73025"/>
            <a:chOff x="602" y="3205"/>
            <a:chExt cx="1935" cy="46"/>
          </a:xfrm>
        </p:grpSpPr>
        <p:grpSp>
          <p:nvGrpSpPr>
            <p:cNvPr id="24625" name="Group 101"/>
            <p:cNvGrpSpPr>
              <a:grpSpLocks/>
            </p:cNvGrpSpPr>
            <p:nvPr/>
          </p:nvGrpSpPr>
          <p:grpSpPr bwMode="auto">
            <a:xfrm>
              <a:off x="602" y="3205"/>
              <a:ext cx="41" cy="46"/>
              <a:chOff x="563" y="2570"/>
              <a:chExt cx="50" cy="56"/>
            </a:xfrm>
          </p:grpSpPr>
          <p:sp>
            <p:nvSpPr>
              <p:cNvPr id="63590" name="Freeform 102"/>
              <p:cNvSpPr>
                <a:spLocks/>
              </p:cNvSpPr>
              <p:nvPr/>
            </p:nvSpPr>
            <p:spPr bwMode="auto">
              <a:xfrm>
                <a:off x="563" y="2570"/>
                <a:ext cx="50" cy="56"/>
              </a:xfrm>
              <a:custGeom>
                <a:avLst/>
                <a:gdLst>
                  <a:gd name="T0" fmla="*/ 0 w 349"/>
                  <a:gd name="T1" fmla="*/ 0 h 388"/>
                  <a:gd name="T2" fmla="*/ 348 w 349"/>
                  <a:gd name="T3" fmla="*/ 388 h 388"/>
                  <a:gd name="T4" fmla="*/ 349 w 349"/>
                  <a:gd name="T5" fmla="*/ 388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9" h="388">
                    <a:moveTo>
                      <a:pt x="0" y="0"/>
                    </a:moveTo>
                    <a:lnTo>
                      <a:pt x="348" y="388"/>
                    </a:lnTo>
                    <a:lnTo>
                      <a:pt x="349" y="388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91" name="Freeform 103"/>
              <p:cNvSpPr>
                <a:spLocks/>
              </p:cNvSpPr>
              <p:nvPr/>
            </p:nvSpPr>
            <p:spPr bwMode="auto">
              <a:xfrm>
                <a:off x="583" y="2596"/>
                <a:ext cx="1" cy="0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1 w 1"/>
                  <a:gd name="T5" fmla="*/ 0 h 1"/>
                  <a:gd name="T6" fmla="*/ 0 w 1"/>
                  <a:gd name="T7" fmla="*/ 0 h 1"/>
                  <a:gd name="T8" fmla="*/ 1 w 1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92" name="Freeform 104"/>
              <p:cNvSpPr>
                <a:spLocks/>
              </p:cNvSpPr>
              <p:nvPr/>
            </p:nvSpPr>
            <p:spPr bwMode="auto">
              <a:xfrm>
                <a:off x="584" y="2596"/>
                <a:ext cx="0" cy="0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1"/>
                    </a:lnTo>
                    <a:lnTo>
                      <a:pt x="1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93" name="Freeform 105"/>
              <p:cNvSpPr>
                <a:spLocks/>
              </p:cNvSpPr>
              <p:nvPr/>
            </p:nvSpPr>
            <p:spPr bwMode="auto">
              <a:xfrm>
                <a:off x="584" y="2596"/>
                <a:ext cx="0" cy="0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1 h 1"/>
                  <a:gd name="T4" fmla="*/ 1 w 2"/>
                  <a:gd name="T5" fmla="*/ 0 h 1"/>
                  <a:gd name="T6" fmla="*/ 0 w 2"/>
                  <a:gd name="T7" fmla="*/ 0 h 1"/>
                  <a:gd name="T8" fmla="*/ 1 w 2"/>
                  <a:gd name="T9" fmla="*/ 0 h 1"/>
                  <a:gd name="T10" fmla="*/ 2 w 2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lnTo>
                      <a:pt x="1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94" name="Freeform 106"/>
              <p:cNvSpPr>
                <a:spLocks/>
              </p:cNvSpPr>
              <p:nvPr/>
            </p:nvSpPr>
            <p:spPr bwMode="auto">
              <a:xfrm>
                <a:off x="584" y="2596"/>
                <a:ext cx="0" cy="0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1 h 1"/>
                  <a:gd name="T4" fmla="*/ 1 w 2"/>
                  <a:gd name="T5" fmla="*/ 0 h 1"/>
                  <a:gd name="T6" fmla="*/ 0 w 2"/>
                  <a:gd name="T7" fmla="*/ 0 h 1"/>
                  <a:gd name="T8" fmla="*/ 1 w 2"/>
                  <a:gd name="T9" fmla="*/ 0 h 1"/>
                  <a:gd name="T10" fmla="*/ 2 w 2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lnTo>
                      <a:pt x="1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95" name="Freeform 107"/>
              <p:cNvSpPr>
                <a:spLocks/>
              </p:cNvSpPr>
              <p:nvPr/>
            </p:nvSpPr>
            <p:spPr bwMode="auto">
              <a:xfrm>
                <a:off x="584" y="2596"/>
                <a:ext cx="0" cy="0"/>
              </a:xfrm>
              <a:custGeom>
                <a:avLst/>
                <a:gdLst>
                  <a:gd name="T0" fmla="*/ 1 w 2"/>
                  <a:gd name="T1" fmla="*/ 1 h 1"/>
                  <a:gd name="T2" fmla="*/ 0 w 2"/>
                  <a:gd name="T3" fmla="*/ 1 h 1"/>
                  <a:gd name="T4" fmla="*/ 1 w 2"/>
                  <a:gd name="T5" fmla="*/ 0 h 1"/>
                  <a:gd name="T6" fmla="*/ 1 w 2"/>
                  <a:gd name="T7" fmla="*/ 1 h 1"/>
                  <a:gd name="T8" fmla="*/ 2 w 2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2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96" name="Line 108"/>
              <p:cNvSpPr>
                <a:spLocks noChangeShapeType="1"/>
              </p:cNvSpPr>
              <p:nvPr/>
            </p:nvSpPr>
            <p:spPr bwMode="auto">
              <a:xfrm>
                <a:off x="584" y="2596"/>
                <a:ext cx="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97" name="Freeform 109"/>
              <p:cNvSpPr>
                <a:spLocks/>
              </p:cNvSpPr>
              <p:nvPr/>
            </p:nvSpPr>
            <p:spPr bwMode="auto">
              <a:xfrm>
                <a:off x="584" y="2596"/>
                <a:ext cx="1" cy="0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1 h 1"/>
                  <a:gd name="T4" fmla="*/ 1 w 2"/>
                  <a:gd name="T5" fmla="*/ 0 h 1"/>
                  <a:gd name="T6" fmla="*/ 0 w 2"/>
                  <a:gd name="T7" fmla="*/ 0 h 1"/>
                  <a:gd name="T8" fmla="*/ 1 w 2"/>
                  <a:gd name="T9" fmla="*/ 0 h 1"/>
                  <a:gd name="T10" fmla="*/ 2 w 2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lnTo>
                      <a:pt x="1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98" name="Freeform 110"/>
              <p:cNvSpPr>
                <a:spLocks/>
              </p:cNvSpPr>
              <p:nvPr/>
            </p:nvSpPr>
            <p:spPr bwMode="auto">
              <a:xfrm>
                <a:off x="584" y="2596"/>
                <a:ext cx="1" cy="0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1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599" name="Freeform 111"/>
              <p:cNvSpPr>
                <a:spLocks/>
              </p:cNvSpPr>
              <p:nvPr/>
            </p:nvSpPr>
            <p:spPr bwMode="auto">
              <a:xfrm>
                <a:off x="584" y="2596"/>
                <a:ext cx="1" cy="0"/>
              </a:xfrm>
              <a:custGeom>
                <a:avLst/>
                <a:gdLst>
                  <a:gd name="T0" fmla="*/ 1 w 2"/>
                  <a:gd name="T1" fmla="*/ 1 h 1"/>
                  <a:gd name="T2" fmla="*/ 0 w 2"/>
                  <a:gd name="T3" fmla="*/ 1 h 1"/>
                  <a:gd name="T4" fmla="*/ 1 w 2"/>
                  <a:gd name="T5" fmla="*/ 0 h 1"/>
                  <a:gd name="T6" fmla="*/ 0 w 2"/>
                  <a:gd name="T7" fmla="*/ 0 h 1"/>
                  <a:gd name="T8" fmla="*/ 1 w 2"/>
                  <a:gd name="T9" fmla="*/ 0 h 1"/>
                  <a:gd name="T10" fmla="*/ 2 w 2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lnTo>
                      <a:pt x="0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00" name="Freeform 112"/>
              <p:cNvSpPr>
                <a:spLocks/>
              </p:cNvSpPr>
              <p:nvPr/>
            </p:nvSpPr>
            <p:spPr bwMode="auto">
              <a:xfrm>
                <a:off x="585" y="2596"/>
                <a:ext cx="1" cy="0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1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4626" name="Group 113"/>
            <p:cNvGrpSpPr>
              <a:grpSpLocks/>
            </p:cNvGrpSpPr>
            <p:nvPr/>
          </p:nvGrpSpPr>
          <p:grpSpPr bwMode="auto">
            <a:xfrm>
              <a:off x="2495" y="3205"/>
              <a:ext cx="42" cy="46"/>
              <a:chOff x="2843" y="3081"/>
              <a:chExt cx="51" cy="56"/>
            </a:xfrm>
          </p:grpSpPr>
          <p:sp>
            <p:nvSpPr>
              <p:cNvPr id="63602" name="Freeform 114"/>
              <p:cNvSpPr>
                <a:spLocks/>
              </p:cNvSpPr>
              <p:nvPr/>
            </p:nvSpPr>
            <p:spPr bwMode="auto">
              <a:xfrm>
                <a:off x="2843" y="3081"/>
                <a:ext cx="51" cy="56"/>
              </a:xfrm>
              <a:custGeom>
                <a:avLst/>
                <a:gdLst>
                  <a:gd name="T0" fmla="*/ 0 w 349"/>
                  <a:gd name="T1" fmla="*/ 388 h 388"/>
                  <a:gd name="T2" fmla="*/ 348 w 349"/>
                  <a:gd name="T3" fmla="*/ 0 h 388"/>
                  <a:gd name="T4" fmla="*/ 349 w 349"/>
                  <a:gd name="T5" fmla="*/ 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9" h="388">
                    <a:moveTo>
                      <a:pt x="0" y="388"/>
                    </a:moveTo>
                    <a:lnTo>
                      <a:pt x="348" y="0"/>
                    </a:lnTo>
                    <a:lnTo>
                      <a:pt x="349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03" name="Freeform 115"/>
              <p:cNvSpPr>
                <a:spLocks/>
              </p:cNvSpPr>
              <p:nvPr/>
            </p:nvSpPr>
            <p:spPr bwMode="auto">
              <a:xfrm>
                <a:off x="2872" y="3107"/>
                <a:ext cx="1" cy="0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1 w 1"/>
                  <a:gd name="T5" fmla="*/ 0 h 1"/>
                  <a:gd name="T6" fmla="*/ 0 w 1"/>
                  <a:gd name="T7" fmla="*/ 0 h 1"/>
                  <a:gd name="T8" fmla="*/ 1 w 1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04" name="Freeform 116"/>
              <p:cNvSpPr>
                <a:spLocks/>
              </p:cNvSpPr>
              <p:nvPr/>
            </p:nvSpPr>
            <p:spPr bwMode="auto">
              <a:xfrm>
                <a:off x="2872" y="3107"/>
                <a:ext cx="1" cy="0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1 h 1"/>
                  <a:gd name="T4" fmla="*/ 2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lnTo>
                      <a:pt x="1" y="1"/>
                    </a:lnTo>
                    <a:lnTo>
                      <a:pt x="2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05" name="Freeform 117"/>
              <p:cNvSpPr>
                <a:spLocks/>
              </p:cNvSpPr>
              <p:nvPr/>
            </p:nvSpPr>
            <p:spPr bwMode="auto">
              <a:xfrm>
                <a:off x="2872" y="3107"/>
                <a:ext cx="1" cy="0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0 h 1"/>
                  <a:gd name="T4" fmla="*/ 0 w 2"/>
                  <a:gd name="T5" fmla="*/ 1 h 1"/>
                  <a:gd name="T6" fmla="*/ 1 w 2"/>
                  <a:gd name="T7" fmla="*/ 1 h 1"/>
                  <a:gd name="T8" fmla="*/ 2 w 2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2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06" name="Freeform 118"/>
              <p:cNvSpPr>
                <a:spLocks/>
              </p:cNvSpPr>
              <p:nvPr/>
            </p:nvSpPr>
            <p:spPr bwMode="auto">
              <a:xfrm>
                <a:off x="2872" y="3107"/>
                <a:ext cx="1" cy="0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1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07" name="Freeform 119"/>
              <p:cNvSpPr>
                <a:spLocks/>
              </p:cNvSpPr>
              <p:nvPr/>
            </p:nvSpPr>
            <p:spPr bwMode="auto">
              <a:xfrm>
                <a:off x="2873" y="3107"/>
                <a:ext cx="0" cy="0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1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08" name="Freeform 120"/>
              <p:cNvSpPr>
                <a:spLocks/>
              </p:cNvSpPr>
              <p:nvPr/>
            </p:nvSpPr>
            <p:spPr bwMode="auto">
              <a:xfrm>
                <a:off x="2873" y="3107"/>
                <a:ext cx="0" cy="0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1 h 1"/>
                  <a:gd name="T4" fmla="*/ 1 w 2"/>
                  <a:gd name="T5" fmla="*/ 0 h 1"/>
                  <a:gd name="T6" fmla="*/ 0 w 2"/>
                  <a:gd name="T7" fmla="*/ 0 h 1"/>
                  <a:gd name="T8" fmla="*/ 1 w 2"/>
                  <a:gd name="T9" fmla="*/ 0 h 1"/>
                  <a:gd name="T10" fmla="*/ 2 w 2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lnTo>
                      <a:pt x="1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09" name="Line 121"/>
              <p:cNvSpPr>
                <a:spLocks noChangeShapeType="1"/>
              </p:cNvSpPr>
              <p:nvPr/>
            </p:nvSpPr>
            <p:spPr bwMode="auto">
              <a:xfrm>
                <a:off x="2873" y="3107"/>
                <a:ext cx="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10" name="Freeform 122"/>
              <p:cNvSpPr>
                <a:spLocks/>
              </p:cNvSpPr>
              <p:nvPr/>
            </p:nvSpPr>
            <p:spPr bwMode="auto">
              <a:xfrm>
                <a:off x="2873" y="3107"/>
                <a:ext cx="0" cy="0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1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11" name="Freeform 123"/>
              <p:cNvSpPr>
                <a:spLocks/>
              </p:cNvSpPr>
              <p:nvPr/>
            </p:nvSpPr>
            <p:spPr bwMode="auto">
              <a:xfrm>
                <a:off x="2873" y="3107"/>
                <a:ext cx="1" cy="0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0 h 1"/>
                  <a:gd name="T4" fmla="*/ 0 w 2"/>
                  <a:gd name="T5" fmla="*/ 0 h 1"/>
                  <a:gd name="T6" fmla="*/ 0 w 2"/>
                  <a:gd name="T7" fmla="*/ 1 h 1"/>
                  <a:gd name="T8" fmla="*/ 1 w 2"/>
                  <a:gd name="T9" fmla="*/ 1 h 1"/>
                  <a:gd name="T10" fmla="*/ 2 w 2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2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12" name="Freeform 124"/>
              <p:cNvSpPr>
                <a:spLocks/>
              </p:cNvSpPr>
              <p:nvPr/>
            </p:nvSpPr>
            <p:spPr bwMode="auto">
              <a:xfrm>
                <a:off x="2873" y="3107"/>
                <a:ext cx="1" cy="0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0 h 1"/>
                  <a:gd name="T4" fmla="*/ 0 w 2"/>
                  <a:gd name="T5" fmla="*/ 0 h 1"/>
                  <a:gd name="T6" fmla="*/ 0 w 2"/>
                  <a:gd name="T7" fmla="*/ 1 h 1"/>
                  <a:gd name="T8" fmla="*/ 1 w 2"/>
                  <a:gd name="T9" fmla="*/ 1 h 1"/>
                  <a:gd name="T10" fmla="*/ 2 w 2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2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13" name="Freeform 125"/>
              <p:cNvSpPr>
                <a:spLocks/>
              </p:cNvSpPr>
              <p:nvPr/>
            </p:nvSpPr>
            <p:spPr bwMode="auto">
              <a:xfrm>
                <a:off x="2873" y="3107"/>
                <a:ext cx="1" cy="0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1 w 1"/>
                  <a:gd name="T5" fmla="*/ 0 h 1"/>
                  <a:gd name="T6" fmla="*/ 1 w 1"/>
                  <a:gd name="T7" fmla="*/ 1 h 1"/>
                  <a:gd name="T8" fmla="*/ 0 w 1"/>
                  <a:gd name="T9" fmla="*/ 1 h 1"/>
                  <a:gd name="T10" fmla="*/ 1 w 1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1" y="1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63614" name="Group 126"/>
          <p:cNvGrpSpPr>
            <a:grpSpLocks/>
          </p:cNvGrpSpPr>
          <p:nvPr/>
        </p:nvGrpSpPr>
        <p:grpSpPr bwMode="auto">
          <a:xfrm>
            <a:off x="742950" y="5078413"/>
            <a:ext cx="3717925" cy="533400"/>
            <a:chOff x="468" y="3199"/>
            <a:chExt cx="2342" cy="336"/>
          </a:xfrm>
        </p:grpSpPr>
        <p:sp>
          <p:nvSpPr>
            <p:cNvPr id="24623" name="Text Box 127"/>
            <p:cNvSpPr txBox="1">
              <a:spLocks noChangeArrowheads="1"/>
            </p:cNvSpPr>
            <p:nvPr/>
          </p:nvSpPr>
          <p:spPr bwMode="auto">
            <a:xfrm>
              <a:off x="468" y="3199"/>
              <a:ext cx="3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F</a:t>
              </a:r>
              <a:r>
                <a:rPr lang="en-US" altLang="en-US" sz="2800" baseline="-25000"/>
                <a:t>1</a:t>
              </a:r>
            </a:p>
          </p:txBody>
        </p:sp>
        <p:sp>
          <p:nvSpPr>
            <p:cNvPr id="24624" name="Text Box 128"/>
            <p:cNvSpPr txBox="1">
              <a:spLocks noChangeArrowheads="1"/>
            </p:cNvSpPr>
            <p:nvPr/>
          </p:nvSpPr>
          <p:spPr bwMode="auto">
            <a:xfrm>
              <a:off x="2266" y="3208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F</a:t>
              </a:r>
              <a:r>
                <a:rPr lang="en-US" altLang="en-US" sz="2800" baseline="-25000"/>
                <a:t>2</a:t>
              </a:r>
            </a:p>
          </p:txBody>
        </p:sp>
      </p:grpSp>
      <p:sp>
        <p:nvSpPr>
          <p:cNvPr id="63617" name="Text Box 129"/>
          <p:cNvSpPr txBox="1">
            <a:spLocks noChangeArrowheads="1"/>
          </p:cNvSpPr>
          <p:nvPr/>
        </p:nvSpPr>
        <p:spPr bwMode="auto">
          <a:xfrm>
            <a:off x="2457450" y="4665663"/>
            <a:ext cx="4841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O</a:t>
            </a:r>
          </a:p>
        </p:txBody>
      </p:sp>
      <p:grpSp>
        <p:nvGrpSpPr>
          <p:cNvPr id="63618" name="Group 130"/>
          <p:cNvGrpSpPr>
            <a:grpSpLocks/>
          </p:cNvGrpSpPr>
          <p:nvPr/>
        </p:nvGrpSpPr>
        <p:grpSpPr bwMode="auto">
          <a:xfrm>
            <a:off x="469900" y="5121275"/>
            <a:ext cx="4043363" cy="0"/>
            <a:chOff x="228" y="2106"/>
            <a:chExt cx="5376" cy="1"/>
          </a:xfrm>
        </p:grpSpPr>
        <p:sp>
          <p:nvSpPr>
            <p:cNvPr id="63619" name="Freeform 131"/>
            <p:cNvSpPr>
              <a:spLocks/>
            </p:cNvSpPr>
            <p:nvPr/>
          </p:nvSpPr>
          <p:spPr bwMode="auto">
            <a:xfrm>
              <a:off x="2147483647" y="5121275"/>
              <a:ext cx="403" cy="0"/>
            </a:xfrm>
            <a:custGeom>
              <a:avLst/>
              <a:gdLst>
                <a:gd name="T0" fmla="*/ 0 w 1613"/>
                <a:gd name="T1" fmla="*/ 1612 w 1613"/>
                <a:gd name="T2" fmla="*/ 1613 w 16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613">
                  <a:moveTo>
                    <a:pt x="0" y="0"/>
                  </a:moveTo>
                  <a:lnTo>
                    <a:pt x="1612" y="0"/>
                  </a:lnTo>
                  <a:lnTo>
                    <a:pt x="161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4609" name="Group 132"/>
            <p:cNvGrpSpPr>
              <a:grpSpLocks/>
            </p:cNvGrpSpPr>
            <p:nvPr/>
          </p:nvGrpSpPr>
          <p:grpSpPr bwMode="auto">
            <a:xfrm>
              <a:off x="228" y="2106"/>
              <a:ext cx="4704" cy="1"/>
              <a:chOff x="228" y="2106"/>
              <a:chExt cx="4704" cy="1"/>
            </a:xfrm>
          </p:grpSpPr>
          <p:sp>
            <p:nvSpPr>
              <p:cNvPr id="63621" name="Freeform 133"/>
              <p:cNvSpPr>
                <a:spLocks/>
              </p:cNvSpPr>
              <p:nvPr/>
            </p:nvSpPr>
            <p:spPr bwMode="auto">
              <a:xfrm>
                <a:off x="658291756" y="5121275"/>
                <a:ext cx="89" cy="0"/>
              </a:xfrm>
              <a:custGeom>
                <a:avLst/>
                <a:gdLst>
                  <a:gd name="T0" fmla="*/ 0 w 359"/>
                  <a:gd name="T1" fmla="*/ 358 w 359"/>
                  <a:gd name="T2" fmla="*/ 359 w 35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59">
                    <a:moveTo>
                      <a:pt x="0" y="0"/>
                    </a:moveTo>
                    <a:lnTo>
                      <a:pt x="358" y="0"/>
                    </a:lnTo>
                    <a:lnTo>
                      <a:pt x="35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22" name="Freeform 134"/>
              <p:cNvSpPr>
                <a:spLocks/>
              </p:cNvSpPr>
              <p:nvPr/>
            </p:nvSpPr>
            <p:spPr bwMode="auto">
              <a:xfrm>
                <a:off x="860705762" y="5121275"/>
                <a:ext cx="452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23" name="Freeform 135"/>
              <p:cNvSpPr>
                <a:spLocks/>
              </p:cNvSpPr>
              <p:nvPr/>
            </p:nvSpPr>
            <p:spPr bwMode="auto">
              <a:xfrm>
                <a:off x="1063717824" y="5121275"/>
                <a:ext cx="91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24" name="Freeform 136"/>
              <p:cNvSpPr>
                <a:spLocks/>
              </p:cNvSpPr>
              <p:nvPr/>
            </p:nvSpPr>
            <p:spPr bwMode="auto">
              <a:xfrm>
                <a:off x="1266129451" y="5121275"/>
                <a:ext cx="447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25" name="Freeform 137"/>
              <p:cNvSpPr>
                <a:spLocks/>
              </p:cNvSpPr>
              <p:nvPr/>
            </p:nvSpPr>
            <p:spPr bwMode="auto">
              <a:xfrm>
                <a:off x="1469141511" y="5121275"/>
                <a:ext cx="91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26" name="Freeform 138"/>
              <p:cNvSpPr>
                <a:spLocks/>
              </p:cNvSpPr>
              <p:nvPr/>
            </p:nvSpPr>
            <p:spPr bwMode="auto">
              <a:xfrm>
                <a:off x="1672151626" y="5121275"/>
                <a:ext cx="447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27" name="Freeform 139"/>
              <p:cNvSpPr>
                <a:spLocks/>
              </p:cNvSpPr>
              <p:nvPr/>
            </p:nvSpPr>
            <p:spPr bwMode="auto">
              <a:xfrm>
                <a:off x="2076979209" y="5121275"/>
                <a:ext cx="445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28" name="Freeform 140"/>
              <p:cNvSpPr>
                <a:spLocks/>
              </p:cNvSpPr>
              <p:nvPr/>
            </p:nvSpPr>
            <p:spPr bwMode="auto">
              <a:xfrm>
                <a:off x="2147483647" y="5121275"/>
                <a:ext cx="91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29" name="Freeform 141"/>
              <p:cNvSpPr>
                <a:spLocks/>
              </p:cNvSpPr>
              <p:nvPr/>
            </p:nvSpPr>
            <p:spPr bwMode="auto">
              <a:xfrm>
                <a:off x="2147483647" y="5121275"/>
                <a:ext cx="447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30" name="Freeform 142"/>
              <p:cNvSpPr>
                <a:spLocks/>
              </p:cNvSpPr>
              <p:nvPr/>
            </p:nvSpPr>
            <p:spPr bwMode="auto">
              <a:xfrm>
                <a:off x="2147483647" y="5121275"/>
                <a:ext cx="89" cy="0"/>
              </a:xfrm>
              <a:custGeom>
                <a:avLst/>
                <a:gdLst>
                  <a:gd name="T0" fmla="*/ 0 w 359"/>
                  <a:gd name="T1" fmla="*/ 358 w 359"/>
                  <a:gd name="T2" fmla="*/ 359 w 35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59">
                    <a:moveTo>
                      <a:pt x="0" y="0"/>
                    </a:moveTo>
                    <a:lnTo>
                      <a:pt x="358" y="0"/>
                    </a:lnTo>
                    <a:lnTo>
                      <a:pt x="35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31" name="Freeform 143"/>
              <p:cNvSpPr>
                <a:spLocks/>
              </p:cNvSpPr>
              <p:nvPr/>
            </p:nvSpPr>
            <p:spPr bwMode="auto">
              <a:xfrm>
                <a:off x="2147483647" y="5121275"/>
                <a:ext cx="447" cy="0"/>
              </a:xfrm>
              <a:custGeom>
                <a:avLst/>
                <a:gdLst>
                  <a:gd name="T0" fmla="*/ 0 w 1793"/>
                  <a:gd name="T1" fmla="*/ 1792 w 1793"/>
                  <a:gd name="T2" fmla="*/ 1793 w 179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93">
                    <a:moveTo>
                      <a:pt x="0" y="0"/>
                    </a:moveTo>
                    <a:lnTo>
                      <a:pt x="1792" y="0"/>
                    </a:lnTo>
                    <a:lnTo>
                      <a:pt x="179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32" name="Freeform 144"/>
              <p:cNvSpPr>
                <a:spLocks/>
              </p:cNvSpPr>
              <p:nvPr/>
            </p:nvSpPr>
            <p:spPr bwMode="auto">
              <a:xfrm>
                <a:off x="1874565992" y="5121275"/>
                <a:ext cx="93" cy="0"/>
              </a:xfrm>
              <a:custGeom>
                <a:avLst/>
                <a:gdLst>
                  <a:gd name="T0" fmla="*/ 0 w 360"/>
                  <a:gd name="T1" fmla="*/ 359 w 360"/>
                  <a:gd name="T2" fmla="*/ 360 w 3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60">
                    <a:moveTo>
                      <a:pt x="0" y="0"/>
                    </a:moveTo>
                    <a:lnTo>
                      <a:pt x="359" y="0"/>
                    </a:lnTo>
                    <a:lnTo>
                      <a:pt x="3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3633" name="Freeform 145"/>
              <p:cNvSpPr>
                <a:spLocks/>
              </p:cNvSpPr>
              <p:nvPr/>
            </p:nvSpPr>
            <p:spPr bwMode="auto">
              <a:xfrm>
                <a:off x="467820967" y="5121275"/>
                <a:ext cx="403" cy="0"/>
              </a:xfrm>
              <a:custGeom>
                <a:avLst/>
                <a:gdLst>
                  <a:gd name="T0" fmla="*/ 0 w 1613"/>
                  <a:gd name="T1" fmla="*/ 1612 w 1613"/>
                  <a:gd name="T2" fmla="*/ 1613 w 161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613">
                    <a:moveTo>
                      <a:pt x="0" y="0"/>
                    </a:moveTo>
                    <a:lnTo>
                      <a:pt x="1612" y="0"/>
                    </a:lnTo>
                    <a:lnTo>
                      <a:pt x="161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63634" name="Line 146"/>
          <p:cNvSpPr>
            <a:spLocks noChangeShapeType="1"/>
          </p:cNvSpPr>
          <p:nvPr/>
        </p:nvSpPr>
        <p:spPr bwMode="auto">
          <a:xfrm rot="245508" flipV="1">
            <a:off x="1017588" y="3702050"/>
            <a:ext cx="1444625" cy="14636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635" name="Line 147"/>
          <p:cNvSpPr>
            <a:spLocks noChangeShapeType="1"/>
          </p:cNvSpPr>
          <p:nvPr/>
        </p:nvSpPr>
        <p:spPr bwMode="auto">
          <a:xfrm>
            <a:off x="2489200" y="3771900"/>
            <a:ext cx="1484313" cy="13366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3636" name="Group 148"/>
          <p:cNvGrpSpPr>
            <a:grpSpLocks/>
          </p:cNvGrpSpPr>
          <p:nvPr/>
        </p:nvGrpSpPr>
        <p:grpSpPr bwMode="auto">
          <a:xfrm>
            <a:off x="38100" y="4859338"/>
            <a:ext cx="5006975" cy="533400"/>
            <a:chOff x="14" y="925"/>
            <a:chExt cx="3154" cy="336"/>
          </a:xfrm>
        </p:grpSpPr>
        <p:sp>
          <p:nvSpPr>
            <p:cNvPr id="24606" name="Text Box 149"/>
            <p:cNvSpPr txBox="1">
              <a:spLocks noChangeArrowheads="1"/>
            </p:cNvSpPr>
            <p:nvPr/>
          </p:nvSpPr>
          <p:spPr bwMode="auto">
            <a:xfrm>
              <a:off x="14" y="925"/>
              <a:ext cx="3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A</a:t>
              </a:r>
            </a:p>
          </p:txBody>
        </p:sp>
        <p:sp>
          <p:nvSpPr>
            <p:cNvPr id="24607" name="Text Box 150"/>
            <p:cNvSpPr txBox="1">
              <a:spLocks noChangeArrowheads="1"/>
            </p:cNvSpPr>
            <p:nvPr/>
          </p:nvSpPr>
          <p:spPr bwMode="auto">
            <a:xfrm>
              <a:off x="2826" y="934"/>
              <a:ext cx="3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B</a:t>
              </a:r>
            </a:p>
          </p:txBody>
        </p:sp>
      </p:grpSp>
      <p:grpSp>
        <p:nvGrpSpPr>
          <p:cNvPr id="63639" name="Group 151"/>
          <p:cNvGrpSpPr>
            <a:grpSpLocks/>
          </p:cNvGrpSpPr>
          <p:nvPr/>
        </p:nvGrpSpPr>
        <p:grpSpPr bwMode="auto">
          <a:xfrm>
            <a:off x="2266950" y="3311525"/>
            <a:ext cx="355600" cy="3565525"/>
            <a:chOff x="1431" y="-47"/>
            <a:chExt cx="224" cy="2246"/>
          </a:xfrm>
        </p:grpSpPr>
        <p:sp>
          <p:nvSpPr>
            <p:cNvPr id="24604" name="Text Box 152"/>
            <p:cNvSpPr txBox="1">
              <a:spLocks noChangeArrowheads="1"/>
            </p:cNvSpPr>
            <p:nvPr/>
          </p:nvSpPr>
          <p:spPr bwMode="auto">
            <a:xfrm>
              <a:off x="1440" y="-47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C</a:t>
              </a:r>
            </a:p>
          </p:txBody>
        </p:sp>
        <p:sp>
          <p:nvSpPr>
            <p:cNvPr id="24605" name="Text Box 153"/>
            <p:cNvSpPr txBox="1">
              <a:spLocks noChangeArrowheads="1"/>
            </p:cNvSpPr>
            <p:nvPr/>
          </p:nvSpPr>
          <p:spPr bwMode="auto">
            <a:xfrm>
              <a:off x="1431" y="1872"/>
              <a:ext cx="21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/>
                <a:t>D</a:t>
              </a:r>
            </a:p>
          </p:txBody>
        </p:sp>
      </p:grpSp>
      <p:sp>
        <p:nvSpPr>
          <p:cNvPr id="63642" name="Text Box 154"/>
          <p:cNvSpPr txBox="1">
            <a:spLocks noChangeArrowheads="1"/>
          </p:cNvSpPr>
          <p:nvPr/>
        </p:nvSpPr>
        <p:spPr bwMode="auto">
          <a:xfrm>
            <a:off x="5181600" y="3581400"/>
            <a:ext cx="3886200" cy="123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 b="0">
                <a:latin typeface="Arial" panose="020B0604020202020204" pitchFamily="34" charset="0"/>
              </a:rPr>
              <a:t>Major Axis = 100 mm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 b="0">
                <a:latin typeface="Arial" panose="020B0604020202020204" pitchFamily="34" charset="0"/>
              </a:rPr>
              <a:t>F</a:t>
            </a:r>
            <a:r>
              <a:rPr lang="en-US" altLang="en-US" sz="3000" b="0" baseline="-25000">
                <a:latin typeface="Arial" panose="020B0604020202020204" pitchFamily="34" charset="0"/>
              </a:rPr>
              <a:t>1</a:t>
            </a:r>
            <a:r>
              <a:rPr lang="en-US" altLang="en-US" sz="3000" b="0">
                <a:latin typeface="Arial" panose="020B0604020202020204" pitchFamily="34" charset="0"/>
              </a:rPr>
              <a:t>F</a:t>
            </a:r>
            <a:r>
              <a:rPr lang="en-US" altLang="en-US" sz="3000" b="0" baseline="-25000">
                <a:latin typeface="Arial" panose="020B0604020202020204" pitchFamily="34" charset="0"/>
              </a:rPr>
              <a:t>2</a:t>
            </a:r>
            <a:r>
              <a:rPr lang="en-US" altLang="en-US" sz="3000" b="0">
                <a:latin typeface="Arial" panose="020B0604020202020204" pitchFamily="34" charset="0"/>
              </a:rPr>
              <a:t> = 60 mm</a:t>
            </a:r>
            <a:endParaRPr lang="en-GB" altLang="en-US" sz="3000" b="0">
              <a:latin typeface="Arial" panose="020B0604020202020204" pitchFamily="34" charset="0"/>
            </a:endParaRPr>
          </a:p>
        </p:txBody>
      </p:sp>
      <p:sp>
        <p:nvSpPr>
          <p:cNvPr id="63643" name="Text Box 155"/>
          <p:cNvSpPr txBox="1">
            <a:spLocks noChangeArrowheads="1"/>
          </p:cNvSpPr>
          <p:nvPr/>
        </p:nvSpPr>
        <p:spPr bwMode="auto">
          <a:xfrm>
            <a:off x="5181600" y="4972050"/>
            <a:ext cx="3810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 b="0">
                <a:latin typeface="Arial" panose="020B0604020202020204" pitchFamily="34" charset="0"/>
              </a:rPr>
              <a:t>CF</a:t>
            </a:r>
            <a:r>
              <a:rPr lang="en-US" altLang="en-US" sz="3000" b="0" baseline="-25000">
                <a:latin typeface="Arial" panose="020B0604020202020204" pitchFamily="34" charset="0"/>
              </a:rPr>
              <a:t>1</a:t>
            </a:r>
            <a:r>
              <a:rPr lang="en-US" altLang="en-US" sz="3000" b="0">
                <a:latin typeface="Arial" panose="020B0604020202020204" pitchFamily="34" charset="0"/>
              </a:rPr>
              <a:t> = ½ AB = AO</a:t>
            </a:r>
            <a:endParaRPr lang="en-GB" altLang="en-US" sz="3000" b="0" baseline="-250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3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6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6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6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6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63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3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3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3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3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6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4" dur="500"/>
                                        <p:tgtEl>
                                          <p:spTgt spid="6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9" dur="500"/>
                                        <p:tgtEl>
                                          <p:spTgt spid="63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4" dur="500"/>
                                        <p:tgtEl>
                                          <p:spTgt spid="6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9" dur="500"/>
                                        <p:tgtEl>
                                          <p:spTgt spid="6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4" dur="500"/>
                                        <p:tgtEl>
                                          <p:spTgt spid="6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63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4" dur="500"/>
                                        <p:tgtEl>
                                          <p:spTgt spid="6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 autoUpdateAnimBg="0"/>
      <p:bldP spid="63538" grpId="0" autoUpdateAnimBg="0"/>
      <p:bldP spid="63539" grpId="0" autoUpdateAnimBg="0"/>
      <p:bldP spid="63564" grpId="0" autoUpdateAnimBg="0"/>
      <p:bldP spid="63565" grpId="0" autoUpdateAnimBg="0"/>
      <p:bldP spid="63617" grpId="0" autoUpdateAnimBg="0"/>
      <p:bldP spid="63642" grpId="0" autoUpdateAnimBg="0"/>
      <p:bldP spid="6364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228600" y="184150"/>
            <a:ext cx="167640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286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2900">
                <a:solidFill>
                  <a:srgbClr val="0000FF"/>
                </a:solidFill>
                <a:latin typeface="Comic Sans MS" panose="030F0702030302020204" pitchFamily="66" charset="0"/>
              </a:rPr>
              <a:t>Uses :-</a:t>
            </a:r>
            <a:endParaRPr lang="en-US" altLang="en-US" sz="2700">
              <a:solidFill>
                <a:srgbClr val="0000FF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815975" y="914400"/>
            <a:ext cx="6248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en-US" sz="3000" b="0">
                <a:latin typeface="Comic Sans MS" panose="030F0702030302020204" pitchFamily="66" charset="0"/>
              </a:rPr>
              <a:t>Shape of a man-hole</a:t>
            </a:r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815975" y="2481263"/>
            <a:ext cx="8534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en-US" sz="3000" b="0">
                <a:latin typeface="Comic Sans MS" panose="030F0702030302020204" pitchFamily="66" charset="0"/>
              </a:rPr>
              <a:t>Flanges of pipes, glands and stuffing boxes</a:t>
            </a:r>
            <a:endParaRPr lang="en-US" altLang="en-US" sz="3000" b="0">
              <a:solidFill>
                <a:srgbClr val="6E4B8B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815975" y="1673225"/>
            <a:ext cx="541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en-US" sz="3000" b="0">
                <a:latin typeface="Comic Sans MS" panose="030F0702030302020204" pitchFamily="66" charset="0"/>
              </a:rPr>
              <a:t>Shape of tank in a tanker</a:t>
            </a:r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815975" y="3302000"/>
            <a:ext cx="7543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en-US" sz="3000" b="0">
                <a:latin typeface="Comic Sans MS" panose="030F0702030302020204" pitchFamily="66" charset="0"/>
              </a:rPr>
              <a:t>Shape used in bridges and arches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815975" y="4054475"/>
            <a:ext cx="50292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en-US" sz="3000" b="0">
                <a:latin typeface="Comic Sans MS" panose="030F0702030302020204" pitchFamily="66" charset="0"/>
              </a:rPr>
              <a:t>Monuments</a:t>
            </a:r>
          </a:p>
        </p:txBody>
      </p:sp>
      <p:sp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815975" y="4876800"/>
            <a:ext cx="7162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en-US" sz="3000" b="0">
                <a:latin typeface="Comic Sans MS" panose="030F0702030302020204" pitchFamily="66" charset="0"/>
              </a:rPr>
              <a:t>Path of earth around the sun</a:t>
            </a:r>
          </a:p>
        </p:txBody>
      </p:sp>
      <p:sp>
        <p:nvSpPr>
          <p:cNvPr id="64521" name="Text Box 9"/>
          <p:cNvSpPr txBox="1">
            <a:spLocks noChangeArrowheads="1"/>
          </p:cNvSpPr>
          <p:nvPr/>
        </p:nvSpPr>
        <p:spPr bwMode="auto">
          <a:xfrm>
            <a:off x="815975" y="5670550"/>
            <a:ext cx="541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572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715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en-US" sz="3000" b="0">
                <a:latin typeface="Comic Sans MS" panose="030F0702030302020204" pitchFamily="66" charset="0"/>
              </a:rPr>
              <a:t>Shape of trays etc.</a:t>
            </a:r>
            <a:endParaRPr lang="en-US" altLang="en-US" sz="3000" b="0">
              <a:solidFill>
                <a:srgbClr val="6E4B8B"/>
              </a:solidFill>
              <a:latin typeface="Comic Sans MS" panose="030F0702030302020204" pitchFamily="66" charset="0"/>
            </a:endParaRPr>
          </a:p>
        </p:txBody>
      </p:sp>
      <p:sp>
        <p:nvSpPr>
          <p:cNvPr id="64522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234238" y="6553200"/>
            <a:ext cx="685800" cy="304800"/>
          </a:xfrm>
          <a:prstGeom prst="actionButtonBackPrevious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4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4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utoUpdateAnimBg="0"/>
      <p:bldP spid="64515" grpId="0" autoUpdateAnimBg="0"/>
      <p:bldP spid="64516" grpId="0" autoUpdateAnimBg="0"/>
      <p:bldP spid="64517" grpId="0" autoUpdateAnimBg="0"/>
      <p:bldP spid="64518" grpId="0" autoUpdateAnimBg="0"/>
      <p:bldP spid="64519" grpId="0" autoUpdateAnimBg="0"/>
      <p:bldP spid="64520" grpId="0" autoUpdateAnimBg="0"/>
      <p:bldP spid="64521" grpId="0" autoUpdateAnimBg="0"/>
      <p:bldP spid="645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157163" y="2559050"/>
            <a:ext cx="8686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tabLst>
                <a:tab pos="80010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tabLst>
                <a:tab pos="80010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8001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2800">
                <a:latin typeface="Comic Sans MS" panose="030F0702030302020204" pitchFamily="66" charset="0"/>
              </a:rPr>
              <a:t>Ratio (known as eccentricity) of its distances from </a:t>
            </a:r>
            <a:r>
              <a:rPr lang="en-US" altLang="en-US" sz="2800">
                <a:solidFill>
                  <a:srgbClr val="FF0066"/>
                </a:solidFill>
                <a:latin typeface="Comic Sans MS" panose="030F0702030302020204" pitchFamily="66" charset="0"/>
              </a:rPr>
              <a:t>focus </a:t>
            </a:r>
            <a:r>
              <a:rPr lang="en-US" altLang="en-US" sz="2800">
                <a:latin typeface="Comic Sans MS" panose="030F0702030302020204" pitchFamily="66" charset="0"/>
              </a:rPr>
              <a:t>to that of </a:t>
            </a:r>
            <a:r>
              <a:rPr lang="en-US" altLang="en-US" sz="2800">
                <a:solidFill>
                  <a:srgbClr val="FF0066"/>
                </a:solidFill>
                <a:latin typeface="Comic Sans MS" panose="030F0702030302020204" pitchFamily="66" charset="0"/>
              </a:rPr>
              <a:t>directrix</a:t>
            </a:r>
            <a:r>
              <a:rPr lang="en-US" altLang="en-US" sz="2800">
                <a:latin typeface="Comic Sans MS" panose="030F0702030302020204" pitchFamily="66" charset="0"/>
              </a:rPr>
              <a:t> is constant and </a:t>
            </a:r>
            <a:r>
              <a:rPr lang="en-US" altLang="en-US" sz="2800">
                <a:solidFill>
                  <a:srgbClr val="3333FF"/>
                </a:solidFill>
                <a:latin typeface="Comic Sans MS" panose="030F0702030302020204" pitchFamily="66" charset="0"/>
              </a:rPr>
              <a:t>equal to one (1).</a:t>
            </a: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3276600" y="76200"/>
            <a:ext cx="2590800" cy="6096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400">
                <a:solidFill>
                  <a:srgbClr val="FFFF00"/>
                </a:solidFill>
                <a:latin typeface="Comic Sans MS" panose="030F0702030302020204" pitchFamily="66" charset="0"/>
              </a:rPr>
              <a:t>PARABOLA</a:t>
            </a:r>
          </a:p>
        </p:txBody>
      </p:sp>
      <p:sp>
        <p:nvSpPr>
          <p:cNvPr id="57348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969250" y="6538913"/>
            <a:ext cx="609600" cy="304800"/>
          </a:xfrm>
          <a:prstGeom prst="actionButtonForwardNex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400" b="0"/>
          </a:p>
        </p:txBody>
      </p:sp>
      <p:sp>
        <p:nvSpPr>
          <p:cNvPr id="57349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264400" y="6538913"/>
            <a:ext cx="685800" cy="304800"/>
          </a:xfrm>
          <a:prstGeom prst="actionButtonBackPreviou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228600" y="804863"/>
            <a:ext cx="8726488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en-US" sz="2800">
                <a:latin typeface="Comic Sans MS" panose="030F0702030302020204" pitchFamily="66" charset="0"/>
              </a:rPr>
              <a:t>The parabola is the locus of a point, which moves in a plane so that its distance from a fixed point (focus) and a fixed straight line (directrix) are always equal.</a:t>
            </a: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228600" y="328613"/>
            <a:ext cx="32004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6E4B8B"/>
                </a:solidFill>
                <a:latin typeface="Comic Sans MS" panose="030F0702030302020204" pitchFamily="66" charset="0"/>
              </a:rPr>
              <a:t>Definition :-</a:t>
            </a:r>
          </a:p>
        </p:txBody>
      </p:sp>
      <p:grpSp>
        <p:nvGrpSpPr>
          <p:cNvPr id="26632" name="Group 8"/>
          <p:cNvGrpSpPr>
            <a:grpSpLocks/>
          </p:cNvGrpSpPr>
          <p:nvPr/>
        </p:nvGrpSpPr>
        <p:grpSpPr bwMode="auto">
          <a:xfrm>
            <a:off x="3057525" y="4005263"/>
            <a:ext cx="2122488" cy="608012"/>
            <a:chOff x="1791" y="2441"/>
            <a:chExt cx="1432" cy="410"/>
          </a:xfrm>
        </p:grpSpPr>
        <p:sp>
          <p:nvSpPr>
            <p:cNvPr id="26661" name="Text Box 9"/>
            <p:cNvSpPr txBox="1">
              <a:spLocks noChangeArrowheads="1"/>
            </p:cNvSpPr>
            <p:nvPr/>
          </p:nvSpPr>
          <p:spPr bwMode="auto">
            <a:xfrm>
              <a:off x="1791" y="2441"/>
              <a:ext cx="1432" cy="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>
                  <a:solidFill>
                    <a:srgbClr val="6E4B8B"/>
                  </a:solidFill>
                  <a:latin typeface="Comic Sans MS" panose="030F0702030302020204" pitchFamily="66" charset="0"/>
                </a:rPr>
                <a:t>Directrix</a:t>
              </a:r>
            </a:p>
          </p:txBody>
        </p:sp>
        <p:sp>
          <p:nvSpPr>
            <p:cNvPr id="57354" name="Line 10"/>
            <p:cNvSpPr>
              <a:spLocks noChangeShapeType="1"/>
            </p:cNvSpPr>
            <p:nvPr/>
          </p:nvSpPr>
          <p:spPr bwMode="auto">
            <a:xfrm>
              <a:off x="2953" y="2685"/>
              <a:ext cx="1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6633" name="Group 11"/>
          <p:cNvGrpSpPr>
            <a:grpSpLocks/>
          </p:cNvGrpSpPr>
          <p:nvPr/>
        </p:nvGrpSpPr>
        <p:grpSpPr bwMode="auto">
          <a:xfrm>
            <a:off x="7605713" y="4175125"/>
            <a:ext cx="1438275" cy="908050"/>
            <a:chOff x="4859" y="2556"/>
            <a:chExt cx="970" cy="613"/>
          </a:xfrm>
        </p:grpSpPr>
        <p:sp>
          <p:nvSpPr>
            <p:cNvPr id="57356" name="Line 12"/>
            <p:cNvSpPr>
              <a:spLocks noChangeShapeType="1"/>
            </p:cNvSpPr>
            <p:nvPr/>
          </p:nvSpPr>
          <p:spPr bwMode="auto">
            <a:xfrm flipH="1">
              <a:off x="4859" y="2824"/>
              <a:ext cx="359" cy="3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660" name="Text Box 13"/>
            <p:cNvSpPr txBox="1">
              <a:spLocks noChangeArrowheads="1"/>
            </p:cNvSpPr>
            <p:nvPr/>
          </p:nvSpPr>
          <p:spPr bwMode="auto">
            <a:xfrm>
              <a:off x="5057" y="2556"/>
              <a:ext cx="772" cy="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>
                  <a:solidFill>
                    <a:srgbClr val="6E4B8B"/>
                  </a:solidFill>
                  <a:latin typeface="Comic Sans MS" panose="030F0702030302020204" pitchFamily="66" charset="0"/>
                </a:rPr>
                <a:t>Axis</a:t>
              </a:r>
            </a:p>
          </p:txBody>
        </p:sp>
      </p:grpSp>
      <p:grpSp>
        <p:nvGrpSpPr>
          <p:cNvPr id="26634" name="Group 14"/>
          <p:cNvGrpSpPr>
            <a:grpSpLocks/>
          </p:cNvGrpSpPr>
          <p:nvPr/>
        </p:nvGrpSpPr>
        <p:grpSpPr bwMode="auto">
          <a:xfrm>
            <a:off x="3394075" y="4595813"/>
            <a:ext cx="2365375" cy="608012"/>
            <a:chOff x="2018" y="2840"/>
            <a:chExt cx="1595" cy="410"/>
          </a:xfrm>
        </p:grpSpPr>
        <p:sp>
          <p:nvSpPr>
            <p:cNvPr id="26657" name="Text Box 15"/>
            <p:cNvSpPr txBox="1">
              <a:spLocks noChangeArrowheads="1"/>
            </p:cNvSpPr>
            <p:nvPr/>
          </p:nvSpPr>
          <p:spPr bwMode="auto">
            <a:xfrm>
              <a:off x="2018" y="2840"/>
              <a:ext cx="1094" cy="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>
                  <a:solidFill>
                    <a:srgbClr val="6E4B8B"/>
                  </a:solidFill>
                  <a:latin typeface="Comic Sans MS" panose="030F0702030302020204" pitchFamily="66" charset="0"/>
                </a:rPr>
                <a:t>Vertex</a:t>
              </a:r>
            </a:p>
          </p:txBody>
        </p:sp>
        <p:sp>
          <p:nvSpPr>
            <p:cNvPr id="57360" name="Line 16"/>
            <p:cNvSpPr>
              <a:spLocks noChangeShapeType="1"/>
            </p:cNvSpPr>
            <p:nvPr/>
          </p:nvSpPr>
          <p:spPr bwMode="auto">
            <a:xfrm>
              <a:off x="2953" y="3081"/>
              <a:ext cx="660" cy="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6635" name="Group 17"/>
          <p:cNvGrpSpPr>
            <a:grpSpLocks/>
          </p:cNvGrpSpPr>
          <p:nvPr/>
        </p:nvGrpSpPr>
        <p:grpSpPr bwMode="auto">
          <a:xfrm>
            <a:off x="4706938" y="3454400"/>
            <a:ext cx="3924300" cy="3159125"/>
            <a:chOff x="2903" y="2105"/>
            <a:chExt cx="2647" cy="2133"/>
          </a:xfrm>
        </p:grpSpPr>
        <p:sp>
          <p:nvSpPr>
            <p:cNvPr id="57362" name="Line 18"/>
            <p:cNvSpPr>
              <a:spLocks noChangeShapeType="1"/>
            </p:cNvSpPr>
            <p:nvPr/>
          </p:nvSpPr>
          <p:spPr bwMode="auto">
            <a:xfrm>
              <a:off x="3173" y="2307"/>
              <a:ext cx="0" cy="18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363" name="Freeform 19"/>
            <p:cNvSpPr>
              <a:spLocks/>
            </p:cNvSpPr>
            <p:nvPr/>
          </p:nvSpPr>
          <p:spPr bwMode="auto">
            <a:xfrm>
              <a:off x="3858" y="2521"/>
              <a:ext cx="308" cy="712"/>
            </a:xfrm>
            <a:custGeom>
              <a:avLst/>
              <a:gdLst>
                <a:gd name="T0" fmla="*/ 0 w 2089"/>
                <a:gd name="T1" fmla="*/ 0 h 4176"/>
                <a:gd name="T2" fmla="*/ 2088 w 2089"/>
                <a:gd name="T3" fmla="*/ 4176 h 4176"/>
                <a:gd name="T4" fmla="*/ 2089 w 2089"/>
                <a:gd name="T5" fmla="*/ 4176 h 4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89" h="4176">
                  <a:moveTo>
                    <a:pt x="0" y="0"/>
                  </a:moveTo>
                  <a:lnTo>
                    <a:pt x="2088" y="4176"/>
                  </a:lnTo>
                  <a:lnTo>
                    <a:pt x="2089" y="4176"/>
                  </a:lnTo>
                </a:path>
              </a:pathLst>
            </a:custGeom>
            <a:noFill/>
            <a:ln w="349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364" name="Freeform 20"/>
            <p:cNvSpPr>
              <a:spLocks/>
            </p:cNvSpPr>
            <p:nvPr/>
          </p:nvSpPr>
          <p:spPr bwMode="auto">
            <a:xfrm>
              <a:off x="3179" y="3229"/>
              <a:ext cx="2371" cy="27"/>
            </a:xfrm>
            <a:custGeom>
              <a:avLst/>
              <a:gdLst>
                <a:gd name="T0" fmla="*/ 0 w 18886"/>
                <a:gd name="T1" fmla="*/ 18885 w 18886"/>
                <a:gd name="T2" fmla="*/ 18886 w 1888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8886">
                  <a:moveTo>
                    <a:pt x="0" y="0"/>
                  </a:moveTo>
                  <a:lnTo>
                    <a:pt x="18885" y="0"/>
                  </a:lnTo>
                  <a:lnTo>
                    <a:pt x="18886" y="0"/>
                  </a:lnTo>
                </a:path>
              </a:pathLst>
            </a:custGeom>
            <a:noFill/>
            <a:ln w="349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365" name="Freeform 21"/>
            <p:cNvSpPr>
              <a:spLocks/>
            </p:cNvSpPr>
            <p:nvPr/>
          </p:nvSpPr>
          <p:spPr bwMode="auto">
            <a:xfrm rot="189019">
              <a:off x="3651" y="2105"/>
              <a:ext cx="923" cy="2133"/>
            </a:xfrm>
            <a:custGeom>
              <a:avLst/>
              <a:gdLst>
                <a:gd name="T0" fmla="*/ 5408 w 6201"/>
                <a:gd name="T1" fmla="*/ 0 h 12527"/>
                <a:gd name="T2" fmla="*/ 4192 w 6201"/>
                <a:gd name="T3" fmla="*/ 296 h 12527"/>
                <a:gd name="T4" fmla="*/ 3061 w 6201"/>
                <a:gd name="T5" fmla="*/ 828 h 12527"/>
                <a:gd name="T6" fmla="*/ 2056 w 6201"/>
                <a:gd name="T7" fmla="*/ 1574 h 12527"/>
                <a:gd name="T8" fmla="*/ 1218 w 6201"/>
                <a:gd name="T9" fmla="*/ 2504 h 12527"/>
                <a:gd name="T10" fmla="*/ 581 w 6201"/>
                <a:gd name="T11" fmla="*/ 3581 h 12527"/>
                <a:gd name="T12" fmla="*/ 169 w 6201"/>
                <a:gd name="T13" fmla="*/ 4763 h 12527"/>
                <a:gd name="T14" fmla="*/ 0 w 6201"/>
                <a:gd name="T15" fmla="*/ 6004 h 12527"/>
                <a:gd name="T16" fmla="*/ 79 w 6201"/>
                <a:gd name="T17" fmla="*/ 7253 h 12527"/>
                <a:gd name="T18" fmla="*/ 403 w 6201"/>
                <a:gd name="T19" fmla="*/ 8463 h 12527"/>
                <a:gd name="T20" fmla="*/ 960 w 6201"/>
                <a:gd name="T21" fmla="*/ 9584 h 12527"/>
                <a:gd name="T22" fmla="*/ 1728 w 6201"/>
                <a:gd name="T23" fmla="*/ 10573 h 12527"/>
                <a:gd name="T24" fmla="*/ 2676 w 6201"/>
                <a:gd name="T25" fmla="*/ 11389 h 12527"/>
                <a:gd name="T26" fmla="*/ 3766 w 6201"/>
                <a:gd name="T27" fmla="*/ 12002 h 12527"/>
                <a:gd name="T28" fmla="*/ 4956 w 6201"/>
                <a:gd name="T29" fmla="*/ 12386 h 12527"/>
                <a:gd name="T30" fmla="*/ 6200 w 6201"/>
                <a:gd name="T31" fmla="*/ 12527 h 12527"/>
                <a:gd name="T32" fmla="*/ 6201 w 6201"/>
                <a:gd name="T33" fmla="*/ 12527 h 12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01" h="12527">
                  <a:moveTo>
                    <a:pt x="5408" y="0"/>
                  </a:moveTo>
                  <a:lnTo>
                    <a:pt x="4192" y="296"/>
                  </a:lnTo>
                  <a:lnTo>
                    <a:pt x="3061" y="828"/>
                  </a:lnTo>
                  <a:lnTo>
                    <a:pt x="2056" y="1574"/>
                  </a:lnTo>
                  <a:lnTo>
                    <a:pt x="1218" y="2504"/>
                  </a:lnTo>
                  <a:lnTo>
                    <a:pt x="581" y="3581"/>
                  </a:lnTo>
                  <a:lnTo>
                    <a:pt x="169" y="4763"/>
                  </a:lnTo>
                  <a:lnTo>
                    <a:pt x="0" y="6004"/>
                  </a:lnTo>
                  <a:lnTo>
                    <a:pt x="79" y="7253"/>
                  </a:lnTo>
                  <a:lnTo>
                    <a:pt x="403" y="8463"/>
                  </a:lnTo>
                  <a:lnTo>
                    <a:pt x="960" y="9584"/>
                  </a:lnTo>
                  <a:lnTo>
                    <a:pt x="1728" y="10573"/>
                  </a:lnTo>
                  <a:lnTo>
                    <a:pt x="2676" y="11389"/>
                  </a:lnTo>
                  <a:lnTo>
                    <a:pt x="3766" y="12002"/>
                  </a:lnTo>
                  <a:lnTo>
                    <a:pt x="4956" y="12386"/>
                  </a:lnTo>
                  <a:lnTo>
                    <a:pt x="6200" y="12527"/>
                  </a:lnTo>
                  <a:lnTo>
                    <a:pt x="6201" y="12527"/>
                  </a:lnTo>
                </a:path>
              </a:pathLst>
            </a:custGeom>
            <a:noFill/>
            <a:ln w="349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366" name="Freeform 22"/>
            <p:cNvSpPr>
              <a:spLocks/>
            </p:cNvSpPr>
            <p:nvPr/>
          </p:nvSpPr>
          <p:spPr bwMode="auto">
            <a:xfrm>
              <a:off x="3182" y="2521"/>
              <a:ext cx="676" cy="3"/>
            </a:xfrm>
            <a:custGeom>
              <a:avLst/>
              <a:gdLst>
                <a:gd name="T0" fmla="*/ 0 w 4537"/>
                <a:gd name="T1" fmla="*/ 4536 w 4537"/>
                <a:gd name="T2" fmla="*/ 4537 w 453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537">
                  <a:moveTo>
                    <a:pt x="0" y="0"/>
                  </a:moveTo>
                  <a:lnTo>
                    <a:pt x="4536" y="0"/>
                  </a:lnTo>
                  <a:lnTo>
                    <a:pt x="4537" y="0"/>
                  </a:lnTo>
                </a:path>
              </a:pathLst>
            </a:custGeom>
            <a:noFill/>
            <a:ln w="349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367" name="Freeform 23"/>
            <p:cNvSpPr>
              <a:spLocks/>
            </p:cNvSpPr>
            <p:nvPr/>
          </p:nvSpPr>
          <p:spPr bwMode="auto">
            <a:xfrm>
              <a:off x="3789" y="3228"/>
              <a:ext cx="377" cy="549"/>
            </a:xfrm>
            <a:custGeom>
              <a:avLst/>
              <a:gdLst>
                <a:gd name="T0" fmla="*/ 2464 w 2464"/>
                <a:gd name="T1" fmla="*/ 0 h 3029"/>
                <a:gd name="T2" fmla="*/ 0 w 2464"/>
                <a:gd name="T3" fmla="*/ 3029 h 3029"/>
                <a:gd name="T4" fmla="*/ 1 w 2464"/>
                <a:gd name="T5" fmla="*/ 3029 h 3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64" h="3029">
                  <a:moveTo>
                    <a:pt x="2464" y="0"/>
                  </a:moveTo>
                  <a:lnTo>
                    <a:pt x="0" y="3029"/>
                  </a:lnTo>
                  <a:lnTo>
                    <a:pt x="1" y="302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368" name="Freeform 24"/>
            <p:cNvSpPr>
              <a:spLocks/>
            </p:cNvSpPr>
            <p:nvPr/>
          </p:nvSpPr>
          <p:spPr bwMode="auto">
            <a:xfrm>
              <a:off x="3173" y="3774"/>
              <a:ext cx="620" cy="3"/>
            </a:xfrm>
            <a:custGeom>
              <a:avLst/>
              <a:gdLst>
                <a:gd name="T0" fmla="*/ 4163 w 4163"/>
                <a:gd name="T1" fmla="*/ 0 w 4163"/>
                <a:gd name="T2" fmla="*/ 1 w 416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163">
                  <a:moveTo>
                    <a:pt x="416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492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656" name="Text Box 25"/>
            <p:cNvSpPr txBox="1">
              <a:spLocks noChangeArrowheads="1"/>
            </p:cNvSpPr>
            <p:nvPr/>
          </p:nvSpPr>
          <p:spPr bwMode="auto">
            <a:xfrm>
              <a:off x="2903" y="2295"/>
              <a:ext cx="176" cy="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>
                  <a:solidFill>
                    <a:srgbClr val="6E4B8B"/>
                  </a:solidFill>
                  <a:latin typeface="Comic Sans MS" panose="030F0702030302020204" pitchFamily="66" charset="0"/>
                </a:rPr>
                <a:t>M</a:t>
              </a:r>
            </a:p>
          </p:txBody>
        </p:sp>
      </p:grpSp>
      <p:sp>
        <p:nvSpPr>
          <p:cNvPr id="26636" name="Text Box 26"/>
          <p:cNvSpPr txBox="1">
            <a:spLocks noChangeArrowheads="1"/>
          </p:cNvSpPr>
          <p:nvPr/>
        </p:nvSpPr>
        <p:spPr bwMode="auto">
          <a:xfrm>
            <a:off x="4786313" y="4846638"/>
            <a:ext cx="260350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>
                <a:solidFill>
                  <a:srgbClr val="6E4B8B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26637" name="Text Box 27"/>
          <p:cNvSpPr txBox="1">
            <a:spLocks noChangeArrowheads="1"/>
          </p:cNvSpPr>
          <p:nvPr/>
        </p:nvSpPr>
        <p:spPr bwMode="auto">
          <a:xfrm>
            <a:off x="4725988" y="5603875"/>
            <a:ext cx="26035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rgbClr val="6E4B8B"/>
                </a:solidFill>
                <a:latin typeface="Comic Sans MS" panose="030F0702030302020204" pitchFamily="66" charset="0"/>
              </a:rPr>
              <a:t>N</a:t>
            </a:r>
          </a:p>
        </p:txBody>
      </p:sp>
      <p:sp>
        <p:nvSpPr>
          <p:cNvPr id="26638" name="Text Box 28"/>
          <p:cNvSpPr txBox="1">
            <a:spLocks noChangeArrowheads="1"/>
          </p:cNvSpPr>
          <p:nvPr/>
        </p:nvSpPr>
        <p:spPr bwMode="auto">
          <a:xfrm>
            <a:off x="6016625" y="5592763"/>
            <a:ext cx="39211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rgbClr val="6E4B8B"/>
                </a:solidFill>
                <a:latin typeface="Comic Sans MS" panose="030F0702030302020204" pitchFamily="66" charset="0"/>
              </a:rPr>
              <a:t>Q</a:t>
            </a:r>
          </a:p>
        </p:txBody>
      </p:sp>
      <p:sp>
        <p:nvSpPr>
          <p:cNvPr id="26639" name="Text Box 29"/>
          <p:cNvSpPr txBox="1">
            <a:spLocks noChangeArrowheads="1"/>
          </p:cNvSpPr>
          <p:nvPr/>
        </p:nvSpPr>
        <p:spPr bwMode="auto">
          <a:xfrm>
            <a:off x="6423025" y="4610100"/>
            <a:ext cx="5461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rgbClr val="6E4B8B"/>
                </a:solidFill>
                <a:latin typeface="Comic Sans MS" panose="030F0702030302020204" pitchFamily="66" charset="0"/>
              </a:rPr>
              <a:t>F</a:t>
            </a:r>
          </a:p>
        </p:txBody>
      </p:sp>
      <p:sp>
        <p:nvSpPr>
          <p:cNvPr id="26640" name="Text Box 30"/>
          <p:cNvSpPr txBox="1">
            <a:spLocks noChangeArrowheads="1"/>
          </p:cNvSpPr>
          <p:nvPr/>
        </p:nvSpPr>
        <p:spPr bwMode="auto">
          <a:xfrm>
            <a:off x="5770563" y="4945063"/>
            <a:ext cx="392112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rgbClr val="6E4B8B"/>
                </a:solidFill>
                <a:latin typeface="Comic Sans MS" panose="030F0702030302020204" pitchFamily="66" charset="0"/>
              </a:rPr>
              <a:t>V</a:t>
            </a:r>
          </a:p>
        </p:txBody>
      </p:sp>
      <p:sp>
        <p:nvSpPr>
          <p:cNvPr id="26641" name="Text Box 31"/>
          <p:cNvSpPr txBox="1">
            <a:spLocks noChangeArrowheads="1"/>
          </p:cNvSpPr>
          <p:nvPr/>
        </p:nvSpPr>
        <p:spPr bwMode="auto">
          <a:xfrm>
            <a:off x="5916613" y="3600450"/>
            <a:ext cx="390525" cy="60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en-US" altLang="en-US" sz="2600">
                <a:solidFill>
                  <a:srgbClr val="6E4B8B"/>
                </a:solidFill>
                <a:latin typeface="Comic Sans MS" panose="030F0702030302020204" pitchFamily="66" charset="0"/>
              </a:rPr>
              <a:t>P</a:t>
            </a:r>
          </a:p>
        </p:txBody>
      </p:sp>
      <p:grpSp>
        <p:nvGrpSpPr>
          <p:cNvPr id="26642" name="Group 32"/>
          <p:cNvGrpSpPr>
            <a:grpSpLocks/>
          </p:cNvGrpSpPr>
          <p:nvPr/>
        </p:nvGrpSpPr>
        <p:grpSpPr bwMode="auto">
          <a:xfrm>
            <a:off x="6554788" y="5148263"/>
            <a:ext cx="1352550" cy="777875"/>
            <a:chOff x="4150" y="3213"/>
            <a:chExt cx="912" cy="525"/>
          </a:xfrm>
        </p:grpSpPr>
        <p:sp>
          <p:nvSpPr>
            <p:cNvPr id="26647" name="Text Box 33"/>
            <p:cNvSpPr txBox="1">
              <a:spLocks noChangeArrowheads="1"/>
            </p:cNvSpPr>
            <p:nvPr/>
          </p:nvSpPr>
          <p:spPr bwMode="auto">
            <a:xfrm>
              <a:off x="4150" y="3327"/>
              <a:ext cx="912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>
                  <a:solidFill>
                    <a:srgbClr val="6E4B8B"/>
                  </a:solidFill>
                  <a:latin typeface="Comic Sans MS" panose="030F0702030302020204" pitchFamily="66" charset="0"/>
                </a:rPr>
                <a:t>Focus</a:t>
              </a:r>
            </a:p>
          </p:txBody>
        </p:sp>
        <p:sp>
          <p:nvSpPr>
            <p:cNvPr id="57378" name="Line 34"/>
            <p:cNvSpPr>
              <a:spLocks noChangeShapeType="1"/>
            </p:cNvSpPr>
            <p:nvPr/>
          </p:nvSpPr>
          <p:spPr bwMode="auto">
            <a:xfrm flipH="1" flipV="1">
              <a:off x="4185" y="3213"/>
              <a:ext cx="307" cy="2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6643" name="Group 35"/>
          <p:cNvGrpSpPr>
            <a:grpSpLocks/>
          </p:cNvGrpSpPr>
          <p:nvPr/>
        </p:nvGrpSpPr>
        <p:grpSpPr bwMode="auto">
          <a:xfrm>
            <a:off x="7129463" y="3454400"/>
            <a:ext cx="2014537" cy="608013"/>
            <a:chOff x="4537" y="2069"/>
            <a:chExt cx="1359" cy="411"/>
          </a:xfrm>
        </p:grpSpPr>
        <p:sp>
          <p:nvSpPr>
            <p:cNvPr id="26645" name="Text Box 36"/>
            <p:cNvSpPr txBox="1">
              <a:spLocks noChangeArrowheads="1"/>
            </p:cNvSpPr>
            <p:nvPr/>
          </p:nvSpPr>
          <p:spPr bwMode="auto">
            <a:xfrm>
              <a:off x="4762" y="2069"/>
              <a:ext cx="1134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>
                  <a:solidFill>
                    <a:srgbClr val="6E4B8B"/>
                  </a:solidFill>
                  <a:latin typeface="Comic Sans MS" panose="030F0702030302020204" pitchFamily="66" charset="0"/>
                </a:rPr>
                <a:t>Parabola</a:t>
              </a:r>
            </a:p>
          </p:txBody>
        </p:sp>
        <p:sp>
          <p:nvSpPr>
            <p:cNvPr id="57381" name="Line 37"/>
            <p:cNvSpPr>
              <a:spLocks noChangeShapeType="1"/>
            </p:cNvSpPr>
            <p:nvPr/>
          </p:nvSpPr>
          <p:spPr bwMode="auto">
            <a:xfrm flipH="1" flipV="1">
              <a:off x="4537" y="2113"/>
              <a:ext cx="322" cy="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7382" name="Text Box 38"/>
          <p:cNvSpPr txBox="1">
            <a:spLocks noChangeArrowheads="1"/>
          </p:cNvSpPr>
          <p:nvPr/>
        </p:nvSpPr>
        <p:spPr bwMode="auto">
          <a:xfrm>
            <a:off x="173038" y="5194300"/>
            <a:ext cx="4899025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latin typeface="Comic Sans MS" panose="030F0702030302020204" pitchFamily="66" charset="0"/>
              </a:rPr>
              <a:t>Eccentricity = PF/PM 		        = QF/QN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latin typeface="Comic Sans MS" panose="030F0702030302020204" pitchFamily="66" charset="0"/>
              </a:rPr>
              <a:t>	        = </a:t>
            </a:r>
            <a:r>
              <a:rPr lang="en-US" altLang="en-US" sz="2800">
                <a:solidFill>
                  <a:srgbClr val="3333FF"/>
                </a:solidFill>
                <a:latin typeface="Comic Sans MS" panose="030F0702030302020204" pitchFamily="66" charset="0"/>
              </a:rPr>
              <a:t>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7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autoUpdateAnimBg="0"/>
      <p:bldP spid="57347" grpId="0" animBg="1" autoUpdateAnimBg="0"/>
      <p:bldP spid="57348" grpId="0" animBg="1" autoUpdateAnimBg="0"/>
      <p:bldP spid="57349" grpId="0" animBg="1"/>
      <p:bldP spid="57350" grpId="0" build="p" autoUpdateAnimBg="0"/>
      <p:bldP spid="57351" grpId="0" autoUpdateAnimBg="0"/>
      <p:bldP spid="5738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AutoShape 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259638" y="6553200"/>
            <a:ext cx="685800" cy="304800"/>
          </a:xfrm>
          <a:prstGeom prst="actionButtonBackPreviou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304800" y="685800"/>
            <a:ext cx="6248400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en-US" sz="2700">
                <a:latin typeface="Comic Sans MS" panose="030F0702030302020204" pitchFamily="66" charset="0"/>
              </a:rPr>
              <a:t>Motor car head lamp reflector.</a:t>
            </a:r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304800" y="1554163"/>
            <a:ext cx="5791200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en-US" sz="2700">
                <a:latin typeface="Comic Sans MS" panose="030F0702030302020204" pitchFamily="66" charset="0"/>
              </a:rPr>
              <a:t>Sound reflector and detector.</a:t>
            </a: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333375" y="3200400"/>
            <a:ext cx="7543800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en-US" sz="2700">
                <a:latin typeface="Comic Sans MS" panose="030F0702030302020204" pitchFamily="66" charset="0"/>
              </a:rPr>
              <a:t>Shape of cooling towers.</a:t>
            </a:r>
          </a:p>
        </p:txBody>
      </p:sp>
      <p:sp>
        <p:nvSpPr>
          <p:cNvPr id="58374" name="Text Box 6"/>
          <p:cNvSpPr txBox="1">
            <a:spLocks noChangeArrowheads="1"/>
          </p:cNvSpPr>
          <p:nvPr/>
        </p:nvSpPr>
        <p:spPr bwMode="auto">
          <a:xfrm>
            <a:off x="333375" y="4203700"/>
            <a:ext cx="8610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en-US" sz="2700">
                <a:latin typeface="Comic Sans MS" panose="030F0702030302020204" pitchFamily="66" charset="0"/>
              </a:rPr>
              <a:t>Path of particle thrown at any angle with earth, etc.</a:t>
            </a:r>
          </a:p>
        </p:txBody>
      </p:sp>
      <p:sp>
        <p:nvSpPr>
          <p:cNvPr id="58375" name="Text Box 7"/>
          <p:cNvSpPr txBox="1">
            <a:spLocks noChangeArrowheads="1"/>
          </p:cNvSpPr>
          <p:nvPr/>
        </p:nvSpPr>
        <p:spPr bwMode="auto">
          <a:xfrm>
            <a:off x="228600" y="-1588"/>
            <a:ext cx="1676400" cy="577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286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2900">
                <a:solidFill>
                  <a:srgbClr val="0000CC"/>
                </a:solidFill>
                <a:latin typeface="Comic Sans MS" panose="030F0702030302020204" pitchFamily="66" charset="0"/>
              </a:rPr>
              <a:t>Uses :-</a:t>
            </a:r>
            <a:endParaRPr lang="en-US" altLang="en-US" sz="2700">
              <a:solidFill>
                <a:srgbClr val="0000CC"/>
              </a:solidFill>
              <a:latin typeface="Comic Sans MS" panose="030F0702030302020204" pitchFamily="66" charset="0"/>
            </a:endParaRPr>
          </a:p>
        </p:txBody>
      </p:sp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319088" y="2343150"/>
            <a:ext cx="7239000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en-US" sz="2700">
                <a:latin typeface="Comic Sans MS" panose="030F0702030302020204" pitchFamily="66" charset="0"/>
              </a:rPr>
              <a:t>Bridges and arches construction</a:t>
            </a:r>
          </a:p>
        </p:txBody>
      </p:sp>
      <p:grpSp>
        <p:nvGrpSpPr>
          <p:cNvPr id="27657" name="Group 9"/>
          <p:cNvGrpSpPr>
            <a:grpSpLocks/>
          </p:cNvGrpSpPr>
          <p:nvPr/>
        </p:nvGrpSpPr>
        <p:grpSpPr bwMode="auto">
          <a:xfrm>
            <a:off x="7959725" y="6526213"/>
            <a:ext cx="854075" cy="366712"/>
            <a:chOff x="5002" y="4015"/>
            <a:chExt cx="538" cy="231"/>
          </a:xfrm>
        </p:grpSpPr>
        <p:sp>
          <p:nvSpPr>
            <p:cNvPr id="58378" name="AutoShape 10">
              <a:hlinkClick r:id="rId4" action="ppaction://hlinkpres?slideindex=1&amp;slidetitle=" highlightClick="1"/>
            </p:cNvPr>
            <p:cNvSpPr>
              <a:spLocks noChangeArrowheads="1"/>
            </p:cNvSpPr>
            <p:nvPr/>
          </p:nvSpPr>
          <p:spPr bwMode="auto">
            <a:xfrm>
              <a:off x="5047" y="4023"/>
              <a:ext cx="411" cy="215"/>
            </a:xfrm>
            <a:prstGeom prst="actionButtonBlank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just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659" name="Text Box 11"/>
            <p:cNvSpPr txBox="1">
              <a:spLocks noChangeArrowheads="1"/>
            </p:cNvSpPr>
            <p:nvPr/>
          </p:nvSpPr>
          <p:spPr bwMode="auto">
            <a:xfrm>
              <a:off x="5002" y="4015"/>
              <a:ext cx="53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Home</a:t>
              </a:r>
              <a:endParaRPr lang="en-GB" altLang="en-US" sz="18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animBg="1"/>
      <p:bldP spid="58371" grpId="0" autoUpdateAnimBg="0"/>
      <p:bldP spid="58372" grpId="0" autoUpdateAnimBg="0"/>
      <p:bldP spid="58373" grpId="0" autoUpdateAnimBg="0"/>
      <p:bldP spid="58374" grpId="0" autoUpdateAnimBg="0"/>
      <p:bldP spid="58375" grpId="0" autoUpdateAnimBg="0"/>
      <p:bldP spid="58376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179388" y="482600"/>
            <a:ext cx="8686800" cy="237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tabLst>
                <a:tab pos="80010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indent="-285750">
              <a:spcBef>
                <a:spcPct val="20000"/>
              </a:spcBef>
              <a:buChar char="–"/>
              <a:tabLst>
                <a:tab pos="80010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8001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01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en-US" sz="3000">
                <a:latin typeface="Comic Sans MS" panose="030F0702030302020204" pitchFamily="66" charset="0"/>
              </a:rPr>
              <a:t>It is the locus of a point which moves in a plane so that the ratio of its distances from a </a:t>
            </a:r>
            <a:r>
              <a:rPr lang="en-US" altLang="en-US" sz="3000">
                <a:solidFill>
                  <a:srgbClr val="FF0066"/>
                </a:solidFill>
                <a:latin typeface="Comic Sans MS" panose="030F0702030302020204" pitchFamily="66" charset="0"/>
              </a:rPr>
              <a:t>fixed point (focus)</a:t>
            </a:r>
            <a:r>
              <a:rPr lang="en-US" altLang="en-US" sz="3000">
                <a:latin typeface="Comic Sans MS" panose="030F0702030302020204" pitchFamily="66" charset="0"/>
              </a:rPr>
              <a:t> and a </a:t>
            </a:r>
            <a:r>
              <a:rPr lang="en-US" altLang="en-US" sz="3000">
                <a:solidFill>
                  <a:srgbClr val="FF0066"/>
                </a:solidFill>
                <a:latin typeface="Comic Sans MS" panose="030F0702030302020204" pitchFamily="66" charset="0"/>
              </a:rPr>
              <a:t>fixed straight line (directrix)</a:t>
            </a:r>
            <a:r>
              <a:rPr lang="en-US" altLang="en-US" sz="3000">
                <a:latin typeface="Comic Sans MS" panose="030F0702030302020204" pitchFamily="66" charset="0"/>
              </a:rPr>
              <a:t> is constant and </a:t>
            </a:r>
            <a:r>
              <a:rPr lang="en-US" altLang="en-US" sz="3000">
                <a:solidFill>
                  <a:srgbClr val="3333FF"/>
                </a:solidFill>
                <a:latin typeface="Comic Sans MS" panose="030F0702030302020204" pitchFamily="66" charset="0"/>
              </a:rPr>
              <a:t>grater than one</a:t>
            </a:r>
            <a:r>
              <a:rPr lang="en-US" altLang="en-US" sz="300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67609" name="Text Box 25"/>
          <p:cNvSpPr txBox="1">
            <a:spLocks noChangeArrowheads="1"/>
          </p:cNvSpPr>
          <p:nvPr/>
        </p:nvSpPr>
        <p:spPr bwMode="auto">
          <a:xfrm>
            <a:off x="5105400" y="4637088"/>
            <a:ext cx="41148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latin typeface="Comic Sans MS" panose="030F0702030302020204" pitchFamily="66" charset="0"/>
              </a:rPr>
              <a:t>Eccentricity = PF/PM </a:t>
            </a:r>
          </a:p>
        </p:txBody>
      </p:sp>
      <p:grpSp>
        <p:nvGrpSpPr>
          <p:cNvPr id="67617" name="Group 33"/>
          <p:cNvGrpSpPr>
            <a:grpSpLocks/>
          </p:cNvGrpSpPr>
          <p:nvPr/>
        </p:nvGrpSpPr>
        <p:grpSpPr bwMode="auto">
          <a:xfrm>
            <a:off x="-685800" y="2819400"/>
            <a:ext cx="7848600" cy="3625850"/>
            <a:chOff x="-432" y="1776"/>
            <a:chExt cx="4944" cy="2284"/>
          </a:xfrm>
        </p:grpSpPr>
        <p:sp>
          <p:nvSpPr>
            <p:cNvPr id="28680" name="Text Box 5"/>
            <p:cNvSpPr txBox="1">
              <a:spLocks noChangeArrowheads="1"/>
            </p:cNvSpPr>
            <p:nvPr/>
          </p:nvSpPr>
          <p:spPr bwMode="auto">
            <a:xfrm>
              <a:off x="3676" y="2036"/>
              <a:ext cx="836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solidFill>
                    <a:srgbClr val="6E4B8B"/>
                  </a:solidFill>
                  <a:latin typeface="Comic Sans MS" panose="030F0702030302020204" pitchFamily="66" charset="0"/>
                </a:rPr>
                <a:t>Axis</a:t>
              </a:r>
            </a:p>
          </p:txBody>
        </p:sp>
        <p:grpSp>
          <p:nvGrpSpPr>
            <p:cNvPr id="28681" name="Group 32"/>
            <p:cNvGrpSpPr>
              <a:grpSpLocks/>
            </p:cNvGrpSpPr>
            <p:nvPr/>
          </p:nvGrpSpPr>
          <p:grpSpPr bwMode="auto">
            <a:xfrm>
              <a:off x="-432" y="1776"/>
              <a:ext cx="4717" cy="2284"/>
              <a:chOff x="-432" y="1776"/>
              <a:chExt cx="4717" cy="2284"/>
            </a:xfrm>
          </p:grpSpPr>
          <p:sp>
            <p:nvSpPr>
              <p:cNvPr id="28682" name="Text Box 2"/>
              <p:cNvSpPr txBox="1">
                <a:spLocks noChangeArrowheads="1"/>
              </p:cNvSpPr>
              <p:nvPr/>
            </p:nvSpPr>
            <p:spPr bwMode="auto">
              <a:xfrm>
                <a:off x="-432" y="2208"/>
                <a:ext cx="1952" cy="4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800">
                    <a:solidFill>
                      <a:srgbClr val="6E4B8B"/>
                    </a:solidFill>
                    <a:latin typeface="Comic Sans MS" panose="030F0702030302020204" pitchFamily="66" charset="0"/>
                  </a:rPr>
                  <a:t>Directrix</a:t>
                </a:r>
              </a:p>
            </p:txBody>
          </p:sp>
          <p:sp>
            <p:nvSpPr>
              <p:cNvPr id="67588" name="Line 4"/>
              <p:cNvSpPr>
                <a:spLocks noChangeShapeType="1"/>
              </p:cNvSpPr>
              <p:nvPr/>
            </p:nvSpPr>
            <p:spPr bwMode="auto">
              <a:xfrm flipH="1">
                <a:off x="2996" y="2206"/>
                <a:ext cx="748" cy="7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8684" name="Text Box 6"/>
              <p:cNvSpPr txBox="1">
                <a:spLocks noChangeArrowheads="1"/>
              </p:cNvSpPr>
              <p:nvPr/>
            </p:nvSpPr>
            <p:spPr bwMode="auto">
              <a:xfrm>
                <a:off x="3002" y="1776"/>
                <a:ext cx="1283" cy="4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800">
                    <a:solidFill>
                      <a:srgbClr val="6E4B8B"/>
                    </a:solidFill>
                    <a:latin typeface="Comic Sans MS" panose="030F0702030302020204" pitchFamily="66" charset="0"/>
                  </a:rPr>
                  <a:t>Hyperbola</a:t>
                </a:r>
              </a:p>
            </p:txBody>
          </p:sp>
          <p:sp>
            <p:nvSpPr>
              <p:cNvPr id="67591" name="Line 7"/>
              <p:cNvSpPr>
                <a:spLocks noChangeShapeType="1"/>
              </p:cNvSpPr>
              <p:nvPr/>
            </p:nvSpPr>
            <p:spPr bwMode="auto">
              <a:xfrm flipH="1" flipV="1">
                <a:off x="2650" y="1860"/>
                <a:ext cx="440" cy="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592" name="Freeform 8"/>
              <p:cNvSpPr>
                <a:spLocks/>
              </p:cNvSpPr>
              <p:nvPr/>
            </p:nvSpPr>
            <p:spPr bwMode="auto">
              <a:xfrm>
                <a:off x="1971" y="2232"/>
                <a:ext cx="310" cy="712"/>
              </a:xfrm>
              <a:custGeom>
                <a:avLst/>
                <a:gdLst>
                  <a:gd name="T0" fmla="*/ 0 w 2089"/>
                  <a:gd name="T1" fmla="*/ 0 h 4176"/>
                  <a:gd name="T2" fmla="*/ 2088 w 2089"/>
                  <a:gd name="T3" fmla="*/ 4176 h 4176"/>
                  <a:gd name="T4" fmla="*/ 2089 w 2089"/>
                  <a:gd name="T5" fmla="*/ 4176 h 4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89" h="4176">
                    <a:moveTo>
                      <a:pt x="0" y="0"/>
                    </a:moveTo>
                    <a:lnTo>
                      <a:pt x="2088" y="4176"/>
                    </a:lnTo>
                    <a:lnTo>
                      <a:pt x="2089" y="417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593" name="Freeform 9"/>
              <p:cNvSpPr>
                <a:spLocks/>
              </p:cNvSpPr>
              <p:nvPr/>
            </p:nvSpPr>
            <p:spPr bwMode="auto">
              <a:xfrm>
                <a:off x="1292" y="1816"/>
                <a:ext cx="0" cy="2244"/>
              </a:xfrm>
              <a:custGeom>
                <a:avLst/>
                <a:gdLst>
                  <a:gd name="T0" fmla="*/ 0 w 1"/>
                  <a:gd name="T1" fmla="*/ 0 h 13175"/>
                  <a:gd name="T2" fmla="*/ 0 w 1"/>
                  <a:gd name="T3" fmla="*/ 13175 h 13175"/>
                  <a:gd name="T4" fmla="*/ 1 w 1"/>
                  <a:gd name="T5" fmla="*/ 13175 h 13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3175">
                    <a:moveTo>
                      <a:pt x="0" y="0"/>
                    </a:moveTo>
                    <a:lnTo>
                      <a:pt x="0" y="13175"/>
                    </a:lnTo>
                    <a:lnTo>
                      <a:pt x="1" y="13175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594" name="Freeform 10"/>
              <p:cNvSpPr>
                <a:spLocks/>
              </p:cNvSpPr>
              <p:nvPr/>
            </p:nvSpPr>
            <p:spPr bwMode="auto">
              <a:xfrm>
                <a:off x="1292" y="2940"/>
                <a:ext cx="2371" cy="27"/>
              </a:xfrm>
              <a:custGeom>
                <a:avLst/>
                <a:gdLst>
                  <a:gd name="T0" fmla="*/ 0 w 18886"/>
                  <a:gd name="T1" fmla="*/ 18885 w 18886"/>
                  <a:gd name="T2" fmla="*/ 18886 w 1888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886">
                    <a:moveTo>
                      <a:pt x="0" y="0"/>
                    </a:moveTo>
                    <a:lnTo>
                      <a:pt x="18885" y="0"/>
                    </a:lnTo>
                    <a:lnTo>
                      <a:pt x="1888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595" name="Freeform 11"/>
              <p:cNvSpPr>
                <a:spLocks/>
              </p:cNvSpPr>
              <p:nvPr/>
            </p:nvSpPr>
            <p:spPr bwMode="auto">
              <a:xfrm rot="189019">
                <a:off x="1765" y="1816"/>
                <a:ext cx="923" cy="2133"/>
              </a:xfrm>
              <a:custGeom>
                <a:avLst/>
                <a:gdLst>
                  <a:gd name="T0" fmla="*/ 5408 w 6201"/>
                  <a:gd name="T1" fmla="*/ 0 h 12527"/>
                  <a:gd name="T2" fmla="*/ 4192 w 6201"/>
                  <a:gd name="T3" fmla="*/ 296 h 12527"/>
                  <a:gd name="T4" fmla="*/ 3061 w 6201"/>
                  <a:gd name="T5" fmla="*/ 828 h 12527"/>
                  <a:gd name="T6" fmla="*/ 2056 w 6201"/>
                  <a:gd name="T7" fmla="*/ 1574 h 12527"/>
                  <a:gd name="T8" fmla="*/ 1218 w 6201"/>
                  <a:gd name="T9" fmla="*/ 2504 h 12527"/>
                  <a:gd name="T10" fmla="*/ 581 w 6201"/>
                  <a:gd name="T11" fmla="*/ 3581 h 12527"/>
                  <a:gd name="T12" fmla="*/ 169 w 6201"/>
                  <a:gd name="T13" fmla="*/ 4763 h 12527"/>
                  <a:gd name="T14" fmla="*/ 0 w 6201"/>
                  <a:gd name="T15" fmla="*/ 6004 h 12527"/>
                  <a:gd name="T16" fmla="*/ 79 w 6201"/>
                  <a:gd name="T17" fmla="*/ 7253 h 12527"/>
                  <a:gd name="T18" fmla="*/ 403 w 6201"/>
                  <a:gd name="T19" fmla="*/ 8463 h 12527"/>
                  <a:gd name="T20" fmla="*/ 960 w 6201"/>
                  <a:gd name="T21" fmla="*/ 9584 h 12527"/>
                  <a:gd name="T22" fmla="*/ 1728 w 6201"/>
                  <a:gd name="T23" fmla="*/ 10573 h 12527"/>
                  <a:gd name="T24" fmla="*/ 2676 w 6201"/>
                  <a:gd name="T25" fmla="*/ 11389 h 12527"/>
                  <a:gd name="T26" fmla="*/ 3766 w 6201"/>
                  <a:gd name="T27" fmla="*/ 12002 h 12527"/>
                  <a:gd name="T28" fmla="*/ 4956 w 6201"/>
                  <a:gd name="T29" fmla="*/ 12386 h 12527"/>
                  <a:gd name="T30" fmla="*/ 6200 w 6201"/>
                  <a:gd name="T31" fmla="*/ 12527 h 12527"/>
                  <a:gd name="T32" fmla="*/ 6201 w 6201"/>
                  <a:gd name="T33" fmla="*/ 12527 h 12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201" h="12527">
                    <a:moveTo>
                      <a:pt x="5408" y="0"/>
                    </a:moveTo>
                    <a:lnTo>
                      <a:pt x="4192" y="296"/>
                    </a:lnTo>
                    <a:lnTo>
                      <a:pt x="3061" y="828"/>
                    </a:lnTo>
                    <a:lnTo>
                      <a:pt x="2056" y="1574"/>
                    </a:lnTo>
                    <a:lnTo>
                      <a:pt x="1218" y="2504"/>
                    </a:lnTo>
                    <a:lnTo>
                      <a:pt x="581" y="3581"/>
                    </a:lnTo>
                    <a:lnTo>
                      <a:pt x="169" y="4763"/>
                    </a:lnTo>
                    <a:lnTo>
                      <a:pt x="0" y="6004"/>
                    </a:lnTo>
                    <a:lnTo>
                      <a:pt x="79" y="7253"/>
                    </a:lnTo>
                    <a:lnTo>
                      <a:pt x="403" y="8463"/>
                    </a:lnTo>
                    <a:lnTo>
                      <a:pt x="960" y="9584"/>
                    </a:lnTo>
                    <a:lnTo>
                      <a:pt x="1728" y="10573"/>
                    </a:lnTo>
                    <a:lnTo>
                      <a:pt x="2676" y="11389"/>
                    </a:lnTo>
                    <a:lnTo>
                      <a:pt x="3766" y="12002"/>
                    </a:lnTo>
                    <a:lnTo>
                      <a:pt x="4956" y="12386"/>
                    </a:lnTo>
                    <a:lnTo>
                      <a:pt x="6200" y="12527"/>
                    </a:lnTo>
                    <a:lnTo>
                      <a:pt x="6201" y="1252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596" name="Freeform 12"/>
              <p:cNvSpPr>
                <a:spLocks/>
              </p:cNvSpPr>
              <p:nvPr/>
            </p:nvSpPr>
            <p:spPr bwMode="auto">
              <a:xfrm>
                <a:off x="1295" y="2232"/>
                <a:ext cx="676" cy="3"/>
              </a:xfrm>
              <a:custGeom>
                <a:avLst/>
                <a:gdLst>
                  <a:gd name="T0" fmla="*/ 0 w 4537"/>
                  <a:gd name="T1" fmla="*/ 4536 w 4537"/>
                  <a:gd name="T2" fmla="*/ 4537 w 453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537">
                    <a:moveTo>
                      <a:pt x="0" y="0"/>
                    </a:moveTo>
                    <a:lnTo>
                      <a:pt x="4536" y="0"/>
                    </a:lnTo>
                    <a:lnTo>
                      <a:pt x="453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597" name="Freeform 13"/>
              <p:cNvSpPr>
                <a:spLocks/>
              </p:cNvSpPr>
              <p:nvPr/>
            </p:nvSpPr>
            <p:spPr bwMode="auto">
              <a:xfrm>
                <a:off x="1902" y="2939"/>
                <a:ext cx="375" cy="549"/>
              </a:xfrm>
              <a:custGeom>
                <a:avLst/>
                <a:gdLst>
                  <a:gd name="T0" fmla="*/ 2464 w 2464"/>
                  <a:gd name="T1" fmla="*/ 0 h 3029"/>
                  <a:gd name="T2" fmla="*/ 0 w 2464"/>
                  <a:gd name="T3" fmla="*/ 3029 h 3029"/>
                  <a:gd name="T4" fmla="*/ 1 w 2464"/>
                  <a:gd name="T5" fmla="*/ 3029 h 3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64" h="3029">
                    <a:moveTo>
                      <a:pt x="2464" y="0"/>
                    </a:moveTo>
                    <a:lnTo>
                      <a:pt x="0" y="3029"/>
                    </a:lnTo>
                    <a:lnTo>
                      <a:pt x="1" y="302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598" name="Freeform 14"/>
              <p:cNvSpPr>
                <a:spLocks/>
              </p:cNvSpPr>
              <p:nvPr/>
            </p:nvSpPr>
            <p:spPr bwMode="auto">
              <a:xfrm>
                <a:off x="1286" y="3485"/>
                <a:ext cx="620" cy="3"/>
              </a:xfrm>
              <a:custGeom>
                <a:avLst/>
                <a:gdLst>
                  <a:gd name="T0" fmla="*/ 4163 w 4163"/>
                  <a:gd name="T1" fmla="*/ 0 w 4163"/>
                  <a:gd name="T2" fmla="*/ 1 w 416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163">
                    <a:moveTo>
                      <a:pt x="4163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8693" name="Text Box 15"/>
              <p:cNvSpPr txBox="1">
                <a:spLocks noChangeArrowheads="1"/>
              </p:cNvSpPr>
              <p:nvPr/>
            </p:nvSpPr>
            <p:spPr bwMode="auto">
              <a:xfrm>
                <a:off x="1008" y="2016"/>
                <a:ext cx="176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600">
                    <a:solidFill>
                      <a:srgbClr val="6E4B8B"/>
                    </a:solidFill>
                    <a:latin typeface="Comic Sans MS" panose="030F0702030302020204" pitchFamily="66" charset="0"/>
                  </a:rPr>
                  <a:t>M</a:t>
                </a:r>
              </a:p>
            </p:txBody>
          </p:sp>
          <p:sp>
            <p:nvSpPr>
              <p:cNvPr id="28694" name="Text Box 16"/>
              <p:cNvSpPr txBox="1">
                <a:spLocks noChangeArrowheads="1"/>
              </p:cNvSpPr>
              <p:nvPr/>
            </p:nvSpPr>
            <p:spPr bwMode="auto">
              <a:xfrm>
                <a:off x="1044" y="2736"/>
                <a:ext cx="176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600">
                    <a:solidFill>
                      <a:srgbClr val="6E4B8B"/>
                    </a:solidFill>
                    <a:latin typeface="Comic Sans MS" panose="030F0702030302020204" pitchFamily="66" charset="0"/>
                  </a:rPr>
                  <a:t>C</a:t>
                </a:r>
              </a:p>
            </p:txBody>
          </p:sp>
          <p:sp>
            <p:nvSpPr>
              <p:cNvPr id="28695" name="Text Box 17"/>
              <p:cNvSpPr txBox="1">
                <a:spLocks noChangeArrowheads="1"/>
              </p:cNvSpPr>
              <p:nvPr/>
            </p:nvSpPr>
            <p:spPr bwMode="auto">
              <a:xfrm>
                <a:off x="1048" y="3276"/>
                <a:ext cx="176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600">
                    <a:solidFill>
                      <a:srgbClr val="6E4B8B"/>
                    </a:solidFill>
                    <a:latin typeface="Comic Sans MS" panose="030F0702030302020204" pitchFamily="66" charset="0"/>
                  </a:rPr>
                  <a:t>N</a:t>
                </a:r>
              </a:p>
            </p:txBody>
          </p:sp>
          <p:sp>
            <p:nvSpPr>
              <p:cNvPr id="28696" name="Text Box 18"/>
              <p:cNvSpPr txBox="1">
                <a:spLocks noChangeArrowheads="1"/>
              </p:cNvSpPr>
              <p:nvPr/>
            </p:nvSpPr>
            <p:spPr bwMode="auto">
              <a:xfrm>
                <a:off x="1702" y="3396"/>
                <a:ext cx="264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600">
                    <a:solidFill>
                      <a:srgbClr val="6E4B8B"/>
                    </a:solidFill>
                    <a:latin typeface="Comic Sans MS" panose="030F0702030302020204" pitchFamily="66" charset="0"/>
                  </a:rPr>
                  <a:t>Q</a:t>
                </a:r>
              </a:p>
            </p:txBody>
          </p:sp>
          <p:sp>
            <p:nvSpPr>
              <p:cNvPr id="28697" name="Text Box 19"/>
              <p:cNvSpPr txBox="1">
                <a:spLocks noChangeArrowheads="1"/>
              </p:cNvSpPr>
              <p:nvPr/>
            </p:nvSpPr>
            <p:spPr bwMode="auto">
              <a:xfrm>
                <a:off x="2242" y="2604"/>
                <a:ext cx="176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600">
                    <a:solidFill>
                      <a:srgbClr val="6E4B8B"/>
                    </a:solidFill>
                    <a:latin typeface="Comic Sans MS" panose="030F0702030302020204" pitchFamily="66" charset="0"/>
                  </a:rPr>
                  <a:t>F</a:t>
                </a:r>
              </a:p>
            </p:txBody>
          </p:sp>
          <p:sp>
            <p:nvSpPr>
              <p:cNvPr id="28698" name="Text Box 20"/>
              <p:cNvSpPr txBox="1">
                <a:spLocks noChangeArrowheads="1"/>
              </p:cNvSpPr>
              <p:nvPr/>
            </p:nvSpPr>
            <p:spPr bwMode="auto">
              <a:xfrm>
                <a:off x="1740" y="2845"/>
                <a:ext cx="264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600">
                    <a:solidFill>
                      <a:srgbClr val="6E4B8B"/>
                    </a:solidFill>
                    <a:latin typeface="Comic Sans MS" panose="030F0702030302020204" pitchFamily="66" charset="0"/>
                  </a:rPr>
                  <a:t>V</a:t>
                </a:r>
              </a:p>
            </p:txBody>
          </p:sp>
          <p:sp>
            <p:nvSpPr>
              <p:cNvPr id="28699" name="Text Box 21"/>
              <p:cNvSpPr txBox="1">
                <a:spLocks noChangeArrowheads="1"/>
              </p:cNvSpPr>
              <p:nvPr/>
            </p:nvSpPr>
            <p:spPr bwMode="auto">
              <a:xfrm>
                <a:off x="1838" y="1896"/>
                <a:ext cx="264" cy="3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600">
                    <a:solidFill>
                      <a:srgbClr val="6E4B8B"/>
                    </a:solidFill>
                    <a:latin typeface="Comic Sans MS" panose="030F0702030302020204" pitchFamily="66" charset="0"/>
                  </a:rPr>
                  <a:t>P</a:t>
                </a:r>
              </a:p>
            </p:txBody>
          </p:sp>
          <p:sp>
            <p:nvSpPr>
              <p:cNvPr id="28700" name="Text Box 22"/>
              <p:cNvSpPr txBox="1">
                <a:spLocks noChangeArrowheads="1"/>
              </p:cNvSpPr>
              <p:nvPr/>
            </p:nvSpPr>
            <p:spPr bwMode="auto">
              <a:xfrm>
                <a:off x="2518" y="3048"/>
                <a:ext cx="769" cy="4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800">
                    <a:solidFill>
                      <a:srgbClr val="6E4B8B"/>
                    </a:solidFill>
                    <a:latin typeface="Comic Sans MS" panose="030F0702030302020204" pitchFamily="66" charset="0"/>
                  </a:rPr>
                  <a:t>Focus</a:t>
                </a:r>
              </a:p>
            </p:txBody>
          </p:sp>
          <p:sp>
            <p:nvSpPr>
              <p:cNvPr id="67607" name="Line 23"/>
              <p:cNvSpPr>
                <a:spLocks noChangeShapeType="1"/>
              </p:cNvSpPr>
              <p:nvPr/>
            </p:nvSpPr>
            <p:spPr bwMode="auto">
              <a:xfrm flipH="1" flipV="1">
                <a:off x="2298" y="2960"/>
                <a:ext cx="308" cy="2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7608" name="Line 24"/>
              <p:cNvSpPr>
                <a:spLocks noChangeShapeType="1"/>
              </p:cNvSpPr>
              <p:nvPr/>
            </p:nvSpPr>
            <p:spPr bwMode="auto">
              <a:xfrm>
                <a:off x="1066" y="2432"/>
                <a:ext cx="1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just" eaLnBrk="1" hangingPunct="1">
                  <a:lnSpc>
                    <a:spcPct val="130000"/>
                  </a:lnSpc>
                  <a:spcBef>
                    <a:spcPct val="50000"/>
                  </a:spcBef>
                  <a:buFontTx/>
                  <a:buChar char="•"/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28703" name="Group 27"/>
              <p:cNvGrpSpPr>
                <a:grpSpLocks/>
              </p:cNvGrpSpPr>
              <p:nvPr/>
            </p:nvGrpSpPr>
            <p:grpSpPr bwMode="auto">
              <a:xfrm>
                <a:off x="396" y="2969"/>
                <a:ext cx="1328" cy="460"/>
                <a:chOff x="-102" y="2335"/>
                <a:chExt cx="1328" cy="460"/>
              </a:xfrm>
            </p:grpSpPr>
            <p:sp>
              <p:nvSpPr>
                <p:cNvPr id="28704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-102" y="2387"/>
                  <a:ext cx="942" cy="4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2800">
                      <a:solidFill>
                        <a:srgbClr val="6E4B8B"/>
                      </a:solidFill>
                      <a:latin typeface="Comic Sans MS" panose="030F0702030302020204" pitchFamily="66" charset="0"/>
                    </a:rPr>
                    <a:t>Vertex</a:t>
                  </a:r>
                </a:p>
              </p:txBody>
            </p:sp>
            <p:sp>
              <p:nvSpPr>
                <p:cNvPr id="67613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772" y="2335"/>
                  <a:ext cx="454" cy="27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 eaLnBrk="1" hangingPunct="1">
                    <a:lnSpc>
                      <a:spcPct val="130000"/>
                    </a:lnSpc>
                    <a:spcBef>
                      <a:spcPct val="50000"/>
                    </a:spcBef>
                    <a:buFontTx/>
                    <a:buChar char="•"/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  <p:sp>
        <p:nvSpPr>
          <p:cNvPr id="28677" name="Text Box 31"/>
          <p:cNvSpPr txBox="1">
            <a:spLocks noChangeArrowheads="1"/>
          </p:cNvSpPr>
          <p:nvPr/>
        </p:nvSpPr>
        <p:spPr bwMode="auto">
          <a:xfrm>
            <a:off x="3200400" y="0"/>
            <a:ext cx="2743200" cy="6096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400">
                <a:solidFill>
                  <a:srgbClr val="FFFF00"/>
                </a:solidFill>
                <a:latin typeface="Comic Sans MS" panose="030F0702030302020204" pitchFamily="66" charset="0"/>
              </a:rPr>
              <a:t>HYPERBOLA</a:t>
            </a:r>
          </a:p>
        </p:txBody>
      </p:sp>
      <p:sp>
        <p:nvSpPr>
          <p:cNvPr id="67618" name="Rectangle 34"/>
          <p:cNvSpPr>
            <a:spLocks noChangeArrowheads="1"/>
          </p:cNvSpPr>
          <p:nvPr/>
        </p:nvSpPr>
        <p:spPr bwMode="auto">
          <a:xfrm>
            <a:off x="7315200" y="5105400"/>
            <a:ext cx="20193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latin typeface="Comic Sans MS" panose="030F0702030302020204" pitchFamily="66" charset="0"/>
              </a:rPr>
              <a:t>= QF/QN </a:t>
            </a:r>
          </a:p>
        </p:txBody>
      </p:sp>
      <p:sp>
        <p:nvSpPr>
          <p:cNvPr id="67619" name="Rectangle 35"/>
          <p:cNvSpPr>
            <a:spLocks noChangeArrowheads="1"/>
          </p:cNvSpPr>
          <p:nvPr/>
        </p:nvSpPr>
        <p:spPr bwMode="auto">
          <a:xfrm>
            <a:off x="7353300" y="5638800"/>
            <a:ext cx="9271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FF"/>
                </a:solidFill>
                <a:latin typeface="Comic Sans MS" panose="030F0702030302020204" pitchFamily="66" charset="0"/>
              </a:rPr>
              <a:t>&gt; 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7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autoUpdateAnimBg="0"/>
      <p:bldP spid="67609" grpId="0" autoUpdateAnimBg="0"/>
      <p:bldP spid="67618" grpId="0" build="p" autoUpdateAnimBg="0"/>
      <p:bldP spid="67619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468313" y="1663700"/>
            <a:ext cx="6840537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en-US" sz="3000">
                <a:latin typeface="Comic Sans MS" panose="030F0702030302020204" pitchFamily="66" charset="0"/>
              </a:rPr>
              <a:t>Nature of graph of Boyle’s law</a:t>
            </a:r>
          </a:p>
        </p:txBody>
      </p:sp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468313" y="2997200"/>
            <a:ext cx="7056437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en-US" sz="3000">
                <a:latin typeface="Comic Sans MS" panose="030F0702030302020204" pitchFamily="66" charset="0"/>
              </a:rPr>
              <a:t>Shape of overhead water tanks</a:t>
            </a:r>
          </a:p>
        </p:txBody>
      </p:sp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-152400" y="476250"/>
            <a:ext cx="266382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286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CC"/>
                </a:solidFill>
                <a:latin typeface="Comic Sans MS" panose="030F0702030302020204" pitchFamily="66" charset="0"/>
              </a:rPr>
              <a:t>	Uses :-</a:t>
            </a:r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468313" y="4471988"/>
            <a:ext cx="6573837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en-US" sz="3000">
                <a:latin typeface="Comic Sans MS" panose="030F0702030302020204" pitchFamily="66" charset="0"/>
              </a:rPr>
              <a:t>Shape of cooling towers etc.</a:t>
            </a:r>
          </a:p>
        </p:txBody>
      </p:sp>
      <p:sp>
        <p:nvSpPr>
          <p:cNvPr id="68614" name="AutoShape 6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239000" y="6548438"/>
            <a:ext cx="685800" cy="304800"/>
          </a:xfrm>
          <a:prstGeom prst="actionButtonBackPrevious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  <a:buFontTx/>
              <a:buChar char="•"/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autoUpdateAnimBg="0"/>
      <p:bldP spid="68611" grpId="0" autoUpdateAnimBg="0"/>
      <p:bldP spid="68612" grpId="0" autoUpdateAnimBg="0"/>
      <p:bldP spid="68613" grpId="0" autoUpdateAnimBg="0"/>
      <p:bldP spid="686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047750" y="273050"/>
            <a:ext cx="7262813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1600" b="1" u="sng">
                <a:solidFill>
                  <a:schemeClr val="accent2"/>
                </a:solidFill>
                <a:latin typeface="Tahoma" panose="020B0604030504040204" pitchFamily="34" charset="0"/>
              </a:rPr>
              <a:t>CONIC SECTIONS</a:t>
            </a:r>
            <a:r>
              <a:rPr lang="en-US" sz="1400">
                <a:solidFill>
                  <a:srgbClr val="FF0066"/>
                </a:solidFill>
                <a:latin typeface="Tahoma" panose="020B0604030504040204" pitchFamily="34" charset="0"/>
              </a:rPr>
              <a:t> </a:t>
            </a:r>
          </a:p>
          <a:p>
            <a:pPr algn="ctr"/>
            <a:r>
              <a:rPr lang="en-US" sz="1600" b="1">
                <a:solidFill>
                  <a:schemeClr val="accent2"/>
                </a:solidFill>
                <a:latin typeface="Tahoma" panose="020B0604030504040204" pitchFamily="34" charset="0"/>
              </a:rPr>
              <a:t>ELLIPSE</a:t>
            </a:r>
            <a:r>
              <a:rPr lang="en-US" sz="1600" b="1">
                <a:solidFill>
                  <a:srgbClr val="FF0066"/>
                </a:solidFill>
                <a:latin typeface="Tahoma" panose="020B0604030504040204" pitchFamily="34" charset="0"/>
              </a:rPr>
              <a:t>, </a:t>
            </a:r>
            <a:r>
              <a:rPr lang="en-US" sz="1600" b="1">
                <a:solidFill>
                  <a:schemeClr val="accent2"/>
                </a:solidFill>
                <a:latin typeface="Tahoma" panose="020B0604030504040204" pitchFamily="34" charset="0"/>
              </a:rPr>
              <a:t>PARABOLA</a:t>
            </a:r>
            <a:r>
              <a:rPr lang="en-US" sz="1600" b="1">
                <a:solidFill>
                  <a:srgbClr val="FF0066"/>
                </a:solidFill>
                <a:latin typeface="Tahoma" panose="020B0604030504040204" pitchFamily="34" charset="0"/>
              </a:rPr>
              <a:t> AND </a:t>
            </a:r>
            <a:r>
              <a:rPr lang="en-US" sz="1600" b="1">
                <a:solidFill>
                  <a:schemeClr val="accent2"/>
                </a:solidFill>
                <a:latin typeface="Tahoma" panose="020B0604030504040204" pitchFamily="34" charset="0"/>
              </a:rPr>
              <a:t>HYPERBOLA</a:t>
            </a:r>
            <a:r>
              <a:rPr lang="en-US" sz="1600" b="1">
                <a:solidFill>
                  <a:srgbClr val="FF0066"/>
                </a:solidFill>
                <a:latin typeface="Tahoma" panose="020B0604030504040204" pitchFamily="34" charset="0"/>
              </a:rPr>
              <a:t> ARE CALLED CONIC SECTIONS</a:t>
            </a:r>
          </a:p>
          <a:p>
            <a:pPr algn="ctr"/>
            <a:r>
              <a:rPr lang="en-US" sz="1600" b="1">
                <a:solidFill>
                  <a:srgbClr val="FF0066"/>
                </a:solidFill>
                <a:latin typeface="Tahoma" panose="020B0604030504040204" pitchFamily="34" charset="0"/>
              </a:rPr>
              <a:t> BECAUSE </a:t>
            </a:r>
          </a:p>
          <a:p>
            <a:pPr algn="ctr"/>
            <a:r>
              <a:rPr lang="en-US" sz="1600" b="1">
                <a:solidFill>
                  <a:srgbClr val="FF0066"/>
                </a:solidFill>
                <a:latin typeface="Tahoma" panose="020B0604030504040204" pitchFamily="34" charset="0"/>
              </a:rPr>
              <a:t>THESE CURVES APPEAR ON THE SURFACE OF A CONE </a:t>
            </a:r>
          </a:p>
          <a:p>
            <a:pPr algn="ctr"/>
            <a:r>
              <a:rPr lang="en-US" sz="1600" b="1">
                <a:solidFill>
                  <a:srgbClr val="FF0066"/>
                </a:solidFill>
                <a:latin typeface="Tahoma" panose="020B0604030504040204" pitchFamily="34" charset="0"/>
              </a:rPr>
              <a:t>WHEN IT IS CUT BY SOME TYPICAL CUTTING PLANES.</a:t>
            </a:r>
          </a:p>
        </p:txBody>
      </p:sp>
      <p:grpSp>
        <p:nvGrpSpPr>
          <p:cNvPr id="4099" name="Group 3"/>
          <p:cNvGrpSpPr>
            <a:grpSpLocks/>
          </p:cNvGrpSpPr>
          <p:nvPr/>
        </p:nvGrpSpPr>
        <p:grpSpPr bwMode="auto">
          <a:xfrm>
            <a:off x="1830388" y="2659063"/>
            <a:ext cx="1289050" cy="1368425"/>
            <a:chOff x="1201" y="1356"/>
            <a:chExt cx="812" cy="862"/>
          </a:xfrm>
        </p:grpSpPr>
        <p:sp>
          <p:nvSpPr>
            <p:cNvPr id="3110" name="Oval 4"/>
            <p:cNvSpPr>
              <a:spLocks noChangeArrowheads="1"/>
            </p:cNvSpPr>
            <p:nvPr/>
          </p:nvSpPr>
          <p:spPr bwMode="auto">
            <a:xfrm>
              <a:off x="1201" y="1974"/>
              <a:ext cx="796" cy="2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111" name="Oval 5"/>
            <p:cNvSpPr>
              <a:spLocks noChangeArrowheads="1"/>
            </p:cNvSpPr>
            <p:nvPr/>
          </p:nvSpPr>
          <p:spPr bwMode="auto">
            <a:xfrm rot="2655357">
              <a:off x="1441" y="1356"/>
              <a:ext cx="172" cy="542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112" name="Line 6"/>
            <p:cNvSpPr>
              <a:spLocks noChangeShapeType="1"/>
            </p:cNvSpPr>
            <p:nvPr/>
          </p:nvSpPr>
          <p:spPr bwMode="auto">
            <a:xfrm>
              <a:off x="1740" y="1469"/>
              <a:ext cx="273" cy="6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3" name="Line 7"/>
            <p:cNvSpPr>
              <a:spLocks noChangeShapeType="1"/>
            </p:cNvSpPr>
            <p:nvPr/>
          </p:nvSpPr>
          <p:spPr bwMode="auto">
            <a:xfrm flipH="1">
              <a:off x="1214" y="1748"/>
              <a:ext cx="126" cy="3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4" name="Oval 8"/>
            <p:cNvSpPr>
              <a:spLocks noChangeArrowheads="1"/>
            </p:cNvSpPr>
            <p:nvPr/>
          </p:nvSpPr>
          <p:spPr bwMode="auto">
            <a:xfrm>
              <a:off x="1216" y="1966"/>
              <a:ext cx="768" cy="20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115" name="Line 9"/>
            <p:cNvSpPr>
              <a:spLocks noChangeShapeType="1"/>
            </p:cNvSpPr>
            <p:nvPr/>
          </p:nvSpPr>
          <p:spPr bwMode="auto">
            <a:xfrm flipH="1">
              <a:off x="1201" y="1798"/>
              <a:ext cx="126" cy="3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152400" y="3992563"/>
            <a:ext cx="2016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Section Plane</a:t>
            </a:r>
          </a:p>
          <a:p>
            <a:pPr algn="ctr">
              <a:defRPr/>
            </a:pPr>
            <a:r>
              <a:rPr lang="en-US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Through Generators</a:t>
            </a:r>
          </a:p>
        </p:txBody>
      </p:sp>
      <p:sp>
        <p:nvSpPr>
          <p:cNvPr id="4107" name="Text Box 11"/>
          <p:cNvSpPr txBox="1">
            <a:spLocks noChangeArrowheads="1"/>
          </p:cNvSpPr>
          <p:nvPr/>
        </p:nvSpPr>
        <p:spPr bwMode="auto">
          <a:xfrm>
            <a:off x="3200400" y="3021013"/>
            <a:ext cx="77787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Ellipse</a:t>
            </a:r>
          </a:p>
        </p:txBody>
      </p:sp>
      <p:sp>
        <p:nvSpPr>
          <p:cNvPr id="4108" name="Line 12"/>
          <p:cNvSpPr>
            <a:spLocks noChangeShapeType="1"/>
          </p:cNvSpPr>
          <p:nvPr/>
        </p:nvSpPr>
        <p:spPr bwMode="auto">
          <a:xfrm flipH="1" flipV="1">
            <a:off x="2482850" y="3203575"/>
            <a:ext cx="946150" cy="293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09" name="Object 13"/>
          <p:cNvGraphicFramePr>
            <a:graphicFrameLocks noChangeAspect="1"/>
          </p:cNvGraphicFramePr>
          <p:nvPr/>
        </p:nvGraphicFramePr>
        <p:xfrm>
          <a:off x="4598988" y="4059238"/>
          <a:ext cx="1420812" cy="1951037"/>
        </p:xfrm>
        <a:graphic>
          <a:graphicData uri="http://schemas.openxmlformats.org/presentationml/2006/ole">
            <p:oleObj spid="_x0000_s138262" name="Bitmap Image" r:id="rId3" imgW="638264" imgH="876190" progId="PBrush">
              <p:embed/>
            </p:oleObj>
          </a:graphicData>
        </a:graphic>
      </p:graphicFrame>
      <p:sp>
        <p:nvSpPr>
          <p:cNvPr id="4110" name="AutoShape 14"/>
          <p:cNvSpPr>
            <a:spLocks noChangeArrowheads="1"/>
          </p:cNvSpPr>
          <p:nvPr/>
        </p:nvSpPr>
        <p:spPr bwMode="auto">
          <a:xfrm>
            <a:off x="3278188" y="3948113"/>
            <a:ext cx="1430337" cy="186848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111" name="Line 15"/>
          <p:cNvSpPr>
            <a:spLocks noChangeShapeType="1"/>
          </p:cNvSpPr>
          <p:nvPr/>
        </p:nvSpPr>
        <p:spPr bwMode="auto">
          <a:xfrm flipH="1">
            <a:off x="3594100" y="4154488"/>
            <a:ext cx="592138" cy="18415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2967038" y="5934075"/>
            <a:ext cx="2222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Section Plane Parallel </a:t>
            </a:r>
          </a:p>
          <a:p>
            <a:pPr algn="ctr">
              <a:defRPr/>
            </a:pPr>
            <a:r>
              <a:rPr lang="en-US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to end generator.</a:t>
            </a:r>
          </a:p>
        </p:txBody>
      </p:sp>
      <p:sp>
        <p:nvSpPr>
          <p:cNvPr id="4113" name="Text Box 17"/>
          <p:cNvSpPr txBox="1">
            <a:spLocks noChangeArrowheads="1"/>
          </p:cNvSpPr>
          <p:nvPr/>
        </p:nvSpPr>
        <p:spPr bwMode="auto">
          <a:xfrm rot="-3954753">
            <a:off x="4249737" y="4275138"/>
            <a:ext cx="993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Parabola</a:t>
            </a:r>
          </a:p>
        </p:txBody>
      </p:sp>
      <p:sp>
        <p:nvSpPr>
          <p:cNvPr id="4114" name="Line 18"/>
          <p:cNvSpPr>
            <a:spLocks noChangeShapeType="1"/>
          </p:cNvSpPr>
          <p:nvPr/>
        </p:nvSpPr>
        <p:spPr bwMode="auto">
          <a:xfrm>
            <a:off x="4419600" y="4724400"/>
            <a:ext cx="509588" cy="515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15" name="Group 19"/>
          <p:cNvGrpSpPr>
            <a:grpSpLocks/>
          </p:cNvGrpSpPr>
          <p:nvPr/>
        </p:nvGrpSpPr>
        <p:grpSpPr bwMode="auto">
          <a:xfrm>
            <a:off x="7448550" y="2197100"/>
            <a:ext cx="1466850" cy="2108200"/>
            <a:chOff x="5075" y="1056"/>
            <a:chExt cx="685" cy="984"/>
          </a:xfrm>
        </p:grpSpPr>
        <p:graphicFrame>
          <p:nvGraphicFramePr>
            <p:cNvPr id="3108" name="Object 20"/>
            <p:cNvGraphicFramePr>
              <a:graphicFrameLocks noChangeAspect="1"/>
            </p:cNvGraphicFramePr>
            <p:nvPr/>
          </p:nvGraphicFramePr>
          <p:xfrm>
            <a:off x="5075" y="1056"/>
            <a:ext cx="685" cy="984"/>
          </p:xfrm>
          <a:graphic>
            <a:graphicData uri="http://schemas.openxmlformats.org/presentationml/2006/ole">
              <p:oleObj spid="_x0000_s138263" name="Bitmap Image" r:id="rId4" imgW="609524" imgH="876190" progId="PBrush">
                <p:embed/>
              </p:oleObj>
            </a:graphicData>
          </a:graphic>
        </p:graphicFrame>
        <p:sp>
          <p:nvSpPr>
            <p:cNvPr id="3109" name="Line 21"/>
            <p:cNvSpPr>
              <a:spLocks noChangeShapeType="1"/>
            </p:cNvSpPr>
            <p:nvPr/>
          </p:nvSpPr>
          <p:spPr bwMode="auto">
            <a:xfrm rot="117133">
              <a:off x="5136" y="1956"/>
              <a:ext cx="528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18" name="Group 22"/>
          <p:cNvGrpSpPr>
            <a:grpSpLocks/>
          </p:cNvGrpSpPr>
          <p:nvPr/>
        </p:nvGrpSpPr>
        <p:grpSpPr bwMode="auto">
          <a:xfrm>
            <a:off x="6096000" y="2347913"/>
            <a:ext cx="1336675" cy="1749425"/>
            <a:chOff x="4224" y="1632"/>
            <a:chExt cx="624" cy="816"/>
          </a:xfrm>
        </p:grpSpPr>
        <p:sp>
          <p:nvSpPr>
            <p:cNvPr id="3106" name="AutoShape 23"/>
            <p:cNvSpPr>
              <a:spLocks noChangeArrowheads="1"/>
            </p:cNvSpPr>
            <p:nvPr/>
          </p:nvSpPr>
          <p:spPr bwMode="auto">
            <a:xfrm>
              <a:off x="4224" y="1632"/>
              <a:ext cx="624" cy="81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107" name="Line 24"/>
            <p:cNvSpPr>
              <a:spLocks noChangeShapeType="1"/>
            </p:cNvSpPr>
            <p:nvPr/>
          </p:nvSpPr>
          <p:spPr bwMode="auto">
            <a:xfrm>
              <a:off x="4536" y="1632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21" name="Text Box 25"/>
          <p:cNvSpPr txBox="1">
            <a:spLocks noChangeArrowheads="1"/>
          </p:cNvSpPr>
          <p:nvPr/>
        </p:nvSpPr>
        <p:spPr bwMode="auto">
          <a:xfrm>
            <a:off x="5870575" y="4067175"/>
            <a:ext cx="15827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Section Plane </a:t>
            </a:r>
          </a:p>
          <a:p>
            <a:pPr algn="ctr">
              <a:defRPr/>
            </a:pPr>
            <a:r>
              <a:rPr lang="en-US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Parallel to Axis.</a:t>
            </a:r>
          </a:p>
        </p:txBody>
      </p:sp>
      <p:sp>
        <p:nvSpPr>
          <p:cNvPr id="4122" name="Text Box 26"/>
          <p:cNvSpPr txBox="1">
            <a:spLocks noChangeArrowheads="1"/>
          </p:cNvSpPr>
          <p:nvPr/>
        </p:nvSpPr>
        <p:spPr bwMode="auto">
          <a:xfrm>
            <a:off x="7726363" y="4183063"/>
            <a:ext cx="11096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>
                <a:effectLst>
                  <a:outerShdw blurRad="38100" dist="38100" dir="2700000" algn="tl">
                    <a:srgbClr val="C0C0C0"/>
                  </a:outerShdw>
                </a:effectLst>
              </a:rPr>
              <a:t>Hyperbola</a:t>
            </a:r>
          </a:p>
        </p:txBody>
      </p:sp>
      <p:sp>
        <p:nvSpPr>
          <p:cNvPr id="4123" name="Line 27"/>
          <p:cNvSpPr>
            <a:spLocks noChangeShapeType="1"/>
          </p:cNvSpPr>
          <p:nvPr/>
        </p:nvSpPr>
        <p:spPr bwMode="auto">
          <a:xfrm flipV="1">
            <a:off x="7605713" y="3919538"/>
            <a:ext cx="204787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4" name="Line 28"/>
          <p:cNvSpPr>
            <a:spLocks noChangeShapeType="1"/>
          </p:cNvSpPr>
          <p:nvPr/>
        </p:nvSpPr>
        <p:spPr bwMode="auto">
          <a:xfrm>
            <a:off x="6551613" y="2403475"/>
            <a:ext cx="25400" cy="1851025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25" name="Group 29"/>
          <p:cNvGrpSpPr>
            <a:grpSpLocks/>
          </p:cNvGrpSpPr>
          <p:nvPr/>
        </p:nvGrpSpPr>
        <p:grpSpPr bwMode="auto">
          <a:xfrm>
            <a:off x="427038" y="2259013"/>
            <a:ext cx="1303337" cy="1752600"/>
            <a:chOff x="317" y="1104"/>
            <a:chExt cx="821" cy="1104"/>
          </a:xfrm>
        </p:grpSpPr>
        <p:sp>
          <p:nvSpPr>
            <p:cNvPr id="3104" name="AutoShape 30"/>
            <p:cNvSpPr>
              <a:spLocks noChangeArrowheads="1"/>
            </p:cNvSpPr>
            <p:nvPr/>
          </p:nvSpPr>
          <p:spPr bwMode="auto">
            <a:xfrm>
              <a:off x="317" y="1104"/>
              <a:ext cx="821" cy="107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105" name="Line 31"/>
            <p:cNvSpPr>
              <a:spLocks noChangeShapeType="1"/>
            </p:cNvSpPr>
            <p:nvPr/>
          </p:nvSpPr>
          <p:spPr bwMode="auto">
            <a:xfrm>
              <a:off x="728" y="1104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28" name="Line 32"/>
          <p:cNvSpPr>
            <a:spLocks noChangeShapeType="1"/>
          </p:cNvSpPr>
          <p:nvPr/>
        </p:nvSpPr>
        <p:spPr bwMode="auto">
          <a:xfrm>
            <a:off x="3994150" y="39116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9" name="Line 33"/>
          <p:cNvSpPr>
            <a:spLocks noChangeShapeType="1"/>
          </p:cNvSpPr>
          <p:nvPr/>
        </p:nvSpPr>
        <p:spPr bwMode="auto">
          <a:xfrm flipH="1">
            <a:off x="227013" y="2659063"/>
            <a:ext cx="1403350" cy="1101725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94" name="Group 34"/>
          <p:cNvGrpSpPr>
            <a:grpSpLocks/>
          </p:cNvGrpSpPr>
          <p:nvPr/>
        </p:nvGrpSpPr>
        <p:grpSpPr bwMode="auto">
          <a:xfrm>
            <a:off x="3479800" y="1600200"/>
            <a:ext cx="2082800" cy="990600"/>
            <a:chOff x="2208" y="1104"/>
            <a:chExt cx="1312" cy="624"/>
          </a:xfrm>
        </p:grpSpPr>
        <p:sp>
          <p:nvSpPr>
            <p:cNvPr id="3102" name="Oval 35"/>
            <p:cNvSpPr>
              <a:spLocks noChangeArrowheads="1"/>
            </p:cNvSpPr>
            <p:nvPr/>
          </p:nvSpPr>
          <p:spPr bwMode="auto">
            <a:xfrm>
              <a:off x="2208" y="1104"/>
              <a:ext cx="1296" cy="624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103" name="Text Box 36"/>
            <p:cNvSpPr txBox="1">
              <a:spLocks noChangeArrowheads="1"/>
            </p:cNvSpPr>
            <p:nvPr/>
          </p:nvSpPr>
          <p:spPr bwMode="auto">
            <a:xfrm>
              <a:off x="2245" y="1140"/>
              <a:ext cx="1275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600">
                  <a:latin typeface="Arial Black" panose="020B0A04020102020204" pitchFamily="34" charset="0"/>
                </a:rPr>
                <a:t>OBSERVE </a:t>
              </a:r>
            </a:p>
            <a:p>
              <a:pPr algn="ctr"/>
              <a:r>
                <a:rPr lang="en-US" sz="1600">
                  <a:latin typeface="Arial Black" panose="020B0A04020102020204" pitchFamily="34" charset="0"/>
                </a:rPr>
                <a:t>ILLUSTRATIONS</a:t>
              </a:r>
            </a:p>
            <a:p>
              <a:pPr algn="ctr"/>
              <a:r>
                <a:rPr lang="en-US" sz="1600">
                  <a:latin typeface="Arial Black" panose="020B0A04020102020204" pitchFamily="34" charset="0"/>
                </a:rPr>
                <a:t>GIVEN BELOW..</a:t>
              </a:r>
            </a:p>
          </p:txBody>
        </p:sp>
      </p:grpSp>
      <p:grpSp>
        <p:nvGrpSpPr>
          <p:cNvPr id="3095" name="Group 37"/>
          <p:cNvGrpSpPr>
            <a:grpSpLocks/>
          </p:cNvGrpSpPr>
          <p:nvPr/>
        </p:nvGrpSpPr>
        <p:grpSpPr bwMode="auto">
          <a:xfrm>
            <a:off x="8016875" y="46038"/>
            <a:ext cx="1096963" cy="182562"/>
            <a:chOff x="5050" y="29"/>
            <a:chExt cx="691" cy="115"/>
          </a:xfrm>
        </p:grpSpPr>
        <p:sp>
          <p:nvSpPr>
            <p:cNvPr id="3096" name="AutoShape 38">
              <a:hlinkClick r:id="rId5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097" name="AutoShape 39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098" name="AutoShape 40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099" name="AutoShape 41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100" name="AutoShape 42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3101" name="AutoShape 43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13711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1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00" fill="hold"/>
                                        <p:tgtEl>
                                          <p:spTgt spid="4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300" fill="hold"/>
                                        <p:tgtEl>
                                          <p:spTgt spid="4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" grpId="0" autoUpdateAnimBg="0"/>
      <p:bldP spid="4107" grpId="0" autoUpdateAnimBg="0"/>
      <p:bldP spid="4108" grpId="0" animBg="1"/>
      <p:bldP spid="4110" grpId="0" animBg="1"/>
      <p:bldP spid="4111" grpId="0" animBg="1"/>
      <p:bldP spid="4112" grpId="0" autoUpdateAnimBg="0"/>
      <p:bldP spid="4113" grpId="0" autoUpdateAnimBg="0"/>
      <p:bldP spid="4114" grpId="0" animBg="1"/>
      <p:bldP spid="4121" grpId="0" autoUpdateAnimBg="0"/>
      <p:bldP spid="4122" grpId="0" autoUpdateAnimBg="0"/>
      <p:bldP spid="4123" grpId="0" animBg="1"/>
      <p:bldP spid="4124" grpId="0" animBg="1"/>
      <p:bldP spid="4128" grpId="0" animBg="1"/>
      <p:bldP spid="41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228600" y="228600"/>
            <a:ext cx="8686800" cy="61722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SG" sz="1400">
              <a:latin typeface="Times New Roman" panose="02020603050405020304" pitchFamily="18" charset="0"/>
            </a:endParaRP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1965149" y="381000"/>
            <a:ext cx="492795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32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ENGINEERING CURVES</a:t>
            </a:r>
          </a:p>
          <a:p>
            <a:pPr algn="ctr"/>
            <a:r>
              <a:rPr lang="en-US" sz="2400" b="1" dirty="0" smtClean="0">
                <a:latin typeface="Times New Roman" panose="02020603050405020304" pitchFamily="18" charset="0"/>
              </a:rPr>
              <a:t>{Conic </a:t>
            </a:r>
            <a:r>
              <a:rPr lang="en-US" sz="2400" b="1" dirty="0">
                <a:latin typeface="Times New Roman" panose="02020603050405020304" pitchFamily="18" charset="0"/>
              </a:rPr>
              <a:t>Sections}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533400" y="1743075"/>
            <a:ext cx="2328863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 u="sng">
                <a:solidFill>
                  <a:srgbClr val="CC00FF"/>
                </a:solidFill>
                <a:latin typeface="Times New Roman" panose="02020603050405020304" pitchFamily="18" charset="0"/>
              </a:rPr>
              <a:t>ELLIPSE   </a:t>
            </a:r>
            <a:r>
              <a:rPr lang="en-US" sz="1600" b="1">
                <a:solidFill>
                  <a:srgbClr val="CC00FF"/>
                </a:solidFill>
                <a:latin typeface="Times New Roman" panose="02020603050405020304" pitchFamily="18" charset="0"/>
              </a:rPr>
              <a:t>  </a:t>
            </a:r>
          </a:p>
          <a:p>
            <a:endParaRPr lang="en-US" sz="1600" b="1">
              <a:solidFill>
                <a:srgbClr val="CC00FF"/>
              </a:solidFill>
              <a:latin typeface="Times New Roman" panose="02020603050405020304" pitchFamily="18" charset="0"/>
            </a:endParaRPr>
          </a:p>
          <a:p>
            <a:r>
              <a:rPr lang="en-US" sz="1600" b="1">
                <a:solidFill>
                  <a:srgbClr val="CC00FF"/>
                </a:solidFill>
                <a:latin typeface="Times New Roman" panose="02020603050405020304" pitchFamily="18" charset="0"/>
              </a:rPr>
              <a:t>1. Basic Locus Method</a:t>
            </a:r>
          </a:p>
          <a:p>
            <a:r>
              <a:rPr lang="en-US" sz="1600" b="1">
                <a:solidFill>
                  <a:srgbClr val="FF0066"/>
                </a:solidFill>
                <a:latin typeface="Times New Roman" panose="02020603050405020304" pitchFamily="18" charset="0"/>
              </a:rPr>
              <a:t>   (Directrix – focus)</a:t>
            </a:r>
          </a:p>
          <a:p>
            <a:endParaRPr lang="en-US" sz="16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r>
              <a:rPr lang="en-US" sz="1600" b="1">
                <a:solidFill>
                  <a:srgbClr val="CC00FF"/>
                </a:solidFill>
                <a:latin typeface="Times New Roman" panose="02020603050405020304" pitchFamily="18" charset="0"/>
              </a:rPr>
              <a:t>2. Arcs of Circle Method</a:t>
            </a:r>
          </a:p>
          <a:p>
            <a:endParaRPr lang="en-US" sz="1600" b="1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5791200" y="1743075"/>
            <a:ext cx="2457450" cy="206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 u="sng">
                <a:solidFill>
                  <a:srgbClr val="0000FF"/>
                </a:solidFill>
                <a:latin typeface="Times New Roman" panose="02020603050405020304" pitchFamily="18" charset="0"/>
              </a:rPr>
              <a:t>HYPERBOLA</a:t>
            </a:r>
          </a:p>
          <a:p>
            <a:endParaRPr lang="en-US" sz="16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US" sz="1600" b="1">
                <a:solidFill>
                  <a:srgbClr val="0000FF"/>
                </a:solidFill>
                <a:latin typeface="Times New Roman" panose="02020603050405020304" pitchFamily="18" charset="0"/>
              </a:rPr>
              <a:t>1. Basic Locus Method</a:t>
            </a:r>
          </a:p>
          <a:p>
            <a:r>
              <a:rPr lang="en-US" sz="1600" b="1">
                <a:solidFill>
                  <a:srgbClr val="0000FF"/>
                </a:solidFill>
                <a:latin typeface="Times New Roman" panose="02020603050405020304" pitchFamily="18" charset="0"/>
              </a:rPr>
              <a:t>   </a:t>
            </a:r>
            <a:r>
              <a:rPr lang="en-US" sz="1600" b="1">
                <a:solidFill>
                  <a:srgbClr val="FF0066"/>
                </a:solidFill>
                <a:latin typeface="Times New Roman" panose="02020603050405020304" pitchFamily="18" charset="0"/>
              </a:rPr>
              <a:t>(Directrix – focus)</a:t>
            </a:r>
          </a:p>
          <a:p>
            <a:endParaRPr lang="en-US" sz="16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r>
              <a:rPr lang="en-US" sz="1600" b="1">
                <a:solidFill>
                  <a:srgbClr val="0000FF"/>
                </a:solidFill>
                <a:latin typeface="Times New Roman" panose="02020603050405020304" pitchFamily="18" charset="0"/>
              </a:rPr>
              <a:t>2. Rectangular Hyperbola</a:t>
            </a:r>
          </a:p>
          <a:p>
            <a:r>
              <a:rPr lang="en-US" sz="1600" b="1">
                <a:solidFill>
                  <a:srgbClr val="0000FF"/>
                </a:solidFill>
                <a:latin typeface="Times New Roman" panose="02020603050405020304" pitchFamily="18" charset="0"/>
              </a:rPr>
              <a:t>   (coordinates given)</a:t>
            </a:r>
          </a:p>
          <a:p>
            <a:endParaRPr lang="en-US" sz="1600" b="1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3276600" y="1704975"/>
            <a:ext cx="2168525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 u="sng">
                <a:solidFill>
                  <a:srgbClr val="FF0066"/>
                </a:solidFill>
                <a:latin typeface="Times New Roman" panose="02020603050405020304" pitchFamily="18" charset="0"/>
              </a:rPr>
              <a:t>PARABOLA</a:t>
            </a:r>
          </a:p>
          <a:p>
            <a:endParaRPr lang="en-US" sz="16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r>
              <a:rPr lang="en-US" sz="1600" b="1">
                <a:solidFill>
                  <a:srgbClr val="FF0066"/>
                </a:solidFill>
                <a:latin typeface="Times New Roman" panose="02020603050405020304" pitchFamily="18" charset="0"/>
              </a:rPr>
              <a:t>1. Basic Locus Method</a:t>
            </a:r>
          </a:p>
          <a:p>
            <a:r>
              <a:rPr lang="en-US" sz="1600" b="1">
                <a:solidFill>
                  <a:srgbClr val="FF0066"/>
                </a:solidFill>
                <a:latin typeface="Times New Roman" panose="02020603050405020304" pitchFamily="18" charset="0"/>
              </a:rPr>
              <a:t>   (Directrix – focus)</a:t>
            </a:r>
          </a:p>
          <a:p>
            <a:endParaRPr lang="en-US" sz="16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r>
              <a:rPr lang="en-US" sz="1600" b="1">
                <a:solidFill>
                  <a:srgbClr val="FF0066"/>
                </a:solidFill>
                <a:latin typeface="Times New Roman" panose="02020603050405020304" pitchFamily="18" charset="0"/>
              </a:rPr>
              <a:t>2. Rectangle Method</a:t>
            </a:r>
          </a:p>
          <a:p>
            <a:endParaRPr lang="en-US" sz="1600" b="1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055" name="Group 7"/>
          <p:cNvGrpSpPr>
            <a:grpSpLocks/>
          </p:cNvGrpSpPr>
          <p:nvPr/>
        </p:nvGrpSpPr>
        <p:grpSpPr bwMode="auto">
          <a:xfrm>
            <a:off x="5638800" y="4572000"/>
            <a:ext cx="2286000" cy="1143000"/>
            <a:chOff x="3552" y="2880"/>
            <a:chExt cx="1440" cy="720"/>
          </a:xfrm>
        </p:grpSpPr>
        <p:sp>
          <p:nvSpPr>
            <p:cNvPr id="2063" name="Oval 8"/>
            <p:cNvSpPr>
              <a:spLocks noChangeArrowheads="1"/>
            </p:cNvSpPr>
            <p:nvPr/>
          </p:nvSpPr>
          <p:spPr bwMode="auto">
            <a:xfrm>
              <a:off x="3552" y="2880"/>
              <a:ext cx="1440" cy="72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2064" name="Text Box 9"/>
            <p:cNvSpPr txBox="1">
              <a:spLocks noChangeArrowheads="1"/>
            </p:cNvSpPr>
            <p:nvPr/>
          </p:nvSpPr>
          <p:spPr bwMode="auto">
            <a:xfrm>
              <a:off x="3666" y="2970"/>
              <a:ext cx="1262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16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Methods of Drawing</a:t>
              </a:r>
            </a:p>
            <a:p>
              <a:pPr algn="ctr"/>
              <a:r>
                <a:rPr lang="en-US" sz="16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Tangents &amp; Normals</a:t>
              </a:r>
            </a:p>
            <a:p>
              <a:pPr algn="ctr"/>
              <a:r>
                <a:rPr lang="en-US" sz="16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To These Curves.</a:t>
              </a:r>
            </a:p>
          </p:txBody>
        </p:sp>
      </p:grpSp>
      <p:grpSp>
        <p:nvGrpSpPr>
          <p:cNvPr id="2056" name="Group 10"/>
          <p:cNvGrpSpPr>
            <a:grpSpLocks/>
          </p:cNvGrpSpPr>
          <p:nvPr/>
        </p:nvGrpSpPr>
        <p:grpSpPr bwMode="auto">
          <a:xfrm>
            <a:off x="8016875" y="46038"/>
            <a:ext cx="1096963" cy="182562"/>
            <a:chOff x="5050" y="29"/>
            <a:chExt cx="691" cy="115"/>
          </a:xfrm>
        </p:grpSpPr>
        <p:sp>
          <p:nvSpPr>
            <p:cNvPr id="2057" name="AutoShape 11">
              <a:hlinkClick r:id="rId2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2058" name="AutoShape 12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2059" name="AutoShape 13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2060" name="AutoShape 14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2061" name="AutoShape 15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2062" name="AutoShape 16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896829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228600"/>
            <a:ext cx="9144000" cy="5715000"/>
            <a:chOff x="0" y="144"/>
            <a:chExt cx="5760" cy="3600"/>
          </a:xfrm>
        </p:grpSpPr>
        <p:sp>
          <p:nvSpPr>
            <p:cNvPr id="4107" name="Rectangle 3"/>
            <p:cNvSpPr>
              <a:spLocks noChangeArrowheads="1"/>
            </p:cNvSpPr>
            <p:nvPr/>
          </p:nvSpPr>
          <p:spPr bwMode="auto">
            <a:xfrm>
              <a:off x="0" y="2304"/>
              <a:ext cx="5760" cy="14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08" name="AutoShape 4"/>
            <p:cNvSpPr>
              <a:spLocks noChangeArrowheads="1"/>
            </p:cNvSpPr>
            <p:nvPr/>
          </p:nvSpPr>
          <p:spPr bwMode="auto">
            <a:xfrm>
              <a:off x="12" y="144"/>
              <a:ext cx="5712" cy="1728"/>
            </a:xfrm>
            <a:custGeom>
              <a:avLst/>
              <a:gdLst>
                <a:gd name="T0" fmla="*/ 5232 w 21600"/>
                <a:gd name="T1" fmla="*/ 864 h 21600"/>
                <a:gd name="T2" fmla="*/ 2856 w 21600"/>
                <a:gd name="T3" fmla="*/ 1728 h 21600"/>
                <a:gd name="T4" fmla="*/ 480 w 21600"/>
                <a:gd name="T5" fmla="*/ 864 h 21600"/>
                <a:gd name="T6" fmla="*/ 285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615 w 21600"/>
                <a:gd name="T13" fmla="*/ 3613 h 21600"/>
                <a:gd name="T14" fmla="*/ 17985 w 21600"/>
                <a:gd name="T15" fmla="*/ 1798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630" y="21600"/>
                  </a:lnTo>
                  <a:lnTo>
                    <a:pt x="1797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9" name="Text Box 5"/>
            <p:cNvSpPr txBox="1">
              <a:spLocks noChangeArrowheads="1"/>
            </p:cNvSpPr>
            <p:nvPr/>
          </p:nvSpPr>
          <p:spPr bwMode="auto">
            <a:xfrm>
              <a:off x="245" y="175"/>
              <a:ext cx="5299" cy="1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US" sz="200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pPr algn="ctr"/>
              <a:r>
                <a:rPr lang="en-US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These are the loci of points moving in a plane such that the ratio of it’s distances </a:t>
              </a:r>
            </a:p>
            <a:p>
              <a:pPr algn="ctr"/>
              <a:r>
                <a:rPr lang="en-US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from a </a:t>
              </a:r>
              <a:r>
                <a:rPr lang="en-US" sz="20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fixed point</a:t>
              </a:r>
              <a:r>
                <a:rPr lang="en-US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And a </a:t>
              </a:r>
              <a:r>
                <a:rPr lang="en-US" sz="2000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fixed line</a:t>
              </a:r>
              <a:r>
                <a:rPr lang="en-US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always remains constant.</a:t>
              </a:r>
            </a:p>
            <a:p>
              <a:pPr algn="ctr"/>
              <a:r>
                <a:rPr lang="en-US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The Ratio is called </a:t>
              </a:r>
              <a:r>
                <a:rPr lang="en-US" sz="2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ECCENTRICITY. (E)</a:t>
              </a:r>
            </a:p>
            <a:p>
              <a:pPr algn="ctr">
                <a:buFontTx/>
                <a:buAutoNum type="alphaUcParenR"/>
              </a:pPr>
              <a:r>
                <a:rPr lang="en-US" sz="2000" b="1">
                  <a:latin typeface="Times New Roman" panose="02020603050405020304" pitchFamily="18" charset="0"/>
                </a:rPr>
                <a:t>For Ellipse        E&lt;1 </a:t>
              </a:r>
            </a:p>
            <a:p>
              <a:pPr algn="ctr">
                <a:buFontTx/>
                <a:buAutoNum type="alphaUcParenR"/>
              </a:pPr>
              <a:r>
                <a:rPr lang="en-US" sz="2000" b="1">
                  <a:latin typeface="Times New Roman" panose="02020603050405020304" pitchFamily="18" charset="0"/>
                </a:rPr>
                <a:t>For Parabola    E=1</a:t>
              </a:r>
            </a:p>
            <a:p>
              <a:pPr algn="ctr">
                <a:buFontTx/>
                <a:buAutoNum type="alphaUcParenR"/>
              </a:pPr>
              <a:r>
                <a:rPr lang="en-US" sz="2000" b="1">
                  <a:latin typeface="Times New Roman" panose="02020603050405020304" pitchFamily="18" charset="0"/>
                </a:rPr>
                <a:t>For Hyperbola E&gt;1</a:t>
              </a:r>
            </a:p>
          </p:txBody>
        </p:sp>
        <p:sp>
          <p:nvSpPr>
            <p:cNvPr id="4110" name="Text Box 6"/>
            <p:cNvSpPr txBox="1">
              <a:spLocks noChangeArrowheads="1"/>
            </p:cNvSpPr>
            <p:nvPr/>
          </p:nvSpPr>
          <p:spPr bwMode="auto">
            <a:xfrm>
              <a:off x="439" y="2273"/>
              <a:ext cx="4715" cy="1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SECOND DEFINATION OF AN ELLIPSE</a:t>
              </a:r>
              <a:r>
                <a:rPr lang="en-US">
                  <a:latin typeface="Times New Roman" panose="02020603050405020304" pitchFamily="18" charset="0"/>
                </a:rPr>
                <a:t>:-</a:t>
              </a:r>
            </a:p>
            <a:p>
              <a:pPr algn="ctr"/>
              <a:r>
                <a:rPr lang="en-US" sz="2400">
                  <a:latin typeface="Times New Roman" panose="02020603050405020304" pitchFamily="18" charset="0"/>
                </a:rPr>
                <a:t>It is a locus of a point moving in a plane </a:t>
              </a:r>
            </a:p>
            <a:p>
              <a:pPr algn="ctr"/>
              <a:r>
                <a:rPr lang="en-US" sz="2400">
                  <a:latin typeface="Times New Roman" panose="02020603050405020304" pitchFamily="18" charset="0"/>
                </a:rPr>
                <a:t>such that the SUM of it’s distances from TWO fixed points </a:t>
              </a:r>
            </a:p>
            <a:p>
              <a:pPr algn="ctr"/>
              <a:r>
                <a:rPr lang="en-US" sz="2400">
                  <a:latin typeface="Times New Roman" panose="02020603050405020304" pitchFamily="18" charset="0"/>
                </a:rPr>
                <a:t>always remains constant. </a:t>
              </a:r>
            </a:p>
            <a:p>
              <a:pPr algn="ctr"/>
              <a:r>
                <a:rPr lang="en-US" sz="2400">
                  <a:latin typeface="Times New Roman" panose="02020603050405020304" pitchFamily="18" charset="0"/>
                </a:rPr>
                <a:t>{And this </a:t>
              </a:r>
              <a:r>
                <a:rPr lang="en-US" sz="2400" b="1" i="1">
                  <a:latin typeface="Times New Roman" panose="02020603050405020304" pitchFamily="18" charset="0"/>
                </a:rPr>
                <a:t>sum equals</a:t>
              </a:r>
              <a:r>
                <a:rPr lang="en-US" sz="2400">
                  <a:latin typeface="Times New Roman" panose="02020603050405020304" pitchFamily="18" charset="0"/>
                </a:rPr>
                <a:t> to the length of </a:t>
              </a:r>
              <a:r>
                <a:rPr lang="en-US" sz="2400" b="1" i="1">
                  <a:latin typeface="Times New Roman" panose="02020603050405020304" pitchFamily="18" charset="0"/>
                </a:rPr>
                <a:t>major axis</a:t>
              </a:r>
              <a:r>
                <a:rPr lang="en-US" sz="2400">
                  <a:latin typeface="Times New Roman" panose="02020603050405020304" pitchFamily="18" charset="0"/>
                </a:rPr>
                <a:t>.}</a:t>
              </a:r>
            </a:p>
            <a:p>
              <a:pPr algn="ctr"/>
              <a:r>
                <a:rPr lang="en-US" sz="2400">
                  <a:latin typeface="Times New Roman" panose="02020603050405020304" pitchFamily="18" charset="0"/>
                </a:rPr>
                <a:t>These TWO fixed points are FOCUS 1 &amp; FOCUS 2</a:t>
              </a:r>
            </a:p>
          </p:txBody>
        </p:sp>
      </p:grpSp>
      <p:sp>
        <p:nvSpPr>
          <p:cNvPr id="4099" name="Text Box 12"/>
          <p:cNvSpPr txBox="1">
            <a:spLocks noChangeArrowheads="1"/>
          </p:cNvSpPr>
          <p:nvPr/>
        </p:nvSpPr>
        <p:spPr bwMode="auto">
          <a:xfrm>
            <a:off x="609600" y="212725"/>
            <a:ext cx="8213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b="1">
                <a:solidFill>
                  <a:srgbClr val="FF0066"/>
                </a:solidFill>
                <a:latin typeface="Tahoma" panose="020B0604030504040204" pitchFamily="34" charset="0"/>
              </a:rPr>
              <a:t>COMMON DEFINATION OF ELLIPSE, PARABOLA &amp; HYPERBOLA:</a:t>
            </a:r>
            <a:endParaRPr lang="en-US" sz="1200">
              <a:latin typeface="Times New Roman" panose="02020603050405020304" pitchFamily="18" charset="0"/>
            </a:endParaRPr>
          </a:p>
        </p:txBody>
      </p:sp>
      <p:grpSp>
        <p:nvGrpSpPr>
          <p:cNvPr id="4100" name="Group 13"/>
          <p:cNvGrpSpPr>
            <a:grpSpLocks/>
          </p:cNvGrpSpPr>
          <p:nvPr/>
        </p:nvGrpSpPr>
        <p:grpSpPr bwMode="auto">
          <a:xfrm>
            <a:off x="8016875" y="46038"/>
            <a:ext cx="1096963" cy="182562"/>
            <a:chOff x="5050" y="29"/>
            <a:chExt cx="691" cy="115"/>
          </a:xfrm>
        </p:grpSpPr>
        <p:sp>
          <p:nvSpPr>
            <p:cNvPr id="4101" name="AutoShape 14">
              <a:hlinkClick r:id="rId2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02" name="AutoShape 15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03" name="AutoShape 16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04" name="AutoShape 17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05" name="AutoShape 18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4106" name="AutoShape 19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74567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6586538" y="63500"/>
            <a:ext cx="26336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b="1" u="sng">
                <a:solidFill>
                  <a:schemeClr val="accent2"/>
                </a:solidFill>
                <a:latin typeface="Arial Black" panose="020B0A04020102020204" pitchFamily="34" charset="0"/>
              </a:rPr>
              <a:t>ELLIPSE </a:t>
            </a:r>
          </a:p>
          <a:p>
            <a:pPr algn="ctr"/>
            <a:r>
              <a:rPr lang="en-US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DIRECTRIX-FOCUS METHOD</a:t>
            </a:r>
          </a:p>
        </p:txBody>
      </p:sp>
      <p:grpSp>
        <p:nvGrpSpPr>
          <p:cNvPr id="11267" name="Group 3"/>
          <p:cNvGrpSpPr>
            <a:grpSpLocks/>
          </p:cNvGrpSpPr>
          <p:nvPr/>
        </p:nvGrpSpPr>
        <p:grpSpPr bwMode="auto">
          <a:xfrm>
            <a:off x="-1588" y="38100"/>
            <a:ext cx="6700838" cy="685800"/>
            <a:chOff x="23" y="48"/>
            <a:chExt cx="4221" cy="432"/>
          </a:xfrm>
        </p:grpSpPr>
        <p:sp>
          <p:nvSpPr>
            <p:cNvPr id="5173" name="Rectangle 4"/>
            <p:cNvSpPr>
              <a:spLocks noChangeArrowheads="1"/>
            </p:cNvSpPr>
            <p:nvPr/>
          </p:nvSpPr>
          <p:spPr bwMode="auto">
            <a:xfrm>
              <a:off x="48" y="48"/>
              <a:ext cx="4128" cy="432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5174" name="Text Box 5"/>
            <p:cNvSpPr txBox="1">
              <a:spLocks noChangeArrowheads="1"/>
            </p:cNvSpPr>
            <p:nvPr/>
          </p:nvSpPr>
          <p:spPr bwMode="auto">
            <a:xfrm>
              <a:off x="23" y="48"/>
              <a:ext cx="4221" cy="4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 b="1" i="1">
                  <a:solidFill>
                    <a:srgbClr val="FF0066"/>
                  </a:solidFill>
                  <a:latin typeface="Times New Roman" panose="02020603050405020304" pitchFamily="18" charset="0"/>
                </a:rPr>
                <a:t>PROBLEM 6</a:t>
              </a:r>
              <a:r>
                <a:rPr lang="en-US" sz="1400" b="1" i="1">
                  <a:latin typeface="Times New Roman" panose="02020603050405020304" pitchFamily="18" charset="0"/>
                </a:rPr>
                <a:t>:-</a:t>
              </a:r>
              <a:r>
                <a:rPr lang="en-US" sz="1400">
                  <a:latin typeface="Times New Roman" panose="02020603050405020304" pitchFamily="18" charset="0"/>
                </a:rPr>
                <a:t>  </a:t>
              </a:r>
              <a:r>
                <a:rPr lang="en-US" sz="1200"/>
                <a:t>POINT </a:t>
              </a:r>
              <a:r>
                <a:rPr lang="en-US" sz="1200" b="1"/>
                <a:t>F</a:t>
              </a:r>
              <a:r>
                <a:rPr lang="en-US" sz="1200"/>
                <a:t> IS 50 MM FROM A LINE </a:t>
              </a:r>
              <a:r>
                <a:rPr lang="en-US" sz="1200" b="1"/>
                <a:t>AB.</a:t>
              </a:r>
              <a:r>
                <a:rPr lang="en-US" sz="1200"/>
                <a:t>A POINT</a:t>
              </a:r>
              <a:r>
                <a:rPr lang="en-US" sz="1200" b="1"/>
                <a:t> P </a:t>
              </a:r>
              <a:r>
                <a:rPr lang="en-US" sz="1200"/>
                <a:t>IS MOVING IN A PLANE </a:t>
              </a:r>
            </a:p>
            <a:p>
              <a:r>
                <a:rPr lang="en-US" sz="1200"/>
                <a:t>SUCH THAT THE </a:t>
              </a:r>
              <a:r>
                <a:rPr lang="en-US" sz="1200" b="1" i="1"/>
                <a:t>RATIO</a:t>
              </a:r>
              <a:r>
                <a:rPr lang="en-US" sz="1200"/>
                <a:t> OF IT’S DISTANCES FROM </a:t>
              </a:r>
              <a:r>
                <a:rPr lang="en-US" sz="1200" b="1"/>
                <a:t>F</a:t>
              </a:r>
              <a:r>
                <a:rPr lang="en-US" sz="1200"/>
                <a:t> AND LINE </a:t>
              </a:r>
              <a:r>
                <a:rPr lang="en-US" sz="1200" b="1"/>
                <a:t>AB </a:t>
              </a:r>
              <a:r>
                <a:rPr lang="en-US" sz="1200"/>
                <a:t>REMAINS CONSTANT </a:t>
              </a:r>
            </a:p>
            <a:p>
              <a:r>
                <a:rPr lang="en-US" sz="1200"/>
                <a:t>AND EQUALS TO </a:t>
              </a:r>
              <a:r>
                <a:rPr lang="en-US" sz="1200" b="1"/>
                <a:t>2/3  </a:t>
              </a:r>
              <a:r>
                <a:rPr lang="en-US" sz="1200"/>
                <a:t>DRAW LOCUS OF POINT </a:t>
              </a:r>
              <a:r>
                <a:rPr lang="en-US" sz="1200" b="1"/>
                <a:t>P.</a:t>
              </a:r>
              <a:r>
                <a:rPr lang="en-US" sz="1200" b="1">
                  <a:solidFill>
                    <a:srgbClr val="FF0066"/>
                  </a:solidFill>
                </a:rPr>
                <a:t> { ECCENTRICITY = 2/3 }</a:t>
              </a:r>
            </a:p>
          </p:txBody>
        </p:sp>
      </p:grp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7239000" y="3409950"/>
            <a:ext cx="10731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b="1">
                <a:latin typeface="Times New Roman" panose="02020603050405020304" pitchFamily="18" charset="0"/>
              </a:rPr>
              <a:t>F ( </a:t>
            </a:r>
            <a:r>
              <a:rPr lang="en-US" i="1">
                <a:latin typeface="Times New Roman" panose="02020603050405020304" pitchFamily="18" charset="0"/>
              </a:rPr>
              <a:t>focus</a:t>
            </a:r>
            <a:r>
              <a:rPr lang="en-US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 rot="-5383553">
            <a:off x="3750469" y="2083594"/>
            <a:ext cx="1401762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latin typeface="Times New Roman" panose="02020603050405020304" pitchFamily="18" charset="0"/>
              </a:rPr>
              <a:t>DIRECTRIX</a:t>
            </a:r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4608513" y="1512888"/>
            <a:ext cx="0" cy="44656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>
            <a:off x="4608513" y="3744913"/>
            <a:ext cx="3641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4" name="Oval 10"/>
          <p:cNvSpPr>
            <a:spLocks noChangeArrowheads="1"/>
          </p:cNvSpPr>
          <p:nvPr/>
        </p:nvSpPr>
        <p:spPr bwMode="auto">
          <a:xfrm>
            <a:off x="4549775" y="3686175"/>
            <a:ext cx="119063" cy="1190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1275" name="Oval 11"/>
          <p:cNvSpPr>
            <a:spLocks noChangeArrowheads="1"/>
          </p:cNvSpPr>
          <p:nvPr/>
        </p:nvSpPr>
        <p:spPr bwMode="auto">
          <a:xfrm>
            <a:off x="5059363" y="3686175"/>
            <a:ext cx="117475" cy="1190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1276" name="Oval 12"/>
          <p:cNvSpPr>
            <a:spLocks noChangeArrowheads="1"/>
          </p:cNvSpPr>
          <p:nvPr/>
        </p:nvSpPr>
        <p:spPr bwMode="auto">
          <a:xfrm>
            <a:off x="5568950" y="3686175"/>
            <a:ext cx="115888" cy="1190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1277" name="Oval 13"/>
          <p:cNvSpPr>
            <a:spLocks noChangeArrowheads="1"/>
          </p:cNvSpPr>
          <p:nvPr/>
        </p:nvSpPr>
        <p:spPr bwMode="auto">
          <a:xfrm>
            <a:off x="6078538" y="3686175"/>
            <a:ext cx="115887" cy="1190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1278" name="Oval 14"/>
          <p:cNvSpPr>
            <a:spLocks noChangeArrowheads="1"/>
          </p:cNvSpPr>
          <p:nvPr/>
        </p:nvSpPr>
        <p:spPr bwMode="auto">
          <a:xfrm>
            <a:off x="6584950" y="3686175"/>
            <a:ext cx="117475" cy="1190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1279" name="Oval 15"/>
          <p:cNvSpPr>
            <a:spLocks noChangeArrowheads="1"/>
          </p:cNvSpPr>
          <p:nvPr/>
        </p:nvSpPr>
        <p:spPr bwMode="auto">
          <a:xfrm>
            <a:off x="7094538" y="3686175"/>
            <a:ext cx="117475" cy="1190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1280" name="Line 16"/>
          <p:cNvSpPr>
            <a:spLocks noChangeShapeType="1"/>
          </p:cNvSpPr>
          <p:nvPr/>
        </p:nvSpPr>
        <p:spPr bwMode="auto">
          <a:xfrm>
            <a:off x="6135688" y="3511550"/>
            <a:ext cx="0" cy="469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5703888" y="3275013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1282" name="Line 18"/>
          <p:cNvSpPr>
            <a:spLocks noChangeShapeType="1"/>
          </p:cNvSpPr>
          <p:nvPr/>
        </p:nvSpPr>
        <p:spPr bwMode="auto">
          <a:xfrm flipV="1">
            <a:off x="6919913" y="1630363"/>
            <a:ext cx="0" cy="4113212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3" name="Line 19"/>
          <p:cNvSpPr>
            <a:spLocks noChangeShapeType="1"/>
          </p:cNvSpPr>
          <p:nvPr/>
        </p:nvSpPr>
        <p:spPr bwMode="auto">
          <a:xfrm rot="4857572" flipH="1">
            <a:off x="6293644" y="2978944"/>
            <a:ext cx="1527175" cy="4763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4" name="Line 20"/>
          <p:cNvSpPr>
            <a:spLocks noChangeShapeType="1"/>
          </p:cNvSpPr>
          <p:nvPr/>
        </p:nvSpPr>
        <p:spPr bwMode="auto">
          <a:xfrm rot="-4857572" flipH="1" flipV="1">
            <a:off x="6293644" y="4526756"/>
            <a:ext cx="1527175" cy="4763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5" name="Line 21"/>
          <p:cNvSpPr>
            <a:spLocks noChangeShapeType="1"/>
          </p:cNvSpPr>
          <p:nvPr/>
        </p:nvSpPr>
        <p:spPr bwMode="auto">
          <a:xfrm>
            <a:off x="7270750" y="1395413"/>
            <a:ext cx="0" cy="4467225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6" name="Line 22"/>
          <p:cNvSpPr>
            <a:spLocks noChangeShapeType="1"/>
          </p:cNvSpPr>
          <p:nvPr/>
        </p:nvSpPr>
        <p:spPr bwMode="auto">
          <a:xfrm rot="5604183" flipH="1">
            <a:off x="6332538" y="2882900"/>
            <a:ext cx="1762125" cy="3175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7" name="Line 23"/>
          <p:cNvSpPr>
            <a:spLocks noChangeShapeType="1"/>
          </p:cNvSpPr>
          <p:nvPr/>
        </p:nvSpPr>
        <p:spPr bwMode="auto">
          <a:xfrm rot="-5604183" flipH="1" flipV="1">
            <a:off x="6311901" y="4625975"/>
            <a:ext cx="1763712" cy="158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8" name="Line 24"/>
          <p:cNvSpPr>
            <a:spLocks noChangeShapeType="1"/>
          </p:cNvSpPr>
          <p:nvPr/>
        </p:nvSpPr>
        <p:spPr bwMode="auto">
          <a:xfrm>
            <a:off x="7662863" y="1395413"/>
            <a:ext cx="0" cy="470058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9" name="Line 25"/>
          <p:cNvSpPr>
            <a:spLocks noChangeShapeType="1"/>
          </p:cNvSpPr>
          <p:nvPr/>
        </p:nvSpPr>
        <p:spPr bwMode="auto">
          <a:xfrm rot="6242174" flipH="1">
            <a:off x="6429376" y="2862262"/>
            <a:ext cx="1998662" cy="4763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0" name="Oval 26"/>
          <p:cNvSpPr>
            <a:spLocks noChangeArrowheads="1"/>
          </p:cNvSpPr>
          <p:nvPr/>
        </p:nvSpPr>
        <p:spPr bwMode="auto">
          <a:xfrm>
            <a:off x="7192963" y="1982788"/>
            <a:ext cx="117475" cy="1190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1291" name="Line 27"/>
          <p:cNvSpPr>
            <a:spLocks noChangeShapeType="1"/>
          </p:cNvSpPr>
          <p:nvPr/>
        </p:nvSpPr>
        <p:spPr bwMode="auto">
          <a:xfrm rot="-6242174" flipH="1" flipV="1">
            <a:off x="6410326" y="4724400"/>
            <a:ext cx="1998662" cy="158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2" name="Oval 28"/>
          <p:cNvSpPr>
            <a:spLocks noChangeArrowheads="1"/>
          </p:cNvSpPr>
          <p:nvPr/>
        </p:nvSpPr>
        <p:spPr bwMode="auto">
          <a:xfrm>
            <a:off x="7589838" y="1865313"/>
            <a:ext cx="115887" cy="1174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1293" name="Oval 29"/>
          <p:cNvSpPr>
            <a:spLocks noChangeArrowheads="1"/>
          </p:cNvSpPr>
          <p:nvPr/>
        </p:nvSpPr>
        <p:spPr bwMode="auto">
          <a:xfrm>
            <a:off x="6824663" y="2189163"/>
            <a:ext cx="119062" cy="1158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1294" name="Oval 30"/>
          <p:cNvSpPr>
            <a:spLocks noChangeArrowheads="1"/>
          </p:cNvSpPr>
          <p:nvPr/>
        </p:nvSpPr>
        <p:spPr bwMode="auto">
          <a:xfrm>
            <a:off x="6840538" y="5199063"/>
            <a:ext cx="117475" cy="1174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1295" name="Oval 31"/>
          <p:cNvSpPr>
            <a:spLocks noChangeArrowheads="1"/>
          </p:cNvSpPr>
          <p:nvPr/>
        </p:nvSpPr>
        <p:spPr bwMode="auto">
          <a:xfrm>
            <a:off x="7192963" y="5391150"/>
            <a:ext cx="117475" cy="1174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1296" name="Oval 32"/>
          <p:cNvSpPr>
            <a:spLocks noChangeArrowheads="1"/>
          </p:cNvSpPr>
          <p:nvPr/>
        </p:nvSpPr>
        <p:spPr bwMode="auto">
          <a:xfrm>
            <a:off x="7594600" y="5543550"/>
            <a:ext cx="117475" cy="115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1297" name="Arc 33"/>
          <p:cNvSpPr>
            <a:spLocks/>
          </p:cNvSpPr>
          <p:nvPr/>
        </p:nvSpPr>
        <p:spPr bwMode="auto">
          <a:xfrm rot="236227" flipH="1">
            <a:off x="6184900" y="1819275"/>
            <a:ext cx="2039938" cy="1917700"/>
          </a:xfrm>
          <a:custGeom>
            <a:avLst/>
            <a:gdLst>
              <a:gd name="T0" fmla="*/ 0 w 21600"/>
              <a:gd name="T1" fmla="*/ 0 h 23527"/>
              <a:gd name="T2" fmla="*/ 2031816 w 21600"/>
              <a:gd name="T3" fmla="*/ 1917700 h 23527"/>
              <a:gd name="T4" fmla="*/ 0 w 21600"/>
              <a:gd name="T5" fmla="*/ 1760629 h 235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3527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43"/>
                  <a:pt x="21571" y="22886"/>
                  <a:pt x="21513" y="23526"/>
                </a:cubicBezTo>
              </a:path>
              <a:path w="21600" h="23527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43"/>
                  <a:pt x="21571" y="22886"/>
                  <a:pt x="21513" y="23526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8" name="Arc 34"/>
          <p:cNvSpPr>
            <a:spLocks/>
          </p:cNvSpPr>
          <p:nvPr/>
        </p:nvSpPr>
        <p:spPr bwMode="auto">
          <a:xfrm rot="-103428" flipH="1" flipV="1">
            <a:off x="6145213" y="3735388"/>
            <a:ext cx="2114550" cy="1919287"/>
          </a:xfrm>
          <a:custGeom>
            <a:avLst/>
            <a:gdLst>
              <a:gd name="T0" fmla="*/ 0 w 21600"/>
              <a:gd name="T1" fmla="*/ 0 h 23527"/>
              <a:gd name="T2" fmla="*/ 2106131 w 21600"/>
              <a:gd name="T3" fmla="*/ 1919287 h 23527"/>
              <a:gd name="T4" fmla="*/ 0 w 21600"/>
              <a:gd name="T5" fmla="*/ 1762086 h 235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3527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43"/>
                  <a:pt x="21571" y="22886"/>
                  <a:pt x="21513" y="23526"/>
                </a:cubicBezTo>
              </a:path>
              <a:path w="21600" h="23527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43"/>
                  <a:pt x="21571" y="22886"/>
                  <a:pt x="21513" y="23526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9" name="Text Box 35"/>
          <p:cNvSpPr txBox="1">
            <a:spLocks noChangeArrowheads="1"/>
          </p:cNvSpPr>
          <p:nvPr/>
        </p:nvSpPr>
        <p:spPr bwMode="auto">
          <a:xfrm>
            <a:off x="5783263" y="1042988"/>
            <a:ext cx="2232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 u="sng">
                <a:latin typeface="Times New Roman" panose="02020603050405020304" pitchFamily="18" charset="0"/>
              </a:rPr>
              <a:t>ELLIPSE</a:t>
            </a:r>
          </a:p>
        </p:txBody>
      </p:sp>
      <p:sp>
        <p:nvSpPr>
          <p:cNvPr id="11300" name="Line 36"/>
          <p:cNvSpPr>
            <a:spLocks noChangeShapeType="1"/>
          </p:cNvSpPr>
          <p:nvPr/>
        </p:nvSpPr>
        <p:spPr bwMode="auto">
          <a:xfrm>
            <a:off x="6488113" y="1512888"/>
            <a:ext cx="587375" cy="469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1" name="Text Box 37"/>
          <p:cNvSpPr txBox="1">
            <a:spLocks noChangeArrowheads="1"/>
          </p:cNvSpPr>
          <p:nvPr/>
        </p:nvSpPr>
        <p:spPr bwMode="auto">
          <a:xfrm>
            <a:off x="5199063" y="3308350"/>
            <a:ext cx="668337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200">
                <a:latin typeface="Times New Roman" panose="02020603050405020304" pitchFamily="18" charset="0"/>
              </a:rPr>
              <a:t>(vertex)</a:t>
            </a:r>
          </a:p>
        </p:txBody>
      </p:sp>
      <p:sp>
        <p:nvSpPr>
          <p:cNvPr id="11302" name="Text Box 38"/>
          <p:cNvSpPr txBox="1">
            <a:spLocks noChangeArrowheads="1"/>
          </p:cNvSpPr>
          <p:nvPr/>
        </p:nvSpPr>
        <p:spPr bwMode="auto">
          <a:xfrm>
            <a:off x="4267200" y="120015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1303" name="Text Box 39"/>
          <p:cNvSpPr txBox="1">
            <a:spLocks noChangeArrowheads="1"/>
          </p:cNvSpPr>
          <p:nvPr/>
        </p:nvSpPr>
        <p:spPr bwMode="auto">
          <a:xfrm>
            <a:off x="4268788" y="5732463"/>
            <a:ext cx="3190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>
                <a:latin typeface="Times New Roman" panose="02020603050405020304" pitchFamily="18" charset="0"/>
              </a:rPr>
              <a:t>B</a:t>
            </a:r>
          </a:p>
        </p:txBody>
      </p:sp>
      <p:grpSp>
        <p:nvGrpSpPr>
          <p:cNvPr id="11304" name="Group 40"/>
          <p:cNvGrpSpPr>
            <a:grpSpLocks/>
          </p:cNvGrpSpPr>
          <p:nvPr/>
        </p:nvGrpSpPr>
        <p:grpSpPr bwMode="auto">
          <a:xfrm>
            <a:off x="304800" y="1219200"/>
            <a:ext cx="3505200" cy="4419600"/>
            <a:chOff x="192" y="768"/>
            <a:chExt cx="2208" cy="2784"/>
          </a:xfrm>
        </p:grpSpPr>
        <p:sp>
          <p:nvSpPr>
            <p:cNvPr id="5171" name="AutoShape 41"/>
            <p:cNvSpPr>
              <a:spLocks noChangeArrowheads="1"/>
            </p:cNvSpPr>
            <p:nvPr/>
          </p:nvSpPr>
          <p:spPr bwMode="auto">
            <a:xfrm>
              <a:off x="192" y="768"/>
              <a:ext cx="2208" cy="2784"/>
            </a:xfrm>
            <a:prstGeom prst="wedgeRectCallout">
              <a:avLst>
                <a:gd name="adj1" fmla="val 58968"/>
                <a:gd name="adj2" fmla="val 20870"/>
              </a:avLst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SG" sz="1400">
                <a:latin typeface="Times New Roman" panose="02020603050405020304" pitchFamily="18" charset="0"/>
              </a:endParaRPr>
            </a:p>
          </p:txBody>
        </p:sp>
        <p:sp>
          <p:nvSpPr>
            <p:cNvPr id="5172" name="Text Box 42"/>
            <p:cNvSpPr txBox="1">
              <a:spLocks noChangeArrowheads="1"/>
            </p:cNvSpPr>
            <p:nvPr/>
          </p:nvSpPr>
          <p:spPr bwMode="auto">
            <a:xfrm>
              <a:off x="240" y="864"/>
              <a:ext cx="2160" cy="2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STEPS: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 .Draw a vertical line AB and point F 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50 mm from it.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2 .Divide 50 mm distance in 5 parts.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3 .Name 2</a:t>
              </a:r>
              <a:r>
                <a:rPr lang="en-US" sz="1400" baseline="30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nd</a:t>
              </a:r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part from F as V. It is 20mm    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and 30mm from F and AB line resp.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It is first point giving ratio of it’s    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distances from F and AB 2/3 i.e 20/30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4  Form more points giving same ratio such 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as 30/45,  40/60,  50/75  etc.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5.Taking 45,60 and 75mm distances from  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line AB, draw three vertical lines to the 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right side of it.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6. Now with 30, 40 and 50mm distances in 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compass cut these lines above and below, 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with F as center.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7. Join these points through V in smooth 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curve.</a:t>
              </a:r>
            </a:p>
            <a:p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This is required locus of P.It is an ELLIPSE.</a:t>
              </a:r>
            </a:p>
          </p:txBody>
        </p:sp>
      </p:grpSp>
      <p:sp>
        <p:nvSpPr>
          <p:cNvPr id="11307" name="Text Box 43"/>
          <p:cNvSpPr txBox="1">
            <a:spLocks noChangeArrowheads="1"/>
          </p:cNvSpPr>
          <p:nvPr/>
        </p:nvSpPr>
        <p:spPr bwMode="auto">
          <a:xfrm rot="4771020">
            <a:off x="6672262" y="2652713"/>
            <a:ext cx="638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>
                <a:latin typeface="Times New Roman" panose="02020603050405020304" pitchFamily="18" charset="0"/>
              </a:rPr>
              <a:t>30mm</a:t>
            </a:r>
          </a:p>
        </p:txBody>
      </p:sp>
      <p:grpSp>
        <p:nvGrpSpPr>
          <p:cNvPr id="11308" name="Group 44"/>
          <p:cNvGrpSpPr>
            <a:grpSpLocks/>
          </p:cNvGrpSpPr>
          <p:nvPr/>
        </p:nvGrpSpPr>
        <p:grpSpPr bwMode="auto">
          <a:xfrm>
            <a:off x="4610100" y="2019300"/>
            <a:ext cx="2286000" cy="304800"/>
            <a:chOff x="2904" y="1272"/>
            <a:chExt cx="1440" cy="192"/>
          </a:xfrm>
        </p:grpSpPr>
        <p:sp>
          <p:nvSpPr>
            <p:cNvPr id="5169" name="Text Box 45"/>
            <p:cNvSpPr txBox="1">
              <a:spLocks noChangeArrowheads="1"/>
            </p:cNvSpPr>
            <p:nvPr/>
          </p:nvSpPr>
          <p:spPr bwMode="auto">
            <a:xfrm>
              <a:off x="3408" y="1272"/>
              <a:ext cx="40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>
                  <a:latin typeface="Times New Roman" panose="02020603050405020304" pitchFamily="18" charset="0"/>
                </a:rPr>
                <a:t>45mm</a:t>
              </a:r>
            </a:p>
          </p:txBody>
        </p:sp>
        <p:sp>
          <p:nvSpPr>
            <p:cNvPr id="5170" name="Line 46"/>
            <p:cNvSpPr>
              <a:spLocks noChangeShapeType="1"/>
            </p:cNvSpPr>
            <p:nvPr/>
          </p:nvSpPr>
          <p:spPr bwMode="auto">
            <a:xfrm flipH="1">
              <a:off x="2904" y="1422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311" name="Oval 47"/>
          <p:cNvSpPr>
            <a:spLocks noChangeArrowheads="1"/>
          </p:cNvSpPr>
          <p:nvPr/>
        </p:nvSpPr>
        <p:spPr bwMode="auto">
          <a:xfrm>
            <a:off x="6477000" y="4876800"/>
            <a:ext cx="76200" cy="76200"/>
          </a:xfrm>
          <a:prstGeom prst="ellipse">
            <a:avLst/>
          </a:prstGeom>
          <a:solidFill>
            <a:srgbClr val="FF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pSp>
        <p:nvGrpSpPr>
          <p:cNvPr id="5162" name="Group 48"/>
          <p:cNvGrpSpPr>
            <a:grpSpLocks/>
          </p:cNvGrpSpPr>
          <p:nvPr/>
        </p:nvGrpSpPr>
        <p:grpSpPr bwMode="auto">
          <a:xfrm>
            <a:off x="8016875" y="6629400"/>
            <a:ext cx="1096963" cy="182563"/>
            <a:chOff x="5050" y="29"/>
            <a:chExt cx="691" cy="115"/>
          </a:xfrm>
        </p:grpSpPr>
        <p:sp>
          <p:nvSpPr>
            <p:cNvPr id="5163" name="AutoShape 49">
              <a:hlinkClick r:id="rId2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5164" name="AutoShape 50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5165" name="AutoShape 51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5166" name="AutoShape 52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5167" name="AutoShape 53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5168" name="AutoShape 54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215013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1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1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1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1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7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1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1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1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1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4" dur="500"/>
                                        <p:tgtEl>
                                          <p:spTgt spid="1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57" dur="5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2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5" dur="50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0" dur="500"/>
                                        <p:tgtEl>
                                          <p:spTgt spid="1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1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1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11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11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11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11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11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11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11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11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1" dur="500"/>
                                        <p:tgtEl>
                                          <p:spTgt spid="1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6" dur="500"/>
                                        <p:tgtEl>
                                          <p:spTgt spid="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1" dur="500"/>
                                        <p:tgtEl>
                                          <p:spTgt spid="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11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11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 autoUpdateAnimBg="0"/>
      <p:bldP spid="11271" grpId="0" autoUpdateAnimBg="0"/>
      <p:bldP spid="11272" grpId="0" animBg="1"/>
      <p:bldP spid="11273" grpId="0" animBg="1"/>
      <p:bldP spid="11274" grpId="0" animBg="1"/>
      <p:bldP spid="11275" grpId="0" animBg="1"/>
      <p:bldP spid="11276" grpId="0" animBg="1"/>
      <p:bldP spid="11277" grpId="0" animBg="1"/>
      <p:bldP spid="11278" grpId="0" animBg="1"/>
      <p:bldP spid="11279" grpId="0" animBg="1"/>
      <p:bldP spid="11280" grpId="0" animBg="1"/>
      <p:bldP spid="11281" grpId="0" autoUpdateAnimBg="0"/>
      <p:bldP spid="11282" grpId="0" animBg="1"/>
      <p:bldP spid="11283" grpId="0" animBg="1"/>
      <p:bldP spid="11284" grpId="0" animBg="1"/>
      <p:bldP spid="11285" grpId="0" animBg="1"/>
      <p:bldP spid="11286" grpId="0" animBg="1"/>
      <p:bldP spid="11287" grpId="0" animBg="1"/>
      <p:bldP spid="11288" grpId="0" animBg="1"/>
      <p:bldP spid="11289" grpId="0" animBg="1"/>
      <p:bldP spid="11290" grpId="0" animBg="1"/>
      <p:bldP spid="11291" grpId="0" animBg="1"/>
      <p:bldP spid="11292" grpId="0" animBg="1"/>
      <p:bldP spid="11293" grpId="0" animBg="1"/>
      <p:bldP spid="11294" grpId="0" animBg="1"/>
      <p:bldP spid="11295" grpId="0" animBg="1"/>
      <p:bldP spid="11296" grpId="0" animBg="1"/>
      <p:bldP spid="11297" grpId="0" animBg="1"/>
      <p:bldP spid="11298" grpId="0" animBg="1"/>
      <p:bldP spid="11299" grpId="0" autoUpdateAnimBg="0"/>
      <p:bldP spid="11300" grpId="0" animBg="1"/>
      <p:bldP spid="11301" grpId="0" autoUpdateAnimBg="0"/>
      <p:bldP spid="11302" grpId="0" autoUpdateAnimBg="0"/>
      <p:bldP spid="11303" grpId="0" autoUpdateAnimBg="0"/>
      <p:bldP spid="11307" grpId="0" autoUpdateAnimBg="0"/>
      <p:bldP spid="113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6345238" y="63500"/>
            <a:ext cx="2660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b="1" u="sng">
                <a:solidFill>
                  <a:schemeClr val="accent2"/>
                </a:solidFill>
                <a:latin typeface="Arial Black" panose="020B0A04020102020204" pitchFamily="34" charset="0"/>
              </a:rPr>
              <a:t>ELLIPSE </a:t>
            </a:r>
          </a:p>
          <a:p>
            <a:pPr algn="ctr"/>
            <a:r>
              <a:rPr lang="en-US" b="1" u="sng">
                <a:solidFill>
                  <a:schemeClr val="accent2"/>
                </a:solidFill>
                <a:latin typeface="Times New Roman" panose="02020603050405020304" pitchFamily="18" charset="0"/>
              </a:rPr>
              <a:t>TANGENT &amp; NORMAL</a:t>
            </a:r>
          </a:p>
        </p:txBody>
      </p:sp>
      <p:grpSp>
        <p:nvGrpSpPr>
          <p:cNvPr id="19459" name="Group 3"/>
          <p:cNvGrpSpPr>
            <a:grpSpLocks/>
          </p:cNvGrpSpPr>
          <p:nvPr/>
        </p:nvGrpSpPr>
        <p:grpSpPr bwMode="auto">
          <a:xfrm>
            <a:off x="4489450" y="1042988"/>
            <a:ext cx="4044950" cy="5026025"/>
            <a:chOff x="2544" y="657"/>
            <a:chExt cx="2548" cy="3166"/>
          </a:xfrm>
        </p:grpSpPr>
        <p:sp>
          <p:nvSpPr>
            <p:cNvPr id="6174" name="Line 4"/>
            <p:cNvSpPr>
              <a:spLocks noChangeShapeType="1"/>
            </p:cNvSpPr>
            <p:nvPr/>
          </p:nvSpPr>
          <p:spPr bwMode="auto">
            <a:xfrm>
              <a:off x="2759" y="2359"/>
              <a:ext cx="22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5" name="Oval 5"/>
            <p:cNvSpPr>
              <a:spLocks noChangeArrowheads="1"/>
            </p:cNvSpPr>
            <p:nvPr/>
          </p:nvSpPr>
          <p:spPr bwMode="auto">
            <a:xfrm>
              <a:off x="3364" y="2322"/>
              <a:ext cx="73" cy="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grpSp>
          <p:nvGrpSpPr>
            <p:cNvPr id="6176" name="Group 6"/>
            <p:cNvGrpSpPr>
              <a:grpSpLocks/>
            </p:cNvGrpSpPr>
            <p:nvPr/>
          </p:nvGrpSpPr>
          <p:grpSpPr bwMode="auto">
            <a:xfrm>
              <a:off x="2544" y="657"/>
              <a:ext cx="2548" cy="3166"/>
              <a:chOff x="2544" y="657"/>
              <a:chExt cx="2548" cy="3166"/>
            </a:xfrm>
          </p:grpSpPr>
          <p:sp>
            <p:nvSpPr>
              <p:cNvPr id="6177" name="Text Box 7"/>
              <p:cNvSpPr txBox="1">
                <a:spLocks noChangeArrowheads="1"/>
              </p:cNvSpPr>
              <p:nvPr/>
            </p:nvSpPr>
            <p:spPr bwMode="auto">
              <a:xfrm>
                <a:off x="4416" y="2148"/>
                <a:ext cx="67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b="1">
                    <a:latin typeface="Times New Roman" panose="02020603050405020304" pitchFamily="18" charset="0"/>
                  </a:rPr>
                  <a:t>F ( </a:t>
                </a:r>
                <a:r>
                  <a:rPr lang="en-US" i="1">
                    <a:latin typeface="Times New Roman" panose="02020603050405020304" pitchFamily="18" charset="0"/>
                  </a:rPr>
                  <a:t>focus</a:t>
                </a:r>
                <a:r>
                  <a:rPr lang="en-US" b="1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6178" name="Text Box 8"/>
              <p:cNvSpPr txBox="1">
                <a:spLocks noChangeArrowheads="1"/>
              </p:cNvSpPr>
              <p:nvPr/>
            </p:nvSpPr>
            <p:spPr bwMode="auto">
              <a:xfrm rot="-5383553">
                <a:off x="2218" y="1313"/>
                <a:ext cx="883" cy="2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>
                    <a:latin typeface="Times New Roman" panose="02020603050405020304" pitchFamily="18" charset="0"/>
                  </a:rPr>
                  <a:t>DIRECTRIX</a:t>
                </a:r>
              </a:p>
            </p:txBody>
          </p:sp>
          <p:sp>
            <p:nvSpPr>
              <p:cNvPr id="6179" name="Line 9"/>
              <p:cNvSpPr>
                <a:spLocks noChangeShapeType="1"/>
              </p:cNvSpPr>
              <p:nvPr/>
            </p:nvSpPr>
            <p:spPr bwMode="auto">
              <a:xfrm>
                <a:off x="2759" y="953"/>
                <a:ext cx="0" cy="281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0" name="Oval 10"/>
              <p:cNvSpPr>
                <a:spLocks noChangeArrowheads="1"/>
              </p:cNvSpPr>
              <p:nvPr/>
            </p:nvSpPr>
            <p:spPr bwMode="auto">
              <a:xfrm>
                <a:off x="4325" y="2322"/>
                <a:ext cx="74" cy="7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6181" name="Text Box 11"/>
              <p:cNvSpPr txBox="1">
                <a:spLocks noChangeArrowheads="1"/>
              </p:cNvSpPr>
              <p:nvPr/>
            </p:nvSpPr>
            <p:spPr bwMode="auto">
              <a:xfrm>
                <a:off x="3449" y="2063"/>
                <a:ext cx="20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sz="1600" b="1">
                    <a:latin typeface="Times New Roman" panose="02020603050405020304" pitchFamily="18" charset="0"/>
                  </a:rPr>
                  <a:t>V</a:t>
                </a:r>
              </a:p>
            </p:txBody>
          </p:sp>
          <p:sp>
            <p:nvSpPr>
              <p:cNvPr id="6182" name="Arc 12"/>
              <p:cNvSpPr>
                <a:spLocks/>
              </p:cNvSpPr>
              <p:nvPr/>
            </p:nvSpPr>
            <p:spPr bwMode="auto">
              <a:xfrm rot="236227" flipH="1">
                <a:off x="3740" y="1206"/>
                <a:ext cx="1285" cy="1208"/>
              </a:xfrm>
              <a:custGeom>
                <a:avLst/>
                <a:gdLst>
                  <a:gd name="T0" fmla="*/ 0 w 21600"/>
                  <a:gd name="T1" fmla="*/ 0 h 23527"/>
                  <a:gd name="T2" fmla="*/ 1280 w 21600"/>
                  <a:gd name="T3" fmla="*/ 1208 h 23527"/>
                  <a:gd name="T4" fmla="*/ 0 w 21600"/>
                  <a:gd name="T5" fmla="*/ 1109 h 235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3527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2243"/>
                      <a:pt x="21571" y="22886"/>
                      <a:pt x="21513" y="23526"/>
                    </a:cubicBezTo>
                  </a:path>
                  <a:path w="21600" h="23527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2243"/>
                      <a:pt x="21571" y="22886"/>
                      <a:pt x="21513" y="23526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3" name="Arc 13"/>
              <p:cNvSpPr>
                <a:spLocks/>
              </p:cNvSpPr>
              <p:nvPr/>
            </p:nvSpPr>
            <p:spPr bwMode="auto">
              <a:xfrm rot="-103428" flipH="1" flipV="1">
                <a:off x="3727" y="2353"/>
                <a:ext cx="1332" cy="1209"/>
              </a:xfrm>
              <a:custGeom>
                <a:avLst/>
                <a:gdLst>
                  <a:gd name="T0" fmla="*/ 0 w 21600"/>
                  <a:gd name="T1" fmla="*/ 0 h 23527"/>
                  <a:gd name="T2" fmla="*/ 1327 w 21600"/>
                  <a:gd name="T3" fmla="*/ 1209 h 23527"/>
                  <a:gd name="T4" fmla="*/ 0 w 21600"/>
                  <a:gd name="T5" fmla="*/ 1110 h 235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3527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2243"/>
                      <a:pt x="21571" y="22886"/>
                      <a:pt x="21513" y="23526"/>
                    </a:cubicBezTo>
                  </a:path>
                  <a:path w="21600" h="23527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2243"/>
                      <a:pt x="21571" y="22886"/>
                      <a:pt x="21513" y="23526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4" name="Text Box 14"/>
              <p:cNvSpPr txBox="1">
                <a:spLocks noChangeArrowheads="1"/>
              </p:cNvSpPr>
              <p:nvPr/>
            </p:nvSpPr>
            <p:spPr bwMode="auto">
              <a:xfrm>
                <a:off x="3499" y="657"/>
                <a:ext cx="1406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1400" b="1" u="sng">
                    <a:latin typeface="Times New Roman" panose="02020603050405020304" pitchFamily="18" charset="0"/>
                  </a:rPr>
                  <a:t>ELLIPSE</a:t>
                </a:r>
              </a:p>
            </p:txBody>
          </p:sp>
          <p:sp>
            <p:nvSpPr>
              <p:cNvPr id="6185" name="Line 15"/>
              <p:cNvSpPr>
                <a:spLocks noChangeShapeType="1"/>
              </p:cNvSpPr>
              <p:nvPr/>
            </p:nvSpPr>
            <p:spPr bwMode="auto">
              <a:xfrm>
                <a:off x="3943" y="953"/>
                <a:ext cx="370" cy="2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6" name="Text Box 16"/>
              <p:cNvSpPr txBox="1">
                <a:spLocks noChangeArrowheads="1"/>
              </p:cNvSpPr>
              <p:nvPr/>
            </p:nvSpPr>
            <p:spPr bwMode="auto">
              <a:xfrm>
                <a:off x="3131" y="2084"/>
                <a:ext cx="421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sz="1200">
                    <a:latin typeface="Times New Roman" panose="02020603050405020304" pitchFamily="18" charset="0"/>
                  </a:rPr>
                  <a:t>(vertex)</a:t>
                </a:r>
              </a:p>
            </p:txBody>
          </p:sp>
          <p:sp>
            <p:nvSpPr>
              <p:cNvPr id="6187" name="Text Box 17"/>
              <p:cNvSpPr txBox="1">
                <a:spLocks noChangeArrowheads="1"/>
              </p:cNvSpPr>
              <p:nvPr/>
            </p:nvSpPr>
            <p:spPr bwMode="auto">
              <a:xfrm>
                <a:off x="2544" y="756"/>
                <a:ext cx="20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sz="1600" b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6188" name="Text Box 18"/>
              <p:cNvSpPr txBox="1">
                <a:spLocks noChangeArrowheads="1"/>
              </p:cNvSpPr>
              <p:nvPr/>
            </p:nvSpPr>
            <p:spPr bwMode="auto">
              <a:xfrm>
                <a:off x="2545" y="3611"/>
                <a:ext cx="20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sz="1600" b="1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</p:grpSp>
      <p:sp>
        <p:nvSpPr>
          <p:cNvPr id="19475" name="Oval 19"/>
          <p:cNvSpPr>
            <a:spLocks noChangeArrowheads="1"/>
          </p:cNvSpPr>
          <p:nvPr/>
        </p:nvSpPr>
        <p:spPr bwMode="auto">
          <a:xfrm>
            <a:off x="6699250" y="4876800"/>
            <a:ext cx="76200" cy="76200"/>
          </a:xfrm>
          <a:prstGeom prst="ellipse">
            <a:avLst/>
          </a:prstGeom>
          <a:solidFill>
            <a:srgbClr val="FF00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9476" name="Line 20"/>
          <p:cNvSpPr>
            <a:spLocks noChangeShapeType="1"/>
          </p:cNvSpPr>
          <p:nvPr/>
        </p:nvSpPr>
        <p:spPr bwMode="auto">
          <a:xfrm flipV="1">
            <a:off x="6775450" y="3733800"/>
            <a:ext cx="609600" cy="12192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7" name="Line 21"/>
          <p:cNvSpPr>
            <a:spLocks noChangeShapeType="1"/>
          </p:cNvSpPr>
          <p:nvPr/>
        </p:nvSpPr>
        <p:spPr bwMode="auto">
          <a:xfrm flipH="1" flipV="1">
            <a:off x="4779963" y="2366963"/>
            <a:ext cx="2590800" cy="13716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8" name="Line 22"/>
          <p:cNvSpPr>
            <a:spLocks noChangeShapeType="1"/>
          </p:cNvSpPr>
          <p:nvPr/>
        </p:nvSpPr>
        <p:spPr bwMode="auto">
          <a:xfrm>
            <a:off x="4870450" y="2438400"/>
            <a:ext cx="3124200" cy="41910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9" name="Line 23"/>
          <p:cNvSpPr>
            <a:spLocks noChangeShapeType="1"/>
          </p:cNvSpPr>
          <p:nvPr/>
        </p:nvSpPr>
        <p:spPr bwMode="auto">
          <a:xfrm flipV="1">
            <a:off x="6108700" y="4029075"/>
            <a:ext cx="1828800" cy="1371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0" name="Text Box 24"/>
          <p:cNvSpPr txBox="1">
            <a:spLocks noChangeArrowheads="1"/>
          </p:cNvSpPr>
          <p:nvPr/>
        </p:nvSpPr>
        <p:spPr bwMode="auto">
          <a:xfrm>
            <a:off x="4870450" y="2133600"/>
            <a:ext cx="303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66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9481" name="Text Box 25"/>
          <p:cNvSpPr txBox="1">
            <a:spLocks noChangeArrowheads="1"/>
          </p:cNvSpPr>
          <p:nvPr/>
        </p:nvSpPr>
        <p:spPr bwMode="auto">
          <a:xfrm>
            <a:off x="7678738" y="6483350"/>
            <a:ext cx="303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66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9482" name="Text Box 26"/>
          <p:cNvSpPr txBox="1">
            <a:spLocks noChangeArrowheads="1"/>
          </p:cNvSpPr>
          <p:nvPr/>
        </p:nvSpPr>
        <p:spPr bwMode="auto">
          <a:xfrm>
            <a:off x="5937250" y="5105400"/>
            <a:ext cx="312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19483" name="Text Box 27"/>
          <p:cNvSpPr txBox="1">
            <a:spLocks noChangeArrowheads="1"/>
          </p:cNvSpPr>
          <p:nvPr/>
        </p:nvSpPr>
        <p:spPr bwMode="auto">
          <a:xfrm>
            <a:off x="7842250" y="3886200"/>
            <a:ext cx="312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19484" name="Text Box 28"/>
          <p:cNvSpPr txBox="1">
            <a:spLocks noChangeArrowheads="1"/>
          </p:cNvSpPr>
          <p:nvPr/>
        </p:nvSpPr>
        <p:spPr bwMode="auto">
          <a:xfrm>
            <a:off x="6546850" y="4953000"/>
            <a:ext cx="322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19485" name="Text Box 29"/>
          <p:cNvSpPr txBox="1">
            <a:spLocks noChangeArrowheads="1"/>
          </p:cNvSpPr>
          <p:nvPr/>
        </p:nvSpPr>
        <p:spPr bwMode="auto">
          <a:xfrm>
            <a:off x="6942138" y="3714750"/>
            <a:ext cx="41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009900"/>
                </a:solidFill>
                <a:latin typeface="Times New Roman" panose="02020603050405020304" pitchFamily="18" charset="0"/>
              </a:rPr>
              <a:t>90</a:t>
            </a:r>
            <a:r>
              <a:rPr lang="en-US" sz="1400" b="1" baseline="30000">
                <a:solidFill>
                  <a:srgbClr val="0099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9486" name="Arc 30"/>
          <p:cNvSpPr>
            <a:spLocks/>
          </p:cNvSpPr>
          <p:nvPr/>
        </p:nvSpPr>
        <p:spPr bwMode="auto">
          <a:xfrm rot="-8342235">
            <a:off x="6848475" y="3657600"/>
            <a:ext cx="523875" cy="381000"/>
          </a:xfrm>
          <a:custGeom>
            <a:avLst/>
            <a:gdLst>
              <a:gd name="T0" fmla="*/ 0 w 29704"/>
              <a:gd name="T1" fmla="*/ 27834 h 21600"/>
              <a:gd name="T2" fmla="*/ 523875 w 29704"/>
              <a:gd name="T3" fmla="*/ 381000 h 21600"/>
              <a:gd name="T4" fmla="*/ 142926 w 29704"/>
              <a:gd name="T5" fmla="*/ 3810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704" h="21600" fill="none" extrusionOk="0">
                <a:moveTo>
                  <a:pt x="-1" y="1577"/>
                </a:moveTo>
                <a:cubicBezTo>
                  <a:pt x="2574" y="535"/>
                  <a:pt x="5326" y="-1"/>
                  <a:pt x="8104" y="0"/>
                </a:cubicBezTo>
                <a:cubicBezTo>
                  <a:pt x="20033" y="0"/>
                  <a:pt x="29704" y="9670"/>
                  <a:pt x="29704" y="21600"/>
                </a:cubicBezTo>
              </a:path>
              <a:path w="29704" h="21600" stroke="0" extrusionOk="0">
                <a:moveTo>
                  <a:pt x="-1" y="1577"/>
                </a:moveTo>
                <a:cubicBezTo>
                  <a:pt x="2574" y="535"/>
                  <a:pt x="5326" y="-1"/>
                  <a:pt x="8104" y="0"/>
                </a:cubicBezTo>
                <a:cubicBezTo>
                  <a:pt x="20033" y="0"/>
                  <a:pt x="29704" y="9670"/>
                  <a:pt x="29704" y="21600"/>
                </a:cubicBezTo>
                <a:lnTo>
                  <a:pt x="8104" y="21600"/>
                </a:lnTo>
                <a:lnTo>
                  <a:pt x="-1" y="157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487" name="Group 31"/>
          <p:cNvGrpSpPr>
            <a:grpSpLocks/>
          </p:cNvGrpSpPr>
          <p:nvPr/>
        </p:nvGrpSpPr>
        <p:grpSpPr bwMode="auto">
          <a:xfrm>
            <a:off x="228600" y="533400"/>
            <a:ext cx="3886200" cy="990600"/>
            <a:chOff x="76" y="528"/>
            <a:chExt cx="2448" cy="624"/>
          </a:xfrm>
        </p:grpSpPr>
        <p:sp>
          <p:nvSpPr>
            <p:cNvPr id="6172" name="Rectangle 32"/>
            <p:cNvSpPr>
              <a:spLocks noChangeArrowheads="1"/>
            </p:cNvSpPr>
            <p:nvPr/>
          </p:nvSpPr>
          <p:spPr bwMode="auto">
            <a:xfrm>
              <a:off x="96" y="528"/>
              <a:ext cx="2400" cy="624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173" name="Text Box 33"/>
            <p:cNvSpPr txBox="1">
              <a:spLocks noChangeArrowheads="1"/>
            </p:cNvSpPr>
            <p:nvPr/>
          </p:nvSpPr>
          <p:spPr bwMode="auto">
            <a:xfrm>
              <a:off x="76" y="545"/>
              <a:ext cx="2448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TO DRAW TANGENT &amp; NORMAL </a:t>
              </a:r>
            </a:p>
            <a:p>
              <a:pPr algn="ctr"/>
              <a:r>
                <a:rPr lang="en-US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TO THE CURVE </a:t>
              </a:r>
            </a:p>
            <a:p>
              <a:pPr algn="ctr"/>
              <a:r>
                <a:rPr lang="en-US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FROM A GIVEN POINT ( Q )</a:t>
              </a:r>
            </a:p>
          </p:txBody>
        </p:sp>
      </p:grpSp>
      <p:grpSp>
        <p:nvGrpSpPr>
          <p:cNvPr id="19490" name="Group 34"/>
          <p:cNvGrpSpPr>
            <a:grpSpLocks/>
          </p:cNvGrpSpPr>
          <p:nvPr/>
        </p:nvGrpSpPr>
        <p:grpSpPr bwMode="auto">
          <a:xfrm>
            <a:off x="147638" y="2057400"/>
            <a:ext cx="4132262" cy="2246313"/>
            <a:chOff x="0" y="1296"/>
            <a:chExt cx="2603" cy="1415"/>
          </a:xfrm>
        </p:grpSpPr>
        <p:sp>
          <p:nvSpPr>
            <p:cNvPr id="6170" name="AutoShape 35"/>
            <p:cNvSpPr>
              <a:spLocks noChangeArrowheads="1"/>
            </p:cNvSpPr>
            <p:nvPr/>
          </p:nvSpPr>
          <p:spPr bwMode="auto">
            <a:xfrm>
              <a:off x="0" y="1296"/>
              <a:ext cx="2544" cy="1392"/>
            </a:xfrm>
            <a:prstGeom prst="wedgeRectCallout">
              <a:avLst>
                <a:gd name="adj1" fmla="val 54130"/>
                <a:gd name="adj2" fmla="val 69542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SG" sz="1400">
                <a:latin typeface="Times New Roman" panose="02020603050405020304" pitchFamily="18" charset="0"/>
              </a:endParaRPr>
            </a:p>
          </p:txBody>
        </p:sp>
        <p:sp>
          <p:nvSpPr>
            <p:cNvPr id="6171" name="Text Box 36"/>
            <p:cNvSpPr txBox="1">
              <a:spLocks noChangeArrowheads="1"/>
            </p:cNvSpPr>
            <p:nvPr/>
          </p:nvSpPr>
          <p:spPr bwMode="auto">
            <a:xfrm>
              <a:off x="0" y="1296"/>
              <a:ext cx="2603" cy="14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1.JOIN POINT </a:t>
              </a:r>
              <a:r>
                <a:rPr lang="en-US" sz="1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Q </a:t>
              </a:r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TO </a:t>
              </a:r>
              <a:r>
                <a:rPr lang="en-US" sz="1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F.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2.CONSTRUCT 90</a:t>
              </a:r>
              <a:r>
                <a:rPr lang="en-US" sz="1400" baseline="30000">
                  <a:solidFill>
                    <a:srgbClr val="FF0066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ANGLE WITH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  THIS LINE AT POINT</a:t>
              </a:r>
              <a:r>
                <a:rPr lang="en-US" sz="1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 F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3.EXTEND THE LINE TO MEET DIRECTRIX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   AT </a:t>
              </a:r>
              <a:r>
                <a:rPr lang="en-US" sz="1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T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4. JOIN THIS POINT TO Q AND EXTEND. THIS IS 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  TANGENT TO ELLIPSE FROM Q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5.TO THIS TANGENT DRAW PERPENDICULAR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  LINE FROM Q. IT IS NORMAL TO CURVE.</a:t>
              </a:r>
            </a:p>
            <a:p>
              <a:endParaRPr lang="en-US" sz="1400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9493" name="Text Box 37"/>
          <p:cNvSpPr txBox="1">
            <a:spLocks noChangeArrowheads="1"/>
          </p:cNvSpPr>
          <p:nvPr/>
        </p:nvSpPr>
        <p:spPr bwMode="auto">
          <a:xfrm>
            <a:off x="228600" y="211138"/>
            <a:ext cx="1350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Problem 14</a:t>
            </a:r>
            <a:r>
              <a:rPr lang="en-US" sz="1200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</a:p>
        </p:txBody>
      </p:sp>
      <p:grpSp>
        <p:nvGrpSpPr>
          <p:cNvPr id="6163" name="Group 38"/>
          <p:cNvGrpSpPr>
            <a:grpSpLocks/>
          </p:cNvGrpSpPr>
          <p:nvPr/>
        </p:nvGrpSpPr>
        <p:grpSpPr bwMode="auto">
          <a:xfrm>
            <a:off x="8016875" y="6629400"/>
            <a:ext cx="1096963" cy="182563"/>
            <a:chOff x="5050" y="29"/>
            <a:chExt cx="691" cy="115"/>
          </a:xfrm>
        </p:grpSpPr>
        <p:sp>
          <p:nvSpPr>
            <p:cNvPr id="6164" name="AutoShape 39">
              <a:hlinkClick r:id="rId2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165" name="AutoShape 40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166" name="AutoShape 41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167" name="AutoShape 42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168" name="AutoShape 43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169" name="AutoShape 44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141180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0" dur="500"/>
                                        <p:tgtEl>
                                          <p:spTgt spid="1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1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9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9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5" grpId="0" animBg="1"/>
      <p:bldP spid="19476" grpId="0" animBg="1"/>
      <p:bldP spid="19477" grpId="0" animBg="1"/>
      <p:bldP spid="19478" grpId="0" animBg="1"/>
      <p:bldP spid="19479" grpId="0" animBg="1"/>
      <p:bldP spid="19480" grpId="0" autoUpdateAnimBg="0"/>
      <p:bldP spid="19481" grpId="0" autoUpdateAnimBg="0"/>
      <p:bldP spid="19482" grpId="0" autoUpdateAnimBg="0"/>
      <p:bldP spid="19483" grpId="0" autoUpdateAnimBg="0"/>
      <p:bldP spid="19484" grpId="0" autoUpdateAnimBg="0"/>
      <p:bldP spid="19485" grpId="0" autoUpdateAnimBg="0"/>
      <p:bldP spid="19486" grpId="0" animBg="1"/>
      <p:bldP spid="1949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rc 2"/>
          <p:cNvSpPr>
            <a:spLocks/>
          </p:cNvSpPr>
          <p:nvPr/>
        </p:nvSpPr>
        <p:spPr bwMode="auto">
          <a:xfrm rot="18902664" flipH="1">
            <a:off x="5156200" y="1855788"/>
            <a:ext cx="3178175" cy="3430587"/>
          </a:xfrm>
          <a:custGeom>
            <a:avLst/>
            <a:gdLst>
              <a:gd name="T0" fmla="*/ 0 w 21514"/>
              <a:gd name="T1" fmla="*/ 0 h 21600"/>
              <a:gd name="T2" fmla="*/ 3178175 w 21514"/>
              <a:gd name="T3" fmla="*/ 3123899 h 21600"/>
              <a:gd name="T4" fmla="*/ 0 w 21514"/>
              <a:gd name="T5" fmla="*/ 343058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14" h="21600" fill="none" extrusionOk="0">
                <a:moveTo>
                  <a:pt x="0" y="0"/>
                </a:moveTo>
                <a:cubicBezTo>
                  <a:pt x="11181" y="0"/>
                  <a:pt x="20513" y="8532"/>
                  <a:pt x="21513" y="19669"/>
                </a:cubicBezTo>
              </a:path>
              <a:path w="21514" h="21600" stroke="0" extrusionOk="0">
                <a:moveTo>
                  <a:pt x="0" y="0"/>
                </a:moveTo>
                <a:cubicBezTo>
                  <a:pt x="11181" y="0"/>
                  <a:pt x="20513" y="8532"/>
                  <a:pt x="21513" y="19669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Line 3"/>
          <p:cNvSpPr>
            <a:spLocks noChangeShapeType="1"/>
          </p:cNvSpPr>
          <p:nvPr/>
        </p:nvSpPr>
        <p:spPr bwMode="auto">
          <a:xfrm>
            <a:off x="4337050" y="1516063"/>
            <a:ext cx="0" cy="3816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4337050" y="3424238"/>
            <a:ext cx="2862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5694363" y="3375025"/>
            <a:ext cx="74612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5921375" y="1736725"/>
            <a:ext cx="0" cy="3522663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6070600" y="1725613"/>
            <a:ext cx="0" cy="351948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>
            <a:off x="6221413" y="1712913"/>
            <a:ext cx="0" cy="3521075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5" name="Line 9"/>
          <p:cNvSpPr>
            <a:spLocks noChangeShapeType="1"/>
          </p:cNvSpPr>
          <p:nvPr/>
        </p:nvSpPr>
        <p:spPr bwMode="auto">
          <a:xfrm>
            <a:off x="6373813" y="1298575"/>
            <a:ext cx="0" cy="417988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6" name="Oval 10"/>
          <p:cNvSpPr>
            <a:spLocks noChangeArrowheads="1"/>
          </p:cNvSpPr>
          <p:nvPr/>
        </p:nvSpPr>
        <p:spPr bwMode="auto">
          <a:xfrm>
            <a:off x="7124700" y="3375025"/>
            <a:ext cx="74613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pSp>
        <p:nvGrpSpPr>
          <p:cNvPr id="14347" name="Group 11"/>
          <p:cNvGrpSpPr>
            <a:grpSpLocks/>
          </p:cNvGrpSpPr>
          <p:nvPr/>
        </p:nvGrpSpPr>
        <p:grpSpPr bwMode="auto">
          <a:xfrm>
            <a:off x="4789488" y="3351213"/>
            <a:ext cx="752475" cy="144462"/>
            <a:chOff x="912" y="1016"/>
            <a:chExt cx="480" cy="2344"/>
          </a:xfrm>
        </p:grpSpPr>
        <p:sp>
          <p:nvSpPr>
            <p:cNvPr id="7221" name="Line 12"/>
            <p:cNvSpPr>
              <a:spLocks noChangeShapeType="1"/>
            </p:cNvSpPr>
            <p:nvPr/>
          </p:nvSpPr>
          <p:spPr bwMode="auto">
            <a:xfrm>
              <a:off x="912" y="1056"/>
              <a:ext cx="0" cy="230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2" name="Line 13"/>
            <p:cNvSpPr>
              <a:spLocks noChangeShapeType="1"/>
            </p:cNvSpPr>
            <p:nvPr/>
          </p:nvSpPr>
          <p:spPr bwMode="auto">
            <a:xfrm>
              <a:off x="1008" y="1048"/>
              <a:ext cx="0" cy="230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3" name="Line 14"/>
            <p:cNvSpPr>
              <a:spLocks noChangeShapeType="1"/>
            </p:cNvSpPr>
            <p:nvPr/>
          </p:nvSpPr>
          <p:spPr bwMode="auto">
            <a:xfrm>
              <a:off x="1104" y="1040"/>
              <a:ext cx="0" cy="230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4" name="Line 15"/>
            <p:cNvSpPr>
              <a:spLocks noChangeShapeType="1"/>
            </p:cNvSpPr>
            <p:nvPr/>
          </p:nvSpPr>
          <p:spPr bwMode="auto">
            <a:xfrm>
              <a:off x="1200" y="1032"/>
              <a:ext cx="0" cy="230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5" name="Line 16"/>
            <p:cNvSpPr>
              <a:spLocks noChangeShapeType="1"/>
            </p:cNvSpPr>
            <p:nvPr/>
          </p:nvSpPr>
          <p:spPr bwMode="auto">
            <a:xfrm>
              <a:off x="1296" y="1024"/>
              <a:ext cx="0" cy="230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6" name="Line 17"/>
            <p:cNvSpPr>
              <a:spLocks noChangeShapeType="1"/>
            </p:cNvSpPr>
            <p:nvPr/>
          </p:nvSpPr>
          <p:spPr bwMode="auto">
            <a:xfrm>
              <a:off x="1392" y="1016"/>
              <a:ext cx="0" cy="230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54" name="Line 18"/>
          <p:cNvSpPr>
            <a:spLocks noChangeShapeType="1"/>
          </p:cNvSpPr>
          <p:nvPr/>
        </p:nvSpPr>
        <p:spPr bwMode="auto">
          <a:xfrm>
            <a:off x="5921375" y="2543175"/>
            <a:ext cx="1203325" cy="881063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5" name="Line 19"/>
          <p:cNvSpPr>
            <a:spLocks noChangeShapeType="1"/>
          </p:cNvSpPr>
          <p:nvPr/>
        </p:nvSpPr>
        <p:spPr bwMode="auto">
          <a:xfrm flipV="1">
            <a:off x="5945188" y="3413125"/>
            <a:ext cx="1206500" cy="87788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6" name="Oval 20"/>
          <p:cNvSpPr>
            <a:spLocks noChangeArrowheads="1"/>
          </p:cNvSpPr>
          <p:nvPr/>
        </p:nvSpPr>
        <p:spPr bwMode="auto">
          <a:xfrm>
            <a:off x="5883275" y="2517775"/>
            <a:ext cx="76200" cy="746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4357" name="Oval 21"/>
          <p:cNvSpPr>
            <a:spLocks noChangeArrowheads="1"/>
          </p:cNvSpPr>
          <p:nvPr/>
        </p:nvSpPr>
        <p:spPr bwMode="auto">
          <a:xfrm>
            <a:off x="5883275" y="4254500"/>
            <a:ext cx="76200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4358" name="Line 22"/>
          <p:cNvSpPr>
            <a:spLocks noChangeShapeType="1"/>
          </p:cNvSpPr>
          <p:nvPr/>
        </p:nvSpPr>
        <p:spPr bwMode="auto">
          <a:xfrm rot="2994175">
            <a:off x="5767387" y="2778126"/>
            <a:ext cx="168592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9" name="Line 23"/>
          <p:cNvSpPr>
            <a:spLocks noChangeShapeType="1"/>
          </p:cNvSpPr>
          <p:nvPr/>
        </p:nvSpPr>
        <p:spPr bwMode="auto">
          <a:xfrm rot="18605825" flipV="1">
            <a:off x="5780881" y="4047332"/>
            <a:ext cx="1685925" cy="158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0" name="Oval 24"/>
          <p:cNvSpPr>
            <a:spLocks noChangeArrowheads="1"/>
          </p:cNvSpPr>
          <p:nvPr/>
        </p:nvSpPr>
        <p:spPr bwMode="auto">
          <a:xfrm>
            <a:off x="6021388" y="2081213"/>
            <a:ext cx="74612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4361" name="Oval 25"/>
          <p:cNvSpPr>
            <a:spLocks noChangeArrowheads="1"/>
          </p:cNvSpPr>
          <p:nvPr/>
        </p:nvSpPr>
        <p:spPr bwMode="auto">
          <a:xfrm>
            <a:off x="6007100" y="4695825"/>
            <a:ext cx="74613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4362" name="Line 26"/>
          <p:cNvSpPr>
            <a:spLocks noChangeShapeType="1"/>
          </p:cNvSpPr>
          <p:nvPr/>
        </p:nvSpPr>
        <p:spPr bwMode="auto">
          <a:xfrm rot="3724731">
            <a:off x="5744369" y="2580482"/>
            <a:ext cx="1906587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3" name="Line 27"/>
          <p:cNvSpPr>
            <a:spLocks noChangeShapeType="1"/>
          </p:cNvSpPr>
          <p:nvPr/>
        </p:nvSpPr>
        <p:spPr bwMode="auto">
          <a:xfrm rot="17875269" flipV="1">
            <a:off x="5719763" y="4303713"/>
            <a:ext cx="1908175" cy="3175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4" name="Oval 28"/>
          <p:cNvSpPr>
            <a:spLocks noChangeArrowheads="1"/>
          </p:cNvSpPr>
          <p:nvPr/>
        </p:nvSpPr>
        <p:spPr bwMode="auto">
          <a:xfrm>
            <a:off x="6183313" y="1736725"/>
            <a:ext cx="76200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4365" name="Oval 29"/>
          <p:cNvSpPr>
            <a:spLocks noChangeArrowheads="1"/>
          </p:cNvSpPr>
          <p:nvPr/>
        </p:nvSpPr>
        <p:spPr bwMode="auto">
          <a:xfrm>
            <a:off x="6183313" y="5099050"/>
            <a:ext cx="76200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4366" name="Line 30"/>
          <p:cNvSpPr>
            <a:spLocks noChangeShapeType="1"/>
          </p:cNvSpPr>
          <p:nvPr/>
        </p:nvSpPr>
        <p:spPr bwMode="auto">
          <a:xfrm rot="4121906">
            <a:off x="5748337" y="2459038"/>
            <a:ext cx="2054225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7" name="Oval 31"/>
          <p:cNvSpPr>
            <a:spLocks noChangeArrowheads="1"/>
          </p:cNvSpPr>
          <p:nvPr/>
        </p:nvSpPr>
        <p:spPr bwMode="auto">
          <a:xfrm>
            <a:off x="6357938" y="1516063"/>
            <a:ext cx="76200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4368" name="Oval 32"/>
          <p:cNvSpPr>
            <a:spLocks noChangeArrowheads="1"/>
          </p:cNvSpPr>
          <p:nvPr/>
        </p:nvSpPr>
        <p:spPr bwMode="auto">
          <a:xfrm>
            <a:off x="6348413" y="5318125"/>
            <a:ext cx="74612" cy="746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4369" name="Line 33"/>
          <p:cNvSpPr>
            <a:spLocks noChangeShapeType="1"/>
          </p:cNvSpPr>
          <p:nvPr/>
        </p:nvSpPr>
        <p:spPr bwMode="auto">
          <a:xfrm rot="17478094" flipV="1">
            <a:off x="5713413" y="4419600"/>
            <a:ext cx="2120900" cy="3175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4035425" y="1371600"/>
            <a:ext cx="3492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4035425" y="51816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5421313" y="3036888"/>
            <a:ext cx="347662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4419600" y="1116013"/>
            <a:ext cx="11826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 u="sng">
                <a:latin typeface="Times New Roman" panose="02020603050405020304" pitchFamily="18" charset="0"/>
              </a:rPr>
              <a:t>PARABOLA</a:t>
            </a:r>
          </a:p>
        </p:txBody>
      </p:sp>
      <p:sp>
        <p:nvSpPr>
          <p:cNvPr id="14374" name="Line 38"/>
          <p:cNvSpPr>
            <a:spLocks noChangeShapeType="1"/>
          </p:cNvSpPr>
          <p:nvPr/>
        </p:nvSpPr>
        <p:spPr bwMode="auto">
          <a:xfrm>
            <a:off x="5768975" y="1225550"/>
            <a:ext cx="527050" cy="363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4492625" y="2990850"/>
            <a:ext cx="1052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>
                <a:latin typeface="Times New Roman" panose="02020603050405020304" pitchFamily="18" charset="0"/>
              </a:rPr>
              <a:t>(</a:t>
            </a:r>
            <a:r>
              <a:rPr lang="en-US" sz="1600" i="1">
                <a:latin typeface="Times New Roman" panose="02020603050405020304" pitchFamily="18" charset="0"/>
              </a:rPr>
              <a:t>VERTEX</a:t>
            </a:r>
            <a:r>
              <a:rPr lang="en-US" sz="16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6972300" y="3236913"/>
            <a:ext cx="876300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b="1">
                <a:latin typeface="Times New Roman" panose="02020603050405020304" pitchFamily="18" charset="0"/>
              </a:rPr>
              <a:t>F </a:t>
            </a:r>
          </a:p>
          <a:p>
            <a:pPr algn="ctr"/>
            <a:r>
              <a:rPr lang="en-US" b="1">
                <a:latin typeface="Times New Roman" panose="02020603050405020304" pitchFamily="18" charset="0"/>
              </a:rPr>
              <a:t>( </a:t>
            </a:r>
            <a:r>
              <a:rPr lang="en-US" i="1">
                <a:latin typeface="Times New Roman" panose="02020603050405020304" pitchFamily="18" charset="0"/>
              </a:rPr>
              <a:t>focus</a:t>
            </a:r>
            <a:r>
              <a:rPr lang="en-US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4377" name="Text Box 41"/>
          <p:cNvSpPr txBox="1">
            <a:spLocks noChangeArrowheads="1"/>
          </p:cNvSpPr>
          <p:nvPr/>
        </p:nvSpPr>
        <p:spPr bwMode="auto">
          <a:xfrm>
            <a:off x="5749925" y="3400425"/>
            <a:ext cx="7175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200">
                <a:latin typeface="Times New Roman" panose="02020603050405020304" pitchFamily="18" charset="0"/>
              </a:rPr>
              <a:t>1  2  3  4</a:t>
            </a:r>
          </a:p>
        </p:txBody>
      </p:sp>
      <p:sp>
        <p:nvSpPr>
          <p:cNvPr id="7204" name="Text Box 42"/>
          <p:cNvSpPr txBox="1">
            <a:spLocks noChangeArrowheads="1"/>
          </p:cNvSpPr>
          <p:nvPr/>
        </p:nvSpPr>
        <p:spPr bwMode="auto">
          <a:xfrm>
            <a:off x="6267450" y="76200"/>
            <a:ext cx="2720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b="1" u="sng">
                <a:solidFill>
                  <a:srgbClr val="FF0066"/>
                </a:solidFill>
                <a:latin typeface="Times New Roman" panose="02020603050405020304" pitchFamily="18" charset="0"/>
              </a:rPr>
              <a:t>PARABOLA</a:t>
            </a:r>
          </a:p>
          <a:p>
            <a:pPr algn="ctr"/>
            <a:r>
              <a:rPr lang="en-US" sz="1400" b="1" u="sng">
                <a:solidFill>
                  <a:schemeClr val="accent2"/>
                </a:solidFill>
                <a:latin typeface="Times New Roman" panose="02020603050405020304" pitchFamily="18" charset="0"/>
              </a:rPr>
              <a:t>DIRECTRIX-FOCUS METHOD</a:t>
            </a:r>
          </a:p>
        </p:txBody>
      </p:sp>
      <p:grpSp>
        <p:nvGrpSpPr>
          <p:cNvPr id="14379" name="Group 43"/>
          <p:cNvGrpSpPr>
            <a:grpSpLocks/>
          </p:cNvGrpSpPr>
          <p:nvPr/>
        </p:nvGrpSpPr>
        <p:grpSpPr bwMode="auto">
          <a:xfrm>
            <a:off x="381000" y="1219200"/>
            <a:ext cx="3200400" cy="5270500"/>
            <a:chOff x="240" y="768"/>
            <a:chExt cx="2064" cy="3432"/>
          </a:xfrm>
        </p:grpSpPr>
        <p:sp>
          <p:nvSpPr>
            <p:cNvPr id="7219" name="Rectangle 44"/>
            <p:cNvSpPr>
              <a:spLocks noChangeArrowheads="1"/>
            </p:cNvSpPr>
            <p:nvPr/>
          </p:nvSpPr>
          <p:spPr bwMode="auto">
            <a:xfrm>
              <a:off x="240" y="768"/>
              <a:ext cx="2064" cy="2832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7220" name="Rectangle 45"/>
            <p:cNvSpPr>
              <a:spLocks noChangeArrowheads="1"/>
            </p:cNvSpPr>
            <p:nvPr/>
          </p:nvSpPr>
          <p:spPr bwMode="auto">
            <a:xfrm>
              <a:off x="240" y="816"/>
              <a:ext cx="2064" cy="3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SOLUTION STEPS:</a:t>
              </a: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1.Locate center of line,  perpendicular to </a:t>
              </a: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AB from  point F. This will be initial  </a:t>
              </a: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point P and also the vertex.</a:t>
              </a: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2.Mark 5 mm distance to its right side,  </a:t>
              </a: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name those points 1,2,3,4 and from those </a:t>
              </a: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draw lines parallel to AB.</a:t>
              </a: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3.Mark 5 mm distance to its left of P and </a:t>
              </a: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name it 1.</a:t>
              </a: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4.Take O-1 distance as radius and F as</a:t>
              </a: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center  draw an arc </a:t>
              </a: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cutting first parallel line to  AB. Name </a:t>
              </a: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upper point P</a:t>
              </a:r>
              <a:r>
                <a:rPr lang="en-US" sz="14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lower point P</a:t>
              </a:r>
              <a:r>
                <a:rPr lang="en-US" sz="14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.   (FP</a:t>
              </a:r>
              <a:r>
                <a:rPr lang="en-US" sz="1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=O1)</a:t>
              </a:r>
            </a:p>
            <a:p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5.Similarly repeat this process by taking </a:t>
              </a: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again 5mm to  right and left and locate </a:t>
              </a: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P</a:t>
              </a:r>
              <a:r>
                <a:rPr lang="en-US" sz="14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14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.  </a:t>
              </a:r>
            </a:p>
            <a:p>
              <a:r>
                <a:rPr 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6.Join all these points in smooth curve. </a:t>
              </a:r>
            </a:p>
            <a:p>
              <a:endParaRPr 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It will be the locus  of  P equidistance </a:t>
              </a:r>
            </a:p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from line  AB and fixed point F.</a:t>
              </a:r>
            </a:p>
            <a:p>
              <a:endParaRPr lang="en-US" sz="1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382" name="Group 46"/>
          <p:cNvGrpSpPr>
            <a:grpSpLocks/>
          </p:cNvGrpSpPr>
          <p:nvPr/>
        </p:nvGrpSpPr>
        <p:grpSpPr bwMode="auto">
          <a:xfrm>
            <a:off x="381000" y="152400"/>
            <a:ext cx="4905375" cy="762000"/>
            <a:chOff x="240" y="96"/>
            <a:chExt cx="3090" cy="480"/>
          </a:xfrm>
        </p:grpSpPr>
        <p:sp>
          <p:nvSpPr>
            <p:cNvPr id="7217" name="Rectangle 47"/>
            <p:cNvSpPr>
              <a:spLocks noChangeArrowheads="1"/>
            </p:cNvSpPr>
            <p:nvPr/>
          </p:nvSpPr>
          <p:spPr bwMode="auto">
            <a:xfrm>
              <a:off x="240" y="96"/>
              <a:ext cx="3072" cy="4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7218" name="Text Box 48"/>
            <p:cNvSpPr txBox="1">
              <a:spLocks noChangeArrowheads="1"/>
            </p:cNvSpPr>
            <p:nvPr/>
          </p:nvSpPr>
          <p:spPr bwMode="auto">
            <a:xfrm>
              <a:off x="240" y="96"/>
              <a:ext cx="3090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 b="1">
                  <a:latin typeface="Times New Roman" panose="02020603050405020304" pitchFamily="18" charset="0"/>
                </a:rPr>
                <a:t>PROBLEM 9:</a:t>
              </a:r>
              <a:r>
                <a:rPr lang="en-US" sz="1400">
                  <a:latin typeface="Times New Roman" panose="02020603050405020304" pitchFamily="18" charset="0"/>
                </a:rPr>
                <a:t> Point F is 50 mm from a vertical straight line AB. 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Draw locus of point P, moving in a plane such that 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it always remains equidistant from point F and line AB.</a:t>
              </a:r>
            </a:p>
          </p:txBody>
        </p:sp>
      </p:grpSp>
      <p:grpSp>
        <p:nvGrpSpPr>
          <p:cNvPr id="7207" name="Group 49"/>
          <p:cNvGrpSpPr>
            <a:grpSpLocks/>
          </p:cNvGrpSpPr>
          <p:nvPr/>
        </p:nvGrpSpPr>
        <p:grpSpPr bwMode="auto">
          <a:xfrm>
            <a:off x="8016875" y="6629400"/>
            <a:ext cx="1096963" cy="182563"/>
            <a:chOff x="5050" y="29"/>
            <a:chExt cx="691" cy="115"/>
          </a:xfrm>
        </p:grpSpPr>
        <p:sp>
          <p:nvSpPr>
            <p:cNvPr id="7211" name="AutoShape 50">
              <a:hlinkClick r:id="rId2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7212" name="AutoShape 51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7213" name="AutoShape 52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7214" name="AutoShape 53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7215" name="AutoShape 54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7216" name="AutoShape 55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sp>
        <p:nvSpPr>
          <p:cNvPr id="7208" name="Text Box 56"/>
          <p:cNvSpPr txBox="1">
            <a:spLocks noChangeArrowheads="1"/>
          </p:cNvSpPr>
          <p:nvPr/>
        </p:nvSpPr>
        <p:spPr bwMode="auto">
          <a:xfrm>
            <a:off x="3962400" y="3276600"/>
            <a:ext cx="38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b="1">
                <a:latin typeface="Tahoma" panose="020B0604030504040204" pitchFamily="34" charset="0"/>
              </a:rPr>
              <a:t>O</a:t>
            </a:r>
          </a:p>
        </p:txBody>
      </p:sp>
      <p:sp>
        <p:nvSpPr>
          <p:cNvPr id="14393" name="Text Box 57"/>
          <p:cNvSpPr txBox="1">
            <a:spLocks noChangeArrowheads="1"/>
          </p:cNvSpPr>
          <p:nvPr/>
        </p:nvSpPr>
        <p:spPr bwMode="auto">
          <a:xfrm>
            <a:off x="5562600" y="2362200"/>
            <a:ext cx="400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b="1">
                <a:latin typeface="Times New Roman" panose="02020603050405020304" pitchFamily="18" charset="0"/>
              </a:rPr>
              <a:t>P</a:t>
            </a:r>
            <a:r>
              <a:rPr lang="en-US" b="1" baseline="-25000">
                <a:latin typeface="Times New Roman" panose="02020603050405020304" pitchFamily="18" charset="0"/>
              </a:rPr>
              <a:t>1</a:t>
            </a:r>
            <a:endParaRPr lang="en-US" b="1">
              <a:latin typeface="Times New Roman" panose="02020603050405020304" pitchFamily="18" charset="0"/>
            </a:endParaRPr>
          </a:p>
        </p:txBody>
      </p:sp>
      <p:sp>
        <p:nvSpPr>
          <p:cNvPr id="14394" name="Text Box 58"/>
          <p:cNvSpPr txBox="1">
            <a:spLocks noChangeArrowheads="1"/>
          </p:cNvSpPr>
          <p:nvPr/>
        </p:nvSpPr>
        <p:spPr bwMode="auto">
          <a:xfrm>
            <a:off x="5486400" y="4114800"/>
            <a:ext cx="400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b="1">
                <a:latin typeface="Times New Roman" panose="02020603050405020304" pitchFamily="18" charset="0"/>
              </a:rPr>
              <a:t>P</a:t>
            </a:r>
            <a:r>
              <a:rPr lang="en-US" b="1" baseline="-25000">
                <a:latin typeface="Times New Roman" panose="02020603050405020304" pitchFamily="18" charset="0"/>
              </a:rPr>
              <a:t>2</a:t>
            </a:r>
            <a:endParaRPr lang="en-US" b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4622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4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4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4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4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4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4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4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4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4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4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4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4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4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4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4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4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14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14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14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14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14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14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4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2" dur="500"/>
                                        <p:tgtEl>
                                          <p:spTgt spid="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1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1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14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4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nimBg="1"/>
      <p:bldP spid="14339" grpId="0" animBg="1"/>
      <p:bldP spid="14340" grpId="0" animBg="1"/>
      <p:bldP spid="14341" grpId="0" animBg="1"/>
      <p:bldP spid="14342" grpId="0" animBg="1"/>
      <p:bldP spid="14343" grpId="0" animBg="1"/>
      <p:bldP spid="14344" grpId="0" animBg="1"/>
      <p:bldP spid="14345" grpId="0" animBg="1"/>
      <p:bldP spid="14346" grpId="0" animBg="1"/>
      <p:bldP spid="14354" grpId="0" animBg="1"/>
      <p:bldP spid="14355" grpId="0" animBg="1"/>
      <p:bldP spid="14356" grpId="0" animBg="1"/>
      <p:bldP spid="14357" grpId="0" animBg="1"/>
      <p:bldP spid="14358" grpId="0" animBg="1"/>
      <p:bldP spid="14359" grpId="0" animBg="1"/>
      <p:bldP spid="14360" grpId="0" animBg="1"/>
      <p:bldP spid="14361" grpId="0" animBg="1"/>
      <p:bldP spid="14362" grpId="0" animBg="1"/>
      <p:bldP spid="14363" grpId="0" animBg="1"/>
      <p:bldP spid="14364" grpId="0" animBg="1"/>
      <p:bldP spid="14365" grpId="0" animBg="1"/>
      <p:bldP spid="14366" grpId="0" animBg="1"/>
      <p:bldP spid="14367" grpId="0" animBg="1"/>
      <p:bldP spid="14368" grpId="0" animBg="1"/>
      <p:bldP spid="14369" grpId="0" animBg="1"/>
      <p:bldP spid="14370" grpId="0" autoUpdateAnimBg="0"/>
      <p:bldP spid="14371" grpId="0" autoUpdateAnimBg="0"/>
      <p:bldP spid="14372" grpId="0" autoUpdateAnimBg="0"/>
      <p:bldP spid="14373" grpId="0" autoUpdateAnimBg="0"/>
      <p:bldP spid="14374" grpId="0" animBg="1"/>
      <p:bldP spid="14375" grpId="0" autoUpdateAnimBg="0"/>
      <p:bldP spid="14376" grpId="0" autoUpdateAnimBg="0"/>
      <p:bldP spid="14377" grpId="0" autoUpdateAnimBg="0"/>
      <p:bldP spid="14393" grpId="0" autoUpdateAnimBg="0"/>
      <p:bldP spid="14394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Line 2"/>
          <p:cNvSpPr>
            <a:spLocks noChangeShapeType="1"/>
          </p:cNvSpPr>
          <p:nvPr/>
        </p:nvSpPr>
        <p:spPr bwMode="auto">
          <a:xfrm flipV="1">
            <a:off x="6146800" y="3429000"/>
            <a:ext cx="1066800" cy="144780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3" name="Line 3"/>
          <p:cNvSpPr>
            <a:spLocks noChangeShapeType="1"/>
          </p:cNvSpPr>
          <p:nvPr/>
        </p:nvSpPr>
        <p:spPr bwMode="auto">
          <a:xfrm flipH="1" flipV="1">
            <a:off x="4394200" y="1295400"/>
            <a:ext cx="2819400" cy="213360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4" name="Line 4"/>
          <p:cNvSpPr>
            <a:spLocks noChangeShapeType="1"/>
          </p:cNvSpPr>
          <p:nvPr/>
        </p:nvSpPr>
        <p:spPr bwMode="auto">
          <a:xfrm>
            <a:off x="4394200" y="1295400"/>
            <a:ext cx="2286000" cy="4800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 flipV="1">
            <a:off x="5232400" y="4267200"/>
            <a:ext cx="2209800" cy="11430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0486" name="Group 6"/>
          <p:cNvGrpSpPr>
            <a:grpSpLocks/>
          </p:cNvGrpSpPr>
          <p:nvPr/>
        </p:nvGrpSpPr>
        <p:grpSpPr bwMode="auto">
          <a:xfrm>
            <a:off x="4089400" y="895350"/>
            <a:ext cx="4292600" cy="4972050"/>
            <a:chOff x="1920" y="564"/>
            <a:chExt cx="2704" cy="3132"/>
          </a:xfrm>
        </p:grpSpPr>
        <p:sp>
          <p:nvSpPr>
            <p:cNvPr id="8222" name="Oval 7"/>
            <p:cNvSpPr>
              <a:spLocks noChangeArrowheads="1"/>
            </p:cNvSpPr>
            <p:nvPr/>
          </p:nvSpPr>
          <p:spPr bwMode="auto">
            <a:xfrm>
              <a:off x="2965" y="2126"/>
              <a:ext cx="47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grpSp>
          <p:nvGrpSpPr>
            <p:cNvPr id="8223" name="Group 8"/>
            <p:cNvGrpSpPr>
              <a:grpSpLocks/>
            </p:cNvGrpSpPr>
            <p:nvPr/>
          </p:nvGrpSpPr>
          <p:grpSpPr bwMode="auto">
            <a:xfrm>
              <a:off x="1920" y="564"/>
              <a:ext cx="2704" cy="3132"/>
              <a:chOff x="1920" y="564"/>
              <a:chExt cx="2704" cy="3132"/>
            </a:xfrm>
          </p:grpSpPr>
          <p:sp>
            <p:nvSpPr>
              <p:cNvPr id="8224" name="Arc 9"/>
              <p:cNvSpPr>
                <a:spLocks/>
              </p:cNvSpPr>
              <p:nvPr/>
            </p:nvSpPr>
            <p:spPr bwMode="auto">
              <a:xfrm rot="18902664" flipH="1">
                <a:off x="2622" y="1169"/>
                <a:ext cx="2002" cy="2161"/>
              </a:xfrm>
              <a:custGeom>
                <a:avLst/>
                <a:gdLst>
                  <a:gd name="T0" fmla="*/ 0 w 21514"/>
                  <a:gd name="T1" fmla="*/ 0 h 21600"/>
                  <a:gd name="T2" fmla="*/ 2002 w 21514"/>
                  <a:gd name="T3" fmla="*/ 1968 h 21600"/>
                  <a:gd name="T4" fmla="*/ 0 w 21514"/>
                  <a:gd name="T5" fmla="*/ 2161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14" h="21600" fill="none" extrusionOk="0">
                    <a:moveTo>
                      <a:pt x="0" y="0"/>
                    </a:moveTo>
                    <a:cubicBezTo>
                      <a:pt x="11181" y="0"/>
                      <a:pt x="20513" y="8532"/>
                      <a:pt x="21513" y="19669"/>
                    </a:cubicBezTo>
                  </a:path>
                  <a:path w="21514" h="21600" stroke="0" extrusionOk="0">
                    <a:moveTo>
                      <a:pt x="0" y="0"/>
                    </a:moveTo>
                    <a:cubicBezTo>
                      <a:pt x="11181" y="0"/>
                      <a:pt x="20513" y="8532"/>
                      <a:pt x="21513" y="19669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5" name="Line 10"/>
              <p:cNvSpPr>
                <a:spLocks noChangeShapeType="1"/>
              </p:cNvSpPr>
              <p:nvPr/>
            </p:nvSpPr>
            <p:spPr bwMode="auto">
              <a:xfrm>
                <a:off x="2110" y="720"/>
                <a:ext cx="0" cy="29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6" name="Text Box 11"/>
              <p:cNvSpPr txBox="1">
                <a:spLocks noChangeArrowheads="1"/>
              </p:cNvSpPr>
              <p:nvPr/>
            </p:nvSpPr>
            <p:spPr bwMode="auto">
              <a:xfrm>
                <a:off x="1920" y="864"/>
                <a:ext cx="22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8227" name="Text Box 12"/>
              <p:cNvSpPr txBox="1">
                <a:spLocks noChangeArrowheads="1"/>
              </p:cNvSpPr>
              <p:nvPr/>
            </p:nvSpPr>
            <p:spPr bwMode="auto">
              <a:xfrm>
                <a:off x="1920" y="3264"/>
                <a:ext cx="21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8228" name="Text Box 13"/>
              <p:cNvSpPr txBox="1">
                <a:spLocks noChangeArrowheads="1"/>
              </p:cNvSpPr>
              <p:nvPr/>
            </p:nvSpPr>
            <p:spPr bwMode="auto">
              <a:xfrm>
                <a:off x="2290" y="564"/>
                <a:ext cx="8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u="sng">
                    <a:latin typeface="Times New Roman" panose="02020603050405020304" pitchFamily="18" charset="0"/>
                  </a:rPr>
                  <a:t>PARABOLA</a:t>
                </a:r>
              </a:p>
            </p:txBody>
          </p:sp>
          <p:sp>
            <p:nvSpPr>
              <p:cNvPr id="8229" name="Line 14"/>
              <p:cNvSpPr>
                <a:spLocks noChangeShapeType="1"/>
              </p:cNvSpPr>
              <p:nvPr/>
            </p:nvSpPr>
            <p:spPr bwMode="auto">
              <a:xfrm>
                <a:off x="3012" y="772"/>
                <a:ext cx="332" cy="2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0" name="Text Box 15"/>
              <p:cNvSpPr txBox="1">
                <a:spLocks noChangeArrowheads="1"/>
              </p:cNvSpPr>
              <p:nvPr/>
            </p:nvSpPr>
            <p:spPr bwMode="auto">
              <a:xfrm>
                <a:off x="2271" y="1995"/>
                <a:ext cx="57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sz="1600" i="1">
                    <a:latin typeface="Times New Roman" panose="02020603050405020304" pitchFamily="18" charset="0"/>
                  </a:rPr>
                  <a:t>VERTEX</a:t>
                </a:r>
                <a:endParaRPr lang="en-US" sz="16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1" name="Text Box 16"/>
              <p:cNvSpPr txBox="1">
                <a:spLocks noChangeArrowheads="1"/>
              </p:cNvSpPr>
              <p:nvPr/>
            </p:nvSpPr>
            <p:spPr bwMode="auto">
              <a:xfrm>
                <a:off x="3770" y="2039"/>
                <a:ext cx="552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b="1">
                    <a:latin typeface="Times New Roman" panose="02020603050405020304" pitchFamily="18" charset="0"/>
                  </a:rPr>
                  <a:t>F </a:t>
                </a:r>
              </a:p>
              <a:p>
                <a:pPr algn="ctr"/>
                <a:r>
                  <a:rPr lang="en-US" b="1">
                    <a:latin typeface="Times New Roman" panose="02020603050405020304" pitchFamily="18" charset="0"/>
                  </a:rPr>
                  <a:t>( </a:t>
                </a:r>
                <a:r>
                  <a:rPr lang="en-US" i="1">
                    <a:latin typeface="Times New Roman" panose="02020603050405020304" pitchFamily="18" charset="0"/>
                  </a:rPr>
                  <a:t>focus</a:t>
                </a:r>
                <a:r>
                  <a:rPr lang="en-US" b="1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8232" name="Line 17"/>
              <p:cNvSpPr>
                <a:spLocks noChangeShapeType="1"/>
              </p:cNvSpPr>
              <p:nvPr/>
            </p:nvSpPr>
            <p:spPr bwMode="auto">
              <a:xfrm>
                <a:off x="2110" y="2157"/>
                <a:ext cx="180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3" name="Text Box 18"/>
              <p:cNvSpPr txBox="1">
                <a:spLocks noChangeArrowheads="1"/>
              </p:cNvSpPr>
              <p:nvPr/>
            </p:nvSpPr>
            <p:spPr bwMode="auto">
              <a:xfrm>
                <a:off x="2793" y="1978"/>
                <a:ext cx="219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b="1">
                    <a:latin typeface="Times New Roman" panose="02020603050405020304" pitchFamily="18" charset="0"/>
                  </a:rPr>
                  <a:t>V</a:t>
                </a:r>
              </a:p>
            </p:txBody>
          </p:sp>
          <p:sp>
            <p:nvSpPr>
              <p:cNvPr id="8234" name="Oval 19"/>
              <p:cNvSpPr>
                <a:spLocks noChangeArrowheads="1"/>
              </p:cNvSpPr>
              <p:nvPr/>
            </p:nvSpPr>
            <p:spPr bwMode="auto">
              <a:xfrm>
                <a:off x="3866" y="2126"/>
                <a:ext cx="47" cy="4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</p:grpSp>
      <p:sp>
        <p:nvSpPr>
          <p:cNvPr id="20500" name="Text Box 20"/>
          <p:cNvSpPr txBox="1">
            <a:spLocks noChangeArrowheads="1"/>
          </p:cNvSpPr>
          <p:nvPr/>
        </p:nvSpPr>
        <p:spPr bwMode="auto">
          <a:xfrm>
            <a:off x="5918200" y="4964113"/>
            <a:ext cx="322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009900"/>
                </a:solidFill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20501" name="Text Box 21"/>
          <p:cNvSpPr txBox="1">
            <a:spLocks noChangeArrowheads="1"/>
          </p:cNvSpPr>
          <p:nvPr/>
        </p:nvSpPr>
        <p:spPr bwMode="auto">
          <a:xfrm>
            <a:off x="6359525" y="5954713"/>
            <a:ext cx="303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0502" name="Text Box 22"/>
          <p:cNvSpPr txBox="1">
            <a:spLocks noChangeArrowheads="1"/>
          </p:cNvSpPr>
          <p:nvPr/>
        </p:nvSpPr>
        <p:spPr bwMode="auto">
          <a:xfrm>
            <a:off x="7366000" y="4114800"/>
            <a:ext cx="312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66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20503" name="Text Box 23"/>
          <p:cNvSpPr txBox="1">
            <a:spLocks noChangeArrowheads="1"/>
          </p:cNvSpPr>
          <p:nvPr/>
        </p:nvSpPr>
        <p:spPr bwMode="auto">
          <a:xfrm>
            <a:off x="5080000" y="5257800"/>
            <a:ext cx="312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66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20504" name="Text Box 24"/>
          <p:cNvSpPr txBox="1">
            <a:spLocks noChangeArrowheads="1"/>
          </p:cNvSpPr>
          <p:nvPr/>
        </p:nvSpPr>
        <p:spPr bwMode="auto">
          <a:xfrm>
            <a:off x="4394200" y="990600"/>
            <a:ext cx="303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0505" name="Text Box 25"/>
          <p:cNvSpPr txBox="1">
            <a:spLocks noChangeArrowheads="1"/>
          </p:cNvSpPr>
          <p:nvPr/>
        </p:nvSpPr>
        <p:spPr bwMode="auto">
          <a:xfrm>
            <a:off x="6737350" y="3376613"/>
            <a:ext cx="41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66"/>
                </a:solidFill>
                <a:latin typeface="Times New Roman" panose="02020603050405020304" pitchFamily="18" charset="0"/>
              </a:rPr>
              <a:t>90</a:t>
            </a:r>
            <a:r>
              <a:rPr lang="en-US" sz="1400" b="1" baseline="30000">
                <a:solidFill>
                  <a:srgbClr val="FF0066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506" name="Arc 26"/>
          <p:cNvSpPr>
            <a:spLocks/>
          </p:cNvSpPr>
          <p:nvPr/>
        </p:nvSpPr>
        <p:spPr bwMode="auto">
          <a:xfrm rot="-8342235">
            <a:off x="6604000" y="3233738"/>
            <a:ext cx="523875" cy="381000"/>
          </a:xfrm>
          <a:custGeom>
            <a:avLst/>
            <a:gdLst>
              <a:gd name="T0" fmla="*/ 0 w 29704"/>
              <a:gd name="T1" fmla="*/ 27834 h 21600"/>
              <a:gd name="T2" fmla="*/ 523875 w 29704"/>
              <a:gd name="T3" fmla="*/ 381000 h 21600"/>
              <a:gd name="T4" fmla="*/ 142926 w 29704"/>
              <a:gd name="T5" fmla="*/ 3810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704" h="21600" fill="none" extrusionOk="0">
                <a:moveTo>
                  <a:pt x="-1" y="1577"/>
                </a:moveTo>
                <a:cubicBezTo>
                  <a:pt x="2574" y="535"/>
                  <a:pt x="5326" y="-1"/>
                  <a:pt x="8104" y="0"/>
                </a:cubicBezTo>
                <a:cubicBezTo>
                  <a:pt x="20033" y="0"/>
                  <a:pt x="29704" y="9670"/>
                  <a:pt x="29704" y="21600"/>
                </a:cubicBezTo>
              </a:path>
              <a:path w="29704" h="21600" stroke="0" extrusionOk="0">
                <a:moveTo>
                  <a:pt x="-1" y="1577"/>
                </a:moveTo>
                <a:cubicBezTo>
                  <a:pt x="2574" y="535"/>
                  <a:pt x="5326" y="-1"/>
                  <a:pt x="8104" y="0"/>
                </a:cubicBezTo>
                <a:cubicBezTo>
                  <a:pt x="20033" y="0"/>
                  <a:pt x="29704" y="9670"/>
                  <a:pt x="29704" y="21600"/>
                </a:cubicBezTo>
                <a:lnTo>
                  <a:pt x="8104" y="21600"/>
                </a:lnTo>
                <a:lnTo>
                  <a:pt x="-1" y="157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7" name="Oval 27"/>
          <p:cNvSpPr>
            <a:spLocks noChangeArrowheads="1"/>
          </p:cNvSpPr>
          <p:nvPr/>
        </p:nvSpPr>
        <p:spPr bwMode="auto">
          <a:xfrm>
            <a:off x="6084888" y="49053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pSp>
        <p:nvGrpSpPr>
          <p:cNvPr id="20508" name="Group 28"/>
          <p:cNvGrpSpPr>
            <a:grpSpLocks/>
          </p:cNvGrpSpPr>
          <p:nvPr/>
        </p:nvGrpSpPr>
        <p:grpSpPr bwMode="auto">
          <a:xfrm>
            <a:off x="215900" y="609600"/>
            <a:ext cx="3886200" cy="915988"/>
            <a:chOff x="76" y="545"/>
            <a:chExt cx="2448" cy="577"/>
          </a:xfrm>
        </p:grpSpPr>
        <p:sp>
          <p:nvSpPr>
            <p:cNvPr id="8220" name="Rectangle 29"/>
            <p:cNvSpPr>
              <a:spLocks noChangeArrowheads="1"/>
            </p:cNvSpPr>
            <p:nvPr/>
          </p:nvSpPr>
          <p:spPr bwMode="auto">
            <a:xfrm>
              <a:off x="96" y="576"/>
              <a:ext cx="2352" cy="528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8221" name="Text Box 30"/>
            <p:cNvSpPr txBox="1">
              <a:spLocks noChangeArrowheads="1"/>
            </p:cNvSpPr>
            <p:nvPr/>
          </p:nvSpPr>
          <p:spPr bwMode="auto">
            <a:xfrm>
              <a:off x="76" y="545"/>
              <a:ext cx="2448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TO DRAW TANGENT &amp; NORMAL </a:t>
              </a:r>
            </a:p>
            <a:p>
              <a:pPr algn="ctr"/>
              <a:r>
                <a:rPr lang="en-US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TO THE CURVE </a:t>
              </a:r>
            </a:p>
            <a:p>
              <a:pPr algn="ctr"/>
              <a:r>
                <a:rPr lang="en-US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FROM A GIVEN POINT ( Q )</a:t>
              </a:r>
            </a:p>
          </p:txBody>
        </p:sp>
      </p:grpSp>
      <p:grpSp>
        <p:nvGrpSpPr>
          <p:cNvPr id="20511" name="Group 31"/>
          <p:cNvGrpSpPr>
            <a:grpSpLocks/>
          </p:cNvGrpSpPr>
          <p:nvPr/>
        </p:nvGrpSpPr>
        <p:grpSpPr bwMode="auto">
          <a:xfrm>
            <a:off x="76200" y="1981200"/>
            <a:ext cx="4119563" cy="2295525"/>
            <a:chOff x="48" y="1248"/>
            <a:chExt cx="2595" cy="1446"/>
          </a:xfrm>
        </p:grpSpPr>
        <p:sp>
          <p:nvSpPr>
            <p:cNvPr id="8218" name="AutoShape 32"/>
            <p:cNvSpPr>
              <a:spLocks noChangeArrowheads="1"/>
            </p:cNvSpPr>
            <p:nvPr/>
          </p:nvSpPr>
          <p:spPr bwMode="auto">
            <a:xfrm>
              <a:off x="48" y="1248"/>
              <a:ext cx="2592" cy="1392"/>
            </a:xfrm>
            <a:prstGeom prst="wedgeRectCallout">
              <a:avLst>
                <a:gd name="adj1" fmla="val 59954"/>
                <a:gd name="adj2" fmla="val 69542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SG" sz="1400">
                <a:latin typeface="Times New Roman" panose="02020603050405020304" pitchFamily="18" charset="0"/>
              </a:endParaRPr>
            </a:p>
          </p:txBody>
        </p:sp>
        <p:sp>
          <p:nvSpPr>
            <p:cNvPr id="8219" name="Text Box 33"/>
            <p:cNvSpPr txBox="1">
              <a:spLocks noChangeArrowheads="1"/>
            </p:cNvSpPr>
            <p:nvPr/>
          </p:nvSpPr>
          <p:spPr bwMode="auto">
            <a:xfrm>
              <a:off x="48" y="1296"/>
              <a:ext cx="2595" cy="1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1.JOIN POINT </a:t>
              </a:r>
              <a:r>
                <a:rPr lang="en-US" sz="1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sz="1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TO </a:t>
              </a:r>
              <a:r>
                <a:rPr lang="en-US" sz="1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sz="1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2.CONSTRUCT </a:t>
              </a:r>
              <a:r>
                <a:rPr lang="en-US" sz="1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90</a:t>
              </a:r>
              <a:r>
                <a:rPr lang="en-US" sz="1400" b="1" baseline="30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ANGLE WITH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  THIS LINE AT POINT</a:t>
              </a:r>
              <a:r>
                <a:rPr lang="en-US" sz="1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sz="1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3.EXTEND THE LINE TO MEET DIRECTRIX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   AT </a:t>
              </a:r>
              <a:r>
                <a:rPr lang="en-US" sz="1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T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4. JOIN THIS POINT TO </a:t>
              </a:r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AND EXTEND. THIS IS 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TANGENT</a:t>
              </a:r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TO THE CURVE FROM </a:t>
              </a:r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5.TO THIS TANGENT DRAW PERPENDICULAR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  LINE FROM Q. IT IS </a:t>
              </a:r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NORMAL </a:t>
              </a:r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TO CURVE.</a:t>
              </a:r>
            </a:p>
            <a:p>
              <a:endParaRPr lang="en-US" sz="1400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209" name="Text Box 34"/>
          <p:cNvSpPr txBox="1">
            <a:spLocks noChangeArrowheads="1"/>
          </p:cNvSpPr>
          <p:nvPr/>
        </p:nvSpPr>
        <p:spPr bwMode="auto">
          <a:xfrm>
            <a:off x="6297613" y="76200"/>
            <a:ext cx="2660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b="1" u="sng">
                <a:solidFill>
                  <a:srgbClr val="FF0066"/>
                </a:solidFill>
                <a:latin typeface="Times New Roman" panose="02020603050405020304" pitchFamily="18" charset="0"/>
              </a:rPr>
              <a:t>PARABOLA</a:t>
            </a:r>
          </a:p>
          <a:p>
            <a:pPr algn="ctr"/>
            <a:r>
              <a:rPr lang="en-US" b="1" u="sng">
                <a:solidFill>
                  <a:schemeClr val="accent2"/>
                </a:solidFill>
                <a:latin typeface="Times New Roman" panose="02020603050405020304" pitchFamily="18" charset="0"/>
              </a:rPr>
              <a:t>TANGENT &amp; NORMAL</a:t>
            </a:r>
          </a:p>
        </p:txBody>
      </p:sp>
      <p:sp>
        <p:nvSpPr>
          <p:cNvPr id="20515" name="Text Box 35"/>
          <p:cNvSpPr txBox="1">
            <a:spLocks noChangeArrowheads="1"/>
          </p:cNvSpPr>
          <p:nvPr/>
        </p:nvSpPr>
        <p:spPr bwMode="auto">
          <a:xfrm>
            <a:off x="171450" y="242888"/>
            <a:ext cx="1350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Problem 15</a:t>
            </a:r>
            <a:r>
              <a:rPr lang="en-US" sz="1200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</a:p>
        </p:txBody>
      </p:sp>
      <p:grpSp>
        <p:nvGrpSpPr>
          <p:cNvPr id="8211" name="Group 36"/>
          <p:cNvGrpSpPr>
            <a:grpSpLocks/>
          </p:cNvGrpSpPr>
          <p:nvPr/>
        </p:nvGrpSpPr>
        <p:grpSpPr bwMode="auto">
          <a:xfrm>
            <a:off x="8016875" y="6629400"/>
            <a:ext cx="1096963" cy="182563"/>
            <a:chOff x="5050" y="29"/>
            <a:chExt cx="691" cy="115"/>
          </a:xfrm>
        </p:grpSpPr>
        <p:sp>
          <p:nvSpPr>
            <p:cNvPr id="8212" name="AutoShape 37">
              <a:hlinkClick r:id="rId2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8213" name="AutoShape 38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8214" name="AutoShape 39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8215" name="AutoShape 40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8216" name="AutoShape 41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8217" name="AutoShape 42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161804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0" dur="50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1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0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0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0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nimBg="1"/>
      <p:bldP spid="20483" grpId="0" animBg="1"/>
      <p:bldP spid="20484" grpId="0" animBg="1"/>
      <p:bldP spid="20485" grpId="0" animBg="1"/>
      <p:bldP spid="20500" grpId="0" autoUpdateAnimBg="0"/>
      <p:bldP spid="20501" grpId="0" autoUpdateAnimBg="0"/>
      <p:bldP spid="20502" grpId="0" autoUpdateAnimBg="0"/>
      <p:bldP spid="20503" grpId="0" autoUpdateAnimBg="0"/>
      <p:bldP spid="20504" grpId="0" autoUpdateAnimBg="0"/>
      <p:bldP spid="20505" grpId="0" autoUpdateAnimBg="0"/>
      <p:bldP spid="20506" grpId="0" animBg="1"/>
      <p:bldP spid="20507" grpId="0" animBg="1"/>
      <p:bldP spid="2051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2"/>
          <p:cNvSpPr>
            <a:spLocks noChangeShapeType="1"/>
          </p:cNvSpPr>
          <p:nvPr/>
        </p:nvSpPr>
        <p:spPr bwMode="auto">
          <a:xfrm>
            <a:off x="4594225" y="1371600"/>
            <a:ext cx="0" cy="419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1" name="Line 3"/>
          <p:cNvSpPr>
            <a:spLocks noChangeShapeType="1"/>
          </p:cNvSpPr>
          <p:nvPr/>
        </p:nvSpPr>
        <p:spPr bwMode="auto">
          <a:xfrm>
            <a:off x="4594225" y="3394075"/>
            <a:ext cx="1985963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4565650" y="3365500"/>
            <a:ext cx="58738" cy="69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7413" name="Oval 5"/>
          <p:cNvSpPr>
            <a:spLocks noChangeArrowheads="1"/>
          </p:cNvSpPr>
          <p:nvPr/>
        </p:nvSpPr>
        <p:spPr bwMode="auto">
          <a:xfrm>
            <a:off x="4867275" y="3365500"/>
            <a:ext cx="58738" cy="69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7414" name="Oval 6"/>
          <p:cNvSpPr>
            <a:spLocks noChangeArrowheads="1"/>
          </p:cNvSpPr>
          <p:nvPr/>
        </p:nvSpPr>
        <p:spPr bwMode="auto">
          <a:xfrm>
            <a:off x="5168900" y="3365500"/>
            <a:ext cx="58738" cy="69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7415" name="Oval 7"/>
          <p:cNvSpPr>
            <a:spLocks noChangeArrowheads="1"/>
          </p:cNvSpPr>
          <p:nvPr/>
        </p:nvSpPr>
        <p:spPr bwMode="auto">
          <a:xfrm>
            <a:off x="5470525" y="3365500"/>
            <a:ext cx="58738" cy="69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5772150" y="3365500"/>
            <a:ext cx="58738" cy="69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5197475" y="3336925"/>
            <a:ext cx="0" cy="138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8" name="Line 10"/>
          <p:cNvSpPr>
            <a:spLocks noChangeShapeType="1"/>
          </p:cNvSpPr>
          <p:nvPr/>
        </p:nvSpPr>
        <p:spPr bwMode="auto">
          <a:xfrm>
            <a:off x="5499100" y="1728788"/>
            <a:ext cx="3175" cy="3330575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 rot="4234194" flipH="1">
            <a:off x="4992688" y="2543175"/>
            <a:ext cx="1595437" cy="131763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 rot="-4234194" flipH="1" flipV="1">
            <a:off x="4941094" y="4034631"/>
            <a:ext cx="1749425" cy="131763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>
            <a:off x="5795963" y="1243013"/>
            <a:ext cx="0" cy="437038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 rot="5130196" flipH="1">
            <a:off x="4885532" y="2220118"/>
            <a:ext cx="2114550" cy="138113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rot="-5130196" flipH="1" flipV="1">
            <a:off x="4850606" y="4387057"/>
            <a:ext cx="2192337" cy="13335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>
            <a:off x="6089650" y="914400"/>
            <a:ext cx="3175" cy="4976813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5" name="Oval 17"/>
          <p:cNvSpPr>
            <a:spLocks noChangeArrowheads="1"/>
          </p:cNvSpPr>
          <p:nvPr/>
        </p:nvSpPr>
        <p:spPr bwMode="auto">
          <a:xfrm>
            <a:off x="5470525" y="1868488"/>
            <a:ext cx="58738" cy="682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7426" name="Oval 18"/>
          <p:cNvSpPr>
            <a:spLocks noChangeArrowheads="1"/>
          </p:cNvSpPr>
          <p:nvPr/>
        </p:nvSpPr>
        <p:spPr bwMode="auto">
          <a:xfrm>
            <a:off x="5762625" y="1243013"/>
            <a:ext cx="58738" cy="69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7427" name="Oval 19"/>
          <p:cNvSpPr>
            <a:spLocks noChangeArrowheads="1"/>
          </p:cNvSpPr>
          <p:nvPr/>
        </p:nvSpPr>
        <p:spPr bwMode="auto">
          <a:xfrm>
            <a:off x="6064250" y="862013"/>
            <a:ext cx="58738" cy="69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7428" name="Oval 20"/>
          <p:cNvSpPr>
            <a:spLocks noChangeArrowheads="1"/>
          </p:cNvSpPr>
          <p:nvPr/>
        </p:nvSpPr>
        <p:spPr bwMode="auto">
          <a:xfrm>
            <a:off x="5470525" y="4851400"/>
            <a:ext cx="58738" cy="68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7429" name="Oval 21"/>
          <p:cNvSpPr>
            <a:spLocks noChangeArrowheads="1"/>
          </p:cNvSpPr>
          <p:nvPr/>
        </p:nvSpPr>
        <p:spPr bwMode="auto">
          <a:xfrm>
            <a:off x="5762625" y="5475288"/>
            <a:ext cx="58738" cy="69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7430" name="Oval 22"/>
          <p:cNvSpPr>
            <a:spLocks noChangeArrowheads="1"/>
          </p:cNvSpPr>
          <p:nvPr/>
        </p:nvSpPr>
        <p:spPr bwMode="auto">
          <a:xfrm>
            <a:off x="6054725" y="5822950"/>
            <a:ext cx="58738" cy="68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7431" name="Arc 23"/>
          <p:cNvSpPr>
            <a:spLocks/>
          </p:cNvSpPr>
          <p:nvPr/>
        </p:nvSpPr>
        <p:spPr bwMode="auto">
          <a:xfrm rot="10405129">
            <a:off x="5311775" y="3336925"/>
            <a:ext cx="1187450" cy="2600325"/>
          </a:xfrm>
          <a:custGeom>
            <a:avLst/>
            <a:gdLst>
              <a:gd name="T0" fmla="*/ 520224 w 21600"/>
              <a:gd name="T1" fmla="*/ 0 h 19417"/>
              <a:gd name="T2" fmla="*/ 1187450 w 21600"/>
              <a:gd name="T3" fmla="*/ 2600325 h 19417"/>
              <a:gd name="T4" fmla="*/ 0 w 21600"/>
              <a:gd name="T5" fmla="*/ 2600325 h 194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9417" fill="none" extrusionOk="0">
                <a:moveTo>
                  <a:pt x="9462" y="0"/>
                </a:moveTo>
                <a:cubicBezTo>
                  <a:pt x="16888" y="3619"/>
                  <a:pt x="21600" y="11156"/>
                  <a:pt x="21600" y="19417"/>
                </a:cubicBezTo>
              </a:path>
              <a:path w="21600" h="19417" stroke="0" extrusionOk="0">
                <a:moveTo>
                  <a:pt x="9462" y="0"/>
                </a:moveTo>
                <a:cubicBezTo>
                  <a:pt x="16888" y="3619"/>
                  <a:pt x="21600" y="11156"/>
                  <a:pt x="21600" y="19417"/>
                </a:cubicBezTo>
                <a:lnTo>
                  <a:pt x="0" y="19417"/>
                </a:lnTo>
                <a:lnTo>
                  <a:pt x="9462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2" name="Arc 24"/>
          <p:cNvSpPr>
            <a:spLocks/>
          </p:cNvSpPr>
          <p:nvPr/>
        </p:nvSpPr>
        <p:spPr bwMode="auto">
          <a:xfrm rot="11194871" flipV="1">
            <a:off x="5295900" y="896938"/>
            <a:ext cx="1187450" cy="2601912"/>
          </a:xfrm>
          <a:custGeom>
            <a:avLst/>
            <a:gdLst>
              <a:gd name="T0" fmla="*/ 520224 w 21600"/>
              <a:gd name="T1" fmla="*/ 0 h 19417"/>
              <a:gd name="T2" fmla="*/ 1187450 w 21600"/>
              <a:gd name="T3" fmla="*/ 2601912 h 19417"/>
              <a:gd name="T4" fmla="*/ 0 w 21600"/>
              <a:gd name="T5" fmla="*/ 2601912 h 194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9417" fill="none" extrusionOk="0">
                <a:moveTo>
                  <a:pt x="9462" y="0"/>
                </a:moveTo>
                <a:cubicBezTo>
                  <a:pt x="16888" y="3619"/>
                  <a:pt x="21600" y="11156"/>
                  <a:pt x="21600" y="19417"/>
                </a:cubicBezTo>
              </a:path>
              <a:path w="21600" h="19417" stroke="0" extrusionOk="0">
                <a:moveTo>
                  <a:pt x="9462" y="0"/>
                </a:moveTo>
                <a:cubicBezTo>
                  <a:pt x="16888" y="3619"/>
                  <a:pt x="21600" y="11156"/>
                  <a:pt x="21600" y="19417"/>
                </a:cubicBezTo>
                <a:lnTo>
                  <a:pt x="0" y="19417"/>
                </a:lnTo>
                <a:lnTo>
                  <a:pt x="9462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6013450" y="2971800"/>
            <a:ext cx="1073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b="1">
                <a:latin typeface="Times New Roman" panose="02020603050405020304" pitchFamily="18" charset="0"/>
              </a:rPr>
              <a:t>F ( </a:t>
            </a:r>
            <a:r>
              <a:rPr lang="en-US" i="1">
                <a:latin typeface="Times New Roman" panose="02020603050405020304" pitchFamily="18" charset="0"/>
              </a:rPr>
              <a:t>focus</a:t>
            </a:r>
            <a:r>
              <a:rPr lang="en-US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7434" name="Text Box 26"/>
          <p:cNvSpPr txBox="1">
            <a:spLocks noChangeArrowheads="1"/>
          </p:cNvSpPr>
          <p:nvPr/>
        </p:nvSpPr>
        <p:spPr bwMode="auto">
          <a:xfrm>
            <a:off x="5099050" y="3152775"/>
            <a:ext cx="2936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200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7435" name="Text Box 27"/>
          <p:cNvSpPr txBox="1">
            <a:spLocks noChangeArrowheads="1"/>
          </p:cNvSpPr>
          <p:nvPr/>
        </p:nvSpPr>
        <p:spPr bwMode="auto">
          <a:xfrm>
            <a:off x="4584700" y="3048000"/>
            <a:ext cx="685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200">
                <a:latin typeface="Times New Roman" panose="02020603050405020304" pitchFamily="18" charset="0"/>
              </a:rPr>
              <a:t>(vertex)</a:t>
            </a:r>
            <a:endParaRPr lang="en-US" sz="1400">
              <a:latin typeface="Times New Roman" panose="02020603050405020304" pitchFamily="18" charset="0"/>
            </a:endParaRPr>
          </a:p>
        </p:txBody>
      </p:sp>
      <p:sp>
        <p:nvSpPr>
          <p:cNvPr id="17436" name="Text Box 28"/>
          <p:cNvSpPr txBox="1">
            <a:spLocks noChangeArrowheads="1"/>
          </p:cNvSpPr>
          <p:nvPr/>
        </p:nvSpPr>
        <p:spPr bwMode="auto">
          <a:xfrm>
            <a:off x="4413250" y="1066800"/>
            <a:ext cx="312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7437" name="Text Box 29"/>
          <p:cNvSpPr txBox="1">
            <a:spLocks noChangeArrowheads="1"/>
          </p:cNvSpPr>
          <p:nvPr/>
        </p:nvSpPr>
        <p:spPr bwMode="auto">
          <a:xfrm>
            <a:off x="4413250" y="5638800"/>
            <a:ext cx="3032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7438" name="Oval 30"/>
          <p:cNvSpPr>
            <a:spLocks noChangeArrowheads="1"/>
          </p:cNvSpPr>
          <p:nvPr/>
        </p:nvSpPr>
        <p:spPr bwMode="auto">
          <a:xfrm>
            <a:off x="6070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pSp>
        <p:nvGrpSpPr>
          <p:cNvPr id="17439" name="Group 31"/>
          <p:cNvGrpSpPr>
            <a:grpSpLocks/>
          </p:cNvGrpSpPr>
          <p:nvPr/>
        </p:nvGrpSpPr>
        <p:grpSpPr bwMode="auto">
          <a:xfrm>
            <a:off x="4565650" y="1676400"/>
            <a:ext cx="914400" cy="274638"/>
            <a:chOff x="2160" y="1056"/>
            <a:chExt cx="576" cy="173"/>
          </a:xfrm>
        </p:grpSpPr>
        <p:sp>
          <p:nvSpPr>
            <p:cNvPr id="9263" name="Line 32"/>
            <p:cNvSpPr>
              <a:spLocks noChangeShapeType="1"/>
            </p:cNvSpPr>
            <p:nvPr/>
          </p:nvSpPr>
          <p:spPr bwMode="auto">
            <a:xfrm flipH="1">
              <a:off x="2160" y="120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4" name="Text Box 33"/>
            <p:cNvSpPr txBox="1">
              <a:spLocks noChangeArrowheads="1"/>
            </p:cNvSpPr>
            <p:nvPr/>
          </p:nvSpPr>
          <p:spPr bwMode="auto">
            <a:xfrm>
              <a:off x="2256" y="1056"/>
              <a:ext cx="3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200">
                  <a:latin typeface="Times New Roman" panose="02020603050405020304" pitchFamily="18" charset="0"/>
                </a:rPr>
                <a:t>30mm</a:t>
              </a:r>
            </a:p>
          </p:txBody>
        </p:sp>
      </p:grpSp>
      <p:sp>
        <p:nvSpPr>
          <p:cNvPr id="17442" name="Text Box 34"/>
          <p:cNvSpPr txBox="1">
            <a:spLocks noChangeArrowheads="1"/>
          </p:cNvSpPr>
          <p:nvPr/>
        </p:nvSpPr>
        <p:spPr bwMode="auto">
          <a:xfrm rot="3613386">
            <a:off x="5406231" y="2359819"/>
            <a:ext cx="5746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200">
                <a:latin typeface="Times New Roman" panose="02020603050405020304" pitchFamily="18" charset="0"/>
              </a:rPr>
              <a:t>45mm</a:t>
            </a:r>
          </a:p>
        </p:txBody>
      </p:sp>
      <p:sp>
        <p:nvSpPr>
          <p:cNvPr id="9249" name="Text Box 35"/>
          <p:cNvSpPr txBox="1">
            <a:spLocks noChangeArrowheads="1"/>
          </p:cNvSpPr>
          <p:nvPr/>
        </p:nvSpPr>
        <p:spPr bwMode="auto">
          <a:xfrm>
            <a:off x="7029450" y="0"/>
            <a:ext cx="21145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b="1" u="sng">
                <a:solidFill>
                  <a:srgbClr val="FF0066"/>
                </a:solidFill>
                <a:latin typeface="Times New Roman" panose="02020603050405020304" pitchFamily="18" charset="0"/>
              </a:rPr>
              <a:t>HYPERBOLA</a:t>
            </a:r>
          </a:p>
          <a:p>
            <a:pPr algn="r"/>
            <a:r>
              <a:rPr lang="en-US" b="1" u="sng">
                <a:solidFill>
                  <a:schemeClr val="accent2"/>
                </a:solidFill>
                <a:latin typeface="Times New Roman" panose="02020603050405020304" pitchFamily="18" charset="0"/>
              </a:rPr>
              <a:t>DIRECTRIX </a:t>
            </a:r>
          </a:p>
          <a:p>
            <a:pPr algn="r"/>
            <a:r>
              <a:rPr lang="en-US" b="1" u="sng">
                <a:solidFill>
                  <a:schemeClr val="accent2"/>
                </a:solidFill>
                <a:latin typeface="Times New Roman" panose="02020603050405020304" pitchFamily="18" charset="0"/>
              </a:rPr>
              <a:t> FOCUS METHOD</a:t>
            </a:r>
          </a:p>
        </p:txBody>
      </p:sp>
      <p:grpSp>
        <p:nvGrpSpPr>
          <p:cNvPr id="17444" name="Group 36"/>
          <p:cNvGrpSpPr>
            <a:grpSpLocks/>
          </p:cNvGrpSpPr>
          <p:nvPr/>
        </p:nvGrpSpPr>
        <p:grpSpPr bwMode="auto">
          <a:xfrm>
            <a:off x="0" y="38100"/>
            <a:ext cx="6767513" cy="685800"/>
            <a:chOff x="23" y="48"/>
            <a:chExt cx="4263" cy="432"/>
          </a:xfrm>
        </p:grpSpPr>
        <p:sp>
          <p:nvSpPr>
            <p:cNvPr id="9261" name="Rectangle 37"/>
            <p:cNvSpPr>
              <a:spLocks noChangeArrowheads="1"/>
            </p:cNvSpPr>
            <p:nvPr/>
          </p:nvSpPr>
          <p:spPr bwMode="auto">
            <a:xfrm>
              <a:off x="48" y="48"/>
              <a:ext cx="4128" cy="432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9262" name="Text Box 38"/>
            <p:cNvSpPr txBox="1">
              <a:spLocks noChangeArrowheads="1"/>
            </p:cNvSpPr>
            <p:nvPr/>
          </p:nvSpPr>
          <p:spPr bwMode="auto">
            <a:xfrm>
              <a:off x="23" y="48"/>
              <a:ext cx="4263" cy="4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 b="1" i="1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PROBLEM 12</a:t>
              </a:r>
              <a:r>
                <a:rPr lang="en-US" sz="1400" b="1" i="1" dirty="0">
                  <a:latin typeface="Times New Roman" panose="02020603050405020304" pitchFamily="18" charset="0"/>
                </a:rPr>
                <a:t>:-</a:t>
              </a:r>
              <a:r>
                <a:rPr lang="en-US" sz="1400" dirty="0">
                  <a:latin typeface="Times New Roman" panose="02020603050405020304" pitchFamily="18" charset="0"/>
                </a:rPr>
                <a:t>  </a:t>
              </a:r>
              <a:r>
                <a:rPr lang="en-US" sz="1200" dirty="0"/>
                <a:t>POINT </a:t>
              </a:r>
              <a:r>
                <a:rPr lang="en-US" sz="1200" b="1" dirty="0"/>
                <a:t>F</a:t>
              </a:r>
              <a:r>
                <a:rPr lang="en-US" sz="1200" dirty="0"/>
                <a:t> IS 50 MM FROM A LINE </a:t>
              </a:r>
              <a:r>
                <a:rPr lang="en-US" sz="1200" b="1" dirty="0"/>
                <a:t>AB.</a:t>
              </a:r>
              <a:r>
                <a:rPr lang="en-US" sz="1200" dirty="0"/>
                <a:t>A POINT</a:t>
              </a:r>
              <a:r>
                <a:rPr lang="en-US" sz="1200" b="1" dirty="0"/>
                <a:t> P </a:t>
              </a:r>
              <a:r>
                <a:rPr lang="en-US" sz="1200" dirty="0"/>
                <a:t>IS MOVING IN A PLANE </a:t>
              </a:r>
            </a:p>
            <a:p>
              <a:r>
                <a:rPr lang="en-US" sz="1200" dirty="0"/>
                <a:t>SUCH THAT THE </a:t>
              </a:r>
              <a:r>
                <a:rPr lang="en-US" sz="1200" b="1" i="1" dirty="0"/>
                <a:t>RATIO</a:t>
              </a:r>
              <a:r>
                <a:rPr lang="en-US" sz="1200" dirty="0"/>
                <a:t> OF IT’S DISTANCES FROM </a:t>
              </a:r>
              <a:r>
                <a:rPr lang="en-US" sz="1200" b="1" dirty="0"/>
                <a:t>F</a:t>
              </a:r>
              <a:r>
                <a:rPr lang="en-US" sz="1200" dirty="0"/>
                <a:t> AND LINE </a:t>
              </a:r>
              <a:r>
                <a:rPr lang="en-US" sz="1200" b="1" dirty="0"/>
                <a:t>AB </a:t>
              </a:r>
              <a:r>
                <a:rPr lang="en-US" sz="1200" dirty="0"/>
                <a:t>REMAINS CONSTANT </a:t>
              </a:r>
            </a:p>
            <a:p>
              <a:r>
                <a:rPr lang="en-US" sz="1200" dirty="0"/>
                <a:t>AND EQUALS TO </a:t>
              </a:r>
              <a:r>
                <a:rPr lang="en-US" sz="1200" dirty="0" smtClean="0"/>
                <a:t>3</a:t>
              </a:r>
              <a:r>
                <a:rPr lang="en-US" sz="1200" b="1" dirty="0" smtClean="0"/>
                <a:t>/2  </a:t>
              </a:r>
              <a:r>
                <a:rPr lang="en-US" sz="1200" dirty="0"/>
                <a:t>DRAW LOCUS OF POINT </a:t>
              </a:r>
              <a:r>
                <a:rPr lang="en-US" sz="1200" b="1" dirty="0"/>
                <a:t>P.</a:t>
              </a:r>
              <a:r>
                <a:rPr lang="en-US" sz="1200" b="1" dirty="0">
                  <a:solidFill>
                    <a:srgbClr val="FF0066"/>
                  </a:solidFill>
                </a:rPr>
                <a:t> { ECCENTRICITY = </a:t>
              </a:r>
              <a:r>
                <a:rPr lang="en-US" sz="1200" b="1" dirty="0" smtClean="0">
                  <a:solidFill>
                    <a:srgbClr val="FF0066"/>
                  </a:solidFill>
                </a:rPr>
                <a:t>3/2 </a:t>
              </a:r>
              <a:r>
                <a:rPr lang="en-US" sz="1200" b="1" dirty="0">
                  <a:solidFill>
                    <a:srgbClr val="FF0066"/>
                  </a:solidFill>
                </a:rPr>
                <a:t>}</a:t>
              </a:r>
            </a:p>
          </p:txBody>
        </p:sp>
      </p:grpSp>
      <p:grpSp>
        <p:nvGrpSpPr>
          <p:cNvPr id="17447" name="Group 39"/>
          <p:cNvGrpSpPr>
            <a:grpSpLocks/>
          </p:cNvGrpSpPr>
          <p:nvPr/>
        </p:nvGrpSpPr>
        <p:grpSpPr bwMode="auto">
          <a:xfrm>
            <a:off x="0" y="914400"/>
            <a:ext cx="3505200" cy="4984750"/>
            <a:chOff x="192" y="768"/>
            <a:chExt cx="2208" cy="3140"/>
          </a:xfrm>
        </p:grpSpPr>
        <p:sp>
          <p:nvSpPr>
            <p:cNvPr id="9259" name="AutoShape 40"/>
            <p:cNvSpPr>
              <a:spLocks noChangeArrowheads="1"/>
            </p:cNvSpPr>
            <p:nvPr/>
          </p:nvSpPr>
          <p:spPr bwMode="auto">
            <a:xfrm>
              <a:off x="192" y="768"/>
              <a:ext cx="2208" cy="2784"/>
            </a:xfrm>
            <a:prstGeom prst="wedgeRectCallout">
              <a:avLst>
                <a:gd name="adj1" fmla="val 58968"/>
                <a:gd name="adj2" fmla="val 20870"/>
              </a:avLst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SG" sz="1400">
                <a:latin typeface="Times New Roman" panose="02020603050405020304" pitchFamily="18" charset="0"/>
              </a:endParaRPr>
            </a:p>
          </p:txBody>
        </p:sp>
        <p:sp>
          <p:nvSpPr>
            <p:cNvPr id="9260" name="Text Box 41"/>
            <p:cNvSpPr txBox="1">
              <a:spLocks noChangeArrowheads="1"/>
            </p:cNvSpPr>
            <p:nvPr/>
          </p:nvSpPr>
          <p:spPr bwMode="auto">
            <a:xfrm>
              <a:off x="240" y="864"/>
              <a:ext cx="2160" cy="30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STEPS: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 .Draw a vertical line AB and point F 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50 mm from it.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2 .Divide 50 mm distance in 5 parts.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3 .Name 2</a:t>
              </a:r>
              <a:r>
                <a:rPr lang="en-US" sz="1400" baseline="300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nd</a:t>
              </a:r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part from F as V. It is 20mm    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and 30mm from F and AB line resp.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It is first point giving ratio of it’s    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distances from F and AB </a:t>
              </a:r>
              <a:r>
                <a:rPr lang="en-US" sz="1400" dirty="0" smtClean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3/2 </a:t>
              </a:r>
              <a:r>
                <a:rPr lang="en-US" sz="1400" dirty="0" err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i.e</a:t>
              </a:r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sz="1400" dirty="0" smtClean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30/20</a:t>
              </a:r>
              <a:endParaRPr lang="en-US" sz="1400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4  Form more points giving same ratio such 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as </a:t>
              </a:r>
              <a:r>
                <a:rPr lang="en-US" sz="1400" dirty="0" smtClean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45/30,  60/40</a:t>
              </a:r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,  </a:t>
              </a:r>
              <a:r>
                <a:rPr lang="en-US" sz="1400" dirty="0" smtClean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75/50  </a:t>
              </a:r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etc.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5.Taking </a:t>
              </a:r>
              <a:r>
                <a:rPr lang="en-US" sz="1400" dirty="0" smtClean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30,40 </a:t>
              </a:r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and </a:t>
              </a:r>
              <a:r>
                <a:rPr lang="en-US" sz="1400" dirty="0" smtClean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50mm </a:t>
              </a:r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distances from  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line AB, draw three vertical lines to the 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right side of it.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6. Now with </a:t>
              </a:r>
              <a:r>
                <a:rPr lang="en-US" sz="1400" dirty="0" smtClean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45, 60 </a:t>
              </a:r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and </a:t>
              </a:r>
              <a:r>
                <a:rPr lang="en-US" sz="1400" dirty="0" smtClean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75mm </a:t>
              </a:r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distances in 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compass cut these lines above and below, 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with F as center.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7. Join these points through V in smooth 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curve.</a:t>
              </a:r>
            </a:p>
            <a:p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This is required locus of P</a:t>
              </a:r>
              <a:r>
                <a:rPr lang="en-US" sz="1400" dirty="0" smtClean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. It </a:t>
              </a:r>
              <a:r>
                <a:rPr lang="en-US" sz="1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is an ELLIPSE.</a:t>
              </a:r>
            </a:p>
          </p:txBody>
        </p:sp>
      </p:grpSp>
      <p:grpSp>
        <p:nvGrpSpPr>
          <p:cNvPr id="9252" name="Group 42"/>
          <p:cNvGrpSpPr>
            <a:grpSpLocks/>
          </p:cNvGrpSpPr>
          <p:nvPr/>
        </p:nvGrpSpPr>
        <p:grpSpPr bwMode="auto">
          <a:xfrm>
            <a:off x="8016875" y="6629400"/>
            <a:ext cx="1096963" cy="182563"/>
            <a:chOff x="5050" y="29"/>
            <a:chExt cx="691" cy="115"/>
          </a:xfrm>
        </p:grpSpPr>
        <p:sp>
          <p:nvSpPr>
            <p:cNvPr id="9253" name="AutoShape 43">
              <a:hlinkClick r:id="rId2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9254" name="AutoShape 44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9255" name="AutoShape 45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9256" name="AutoShape 46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9257" name="AutoShape 47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9258" name="AutoShape 48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251990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7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7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7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7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7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7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7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7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7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7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7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7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7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17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17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17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7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7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17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17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7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17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9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4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nimBg="1"/>
      <p:bldP spid="17411" grpId="0" animBg="1"/>
      <p:bldP spid="17412" grpId="0" animBg="1"/>
      <p:bldP spid="17413" grpId="0" animBg="1"/>
      <p:bldP spid="17414" grpId="0" animBg="1"/>
      <p:bldP spid="17415" grpId="0" animBg="1"/>
      <p:bldP spid="17416" grpId="0" animBg="1"/>
      <p:bldP spid="17417" grpId="0" animBg="1"/>
      <p:bldP spid="17418" grpId="0" animBg="1"/>
      <p:bldP spid="17419" grpId="0" animBg="1"/>
      <p:bldP spid="17420" grpId="0" animBg="1"/>
      <p:bldP spid="17421" grpId="0" animBg="1"/>
      <p:bldP spid="17422" grpId="0" animBg="1"/>
      <p:bldP spid="17423" grpId="0" animBg="1"/>
      <p:bldP spid="17424" grpId="0" animBg="1"/>
      <p:bldP spid="17425" grpId="0" animBg="1"/>
      <p:bldP spid="17426" grpId="0" animBg="1"/>
      <p:bldP spid="17427" grpId="0" animBg="1"/>
      <p:bldP spid="17428" grpId="0" animBg="1"/>
      <p:bldP spid="17429" grpId="0" animBg="1"/>
      <p:bldP spid="17430" grpId="0" animBg="1"/>
      <p:bldP spid="17431" grpId="0" animBg="1"/>
      <p:bldP spid="17432" grpId="0" animBg="1"/>
      <p:bldP spid="17433" grpId="0" autoUpdateAnimBg="0"/>
      <p:bldP spid="17434" grpId="0" autoUpdateAnimBg="0"/>
      <p:bldP spid="17435" grpId="0" autoUpdateAnimBg="0"/>
      <p:bldP spid="17436" grpId="0" autoUpdateAnimBg="0"/>
      <p:bldP spid="17437" grpId="0" autoUpdateAnimBg="0"/>
      <p:bldP spid="17438" grpId="0" animBg="1"/>
      <p:bldP spid="17442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4640263" y="896938"/>
            <a:ext cx="2673350" cy="5046662"/>
            <a:chOff x="2064" y="565"/>
            <a:chExt cx="1684" cy="3179"/>
          </a:xfrm>
        </p:grpSpPr>
        <p:sp>
          <p:nvSpPr>
            <p:cNvPr id="10270" name="Line 3"/>
            <p:cNvSpPr>
              <a:spLocks noChangeShapeType="1"/>
            </p:cNvSpPr>
            <p:nvPr/>
          </p:nvSpPr>
          <p:spPr bwMode="auto">
            <a:xfrm>
              <a:off x="2178" y="864"/>
              <a:ext cx="0" cy="26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Line 4"/>
            <p:cNvSpPr>
              <a:spLocks noChangeShapeType="1"/>
            </p:cNvSpPr>
            <p:nvPr/>
          </p:nvSpPr>
          <p:spPr bwMode="auto">
            <a:xfrm>
              <a:off x="2178" y="2138"/>
              <a:ext cx="1251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2" name="Oval 5"/>
            <p:cNvSpPr>
              <a:spLocks noChangeArrowheads="1"/>
            </p:cNvSpPr>
            <p:nvPr/>
          </p:nvSpPr>
          <p:spPr bwMode="auto">
            <a:xfrm>
              <a:off x="2160" y="2120"/>
              <a:ext cx="37" cy="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0273" name="Oval 6"/>
            <p:cNvSpPr>
              <a:spLocks noChangeArrowheads="1"/>
            </p:cNvSpPr>
            <p:nvPr/>
          </p:nvSpPr>
          <p:spPr bwMode="auto">
            <a:xfrm>
              <a:off x="2350" y="2120"/>
              <a:ext cx="37" cy="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0274" name="Oval 7"/>
            <p:cNvSpPr>
              <a:spLocks noChangeArrowheads="1"/>
            </p:cNvSpPr>
            <p:nvPr/>
          </p:nvSpPr>
          <p:spPr bwMode="auto">
            <a:xfrm>
              <a:off x="2540" y="2120"/>
              <a:ext cx="37" cy="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0275" name="Oval 8"/>
            <p:cNvSpPr>
              <a:spLocks noChangeArrowheads="1"/>
            </p:cNvSpPr>
            <p:nvPr/>
          </p:nvSpPr>
          <p:spPr bwMode="auto">
            <a:xfrm>
              <a:off x="2730" y="2120"/>
              <a:ext cx="37" cy="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0276" name="Oval 9"/>
            <p:cNvSpPr>
              <a:spLocks noChangeArrowheads="1"/>
            </p:cNvSpPr>
            <p:nvPr/>
          </p:nvSpPr>
          <p:spPr bwMode="auto">
            <a:xfrm>
              <a:off x="2920" y="2120"/>
              <a:ext cx="37" cy="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0277" name="Line 10"/>
            <p:cNvSpPr>
              <a:spLocks noChangeShapeType="1"/>
            </p:cNvSpPr>
            <p:nvPr/>
          </p:nvSpPr>
          <p:spPr bwMode="auto">
            <a:xfrm>
              <a:off x="2558" y="2102"/>
              <a:ext cx="0" cy="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8" name="Arc 11"/>
            <p:cNvSpPr>
              <a:spLocks/>
            </p:cNvSpPr>
            <p:nvPr/>
          </p:nvSpPr>
          <p:spPr bwMode="auto">
            <a:xfrm rot="10405129">
              <a:off x="2630" y="2102"/>
              <a:ext cx="748" cy="1638"/>
            </a:xfrm>
            <a:custGeom>
              <a:avLst/>
              <a:gdLst>
                <a:gd name="T0" fmla="*/ 328 w 21600"/>
                <a:gd name="T1" fmla="*/ 0 h 19417"/>
                <a:gd name="T2" fmla="*/ 748 w 21600"/>
                <a:gd name="T3" fmla="*/ 1638 h 19417"/>
                <a:gd name="T4" fmla="*/ 0 w 21600"/>
                <a:gd name="T5" fmla="*/ 1638 h 194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9417" fill="none" extrusionOk="0">
                  <a:moveTo>
                    <a:pt x="9462" y="0"/>
                  </a:moveTo>
                  <a:cubicBezTo>
                    <a:pt x="16888" y="3619"/>
                    <a:pt x="21600" y="11156"/>
                    <a:pt x="21600" y="19417"/>
                  </a:cubicBezTo>
                </a:path>
                <a:path w="21600" h="19417" stroke="0" extrusionOk="0">
                  <a:moveTo>
                    <a:pt x="9462" y="0"/>
                  </a:moveTo>
                  <a:cubicBezTo>
                    <a:pt x="16888" y="3619"/>
                    <a:pt x="21600" y="11156"/>
                    <a:pt x="21600" y="19417"/>
                  </a:cubicBezTo>
                  <a:lnTo>
                    <a:pt x="0" y="19417"/>
                  </a:lnTo>
                  <a:lnTo>
                    <a:pt x="9462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9" name="Arc 12"/>
            <p:cNvSpPr>
              <a:spLocks/>
            </p:cNvSpPr>
            <p:nvPr/>
          </p:nvSpPr>
          <p:spPr bwMode="auto">
            <a:xfrm rot="11194871" flipV="1">
              <a:off x="2620" y="565"/>
              <a:ext cx="748" cy="1639"/>
            </a:xfrm>
            <a:custGeom>
              <a:avLst/>
              <a:gdLst>
                <a:gd name="T0" fmla="*/ 328 w 21600"/>
                <a:gd name="T1" fmla="*/ 0 h 19417"/>
                <a:gd name="T2" fmla="*/ 748 w 21600"/>
                <a:gd name="T3" fmla="*/ 1639 h 19417"/>
                <a:gd name="T4" fmla="*/ 0 w 21600"/>
                <a:gd name="T5" fmla="*/ 1639 h 194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9417" fill="none" extrusionOk="0">
                  <a:moveTo>
                    <a:pt x="9462" y="0"/>
                  </a:moveTo>
                  <a:cubicBezTo>
                    <a:pt x="16888" y="3619"/>
                    <a:pt x="21600" y="11156"/>
                    <a:pt x="21600" y="19417"/>
                  </a:cubicBezTo>
                </a:path>
                <a:path w="21600" h="19417" stroke="0" extrusionOk="0">
                  <a:moveTo>
                    <a:pt x="9462" y="0"/>
                  </a:moveTo>
                  <a:cubicBezTo>
                    <a:pt x="16888" y="3619"/>
                    <a:pt x="21600" y="11156"/>
                    <a:pt x="21600" y="19417"/>
                  </a:cubicBezTo>
                  <a:lnTo>
                    <a:pt x="0" y="19417"/>
                  </a:lnTo>
                  <a:lnTo>
                    <a:pt x="9462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0" name="Text Box 13"/>
            <p:cNvSpPr txBox="1">
              <a:spLocks noChangeArrowheads="1"/>
            </p:cNvSpPr>
            <p:nvPr/>
          </p:nvSpPr>
          <p:spPr bwMode="auto">
            <a:xfrm>
              <a:off x="3072" y="1872"/>
              <a:ext cx="6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b="1">
                  <a:latin typeface="Times New Roman" panose="02020603050405020304" pitchFamily="18" charset="0"/>
                </a:rPr>
                <a:t>F ( </a:t>
              </a:r>
              <a:r>
                <a:rPr lang="en-US" i="1">
                  <a:latin typeface="Times New Roman" panose="02020603050405020304" pitchFamily="18" charset="0"/>
                </a:rPr>
                <a:t>focus</a:t>
              </a:r>
              <a:r>
                <a:rPr lang="en-US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0281" name="Text Box 14"/>
            <p:cNvSpPr txBox="1">
              <a:spLocks noChangeArrowheads="1"/>
            </p:cNvSpPr>
            <p:nvPr/>
          </p:nvSpPr>
          <p:spPr bwMode="auto">
            <a:xfrm>
              <a:off x="2496" y="1986"/>
              <a:ext cx="18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200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10282" name="Text Box 15"/>
            <p:cNvSpPr txBox="1">
              <a:spLocks noChangeArrowheads="1"/>
            </p:cNvSpPr>
            <p:nvPr/>
          </p:nvSpPr>
          <p:spPr bwMode="auto">
            <a:xfrm>
              <a:off x="2172" y="1920"/>
              <a:ext cx="43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200">
                  <a:latin typeface="Times New Roman" panose="02020603050405020304" pitchFamily="18" charset="0"/>
                </a:rPr>
                <a:t>(vertex)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10283" name="Text Box 16"/>
            <p:cNvSpPr txBox="1">
              <a:spLocks noChangeArrowheads="1"/>
            </p:cNvSpPr>
            <p:nvPr/>
          </p:nvSpPr>
          <p:spPr bwMode="auto">
            <a:xfrm>
              <a:off x="2064" y="672"/>
              <a:ext cx="1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284" name="Text Box 17"/>
            <p:cNvSpPr txBox="1">
              <a:spLocks noChangeArrowheads="1"/>
            </p:cNvSpPr>
            <p:nvPr/>
          </p:nvSpPr>
          <p:spPr bwMode="auto">
            <a:xfrm>
              <a:off x="2064" y="3552"/>
              <a:ext cx="19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285" name="Oval 18"/>
            <p:cNvSpPr>
              <a:spLocks noChangeArrowheads="1"/>
            </p:cNvSpPr>
            <p:nvPr/>
          </p:nvSpPr>
          <p:spPr bwMode="auto">
            <a:xfrm>
              <a:off x="3108" y="211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sp>
        <p:nvSpPr>
          <p:cNvPr id="10243" name="Text Box 19"/>
          <p:cNvSpPr txBox="1">
            <a:spLocks noChangeArrowheads="1"/>
          </p:cNvSpPr>
          <p:nvPr/>
        </p:nvSpPr>
        <p:spPr bwMode="auto">
          <a:xfrm>
            <a:off x="5953125" y="76200"/>
            <a:ext cx="2660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b="1" u="sng">
                <a:solidFill>
                  <a:srgbClr val="FF0066"/>
                </a:solidFill>
                <a:latin typeface="Times New Roman" panose="02020603050405020304" pitchFamily="18" charset="0"/>
              </a:rPr>
              <a:t>HYPERBOLA</a:t>
            </a:r>
          </a:p>
          <a:p>
            <a:pPr algn="ctr"/>
            <a:r>
              <a:rPr lang="en-US" b="1" u="sng">
                <a:solidFill>
                  <a:schemeClr val="accent2"/>
                </a:solidFill>
                <a:latin typeface="Times New Roman" panose="02020603050405020304" pitchFamily="18" charset="0"/>
              </a:rPr>
              <a:t>TANGENT &amp; NORMAL</a:t>
            </a:r>
          </a:p>
        </p:txBody>
      </p:sp>
      <p:sp>
        <p:nvSpPr>
          <p:cNvPr id="21524" name="Oval 20"/>
          <p:cNvSpPr>
            <a:spLocks noChangeArrowheads="1"/>
          </p:cNvSpPr>
          <p:nvPr/>
        </p:nvSpPr>
        <p:spPr bwMode="auto">
          <a:xfrm>
            <a:off x="5630863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1525" name="Text Box 21"/>
          <p:cNvSpPr txBox="1">
            <a:spLocks noChangeArrowheads="1"/>
          </p:cNvSpPr>
          <p:nvPr/>
        </p:nvSpPr>
        <p:spPr bwMode="auto">
          <a:xfrm>
            <a:off x="5326063" y="4724400"/>
            <a:ext cx="3222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66"/>
                </a:solidFill>
                <a:latin typeface="Times New Roman" panose="02020603050405020304" pitchFamily="18" charset="0"/>
              </a:rPr>
              <a:t>Q</a:t>
            </a:r>
          </a:p>
        </p:txBody>
      </p:sp>
      <p:sp>
        <p:nvSpPr>
          <p:cNvPr id="21526" name="Line 22"/>
          <p:cNvSpPr>
            <a:spLocks noChangeShapeType="1"/>
          </p:cNvSpPr>
          <p:nvPr/>
        </p:nvSpPr>
        <p:spPr bwMode="auto">
          <a:xfrm flipV="1">
            <a:off x="5630863" y="3352800"/>
            <a:ext cx="685800" cy="144780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7" name="Line 23"/>
          <p:cNvSpPr>
            <a:spLocks noChangeShapeType="1"/>
          </p:cNvSpPr>
          <p:nvPr/>
        </p:nvSpPr>
        <p:spPr bwMode="auto">
          <a:xfrm flipH="1" flipV="1">
            <a:off x="4792663" y="2590800"/>
            <a:ext cx="1524000" cy="76200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8" name="Line 24"/>
          <p:cNvSpPr>
            <a:spLocks noChangeShapeType="1"/>
          </p:cNvSpPr>
          <p:nvPr/>
        </p:nvSpPr>
        <p:spPr bwMode="auto">
          <a:xfrm>
            <a:off x="4868863" y="2590800"/>
            <a:ext cx="1447800" cy="39624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9" name="Line 25"/>
          <p:cNvSpPr>
            <a:spLocks noChangeShapeType="1"/>
          </p:cNvSpPr>
          <p:nvPr/>
        </p:nvSpPr>
        <p:spPr bwMode="auto">
          <a:xfrm flipV="1">
            <a:off x="5021263" y="3810000"/>
            <a:ext cx="2667000" cy="11430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0" name="Text Box 26"/>
          <p:cNvSpPr txBox="1">
            <a:spLocks noChangeArrowheads="1"/>
          </p:cNvSpPr>
          <p:nvPr/>
        </p:nvSpPr>
        <p:spPr bwMode="auto">
          <a:xfrm>
            <a:off x="4868863" y="4724400"/>
            <a:ext cx="3127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66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21531" name="Text Box 27"/>
          <p:cNvSpPr txBox="1">
            <a:spLocks noChangeArrowheads="1"/>
          </p:cNvSpPr>
          <p:nvPr/>
        </p:nvSpPr>
        <p:spPr bwMode="auto">
          <a:xfrm>
            <a:off x="7612063" y="3657600"/>
            <a:ext cx="3127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66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21532" name="Text Box 28"/>
          <p:cNvSpPr txBox="1">
            <a:spLocks noChangeArrowheads="1"/>
          </p:cNvSpPr>
          <p:nvPr/>
        </p:nvSpPr>
        <p:spPr bwMode="auto">
          <a:xfrm>
            <a:off x="4487863" y="2438400"/>
            <a:ext cx="303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66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533" name="Text Box 29"/>
          <p:cNvSpPr txBox="1">
            <a:spLocks noChangeArrowheads="1"/>
          </p:cNvSpPr>
          <p:nvPr/>
        </p:nvSpPr>
        <p:spPr bwMode="auto">
          <a:xfrm>
            <a:off x="6011863" y="6248400"/>
            <a:ext cx="303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66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534" name="Text Box 30"/>
          <p:cNvSpPr txBox="1">
            <a:spLocks noChangeArrowheads="1"/>
          </p:cNvSpPr>
          <p:nvPr/>
        </p:nvSpPr>
        <p:spPr bwMode="auto">
          <a:xfrm>
            <a:off x="5878513" y="3371850"/>
            <a:ext cx="41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66"/>
                </a:solidFill>
                <a:latin typeface="Times New Roman" panose="02020603050405020304" pitchFamily="18" charset="0"/>
              </a:rPr>
              <a:t>90</a:t>
            </a:r>
            <a:r>
              <a:rPr lang="en-US" sz="1400" b="1" baseline="30000">
                <a:solidFill>
                  <a:srgbClr val="FF0066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1535" name="Arc 31"/>
          <p:cNvSpPr>
            <a:spLocks/>
          </p:cNvSpPr>
          <p:nvPr/>
        </p:nvSpPr>
        <p:spPr bwMode="auto">
          <a:xfrm rot="-8342235">
            <a:off x="5764213" y="3276600"/>
            <a:ext cx="523875" cy="381000"/>
          </a:xfrm>
          <a:custGeom>
            <a:avLst/>
            <a:gdLst>
              <a:gd name="T0" fmla="*/ 0 w 29704"/>
              <a:gd name="T1" fmla="*/ 27834 h 21600"/>
              <a:gd name="T2" fmla="*/ 523875 w 29704"/>
              <a:gd name="T3" fmla="*/ 381000 h 21600"/>
              <a:gd name="T4" fmla="*/ 142926 w 29704"/>
              <a:gd name="T5" fmla="*/ 3810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704" h="21600" fill="none" extrusionOk="0">
                <a:moveTo>
                  <a:pt x="-1" y="1577"/>
                </a:moveTo>
                <a:cubicBezTo>
                  <a:pt x="2574" y="535"/>
                  <a:pt x="5326" y="-1"/>
                  <a:pt x="8104" y="0"/>
                </a:cubicBezTo>
                <a:cubicBezTo>
                  <a:pt x="20033" y="0"/>
                  <a:pt x="29704" y="9670"/>
                  <a:pt x="29704" y="21600"/>
                </a:cubicBezTo>
              </a:path>
              <a:path w="29704" h="21600" stroke="0" extrusionOk="0">
                <a:moveTo>
                  <a:pt x="-1" y="1577"/>
                </a:moveTo>
                <a:cubicBezTo>
                  <a:pt x="2574" y="535"/>
                  <a:pt x="5326" y="-1"/>
                  <a:pt x="8104" y="0"/>
                </a:cubicBezTo>
                <a:cubicBezTo>
                  <a:pt x="20033" y="0"/>
                  <a:pt x="29704" y="9670"/>
                  <a:pt x="29704" y="21600"/>
                </a:cubicBezTo>
                <a:lnTo>
                  <a:pt x="8104" y="21600"/>
                </a:lnTo>
                <a:lnTo>
                  <a:pt x="-1" y="157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536" name="Group 32"/>
          <p:cNvGrpSpPr>
            <a:grpSpLocks/>
          </p:cNvGrpSpPr>
          <p:nvPr/>
        </p:nvGrpSpPr>
        <p:grpSpPr bwMode="auto">
          <a:xfrm>
            <a:off x="244475" y="533400"/>
            <a:ext cx="3886200" cy="923925"/>
            <a:chOff x="76" y="540"/>
            <a:chExt cx="2448" cy="582"/>
          </a:xfrm>
        </p:grpSpPr>
        <p:sp>
          <p:nvSpPr>
            <p:cNvPr id="10268" name="Rectangle 33"/>
            <p:cNvSpPr>
              <a:spLocks noChangeArrowheads="1"/>
            </p:cNvSpPr>
            <p:nvPr/>
          </p:nvSpPr>
          <p:spPr bwMode="auto">
            <a:xfrm>
              <a:off x="96" y="540"/>
              <a:ext cx="2400" cy="576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0269" name="Text Box 34"/>
            <p:cNvSpPr txBox="1">
              <a:spLocks noChangeArrowheads="1"/>
            </p:cNvSpPr>
            <p:nvPr/>
          </p:nvSpPr>
          <p:spPr bwMode="auto">
            <a:xfrm>
              <a:off x="76" y="545"/>
              <a:ext cx="2448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TO DRAW TANGENT &amp; NORMAL </a:t>
              </a:r>
            </a:p>
            <a:p>
              <a:pPr algn="ctr"/>
              <a:r>
                <a:rPr lang="en-US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TO THE CURVE </a:t>
              </a:r>
            </a:p>
            <a:p>
              <a:pPr algn="ctr"/>
              <a:r>
                <a:rPr lang="en-US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FROM A GIVEN POINT ( Q )</a:t>
              </a:r>
            </a:p>
          </p:txBody>
        </p:sp>
      </p:grpSp>
      <p:grpSp>
        <p:nvGrpSpPr>
          <p:cNvPr id="21539" name="Group 35"/>
          <p:cNvGrpSpPr>
            <a:grpSpLocks/>
          </p:cNvGrpSpPr>
          <p:nvPr/>
        </p:nvGrpSpPr>
        <p:grpSpPr bwMode="auto">
          <a:xfrm>
            <a:off x="57150" y="1924050"/>
            <a:ext cx="4191000" cy="2139950"/>
            <a:chOff x="36" y="1212"/>
            <a:chExt cx="2640" cy="1348"/>
          </a:xfrm>
        </p:grpSpPr>
        <p:sp>
          <p:nvSpPr>
            <p:cNvPr id="10266" name="AutoShape 36"/>
            <p:cNvSpPr>
              <a:spLocks noChangeArrowheads="1"/>
            </p:cNvSpPr>
            <p:nvPr/>
          </p:nvSpPr>
          <p:spPr bwMode="auto">
            <a:xfrm>
              <a:off x="36" y="1212"/>
              <a:ext cx="2640" cy="1302"/>
            </a:xfrm>
            <a:prstGeom prst="wedgeRoundRectCallout">
              <a:avLst>
                <a:gd name="adj1" fmla="val 55796"/>
                <a:gd name="adj2" fmla="val 66898"/>
                <a:gd name="adj3" fmla="val 16667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SG" sz="1400">
                <a:latin typeface="Times New Roman" panose="02020603050405020304" pitchFamily="18" charset="0"/>
              </a:endParaRPr>
            </a:p>
          </p:txBody>
        </p:sp>
        <p:sp>
          <p:nvSpPr>
            <p:cNvPr id="10267" name="Text Box 37"/>
            <p:cNvSpPr txBox="1">
              <a:spLocks noChangeArrowheads="1"/>
            </p:cNvSpPr>
            <p:nvPr/>
          </p:nvSpPr>
          <p:spPr bwMode="auto">
            <a:xfrm>
              <a:off x="48" y="1296"/>
              <a:ext cx="2601" cy="1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1.JOIN POINT </a:t>
              </a:r>
              <a:r>
                <a:rPr lang="en-US" sz="1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sz="1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TO </a:t>
              </a:r>
              <a:r>
                <a:rPr lang="en-US" sz="1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sz="1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2.CONSTRUCT </a:t>
              </a:r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90</a:t>
              </a:r>
              <a:r>
                <a:rPr lang="en-US" sz="1400" baseline="30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ANGLE WITH THIS LINE AT 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  POINT</a:t>
              </a:r>
              <a:r>
                <a:rPr lang="en-US" sz="1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sz="1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3.EXTEND THE LINE TO MEET DIRECTRIX AT</a:t>
              </a:r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sz="1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T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4. JOIN THIS POINT TO </a:t>
              </a:r>
              <a:r>
                <a:rPr lang="en-US" sz="1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AND EXTEND. THIS IS 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TANGENT</a:t>
              </a:r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TO CURVE FROM </a:t>
              </a:r>
              <a:r>
                <a:rPr lang="en-US" sz="1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5.TO THIS TANGENT DRAW PERPENDICULAR</a:t>
              </a:r>
            </a:p>
            <a:p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  LINE FROM </a:t>
              </a:r>
              <a:r>
                <a:rPr lang="en-US" sz="1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. IT IS</a:t>
              </a:r>
              <a:r>
                <a:rPr lang="en-US" sz="1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NORMAL</a:t>
              </a:r>
              <a:r>
                <a:rPr lang="en-US" sz="1400">
                  <a:solidFill>
                    <a:srgbClr val="FF0066"/>
                  </a:solidFill>
                  <a:latin typeface="Times New Roman" panose="02020603050405020304" pitchFamily="18" charset="0"/>
                </a:rPr>
                <a:t> TO CURVE.</a:t>
              </a:r>
            </a:p>
            <a:p>
              <a:endParaRPr lang="en-US" sz="1400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1542" name="Text Box 38"/>
          <p:cNvSpPr txBox="1">
            <a:spLocks noChangeArrowheads="1"/>
          </p:cNvSpPr>
          <p:nvPr/>
        </p:nvSpPr>
        <p:spPr bwMode="auto">
          <a:xfrm>
            <a:off x="228600" y="192088"/>
            <a:ext cx="1308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Problem 16</a:t>
            </a:r>
            <a:endParaRPr lang="en-US" sz="12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259" name="Group 39"/>
          <p:cNvGrpSpPr>
            <a:grpSpLocks/>
          </p:cNvGrpSpPr>
          <p:nvPr/>
        </p:nvGrpSpPr>
        <p:grpSpPr bwMode="auto">
          <a:xfrm>
            <a:off x="8016875" y="6629400"/>
            <a:ext cx="1096963" cy="182563"/>
            <a:chOff x="5050" y="29"/>
            <a:chExt cx="691" cy="115"/>
          </a:xfrm>
        </p:grpSpPr>
        <p:sp>
          <p:nvSpPr>
            <p:cNvPr id="10260" name="AutoShape 40">
              <a:hlinkClick r:id="rId2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0261" name="AutoShape 41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0262" name="AutoShape 42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0263" name="AutoShape 43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0264" name="AutoShape 44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0265" name="AutoShape 45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426317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0" dur="500"/>
                                        <p:tgtEl>
                                          <p:spTgt spid="2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1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4" grpId="0" animBg="1"/>
      <p:bldP spid="21525" grpId="0" autoUpdateAnimBg="0"/>
      <p:bldP spid="21526" grpId="0" animBg="1"/>
      <p:bldP spid="21527" grpId="0" animBg="1"/>
      <p:bldP spid="21528" grpId="0" animBg="1"/>
      <p:bldP spid="21529" grpId="0" animBg="1"/>
      <p:bldP spid="21530" grpId="0" autoUpdateAnimBg="0"/>
      <p:bldP spid="21531" grpId="0" autoUpdateAnimBg="0"/>
      <p:bldP spid="21532" grpId="0" autoUpdateAnimBg="0"/>
      <p:bldP spid="21533" grpId="0" autoUpdateAnimBg="0"/>
      <p:bldP spid="21534" grpId="0" autoUpdateAnimBg="0"/>
      <p:bldP spid="21535" grpId="0" animBg="1"/>
      <p:bldP spid="21542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/>
          <p:cNvSpPr>
            <a:spLocks noChangeShapeType="1"/>
          </p:cNvSpPr>
          <p:nvPr/>
        </p:nvSpPr>
        <p:spPr bwMode="auto">
          <a:xfrm>
            <a:off x="3262313" y="3783013"/>
            <a:ext cx="54864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Line 3"/>
          <p:cNvSpPr>
            <a:spLocks noChangeShapeType="1"/>
          </p:cNvSpPr>
          <p:nvPr/>
        </p:nvSpPr>
        <p:spPr bwMode="auto">
          <a:xfrm>
            <a:off x="6005513" y="2259013"/>
            <a:ext cx="0" cy="30480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 rot="-1974247">
            <a:off x="3419475" y="3041650"/>
            <a:ext cx="2819400" cy="158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1" name="Oval 5"/>
          <p:cNvSpPr>
            <a:spLocks noChangeArrowheads="1"/>
          </p:cNvSpPr>
          <p:nvPr/>
        </p:nvSpPr>
        <p:spPr bwMode="auto">
          <a:xfrm>
            <a:off x="3629025" y="375443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22" name="Oval 6"/>
          <p:cNvSpPr>
            <a:spLocks noChangeArrowheads="1"/>
          </p:cNvSpPr>
          <p:nvPr/>
        </p:nvSpPr>
        <p:spPr bwMode="auto">
          <a:xfrm>
            <a:off x="3262313" y="37496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23" name="Oval 7"/>
          <p:cNvSpPr>
            <a:spLocks noChangeArrowheads="1"/>
          </p:cNvSpPr>
          <p:nvPr/>
        </p:nvSpPr>
        <p:spPr bwMode="auto">
          <a:xfrm>
            <a:off x="5976938" y="523081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24" name="Oval 8"/>
          <p:cNvSpPr>
            <a:spLocks noChangeArrowheads="1"/>
          </p:cNvSpPr>
          <p:nvPr/>
        </p:nvSpPr>
        <p:spPr bwMode="auto">
          <a:xfrm>
            <a:off x="8672513" y="37401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25" name="Oval 9"/>
          <p:cNvSpPr>
            <a:spLocks noChangeArrowheads="1"/>
          </p:cNvSpPr>
          <p:nvPr/>
        </p:nvSpPr>
        <p:spPr bwMode="auto">
          <a:xfrm>
            <a:off x="5962650" y="225901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8286750" y="375443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27" name="Line 11"/>
          <p:cNvSpPr>
            <a:spLocks noChangeShapeType="1"/>
          </p:cNvSpPr>
          <p:nvPr/>
        </p:nvSpPr>
        <p:spPr bwMode="auto">
          <a:xfrm rot="1974247" flipV="1">
            <a:off x="5776913" y="3049588"/>
            <a:ext cx="2819400" cy="158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8" name="Line 12"/>
          <p:cNvSpPr>
            <a:spLocks noChangeShapeType="1"/>
          </p:cNvSpPr>
          <p:nvPr/>
        </p:nvSpPr>
        <p:spPr bwMode="auto">
          <a:xfrm>
            <a:off x="4100513" y="3706813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9" name="Line 13"/>
          <p:cNvSpPr>
            <a:spLocks noChangeShapeType="1"/>
          </p:cNvSpPr>
          <p:nvPr/>
        </p:nvSpPr>
        <p:spPr bwMode="auto">
          <a:xfrm>
            <a:off x="4495800" y="371633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0" name="Line 14"/>
          <p:cNvSpPr>
            <a:spLocks noChangeShapeType="1"/>
          </p:cNvSpPr>
          <p:nvPr/>
        </p:nvSpPr>
        <p:spPr bwMode="auto">
          <a:xfrm>
            <a:off x="4891088" y="37115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1" name="Line 15"/>
          <p:cNvSpPr>
            <a:spLocks noChangeShapeType="1"/>
          </p:cNvSpPr>
          <p:nvPr/>
        </p:nvSpPr>
        <p:spPr bwMode="auto">
          <a:xfrm>
            <a:off x="5286375" y="3706813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3600450" y="31257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4043363" y="273526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4633913" y="245903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35" name="Oval 19"/>
          <p:cNvSpPr>
            <a:spLocks noChangeArrowheads="1"/>
          </p:cNvSpPr>
          <p:nvPr/>
        </p:nvSpPr>
        <p:spPr bwMode="auto">
          <a:xfrm>
            <a:off x="5210175" y="232092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36" name="Oval 20"/>
          <p:cNvSpPr>
            <a:spLocks noChangeArrowheads="1"/>
          </p:cNvSpPr>
          <p:nvPr/>
        </p:nvSpPr>
        <p:spPr bwMode="auto">
          <a:xfrm flipH="1">
            <a:off x="8410575" y="313531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37" name="Oval 21"/>
          <p:cNvSpPr>
            <a:spLocks noChangeArrowheads="1"/>
          </p:cNvSpPr>
          <p:nvPr/>
        </p:nvSpPr>
        <p:spPr bwMode="auto">
          <a:xfrm flipH="1">
            <a:off x="7924800" y="27447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38" name="Oval 22"/>
          <p:cNvSpPr>
            <a:spLocks noChangeArrowheads="1"/>
          </p:cNvSpPr>
          <p:nvPr/>
        </p:nvSpPr>
        <p:spPr bwMode="auto">
          <a:xfrm flipH="1">
            <a:off x="7334250" y="24828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39" name="Oval 23"/>
          <p:cNvSpPr>
            <a:spLocks noChangeArrowheads="1"/>
          </p:cNvSpPr>
          <p:nvPr/>
        </p:nvSpPr>
        <p:spPr bwMode="auto">
          <a:xfrm flipH="1">
            <a:off x="6743700" y="23304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 flipH="1" flipV="1">
            <a:off x="8405813" y="44211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 flipH="1" flipV="1">
            <a:off x="7934325" y="478313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 flipH="1" flipV="1">
            <a:off x="7372350" y="50450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 flipH="1" flipV="1">
            <a:off x="6781800" y="51831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 flipV="1">
            <a:off x="3557588" y="44354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45" name="Oval 29"/>
          <p:cNvSpPr>
            <a:spLocks noChangeArrowheads="1"/>
          </p:cNvSpPr>
          <p:nvPr/>
        </p:nvSpPr>
        <p:spPr bwMode="auto">
          <a:xfrm flipV="1">
            <a:off x="4029075" y="479742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46" name="Oval 30"/>
          <p:cNvSpPr>
            <a:spLocks noChangeArrowheads="1"/>
          </p:cNvSpPr>
          <p:nvPr/>
        </p:nvSpPr>
        <p:spPr bwMode="auto">
          <a:xfrm flipV="1">
            <a:off x="4591050" y="50450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47" name="Oval 31"/>
          <p:cNvSpPr>
            <a:spLocks noChangeArrowheads="1"/>
          </p:cNvSpPr>
          <p:nvPr/>
        </p:nvSpPr>
        <p:spPr bwMode="auto">
          <a:xfrm flipV="1">
            <a:off x="5181600" y="51831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48" name="Line 32"/>
          <p:cNvSpPr>
            <a:spLocks noChangeShapeType="1"/>
          </p:cNvSpPr>
          <p:nvPr/>
        </p:nvSpPr>
        <p:spPr bwMode="auto">
          <a:xfrm flipV="1">
            <a:off x="3643313" y="3173413"/>
            <a:ext cx="0" cy="6096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9" name="Line 33"/>
          <p:cNvSpPr>
            <a:spLocks noChangeShapeType="1"/>
          </p:cNvSpPr>
          <p:nvPr/>
        </p:nvSpPr>
        <p:spPr bwMode="auto">
          <a:xfrm>
            <a:off x="3643313" y="3173413"/>
            <a:ext cx="4724400" cy="6096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0" name="Line 34"/>
          <p:cNvSpPr>
            <a:spLocks noChangeShapeType="1"/>
          </p:cNvSpPr>
          <p:nvPr/>
        </p:nvSpPr>
        <p:spPr bwMode="auto">
          <a:xfrm flipV="1">
            <a:off x="3643313" y="2792413"/>
            <a:ext cx="457200" cy="9906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1" name="Line 35"/>
          <p:cNvSpPr>
            <a:spLocks noChangeShapeType="1"/>
          </p:cNvSpPr>
          <p:nvPr/>
        </p:nvSpPr>
        <p:spPr bwMode="auto">
          <a:xfrm>
            <a:off x="4100513" y="2792413"/>
            <a:ext cx="4191000" cy="9906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2" name="Line 36"/>
          <p:cNvSpPr>
            <a:spLocks noChangeShapeType="1"/>
          </p:cNvSpPr>
          <p:nvPr/>
        </p:nvSpPr>
        <p:spPr bwMode="auto">
          <a:xfrm flipV="1">
            <a:off x="3643313" y="2563813"/>
            <a:ext cx="990600" cy="1219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3" name="Line 37"/>
          <p:cNvSpPr>
            <a:spLocks noChangeShapeType="1"/>
          </p:cNvSpPr>
          <p:nvPr/>
        </p:nvSpPr>
        <p:spPr bwMode="auto">
          <a:xfrm>
            <a:off x="4633913" y="2487613"/>
            <a:ext cx="3733800" cy="1295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4" name="Line 38"/>
          <p:cNvSpPr>
            <a:spLocks noChangeShapeType="1"/>
          </p:cNvSpPr>
          <p:nvPr/>
        </p:nvSpPr>
        <p:spPr bwMode="auto">
          <a:xfrm flipV="1">
            <a:off x="3643313" y="2335213"/>
            <a:ext cx="1600200" cy="1447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5" name="Line 39"/>
          <p:cNvSpPr>
            <a:spLocks noChangeShapeType="1"/>
          </p:cNvSpPr>
          <p:nvPr/>
        </p:nvSpPr>
        <p:spPr bwMode="auto">
          <a:xfrm>
            <a:off x="5243513" y="2335213"/>
            <a:ext cx="3124200" cy="1447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490913" y="3783013"/>
            <a:ext cx="377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>
                <a:latin typeface="Times New Roman" panose="02020603050405020304" pitchFamily="18" charset="0"/>
              </a:rPr>
              <a:t>F</a:t>
            </a:r>
            <a:r>
              <a:rPr lang="en-US" sz="16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8181975" y="3783013"/>
            <a:ext cx="377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>
                <a:latin typeface="Times New Roman" panose="02020603050405020304" pitchFamily="18" charset="0"/>
              </a:rPr>
              <a:t>F</a:t>
            </a:r>
            <a:r>
              <a:rPr lang="en-US" sz="16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4008438" y="3794125"/>
            <a:ext cx="15176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>
                <a:latin typeface="Times New Roman" panose="02020603050405020304" pitchFamily="18" charset="0"/>
              </a:rPr>
              <a:t>1      2       3       4  </a:t>
            </a: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2957513" y="3605213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9260" name="Text Box 44"/>
          <p:cNvSpPr txBox="1">
            <a:spLocks noChangeArrowheads="1"/>
          </p:cNvSpPr>
          <p:nvPr/>
        </p:nvSpPr>
        <p:spPr bwMode="auto">
          <a:xfrm>
            <a:off x="8748713" y="3554413"/>
            <a:ext cx="3190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9261" name="Text Box 45"/>
          <p:cNvSpPr txBox="1">
            <a:spLocks noChangeArrowheads="1"/>
          </p:cNvSpPr>
          <p:nvPr/>
        </p:nvSpPr>
        <p:spPr bwMode="auto">
          <a:xfrm>
            <a:off x="5837238" y="196215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9262" name="Text Box 46"/>
          <p:cNvSpPr txBox="1">
            <a:spLocks noChangeArrowheads="1"/>
          </p:cNvSpPr>
          <p:nvPr/>
        </p:nvSpPr>
        <p:spPr bwMode="auto">
          <a:xfrm>
            <a:off x="5880100" y="5302250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b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9263" name="Text Box 47"/>
          <p:cNvSpPr txBox="1">
            <a:spLocks noChangeArrowheads="1"/>
          </p:cNvSpPr>
          <p:nvPr/>
        </p:nvSpPr>
        <p:spPr bwMode="auto">
          <a:xfrm>
            <a:off x="3365500" y="2755900"/>
            <a:ext cx="33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>
                <a:latin typeface="Times New Roman" panose="02020603050405020304" pitchFamily="18" charset="0"/>
              </a:rPr>
              <a:t>p</a:t>
            </a:r>
            <a:r>
              <a:rPr lang="en-US" sz="1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9264" name="Text Box 48"/>
          <p:cNvSpPr txBox="1">
            <a:spLocks noChangeArrowheads="1"/>
          </p:cNvSpPr>
          <p:nvPr/>
        </p:nvSpPr>
        <p:spPr bwMode="auto">
          <a:xfrm>
            <a:off x="3856038" y="2417763"/>
            <a:ext cx="33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>
                <a:latin typeface="Times New Roman" panose="02020603050405020304" pitchFamily="18" charset="0"/>
              </a:rPr>
              <a:t>p</a:t>
            </a:r>
            <a:r>
              <a:rPr lang="en-US" sz="1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265" name="Text Box 49"/>
          <p:cNvSpPr txBox="1">
            <a:spLocks noChangeArrowheads="1"/>
          </p:cNvSpPr>
          <p:nvPr/>
        </p:nvSpPr>
        <p:spPr bwMode="auto">
          <a:xfrm>
            <a:off x="4494213" y="2168525"/>
            <a:ext cx="33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>
                <a:latin typeface="Times New Roman" panose="02020603050405020304" pitchFamily="18" charset="0"/>
              </a:rPr>
              <a:t>p</a:t>
            </a:r>
            <a:r>
              <a:rPr lang="en-US" sz="1400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266" name="Text Box 50"/>
          <p:cNvSpPr txBox="1">
            <a:spLocks noChangeArrowheads="1"/>
          </p:cNvSpPr>
          <p:nvPr/>
        </p:nvSpPr>
        <p:spPr bwMode="auto">
          <a:xfrm>
            <a:off x="5138738" y="1979613"/>
            <a:ext cx="33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>
                <a:latin typeface="Times New Roman" panose="02020603050405020304" pitchFamily="18" charset="0"/>
              </a:rPr>
              <a:t>p</a:t>
            </a:r>
            <a:r>
              <a:rPr lang="en-US" sz="1400" baseline="-25000">
                <a:latin typeface="Times New Roman" panose="02020603050405020304" pitchFamily="18" charset="0"/>
              </a:rPr>
              <a:t>4</a:t>
            </a:r>
          </a:p>
        </p:txBody>
      </p:sp>
      <p:grpSp>
        <p:nvGrpSpPr>
          <p:cNvPr id="9267" name="Group 51"/>
          <p:cNvGrpSpPr>
            <a:grpSpLocks/>
          </p:cNvGrpSpPr>
          <p:nvPr/>
        </p:nvGrpSpPr>
        <p:grpSpPr bwMode="auto">
          <a:xfrm>
            <a:off x="3671888" y="2320925"/>
            <a:ext cx="4724400" cy="1489075"/>
            <a:chOff x="1713" y="3012"/>
            <a:chExt cx="2976" cy="938"/>
          </a:xfrm>
        </p:grpSpPr>
        <p:sp>
          <p:nvSpPr>
            <p:cNvPr id="11338" name="Line 52"/>
            <p:cNvSpPr>
              <a:spLocks noChangeShapeType="1"/>
            </p:cNvSpPr>
            <p:nvPr/>
          </p:nvSpPr>
          <p:spPr bwMode="auto">
            <a:xfrm flipH="1" flipV="1">
              <a:off x="4689" y="3552"/>
              <a:ext cx="0" cy="38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9" name="Line 53"/>
            <p:cNvSpPr>
              <a:spLocks noChangeShapeType="1"/>
            </p:cNvSpPr>
            <p:nvPr/>
          </p:nvSpPr>
          <p:spPr bwMode="auto">
            <a:xfrm flipH="1">
              <a:off x="1713" y="3552"/>
              <a:ext cx="2976" cy="38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0" name="Line 54"/>
            <p:cNvSpPr>
              <a:spLocks noChangeShapeType="1"/>
            </p:cNvSpPr>
            <p:nvPr/>
          </p:nvSpPr>
          <p:spPr bwMode="auto">
            <a:xfrm flipH="1" flipV="1">
              <a:off x="4401" y="3312"/>
              <a:ext cx="288" cy="6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1" name="Line 55"/>
            <p:cNvSpPr>
              <a:spLocks noChangeShapeType="1"/>
            </p:cNvSpPr>
            <p:nvPr/>
          </p:nvSpPr>
          <p:spPr bwMode="auto">
            <a:xfrm flipH="1">
              <a:off x="1761" y="3312"/>
              <a:ext cx="2640" cy="6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2" name="Line 56"/>
            <p:cNvSpPr>
              <a:spLocks noChangeShapeType="1"/>
            </p:cNvSpPr>
            <p:nvPr/>
          </p:nvSpPr>
          <p:spPr bwMode="auto">
            <a:xfrm flipH="1" flipV="1">
              <a:off x="4065" y="3168"/>
              <a:ext cx="624" cy="76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3" name="Line 57"/>
            <p:cNvSpPr>
              <a:spLocks noChangeShapeType="1"/>
            </p:cNvSpPr>
            <p:nvPr/>
          </p:nvSpPr>
          <p:spPr bwMode="auto">
            <a:xfrm flipH="1">
              <a:off x="1713" y="3120"/>
              <a:ext cx="2352" cy="8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4" name="Line 58"/>
            <p:cNvSpPr>
              <a:spLocks noChangeShapeType="1"/>
            </p:cNvSpPr>
            <p:nvPr/>
          </p:nvSpPr>
          <p:spPr bwMode="auto">
            <a:xfrm flipH="1">
              <a:off x="1713" y="3024"/>
              <a:ext cx="1968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5" name="Line 59"/>
            <p:cNvSpPr>
              <a:spLocks noChangeShapeType="1"/>
            </p:cNvSpPr>
            <p:nvPr/>
          </p:nvSpPr>
          <p:spPr bwMode="auto">
            <a:xfrm>
              <a:off x="3672" y="3012"/>
              <a:ext cx="1008" cy="93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316" name="Text Box 60"/>
          <p:cNvSpPr txBox="1">
            <a:spLocks noChangeArrowheads="1"/>
          </p:cNvSpPr>
          <p:nvPr/>
        </p:nvSpPr>
        <p:spPr bwMode="auto">
          <a:xfrm>
            <a:off x="6416675" y="0"/>
            <a:ext cx="27273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b="1" u="sng">
                <a:solidFill>
                  <a:schemeClr val="accent2"/>
                </a:solidFill>
                <a:latin typeface="Arial Black" panose="020B0A04020102020204" pitchFamily="34" charset="0"/>
              </a:rPr>
              <a:t>ELLIPSE </a:t>
            </a:r>
          </a:p>
          <a:p>
            <a:pPr algn="ctr"/>
            <a:r>
              <a:rPr lang="en-US" sz="1400" b="1" i="1">
                <a:solidFill>
                  <a:srgbClr val="FF0000"/>
                </a:solidFill>
                <a:latin typeface="Times New Roman" panose="02020603050405020304" pitchFamily="18" charset="0"/>
              </a:rPr>
              <a:t>BY ARCS OF CIRCLE METHOD</a:t>
            </a:r>
          </a:p>
        </p:txBody>
      </p:sp>
      <p:sp>
        <p:nvSpPr>
          <p:cNvPr id="9277" name="Text Box 61"/>
          <p:cNvSpPr txBox="1">
            <a:spLocks noChangeArrowheads="1"/>
          </p:cNvSpPr>
          <p:nvPr/>
        </p:nvSpPr>
        <p:spPr bwMode="auto">
          <a:xfrm>
            <a:off x="5989638" y="3717925"/>
            <a:ext cx="3127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9278" name="Arc 62"/>
          <p:cNvSpPr>
            <a:spLocks/>
          </p:cNvSpPr>
          <p:nvPr/>
        </p:nvSpPr>
        <p:spPr bwMode="auto">
          <a:xfrm flipH="1">
            <a:off x="3338513" y="2335213"/>
            <a:ext cx="2667000" cy="1447800"/>
          </a:xfrm>
          <a:custGeom>
            <a:avLst/>
            <a:gdLst>
              <a:gd name="T0" fmla="*/ 0 w 21600"/>
              <a:gd name="T1" fmla="*/ 0 h 21600"/>
              <a:gd name="T2" fmla="*/ 2667000 w 21600"/>
              <a:gd name="T3" fmla="*/ 1447800 h 21600"/>
              <a:gd name="T4" fmla="*/ 0 w 21600"/>
              <a:gd name="T5" fmla="*/ 14478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79" name="Arc 63"/>
          <p:cNvSpPr>
            <a:spLocks/>
          </p:cNvSpPr>
          <p:nvPr/>
        </p:nvSpPr>
        <p:spPr bwMode="auto">
          <a:xfrm flipV="1">
            <a:off x="6005513" y="3833813"/>
            <a:ext cx="2743200" cy="1447800"/>
          </a:xfrm>
          <a:custGeom>
            <a:avLst/>
            <a:gdLst>
              <a:gd name="T0" fmla="*/ 0 w 21600"/>
              <a:gd name="T1" fmla="*/ 0 h 21600"/>
              <a:gd name="T2" fmla="*/ 2743200 w 21600"/>
              <a:gd name="T3" fmla="*/ 1447800 h 21600"/>
              <a:gd name="T4" fmla="*/ 0 w 21600"/>
              <a:gd name="T5" fmla="*/ 14478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80" name="Arc 64"/>
          <p:cNvSpPr>
            <a:spLocks/>
          </p:cNvSpPr>
          <p:nvPr/>
        </p:nvSpPr>
        <p:spPr bwMode="auto">
          <a:xfrm flipH="1" flipV="1">
            <a:off x="3325813" y="3833813"/>
            <a:ext cx="2743200" cy="1447800"/>
          </a:xfrm>
          <a:custGeom>
            <a:avLst/>
            <a:gdLst>
              <a:gd name="T0" fmla="*/ 0 w 21600"/>
              <a:gd name="T1" fmla="*/ 0 h 21600"/>
              <a:gd name="T2" fmla="*/ 2743200 w 21600"/>
              <a:gd name="T3" fmla="*/ 1447800 h 21600"/>
              <a:gd name="T4" fmla="*/ 0 w 21600"/>
              <a:gd name="T5" fmla="*/ 14478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81" name="Arc 65"/>
          <p:cNvSpPr>
            <a:spLocks/>
          </p:cNvSpPr>
          <p:nvPr/>
        </p:nvSpPr>
        <p:spPr bwMode="auto">
          <a:xfrm>
            <a:off x="6005513" y="2335213"/>
            <a:ext cx="2743200" cy="1447800"/>
          </a:xfrm>
          <a:custGeom>
            <a:avLst/>
            <a:gdLst>
              <a:gd name="T0" fmla="*/ 0 w 21600"/>
              <a:gd name="T1" fmla="*/ 0 h 21600"/>
              <a:gd name="T2" fmla="*/ 2743200 w 21600"/>
              <a:gd name="T3" fmla="*/ 1447800 h 21600"/>
              <a:gd name="T4" fmla="*/ 0 w 21600"/>
              <a:gd name="T5" fmla="*/ 14478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282" name="Group 66"/>
          <p:cNvGrpSpPr>
            <a:grpSpLocks/>
          </p:cNvGrpSpPr>
          <p:nvPr/>
        </p:nvGrpSpPr>
        <p:grpSpPr bwMode="auto">
          <a:xfrm>
            <a:off x="0" y="0"/>
            <a:ext cx="3187293" cy="1041401"/>
            <a:chOff x="0" y="0"/>
            <a:chExt cx="2660" cy="656"/>
          </a:xfrm>
        </p:grpSpPr>
        <p:sp>
          <p:nvSpPr>
            <p:cNvPr id="11336" name="Rectangle 67"/>
            <p:cNvSpPr>
              <a:spLocks noChangeArrowheads="1"/>
            </p:cNvSpPr>
            <p:nvPr/>
          </p:nvSpPr>
          <p:spPr bwMode="auto">
            <a:xfrm>
              <a:off x="0" y="0"/>
              <a:ext cx="2544" cy="62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1337" name="Text Box 68"/>
            <p:cNvSpPr txBox="1">
              <a:spLocks noChangeArrowheads="1"/>
            </p:cNvSpPr>
            <p:nvPr/>
          </p:nvSpPr>
          <p:spPr bwMode="auto">
            <a:xfrm>
              <a:off x="0" y="16"/>
              <a:ext cx="2660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200" b="1" dirty="0">
                  <a:latin typeface="Times New Roman" panose="02020603050405020304" pitchFamily="18" charset="0"/>
                </a:rPr>
                <a:t>PROBLEM 4.</a:t>
              </a:r>
            </a:p>
            <a:p>
              <a:r>
                <a:rPr lang="en-US" sz="1200" dirty="0">
                  <a:latin typeface="Times New Roman" panose="02020603050405020304" pitchFamily="18" charset="0"/>
                </a:rPr>
                <a:t>MAJOR AXIS AB &amp; MINOR AXIS CD ARE </a:t>
              </a:r>
            </a:p>
            <a:p>
              <a:r>
                <a:rPr lang="en-US" sz="1200" dirty="0">
                  <a:latin typeface="Times New Roman" panose="02020603050405020304" pitchFamily="18" charset="0"/>
                </a:rPr>
                <a:t>100 </a:t>
              </a:r>
              <a:r>
                <a:rPr lang="en-US" sz="1200" dirty="0" smtClean="0">
                  <a:latin typeface="Times New Roman" panose="02020603050405020304" pitchFamily="18" charset="0"/>
                </a:rPr>
                <a:t>AND </a:t>
              </a:r>
              <a:r>
                <a:rPr lang="en-US" sz="1200" dirty="0">
                  <a:latin typeface="Times New Roman" panose="02020603050405020304" pitchFamily="18" charset="0"/>
                </a:rPr>
                <a:t>70MM LONG RESPECTIVELY</a:t>
              </a:r>
            </a:p>
            <a:p>
              <a:r>
                <a:rPr lang="en-US" sz="1200" dirty="0">
                  <a:latin typeface="Times New Roman" panose="02020603050405020304" pitchFamily="18" charset="0"/>
                </a:rPr>
                <a:t>.DRAW ELLIPSE BY ARCS OF CIRLES </a:t>
              </a:r>
            </a:p>
            <a:p>
              <a:r>
                <a:rPr lang="en-US" sz="1200" dirty="0">
                  <a:latin typeface="Times New Roman" panose="02020603050405020304" pitchFamily="18" charset="0"/>
                </a:rPr>
                <a:t>METHOD.</a:t>
              </a:r>
            </a:p>
          </p:txBody>
        </p:sp>
      </p:grpSp>
      <p:grpSp>
        <p:nvGrpSpPr>
          <p:cNvPr id="9285" name="Group 69"/>
          <p:cNvGrpSpPr>
            <a:grpSpLocks/>
          </p:cNvGrpSpPr>
          <p:nvPr/>
        </p:nvGrpSpPr>
        <p:grpSpPr bwMode="auto">
          <a:xfrm>
            <a:off x="0" y="1143000"/>
            <a:ext cx="3124200" cy="5478463"/>
            <a:chOff x="0" y="720"/>
            <a:chExt cx="1968" cy="3451"/>
          </a:xfrm>
        </p:grpSpPr>
        <p:sp>
          <p:nvSpPr>
            <p:cNvPr id="11334" name="AutoShape 70"/>
            <p:cNvSpPr>
              <a:spLocks noChangeArrowheads="1"/>
            </p:cNvSpPr>
            <p:nvPr/>
          </p:nvSpPr>
          <p:spPr bwMode="auto">
            <a:xfrm>
              <a:off x="0" y="720"/>
              <a:ext cx="1872" cy="2736"/>
            </a:xfrm>
            <a:prstGeom prst="wedgeRectCallout">
              <a:avLst>
                <a:gd name="adj1" fmla="val 60097"/>
                <a:gd name="adj2" fmla="val -8514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SG" sz="1400">
                <a:latin typeface="Times New Roman" panose="02020603050405020304" pitchFamily="18" charset="0"/>
              </a:endParaRPr>
            </a:p>
          </p:txBody>
        </p:sp>
        <p:sp>
          <p:nvSpPr>
            <p:cNvPr id="11335" name="Text Box 71"/>
            <p:cNvSpPr txBox="1">
              <a:spLocks noChangeArrowheads="1"/>
            </p:cNvSpPr>
            <p:nvPr/>
          </p:nvSpPr>
          <p:spPr bwMode="auto">
            <a:xfrm>
              <a:off x="0" y="720"/>
              <a:ext cx="1968" cy="3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 dirty="0">
                  <a:latin typeface="Times New Roman" panose="02020603050405020304" pitchFamily="18" charset="0"/>
                </a:rPr>
                <a:t>STEPS: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1.Draw both axes as </a:t>
              </a:r>
              <a:r>
                <a:rPr lang="en-US" sz="1400" dirty="0" err="1">
                  <a:latin typeface="Times New Roman" panose="02020603050405020304" pitchFamily="18" charset="0"/>
                </a:rPr>
                <a:t>usual.Name</a:t>
              </a:r>
              <a:r>
                <a:rPr lang="en-US" sz="1400" dirty="0">
                  <a:latin typeface="Times New Roman" panose="02020603050405020304" pitchFamily="18" charset="0"/>
                </a:rPr>
                <a:t> the        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   ends &amp; intersecting point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2.Taking AO distance </a:t>
              </a:r>
              <a:r>
                <a:rPr lang="en-US" sz="1400" dirty="0" err="1" smtClean="0">
                  <a:latin typeface="Times New Roman" panose="02020603050405020304" pitchFamily="18" charset="0"/>
                </a:rPr>
                <a:t>i.e.half</a:t>
              </a:r>
              <a:r>
                <a:rPr lang="en-US" sz="1400" dirty="0" smtClean="0">
                  <a:latin typeface="Times New Roman" panose="02020603050405020304" pitchFamily="18" charset="0"/>
                </a:rPr>
                <a:t> </a:t>
              </a:r>
              <a:r>
                <a:rPr lang="en-US" sz="1400" dirty="0">
                  <a:latin typeface="Times New Roman" panose="02020603050405020304" pitchFamily="18" charset="0"/>
                </a:rPr>
                <a:t>major 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   axis, from C, mark F</a:t>
              </a:r>
              <a:r>
                <a:rPr lang="en-US" sz="1400" baseline="-25000" dirty="0">
                  <a:latin typeface="Times New Roman" panose="02020603050405020304" pitchFamily="18" charset="0"/>
                </a:rPr>
                <a:t>1</a:t>
              </a:r>
              <a:r>
                <a:rPr lang="en-US" sz="1400" dirty="0">
                  <a:latin typeface="Times New Roman" panose="02020603050405020304" pitchFamily="18" charset="0"/>
                </a:rPr>
                <a:t> &amp; F</a:t>
              </a:r>
              <a:r>
                <a:rPr lang="en-US" sz="1400" baseline="-25000" dirty="0">
                  <a:latin typeface="Times New Roman" panose="02020603050405020304" pitchFamily="18" charset="0"/>
                </a:rPr>
                <a:t>2 </a:t>
              </a:r>
              <a:r>
                <a:rPr lang="en-US" sz="1400" dirty="0">
                  <a:latin typeface="Times New Roman" panose="02020603050405020304" pitchFamily="18" charset="0"/>
                </a:rPr>
                <a:t>On AB  .    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   ( focus 1 and 2.)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3.On line F</a:t>
              </a:r>
              <a:r>
                <a:rPr lang="en-US" sz="1400" baseline="-25000" dirty="0">
                  <a:latin typeface="Times New Roman" panose="02020603050405020304" pitchFamily="18" charset="0"/>
                </a:rPr>
                <a:t>1</a:t>
              </a:r>
              <a:r>
                <a:rPr lang="en-US" sz="1400" dirty="0">
                  <a:latin typeface="Times New Roman" panose="02020603050405020304" pitchFamily="18" charset="0"/>
                </a:rPr>
                <a:t>- O  taking any distance, 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   mark points 1,2,3, &amp; 4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4.Taking F</a:t>
              </a:r>
              <a:r>
                <a:rPr lang="en-US" sz="1400" baseline="-25000" dirty="0">
                  <a:latin typeface="Times New Roman" panose="02020603050405020304" pitchFamily="18" charset="0"/>
                </a:rPr>
                <a:t>1 </a:t>
              </a:r>
              <a:r>
                <a:rPr lang="en-US" sz="1400" dirty="0">
                  <a:latin typeface="Times New Roman" panose="02020603050405020304" pitchFamily="18" charset="0"/>
                </a:rPr>
                <a:t>center,</a:t>
              </a:r>
              <a:r>
                <a:rPr lang="en-US" sz="1400" baseline="-25000" dirty="0">
                  <a:latin typeface="Times New Roman" panose="02020603050405020304" pitchFamily="18" charset="0"/>
                </a:rPr>
                <a:t>  </a:t>
              </a:r>
              <a:r>
                <a:rPr lang="en-US" sz="1400" dirty="0">
                  <a:latin typeface="Times New Roman" panose="02020603050405020304" pitchFamily="18" charset="0"/>
                </a:rPr>
                <a:t>with distance A-1 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   draw an arc above AB and taking F</a:t>
              </a:r>
              <a:r>
                <a:rPr lang="en-US" sz="1400" baseline="-25000" dirty="0">
                  <a:latin typeface="Times New Roman" panose="02020603050405020304" pitchFamily="18" charset="0"/>
                </a:rPr>
                <a:t>2   </a:t>
              </a:r>
            </a:p>
            <a:p>
              <a:r>
                <a:rPr lang="en-US" sz="1400" baseline="-25000" dirty="0">
                  <a:latin typeface="Times New Roman" panose="02020603050405020304" pitchFamily="18" charset="0"/>
                </a:rPr>
                <a:t>      </a:t>
              </a:r>
              <a:r>
                <a:rPr lang="en-US" sz="1400" dirty="0">
                  <a:latin typeface="Times New Roman" panose="02020603050405020304" pitchFamily="18" charset="0"/>
                </a:rPr>
                <a:t>center, with</a:t>
              </a:r>
              <a:r>
                <a:rPr lang="en-US" sz="1400" baseline="-25000" dirty="0">
                  <a:latin typeface="Times New Roman" panose="02020603050405020304" pitchFamily="18" charset="0"/>
                </a:rPr>
                <a:t> </a:t>
              </a:r>
              <a:r>
                <a:rPr lang="en-US" sz="1400" dirty="0">
                  <a:latin typeface="Times New Roman" panose="02020603050405020304" pitchFamily="18" charset="0"/>
                </a:rPr>
                <a:t>B-1 distance cut this arc. 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   Name the point p</a:t>
              </a:r>
              <a:r>
                <a:rPr lang="en-US" sz="1400" baseline="-25000" dirty="0">
                  <a:latin typeface="Times New Roman" panose="02020603050405020304" pitchFamily="18" charset="0"/>
                </a:rPr>
                <a:t>1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5.Repeat this step with same centers but 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  taking now A-2 &amp; B-2 distances for 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  drawing arcs. Name the point p</a:t>
              </a:r>
              <a:r>
                <a:rPr lang="en-US" sz="1400" baseline="-25000" dirty="0">
                  <a:latin typeface="Times New Roman" panose="02020603050405020304" pitchFamily="18" charset="0"/>
                </a:rPr>
                <a:t>2 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6.Similarly get all other P points.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   With same steps positions of  P can be 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   located below AB. 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7.Join all points by smooth curve to get 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   an ellipse/</a:t>
              </a:r>
            </a:p>
            <a:p>
              <a:r>
                <a:rPr lang="en-US" sz="1400" dirty="0">
                  <a:latin typeface="Times New Roman" panose="02020603050405020304" pitchFamily="18" charset="0"/>
                </a:rPr>
                <a:t>     </a:t>
              </a:r>
            </a:p>
          </p:txBody>
        </p:sp>
      </p:grpSp>
      <p:grpSp>
        <p:nvGrpSpPr>
          <p:cNvPr id="9288" name="Group 72"/>
          <p:cNvGrpSpPr>
            <a:grpSpLocks/>
          </p:cNvGrpSpPr>
          <p:nvPr/>
        </p:nvGrpSpPr>
        <p:grpSpPr bwMode="auto">
          <a:xfrm>
            <a:off x="3505200" y="704850"/>
            <a:ext cx="5257800" cy="1066800"/>
            <a:chOff x="2496" y="444"/>
            <a:chExt cx="3312" cy="672"/>
          </a:xfrm>
        </p:grpSpPr>
        <p:sp>
          <p:nvSpPr>
            <p:cNvPr id="11332" name="AutoShape 73"/>
            <p:cNvSpPr>
              <a:spLocks noChangeArrowheads="1"/>
            </p:cNvSpPr>
            <p:nvPr/>
          </p:nvSpPr>
          <p:spPr bwMode="auto">
            <a:xfrm>
              <a:off x="2496" y="444"/>
              <a:ext cx="3264" cy="672"/>
            </a:xfrm>
            <a:prstGeom prst="wedgeRoundRectCallout">
              <a:avLst>
                <a:gd name="adj1" fmla="val 2296"/>
                <a:gd name="adj2" fmla="val 68454"/>
                <a:gd name="adj3" fmla="val 16667"/>
              </a:avLst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SG" sz="1400">
                <a:latin typeface="Times New Roman" panose="02020603050405020304" pitchFamily="18" charset="0"/>
              </a:endParaRPr>
            </a:p>
          </p:txBody>
        </p:sp>
        <p:sp>
          <p:nvSpPr>
            <p:cNvPr id="11333" name="Text Box 74"/>
            <p:cNvSpPr txBox="1">
              <a:spLocks noChangeArrowheads="1"/>
            </p:cNvSpPr>
            <p:nvPr/>
          </p:nvSpPr>
          <p:spPr bwMode="auto">
            <a:xfrm>
              <a:off x="2544" y="480"/>
              <a:ext cx="3264" cy="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 b="1">
                  <a:solidFill>
                    <a:schemeClr val="accent2"/>
                  </a:solidFill>
                </a:rPr>
                <a:t>As per the definition Ellipse is locus of  point  P  moving in </a:t>
              </a:r>
            </a:p>
            <a:p>
              <a:r>
                <a:rPr lang="en-US" sz="1400" b="1">
                  <a:solidFill>
                    <a:schemeClr val="accent2"/>
                  </a:solidFill>
                </a:rPr>
                <a:t>a plane such  that the </a:t>
              </a:r>
              <a:r>
                <a:rPr lang="en-US" sz="1400" b="1">
                  <a:solidFill>
                    <a:srgbClr val="FF0066"/>
                  </a:solidFill>
                </a:rPr>
                <a:t>SUM</a:t>
              </a:r>
              <a:r>
                <a:rPr lang="en-US" sz="1400" b="1">
                  <a:solidFill>
                    <a:schemeClr val="accent2"/>
                  </a:solidFill>
                </a:rPr>
                <a:t> of it’s distances  from  two fixed</a:t>
              </a:r>
            </a:p>
            <a:p>
              <a:r>
                <a:rPr lang="en-US" sz="1400" b="1">
                  <a:solidFill>
                    <a:schemeClr val="accent2"/>
                  </a:solidFill>
                </a:rPr>
                <a:t> points (F</a:t>
              </a:r>
              <a:r>
                <a:rPr lang="en-US" sz="1400" b="1" baseline="-25000">
                  <a:solidFill>
                    <a:schemeClr val="accent2"/>
                  </a:solidFill>
                </a:rPr>
                <a:t>1</a:t>
              </a:r>
              <a:r>
                <a:rPr lang="en-US" sz="1400" b="1">
                  <a:solidFill>
                    <a:schemeClr val="accent2"/>
                  </a:solidFill>
                </a:rPr>
                <a:t> &amp; F</a:t>
              </a:r>
              <a:r>
                <a:rPr lang="en-US" sz="1400" b="1" baseline="-25000">
                  <a:solidFill>
                    <a:schemeClr val="accent2"/>
                  </a:solidFill>
                </a:rPr>
                <a:t>2</a:t>
              </a:r>
              <a:r>
                <a:rPr lang="en-US" sz="1400" b="1">
                  <a:solidFill>
                    <a:schemeClr val="accent2"/>
                  </a:solidFill>
                </a:rPr>
                <a:t>) remains constant and equals to the length</a:t>
              </a:r>
            </a:p>
            <a:p>
              <a:r>
                <a:rPr lang="en-US" sz="1400" b="1">
                  <a:solidFill>
                    <a:schemeClr val="accent2"/>
                  </a:solidFill>
                </a:rPr>
                <a:t>of major axis AB.(Note A .1+ B .1=A . 2 + B. 2 = AB)</a:t>
              </a:r>
            </a:p>
          </p:txBody>
        </p:sp>
      </p:grpSp>
      <p:grpSp>
        <p:nvGrpSpPr>
          <p:cNvPr id="11325" name="Group 75"/>
          <p:cNvGrpSpPr>
            <a:grpSpLocks/>
          </p:cNvGrpSpPr>
          <p:nvPr/>
        </p:nvGrpSpPr>
        <p:grpSpPr bwMode="auto">
          <a:xfrm>
            <a:off x="8016875" y="6629400"/>
            <a:ext cx="1096963" cy="182563"/>
            <a:chOff x="5050" y="29"/>
            <a:chExt cx="691" cy="115"/>
          </a:xfrm>
        </p:grpSpPr>
        <p:sp>
          <p:nvSpPr>
            <p:cNvPr id="11326" name="AutoShape 76">
              <a:hlinkClick r:id="rId2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1327" name="AutoShape 77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1328" name="AutoShape 78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1329" name="AutoShape 79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1330" name="AutoShape 80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1331" name="AutoShape 81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174511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9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9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9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9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9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9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9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9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9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5" dur="50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0" dur="5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5" dur="500"/>
                                        <p:tgtEl>
                                          <p:spTgt spid="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0" dur="500"/>
                                        <p:tgtEl>
                                          <p:spTgt spid="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5" dur="500"/>
                                        <p:tgtEl>
                                          <p:spTgt spid="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80" dur="5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85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90" dur="500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9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9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9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9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9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9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9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9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3" dur="500"/>
                                        <p:tgtEl>
                                          <p:spTgt spid="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8" dur="500"/>
                                        <p:tgtEl>
                                          <p:spTgt spid="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Par">
                      <p:stCondLst>
                        <p:cond delay="indefinite"/>
                      </p:stCondLst>
                      <p:childTnLst>
                        <p:par>
                          <p:cTn id="2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 nodeType="clickPar">
                      <p:stCondLst>
                        <p:cond delay="indefinite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 nodeType="clickPar">
                      <p:stCondLst>
                        <p:cond delay="indefinite"/>
                      </p:stCondLst>
                      <p:childTnLst>
                        <p:par>
                          <p:cTn id="2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9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9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 nodeType="clickPar">
                      <p:stCondLst>
                        <p:cond delay="indefinite"/>
                      </p:stCondLst>
                      <p:childTnLst>
                        <p:par>
                          <p:cTn id="2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9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9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 nodeType="clickPar">
                      <p:stCondLst>
                        <p:cond delay="indefinite"/>
                      </p:stCondLst>
                      <p:childTnLst>
                        <p:par>
                          <p:cTn id="2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9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9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 nodeType="clickPar">
                      <p:stCondLst>
                        <p:cond delay="indefinite"/>
                      </p:stCondLst>
                      <p:childTnLst>
                        <p:par>
                          <p:cTn id="2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9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9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Par">
                      <p:stCondLst>
                        <p:cond delay="indefinite"/>
                      </p:stCondLst>
                      <p:childTnLst>
                        <p:par>
                          <p:cTn id="2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9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9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 nodeType="clickPar">
                      <p:stCondLst>
                        <p:cond delay="indefinite"/>
                      </p:stCondLst>
                      <p:childTnLst>
                        <p:par>
                          <p:cTn id="3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9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9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 nodeType="clickPar">
                      <p:stCondLst>
                        <p:cond delay="indefinite"/>
                      </p:stCondLst>
                      <p:childTnLst>
                        <p:par>
                          <p:cTn id="3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9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9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 nodeType="clickPar">
                      <p:stCondLst>
                        <p:cond delay="indefinite"/>
                      </p:stCondLst>
                      <p:childTnLst>
                        <p:par>
                          <p:cTn id="3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9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9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 nodeType="clickPar">
                      <p:stCondLst>
                        <p:cond delay="indefinite"/>
                      </p:stCondLst>
                      <p:childTnLst>
                        <p:par>
                          <p:cTn id="3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5" dur="500"/>
                                        <p:tgtEl>
                                          <p:spTgt spid="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 nodeType="clickPar">
                      <p:stCondLst>
                        <p:cond delay="indefinite"/>
                      </p:stCondLst>
                      <p:childTnLst>
                        <p:par>
                          <p:cTn id="3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0" dur="500"/>
                                        <p:tgtEl>
                                          <p:spTgt spid="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 nodeType="clickPar">
                      <p:stCondLst>
                        <p:cond delay="indefinite"/>
                      </p:stCondLst>
                      <p:childTnLst>
                        <p:par>
                          <p:cTn id="3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3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35" dur="500"/>
                                        <p:tgtEl>
                                          <p:spTgt spid="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 nodeType="clickPar">
                      <p:stCondLst>
                        <p:cond delay="indefinite"/>
                      </p:stCondLst>
                      <p:childTnLst>
                        <p:par>
                          <p:cTn id="3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8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0" dur="5000" fill="hold"/>
                                        <p:tgtEl>
                                          <p:spTgt spid="9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1" dur="5000" fill="hold"/>
                                        <p:tgtEl>
                                          <p:spTgt spid="9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nimBg="1"/>
      <p:bldP spid="9219" grpId="0" animBg="1"/>
      <p:bldP spid="9220" grpId="0" animBg="1"/>
      <p:bldP spid="9221" grpId="0" animBg="1"/>
      <p:bldP spid="9222" grpId="0" animBg="1"/>
      <p:bldP spid="9223" grpId="0" animBg="1"/>
      <p:bldP spid="9224" grpId="0" animBg="1"/>
      <p:bldP spid="9225" grpId="0" animBg="1"/>
      <p:bldP spid="9226" grpId="0" animBg="1"/>
      <p:bldP spid="9227" grpId="0" animBg="1"/>
      <p:bldP spid="9228" grpId="0" animBg="1"/>
      <p:bldP spid="9229" grpId="0" animBg="1"/>
      <p:bldP spid="9230" grpId="0" animBg="1"/>
      <p:bldP spid="9231" grpId="0" animBg="1"/>
      <p:bldP spid="9232" grpId="0" animBg="1"/>
      <p:bldP spid="9233" grpId="0" animBg="1"/>
      <p:bldP spid="9234" grpId="0" animBg="1"/>
      <p:bldP spid="9235" grpId="0" animBg="1"/>
      <p:bldP spid="9236" grpId="0" animBg="1"/>
      <p:bldP spid="9237" grpId="0" animBg="1"/>
      <p:bldP spid="9238" grpId="0" animBg="1"/>
      <p:bldP spid="9239" grpId="0" animBg="1"/>
      <p:bldP spid="9240" grpId="0" animBg="1"/>
      <p:bldP spid="9241" grpId="0" animBg="1"/>
      <p:bldP spid="9242" grpId="0" animBg="1"/>
      <p:bldP spid="9243" grpId="0" animBg="1"/>
      <p:bldP spid="9244" grpId="0" animBg="1"/>
      <p:bldP spid="9245" grpId="0" animBg="1"/>
      <p:bldP spid="9246" grpId="0" animBg="1"/>
      <p:bldP spid="9247" grpId="0" animBg="1"/>
      <p:bldP spid="9248" grpId="0" animBg="1"/>
      <p:bldP spid="9249" grpId="0" animBg="1"/>
      <p:bldP spid="9250" grpId="0" animBg="1"/>
      <p:bldP spid="9251" grpId="0" animBg="1"/>
      <p:bldP spid="9252" grpId="0" animBg="1"/>
      <p:bldP spid="9253" grpId="0" animBg="1"/>
      <p:bldP spid="9254" grpId="0" animBg="1"/>
      <p:bldP spid="9255" grpId="0" animBg="1"/>
      <p:bldP spid="9256" grpId="0" autoUpdateAnimBg="0"/>
      <p:bldP spid="9257" grpId="0" autoUpdateAnimBg="0"/>
      <p:bldP spid="9258" grpId="0" autoUpdateAnimBg="0"/>
      <p:bldP spid="9259" grpId="0" autoUpdateAnimBg="0"/>
      <p:bldP spid="9260" grpId="0" autoUpdateAnimBg="0"/>
      <p:bldP spid="9261" grpId="0" autoUpdateAnimBg="0"/>
      <p:bldP spid="9262" grpId="0" autoUpdateAnimBg="0"/>
      <p:bldP spid="9263" grpId="0" autoUpdateAnimBg="0"/>
      <p:bldP spid="9264" grpId="0" autoUpdateAnimBg="0"/>
      <p:bldP spid="9265" grpId="0" autoUpdateAnimBg="0"/>
      <p:bldP spid="9266" grpId="0" autoUpdateAnimBg="0"/>
      <p:bldP spid="9277" grpId="0" autoUpdateAnimBg="0"/>
      <p:bldP spid="9278" grpId="0" animBg="1"/>
      <p:bldP spid="9279" grpId="0" animBg="1"/>
      <p:bldP spid="9280" grpId="0" animBg="1"/>
      <p:bldP spid="928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3557588" y="1766888"/>
            <a:ext cx="5029200" cy="403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 flipV="1">
            <a:off x="6072188" y="1754188"/>
            <a:ext cx="0" cy="4089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3481388" y="37861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3481388" y="31003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3481388" y="24272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>
            <a:off x="3481388" y="51450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6" name="Line 8"/>
          <p:cNvSpPr>
            <a:spLocks noChangeShapeType="1"/>
          </p:cNvSpPr>
          <p:nvPr/>
        </p:nvSpPr>
        <p:spPr bwMode="auto">
          <a:xfrm>
            <a:off x="3481388" y="44719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7" name="Line 9"/>
          <p:cNvSpPr>
            <a:spLocks noChangeShapeType="1"/>
          </p:cNvSpPr>
          <p:nvPr/>
        </p:nvSpPr>
        <p:spPr bwMode="auto">
          <a:xfrm>
            <a:off x="4776788" y="574198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>
            <a:off x="5614988" y="574198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9" name="Line 11"/>
          <p:cNvSpPr>
            <a:spLocks noChangeShapeType="1"/>
          </p:cNvSpPr>
          <p:nvPr/>
        </p:nvSpPr>
        <p:spPr bwMode="auto">
          <a:xfrm>
            <a:off x="5208588" y="574198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4344988" y="574198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>
            <a:off x="3938588" y="5741988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2" name="Text Box 14"/>
          <p:cNvSpPr txBox="1">
            <a:spLocks noChangeArrowheads="1"/>
          </p:cNvSpPr>
          <p:nvPr/>
        </p:nvSpPr>
        <p:spPr bwMode="auto">
          <a:xfrm>
            <a:off x="3276600" y="4979988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2303" name="Text Box 15"/>
          <p:cNvSpPr txBox="1">
            <a:spLocks noChangeArrowheads="1"/>
          </p:cNvSpPr>
          <p:nvPr/>
        </p:nvSpPr>
        <p:spPr bwMode="auto">
          <a:xfrm>
            <a:off x="3276600" y="4294188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2304" name="Text Box 16"/>
          <p:cNvSpPr txBox="1">
            <a:spLocks noChangeArrowheads="1"/>
          </p:cNvSpPr>
          <p:nvPr/>
        </p:nvSpPr>
        <p:spPr bwMode="auto">
          <a:xfrm>
            <a:off x="3276600" y="3608388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3276600" y="2922588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2306" name="Text Box 18"/>
          <p:cNvSpPr txBox="1">
            <a:spLocks noChangeArrowheads="1"/>
          </p:cNvSpPr>
          <p:nvPr/>
        </p:nvSpPr>
        <p:spPr bwMode="auto">
          <a:xfrm>
            <a:off x="3276600" y="2236788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2307" name="Text Box 19"/>
          <p:cNvSpPr txBox="1">
            <a:spLocks noChangeArrowheads="1"/>
          </p:cNvSpPr>
          <p:nvPr/>
        </p:nvSpPr>
        <p:spPr bwMode="auto">
          <a:xfrm>
            <a:off x="3314700" y="1627188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3795713" y="58293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4205288" y="5818188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4614863" y="583247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2311" name="Text Box 23"/>
          <p:cNvSpPr txBox="1">
            <a:spLocks noChangeArrowheads="1"/>
          </p:cNvSpPr>
          <p:nvPr/>
        </p:nvSpPr>
        <p:spPr bwMode="auto">
          <a:xfrm>
            <a:off x="5024438" y="583406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2312" name="Text Box 24"/>
          <p:cNvSpPr txBox="1">
            <a:spLocks noChangeArrowheads="1"/>
          </p:cNvSpPr>
          <p:nvPr/>
        </p:nvSpPr>
        <p:spPr bwMode="auto">
          <a:xfrm>
            <a:off x="5434013" y="583565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2313" name="Text Box 25"/>
          <p:cNvSpPr txBox="1">
            <a:spLocks noChangeArrowheads="1"/>
          </p:cNvSpPr>
          <p:nvPr/>
        </p:nvSpPr>
        <p:spPr bwMode="auto">
          <a:xfrm>
            <a:off x="5932488" y="5773738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2314" name="Oval 26"/>
          <p:cNvSpPr>
            <a:spLocks noChangeArrowheads="1"/>
          </p:cNvSpPr>
          <p:nvPr/>
        </p:nvSpPr>
        <p:spPr bwMode="auto">
          <a:xfrm>
            <a:off x="3506788" y="57546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15" name="Oval 27"/>
          <p:cNvSpPr>
            <a:spLocks noChangeArrowheads="1"/>
          </p:cNvSpPr>
          <p:nvPr/>
        </p:nvSpPr>
        <p:spPr bwMode="auto">
          <a:xfrm>
            <a:off x="6034088" y="17287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16" name="Oval 28"/>
          <p:cNvSpPr>
            <a:spLocks noChangeArrowheads="1"/>
          </p:cNvSpPr>
          <p:nvPr/>
        </p:nvSpPr>
        <p:spPr bwMode="auto">
          <a:xfrm>
            <a:off x="8535988" y="57419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17" name="Line 29"/>
          <p:cNvSpPr>
            <a:spLocks noChangeShapeType="1"/>
          </p:cNvSpPr>
          <p:nvPr/>
        </p:nvSpPr>
        <p:spPr bwMode="auto">
          <a:xfrm flipV="1">
            <a:off x="3557588" y="1779588"/>
            <a:ext cx="2514600" cy="3352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8" name="Line 30"/>
          <p:cNvSpPr>
            <a:spLocks noChangeShapeType="1"/>
          </p:cNvSpPr>
          <p:nvPr/>
        </p:nvSpPr>
        <p:spPr bwMode="auto">
          <a:xfrm flipV="1">
            <a:off x="3557588" y="1779588"/>
            <a:ext cx="2514600" cy="26670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9" name="Line 31"/>
          <p:cNvSpPr>
            <a:spLocks noChangeShapeType="1"/>
          </p:cNvSpPr>
          <p:nvPr/>
        </p:nvSpPr>
        <p:spPr bwMode="auto">
          <a:xfrm flipV="1">
            <a:off x="3557588" y="1779588"/>
            <a:ext cx="2514600" cy="1981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0" name="Line 32"/>
          <p:cNvSpPr>
            <a:spLocks noChangeShapeType="1"/>
          </p:cNvSpPr>
          <p:nvPr/>
        </p:nvSpPr>
        <p:spPr bwMode="auto">
          <a:xfrm flipV="1">
            <a:off x="3557588" y="1779588"/>
            <a:ext cx="2514600" cy="1295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1" name="Line 33"/>
          <p:cNvSpPr>
            <a:spLocks noChangeShapeType="1"/>
          </p:cNvSpPr>
          <p:nvPr/>
        </p:nvSpPr>
        <p:spPr bwMode="auto">
          <a:xfrm flipV="1">
            <a:off x="3562350" y="1779588"/>
            <a:ext cx="2509838" cy="6477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322" name="Group 34"/>
          <p:cNvGrpSpPr>
            <a:grpSpLocks/>
          </p:cNvGrpSpPr>
          <p:nvPr/>
        </p:nvGrpSpPr>
        <p:grpSpPr bwMode="auto">
          <a:xfrm>
            <a:off x="8497888" y="1589088"/>
            <a:ext cx="393700" cy="3689350"/>
            <a:chOff x="4304" y="840"/>
            <a:chExt cx="248" cy="2324"/>
          </a:xfrm>
        </p:grpSpPr>
        <p:sp>
          <p:nvSpPr>
            <p:cNvPr id="2" name="Line 35"/>
            <p:cNvSpPr>
              <a:spLocks noChangeShapeType="1"/>
            </p:cNvSpPr>
            <p:nvPr/>
          </p:nvSpPr>
          <p:spPr bwMode="auto">
            <a:xfrm>
              <a:off x="4304" y="220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Line 36"/>
            <p:cNvSpPr>
              <a:spLocks noChangeShapeType="1"/>
            </p:cNvSpPr>
            <p:nvPr/>
          </p:nvSpPr>
          <p:spPr bwMode="auto">
            <a:xfrm>
              <a:off x="4304" y="1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Line 37"/>
            <p:cNvSpPr>
              <a:spLocks noChangeShapeType="1"/>
            </p:cNvSpPr>
            <p:nvPr/>
          </p:nvSpPr>
          <p:spPr bwMode="auto">
            <a:xfrm>
              <a:off x="4304" y="134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Line 38"/>
            <p:cNvSpPr>
              <a:spLocks noChangeShapeType="1"/>
            </p:cNvSpPr>
            <p:nvPr/>
          </p:nvSpPr>
          <p:spPr bwMode="auto">
            <a:xfrm>
              <a:off x="4304" y="30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39"/>
            <p:cNvSpPr>
              <a:spLocks noChangeShapeType="1"/>
            </p:cNvSpPr>
            <p:nvPr/>
          </p:nvSpPr>
          <p:spPr bwMode="auto">
            <a:xfrm>
              <a:off x="4304" y="263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Box 40"/>
            <p:cNvSpPr txBox="1">
              <a:spLocks noChangeArrowheads="1"/>
            </p:cNvSpPr>
            <p:nvPr/>
          </p:nvSpPr>
          <p:spPr bwMode="auto">
            <a:xfrm>
              <a:off x="4372" y="2952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6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" name="Text Box 41"/>
            <p:cNvSpPr txBox="1">
              <a:spLocks noChangeArrowheads="1"/>
            </p:cNvSpPr>
            <p:nvPr/>
          </p:nvSpPr>
          <p:spPr bwMode="auto">
            <a:xfrm>
              <a:off x="4372" y="252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6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" name="Text Box 42"/>
            <p:cNvSpPr txBox="1">
              <a:spLocks noChangeArrowheads="1"/>
            </p:cNvSpPr>
            <p:nvPr/>
          </p:nvSpPr>
          <p:spPr bwMode="auto">
            <a:xfrm>
              <a:off x="4372" y="2088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6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" name="Text Box 43"/>
            <p:cNvSpPr txBox="1">
              <a:spLocks noChangeArrowheads="1"/>
            </p:cNvSpPr>
            <p:nvPr/>
          </p:nvSpPr>
          <p:spPr bwMode="auto">
            <a:xfrm>
              <a:off x="4372" y="1656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6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1" name="Text Box 44"/>
            <p:cNvSpPr txBox="1">
              <a:spLocks noChangeArrowheads="1"/>
            </p:cNvSpPr>
            <p:nvPr/>
          </p:nvSpPr>
          <p:spPr bwMode="auto">
            <a:xfrm>
              <a:off x="4372" y="1224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6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2" name="Text Box 45"/>
            <p:cNvSpPr txBox="1">
              <a:spLocks noChangeArrowheads="1"/>
            </p:cNvSpPr>
            <p:nvPr/>
          </p:nvSpPr>
          <p:spPr bwMode="auto">
            <a:xfrm>
              <a:off x="4372" y="84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600">
                  <a:latin typeface="Times New Roman" panose="02020603050405020304" pitchFamily="18" charset="0"/>
                </a:rPr>
                <a:t>6</a:t>
              </a:r>
            </a:p>
          </p:txBody>
        </p:sp>
      </p:grpSp>
      <p:sp>
        <p:nvSpPr>
          <p:cNvPr id="12334" name="Line 46"/>
          <p:cNvSpPr>
            <a:spLocks noChangeShapeType="1"/>
          </p:cNvSpPr>
          <p:nvPr/>
        </p:nvSpPr>
        <p:spPr bwMode="auto">
          <a:xfrm flipH="1" flipV="1">
            <a:off x="6072188" y="1779588"/>
            <a:ext cx="2514600" cy="3352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5" name="Line 47"/>
          <p:cNvSpPr>
            <a:spLocks noChangeShapeType="1"/>
          </p:cNvSpPr>
          <p:nvPr/>
        </p:nvSpPr>
        <p:spPr bwMode="auto">
          <a:xfrm flipH="1" flipV="1">
            <a:off x="6072188" y="1779588"/>
            <a:ext cx="2514600" cy="26670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6" name="Line 48"/>
          <p:cNvSpPr>
            <a:spLocks noChangeShapeType="1"/>
          </p:cNvSpPr>
          <p:nvPr/>
        </p:nvSpPr>
        <p:spPr bwMode="auto">
          <a:xfrm flipH="1" flipV="1">
            <a:off x="6072188" y="1779588"/>
            <a:ext cx="2514600" cy="1981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7" name="Line 49"/>
          <p:cNvSpPr>
            <a:spLocks noChangeShapeType="1"/>
          </p:cNvSpPr>
          <p:nvPr/>
        </p:nvSpPr>
        <p:spPr bwMode="auto">
          <a:xfrm flipH="1" flipV="1">
            <a:off x="6072188" y="1779588"/>
            <a:ext cx="2514600" cy="1295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8" name="Line 50"/>
          <p:cNvSpPr>
            <a:spLocks noChangeShapeType="1"/>
          </p:cNvSpPr>
          <p:nvPr/>
        </p:nvSpPr>
        <p:spPr bwMode="auto">
          <a:xfrm flipH="1" flipV="1">
            <a:off x="6072188" y="1779588"/>
            <a:ext cx="2514600" cy="6096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339" name="Group 51"/>
          <p:cNvGrpSpPr>
            <a:grpSpLocks/>
          </p:cNvGrpSpPr>
          <p:nvPr/>
        </p:nvGrpSpPr>
        <p:grpSpPr bwMode="auto">
          <a:xfrm>
            <a:off x="6383338" y="5729288"/>
            <a:ext cx="1924050" cy="406400"/>
            <a:chOff x="2980" y="3448"/>
            <a:chExt cx="1212" cy="256"/>
          </a:xfrm>
        </p:grpSpPr>
        <p:grpSp>
          <p:nvGrpSpPr>
            <p:cNvPr id="13" name="Group 52"/>
            <p:cNvGrpSpPr>
              <a:grpSpLocks/>
            </p:cNvGrpSpPr>
            <p:nvPr/>
          </p:nvGrpSpPr>
          <p:grpSpPr bwMode="auto">
            <a:xfrm>
              <a:off x="3048" y="3448"/>
              <a:ext cx="1056" cy="96"/>
              <a:chOff x="3072" y="3552"/>
              <a:chExt cx="1056" cy="96"/>
            </a:xfrm>
          </p:grpSpPr>
          <p:sp>
            <p:nvSpPr>
              <p:cNvPr id="14" name="Line 53"/>
              <p:cNvSpPr>
                <a:spLocks noChangeShapeType="1"/>
              </p:cNvSpPr>
              <p:nvPr/>
            </p:nvSpPr>
            <p:spPr bwMode="auto">
              <a:xfrm>
                <a:off x="3600" y="355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Line 54"/>
              <p:cNvSpPr>
                <a:spLocks noChangeShapeType="1"/>
              </p:cNvSpPr>
              <p:nvPr/>
            </p:nvSpPr>
            <p:spPr bwMode="auto">
              <a:xfrm>
                <a:off x="4128" y="355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Line 55"/>
              <p:cNvSpPr>
                <a:spLocks noChangeShapeType="1"/>
              </p:cNvSpPr>
              <p:nvPr/>
            </p:nvSpPr>
            <p:spPr bwMode="auto">
              <a:xfrm>
                <a:off x="3872" y="355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Line 56"/>
              <p:cNvSpPr>
                <a:spLocks noChangeShapeType="1"/>
              </p:cNvSpPr>
              <p:nvPr/>
            </p:nvSpPr>
            <p:spPr bwMode="auto">
              <a:xfrm>
                <a:off x="3328" y="355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Line 57"/>
              <p:cNvSpPr>
                <a:spLocks noChangeShapeType="1"/>
              </p:cNvSpPr>
              <p:nvPr/>
            </p:nvSpPr>
            <p:spPr bwMode="auto">
              <a:xfrm>
                <a:off x="3072" y="355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" name="Text Box 58"/>
            <p:cNvSpPr txBox="1">
              <a:spLocks noChangeArrowheads="1"/>
            </p:cNvSpPr>
            <p:nvPr/>
          </p:nvSpPr>
          <p:spPr bwMode="auto">
            <a:xfrm>
              <a:off x="2980" y="3487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6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0" name="Text Box 59"/>
            <p:cNvSpPr txBox="1">
              <a:spLocks noChangeArrowheads="1"/>
            </p:cNvSpPr>
            <p:nvPr/>
          </p:nvSpPr>
          <p:spPr bwMode="auto">
            <a:xfrm>
              <a:off x="3238" y="348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6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1" name="Text Box 60"/>
            <p:cNvSpPr txBox="1">
              <a:spLocks noChangeArrowheads="1"/>
            </p:cNvSpPr>
            <p:nvPr/>
          </p:nvSpPr>
          <p:spPr bwMode="auto">
            <a:xfrm>
              <a:off x="3496" y="3489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6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2" name="Text Box 61"/>
            <p:cNvSpPr txBox="1">
              <a:spLocks noChangeArrowheads="1"/>
            </p:cNvSpPr>
            <p:nvPr/>
          </p:nvSpPr>
          <p:spPr bwMode="auto">
            <a:xfrm>
              <a:off x="3754" y="349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6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" name="Text Box 62"/>
            <p:cNvSpPr txBox="1">
              <a:spLocks noChangeArrowheads="1"/>
            </p:cNvSpPr>
            <p:nvPr/>
          </p:nvSpPr>
          <p:spPr bwMode="auto">
            <a:xfrm>
              <a:off x="4012" y="3492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600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12351" name="Line 63"/>
          <p:cNvSpPr>
            <a:spLocks noChangeShapeType="1"/>
          </p:cNvSpPr>
          <p:nvPr/>
        </p:nvSpPr>
        <p:spPr bwMode="auto">
          <a:xfrm flipV="1">
            <a:off x="3938588" y="4598988"/>
            <a:ext cx="0" cy="11430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52" name="Line 64"/>
          <p:cNvSpPr>
            <a:spLocks noChangeShapeType="1"/>
          </p:cNvSpPr>
          <p:nvPr/>
        </p:nvSpPr>
        <p:spPr bwMode="auto">
          <a:xfrm flipV="1">
            <a:off x="4344988" y="3608388"/>
            <a:ext cx="0" cy="2209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53" name="Line 65"/>
          <p:cNvSpPr>
            <a:spLocks noChangeShapeType="1"/>
          </p:cNvSpPr>
          <p:nvPr/>
        </p:nvSpPr>
        <p:spPr bwMode="auto">
          <a:xfrm flipV="1">
            <a:off x="4776788" y="2770188"/>
            <a:ext cx="0" cy="30353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54" name="Line 66"/>
          <p:cNvSpPr>
            <a:spLocks noChangeShapeType="1"/>
          </p:cNvSpPr>
          <p:nvPr/>
        </p:nvSpPr>
        <p:spPr bwMode="auto">
          <a:xfrm flipV="1">
            <a:off x="5208588" y="2236788"/>
            <a:ext cx="0" cy="35687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55" name="Line 67"/>
          <p:cNvSpPr>
            <a:spLocks noChangeShapeType="1"/>
          </p:cNvSpPr>
          <p:nvPr/>
        </p:nvSpPr>
        <p:spPr bwMode="auto">
          <a:xfrm flipV="1">
            <a:off x="5602288" y="1855788"/>
            <a:ext cx="0" cy="39370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356" name="Group 68"/>
          <p:cNvGrpSpPr>
            <a:grpSpLocks/>
          </p:cNvGrpSpPr>
          <p:nvPr/>
        </p:nvGrpSpPr>
        <p:grpSpPr bwMode="auto">
          <a:xfrm flipH="1">
            <a:off x="6503988" y="1843088"/>
            <a:ext cx="1663700" cy="3962400"/>
            <a:chOff x="1536" y="1104"/>
            <a:chExt cx="1048" cy="2496"/>
          </a:xfrm>
        </p:grpSpPr>
        <p:sp>
          <p:nvSpPr>
            <p:cNvPr id="12387" name="Line 69"/>
            <p:cNvSpPr>
              <a:spLocks noChangeShapeType="1"/>
            </p:cNvSpPr>
            <p:nvPr/>
          </p:nvSpPr>
          <p:spPr bwMode="auto">
            <a:xfrm flipV="1">
              <a:off x="1536" y="2832"/>
              <a:ext cx="0" cy="72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8" name="Line 70"/>
            <p:cNvSpPr>
              <a:spLocks noChangeShapeType="1"/>
            </p:cNvSpPr>
            <p:nvPr/>
          </p:nvSpPr>
          <p:spPr bwMode="auto">
            <a:xfrm flipV="1">
              <a:off x="1792" y="2208"/>
              <a:ext cx="0" cy="139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9" name="Line 71"/>
            <p:cNvSpPr>
              <a:spLocks noChangeShapeType="1"/>
            </p:cNvSpPr>
            <p:nvPr/>
          </p:nvSpPr>
          <p:spPr bwMode="auto">
            <a:xfrm flipV="1">
              <a:off x="2064" y="1680"/>
              <a:ext cx="0" cy="191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72"/>
            <p:cNvSpPr>
              <a:spLocks noChangeShapeType="1"/>
            </p:cNvSpPr>
            <p:nvPr/>
          </p:nvSpPr>
          <p:spPr bwMode="auto">
            <a:xfrm flipV="1">
              <a:off x="2336" y="1344"/>
              <a:ext cx="0" cy="224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73"/>
            <p:cNvSpPr>
              <a:spLocks noChangeShapeType="1"/>
            </p:cNvSpPr>
            <p:nvPr/>
          </p:nvSpPr>
          <p:spPr bwMode="auto">
            <a:xfrm flipV="1">
              <a:off x="2584" y="1104"/>
              <a:ext cx="0" cy="248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362" name="Oval 74"/>
          <p:cNvSpPr>
            <a:spLocks noChangeArrowheads="1"/>
          </p:cNvSpPr>
          <p:nvPr/>
        </p:nvSpPr>
        <p:spPr bwMode="auto">
          <a:xfrm>
            <a:off x="3900488" y="45989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63" name="Oval 75"/>
          <p:cNvSpPr>
            <a:spLocks noChangeArrowheads="1"/>
          </p:cNvSpPr>
          <p:nvPr/>
        </p:nvSpPr>
        <p:spPr bwMode="auto">
          <a:xfrm>
            <a:off x="4306888" y="35829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64" name="Oval 76"/>
          <p:cNvSpPr>
            <a:spLocks noChangeArrowheads="1"/>
          </p:cNvSpPr>
          <p:nvPr/>
        </p:nvSpPr>
        <p:spPr bwMode="auto">
          <a:xfrm>
            <a:off x="4738688" y="27701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65" name="Oval 77"/>
          <p:cNvSpPr>
            <a:spLocks noChangeArrowheads="1"/>
          </p:cNvSpPr>
          <p:nvPr/>
        </p:nvSpPr>
        <p:spPr bwMode="auto">
          <a:xfrm>
            <a:off x="5157788" y="21986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66" name="Oval 78"/>
          <p:cNvSpPr>
            <a:spLocks noChangeArrowheads="1"/>
          </p:cNvSpPr>
          <p:nvPr/>
        </p:nvSpPr>
        <p:spPr bwMode="auto">
          <a:xfrm>
            <a:off x="5538788" y="18557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67" name="Oval 79"/>
          <p:cNvSpPr>
            <a:spLocks noChangeArrowheads="1"/>
          </p:cNvSpPr>
          <p:nvPr/>
        </p:nvSpPr>
        <p:spPr bwMode="auto">
          <a:xfrm>
            <a:off x="6453188" y="18557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68" name="Oval 80"/>
          <p:cNvSpPr>
            <a:spLocks noChangeArrowheads="1"/>
          </p:cNvSpPr>
          <p:nvPr/>
        </p:nvSpPr>
        <p:spPr bwMode="auto">
          <a:xfrm>
            <a:off x="6884988" y="21605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69" name="Oval 81"/>
          <p:cNvSpPr>
            <a:spLocks noChangeArrowheads="1"/>
          </p:cNvSpPr>
          <p:nvPr/>
        </p:nvSpPr>
        <p:spPr bwMode="auto">
          <a:xfrm>
            <a:off x="7304088" y="27447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70" name="Oval 82"/>
          <p:cNvSpPr>
            <a:spLocks noChangeArrowheads="1"/>
          </p:cNvSpPr>
          <p:nvPr/>
        </p:nvSpPr>
        <p:spPr bwMode="auto">
          <a:xfrm>
            <a:off x="7723188" y="35321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71" name="Oval 83"/>
          <p:cNvSpPr>
            <a:spLocks noChangeArrowheads="1"/>
          </p:cNvSpPr>
          <p:nvPr/>
        </p:nvSpPr>
        <p:spPr bwMode="auto">
          <a:xfrm>
            <a:off x="8129588" y="45354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72" name="Arc 84"/>
          <p:cNvSpPr>
            <a:spLocks/>
          </p:cNvSpPr>
          <p:nvPr/>
        </p:nvSpPr>
        <p:spPr bwMode="auto">
          <a:xfrm rot="-933472">
            <a:off x="6402388" y="1509713"/>
            <a:ext cx="1598612" cy="4529137"/>
          </a:xfrm>
          <a:custGeom>
            <a:avLst/>
            <a:gdLst>
              <a:gd name="T0" fmla="*/ 206117 w 21600"/>
              <a:gd name="T1" fmla="*/ 0 h 23940"/>
              <a:gd name="T2" fmla="*/ 1587659 w 21600"/>
              <a:gd name="T3" fmla="*/ 4529137 h 23940"/>
              <a:gd name="T4" fmla="*/ 0 w 21600"/>
              <a:gd name="T5" fmla="*/ 4052386 h 239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3940" fill="none" extrusionOk="0">
                <a:moveTo>
                  <a:pt x="2784" y="0"/>
                </a:moveTo>
                <a:cubicBezTo>
                  <a:pt x="13547" y="1399"/>
                  <a:pt x="21600" y="10567"/>
                  <a:pt x="21600" y="21420"/>
                </a:cubicBezTo>
                <a:cubicBezTo>
                  <a:pt x="21600" y="22262"/>
                  <a:pt x="21550" y="23103"/>
                  <a:pt x="21452" y="23940"/>
                </a:cubicBezTo>
              </a:path>
              <a:path w="21600" h="23940" stroke="0" extrusionOk="0">
                <a:moveTo>
                  <a:pt x="2784" y="0"/>
                </a:moveTo>
                <a:cubicBezTo>
                  <a:pt x="13547" y="1399"/>
                  <a:pt x="21600" y="10567"/>
                  <a:pt x="21600" y="21420"/>
                </a:cubicBezTo>
                <a:cubicBezTo>
                  <a:pt x="21600" y="22262"/>
                  <a:pt x="21550" y="23103"/>
                  <a:pt x="21452" y="23940"/>
                </a:cubicBezTo>
                <a:lnTo>
                  <a:pt x="0" y="21420"/>
                </a:lnTo>
                <a:lnTo>
                  <a:pt x="2784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73" name="Arc 85"/>
          <p:cNvSpPr>
            <a:spLocks/>
          </p:cNvSpPr>
          <p:nvPr/>
        </p:nvSpPr>
        <p:spPr bwMode="auto">
          <a:xfrm rot="933472" flipH="1">
            <a:off x="4114800" y="1517650"/>
            <a:ext cx="1598613" cy="4529138"/>
          </a:xfrm>
          <a:custGeom>
            <a:avLst/>
            <a:gdLst>
              <a:gd name="T0" fmla="*/ 206117 w 21600"/>
              <a:gd name="T1" fmla="*/ 0 h 23940"/>
              <a:gd name="T2" fmla="*/ 1587660 w 21600"/>
              <a:gd name="T3" fmla="*/ 4529138 h 23940"/>
              <a:gd name="T4" fmla="*/ 0 w 21600"/>
              <a:gd name="T5" fmla="*/ 4052387 h 239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3940" fill="none" extrusionOk="0">
                <a:moveTo>
                  <a:pt x="2784" y="0"/>
                </a:moveTo>
                <a:cubicBezTo>
                  <a:pt x="13547" y="1399"/>
                  <a:pt x="21600" y="10567"/>
                  <a:pt x="21600" y="21420"/>
                </a:cubicBezTo>
                <a:cubicBezTo>
                  <a:pt x="21600" y="22262"/>
                  <a:pt x="21550" y="23103"/>
                  <a:pt x="21452" y="23940"/>
                </a:cubicBezTo>
              </a:path>
              <a:path w="21600" h="23940" stroke="0" extrusionOk="0">
                <a:moveTo>
                  <a:pt x="2784" y="0"/>
                </a:moveTo>
                <a:cubicBezTo>
                  <a:pt x="13547" y="1399"/>
                  <a:pt x="21600" y="10567"/>
                  <a:pt x="21600" y="21420"/>
                </a:cubicBezTo>
                <a:cubicBezTo>
                  <a:pt x="21600" y="22262"/>
                  <a:pt x="21550" y="23103"/>
                  <a:pt x="21452" y="23940"/>
                </a:cubicBezTo>
                <a:lnTo>
                  <a:pt x="0" y="21420"/>
                </a:lnTo>
                <a:lnTo>
                  <a:pt x="2784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47" name="Text Box 86"/>
          <p:cNvSpPr txBox="1">
            <a:spLocks noChangeArrowheads="1"/>
          </p:cNvSpPr>
          <p:nvPr/>
        </p:nvSpPr>
        <p:spPr bwMode="auto">
          <a:xfrm>
            <a:off x="6264275" y="76200"/>
            <a:ext cx="2730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b="1" u="sng">
                <a:solidFill>
                  <a:srgbClr val="FF0066"/>
                </a:solidFill>
                <a:latin typeface="Times New Roman" panose="02020603050405020304" pitchFamily="18" charset="0"/>
              </a:rPr>
              <a:t>PARABOLA</a:t>
            </a:r>
          </a:p>
          <a:p>
            <a:pPr algn="ctr"/>
            <a:r>
              <a:rPr lang="en-US" b="1" u="sng">
                <a:solidFill>
                  <a:schemeClr val="accent2"/>
                </a:solidFill>
                <a:latin typeface="Times New Roman" panose="02020603050405020304" pitchFamily="18" charset="0"/>
              </a:rPr>
              <a:t>RECTANGLE METHOD</a:t>
            </a:r>
          </a:p>
        </p:txBody>
      </p:sp>
      <p:grpSp>
        <p:nvGrpSpPr>
          <p:cNvPr id="12375" name="Group 87"/>
          <p:cNvGrpSpPr>
            <a:grpSpLocks/>
          </p:cNvGrpSpPr>
          <p:nvPr/>
        </p:nvGrpSpPr>
        <p:grpSpPr bwMode="auto">
          <a:xfrm>
            <a:off x="152400" y="152400"/>
            <a:ext cx="5562600" cy="914400"/>
            <a:chOff x="96" y="96"/>
            <a:chExt cx="3504" cy="576"/>
          </a:xfrm>
        </p:grpSpPr>
        <p:sp>
          <p:nvSpPr>
            <p:cNvPr id="12385" name="Rectangle 88"/>
            <p:cNvSpPr>
              <a:spLocks noChangeArrowheads="1"/>
            </p:cNvSpPr>
            <p:nvPr/>
          </p:nvSpPr>
          <p:spPr bwMode="auto">
            <a:xfrm>
              <a:off x="96" y="96"/>
              <a:ext cx="3504" cy="576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2386" name="Text Box 89"/>
            <p:cNvSpPr txBox="1">
              <a:spLocks noChangeArrowheads="1"/>
            </p:cNvSpPr>
            <p:nvPr/>
          </p:nvSpPr>
          <p:spPr bwMode="auto">
            <a:xfrm>
              <a:off x="96" y="144"/>
              <a:ext cx="3422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 b="1">
                  <a:latin typeface="Times New Roman" panose="02020603050405020304" pitchFamily="18" charset="0"/>
                </a:rPr>
                <a:t>PROBLEM  7:</a:t>
              </a:r>
              <a:r>
                <a:rPr lang="en-US" sz="1400">
                  <a:latin typeface="Times New Roman" panose="02020603050405020304" pitchFamily="18" charset="0"/>
                </a:rPr>
                <a:t> A BALL THROWN IN AIR ATTAINS 100 M HIEGHT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      AND COVERS HORIZONTAL DISTANCE 150 M ON GROUND.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      Draw the path of the ball (projectile)- </a:t>
              </a:r>
            </a:p>
          </p:txBody>
        </p:sp>
      </p:grpSp>
      <p:grpSp>
        <p:nvGrpSpPr>
          <p:cNvPr id="12378" name="Group 90"/>
          <p:cNvGrpSpPr>
            <a:grpSpLocks/>
          </p:cNvGrpSpPr>
          <p:nvPr/>
        </p:nvGrpSpPr>
        <p:grpSpPr bwMode="auto">
          <a:xfrm>
            <a:off x="147638" y="1524000"/>
            <a:ext cx="2976562" cy="4191000"/>
            <a:chOff x="36" y="816"/>
            <a:chExt cx="1875" cy="2640"/>
          </a:xfrm>
        </p:grpSpPr>
        <p:sp>
          <p:nvSpPr>
            <p:cNvPr id="12383" name="Rectangle 91"/>
            <p:cNvSpPr>
              <a:spLocks noChangeArrowheads="1"/>
            </p:cNvSpPr>
            <p:nvPr/>
          </p:nvSpPr>
          <p:spPr bwMode="auto">
            <a:xfrm>
              <a:off x="58" y="816"/>
              <a:ext cx="1776" cy="2592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2384" name="Text Box 92"/>
            <p:cNvSpPr txBox="1">
              <a:spLocks noChangeArrowheads="1"/>
            </p:cNvSpPr>
            <p:nvPr/>
          </p:nvSpPr>
          <p:spPr bwMode="auto">
            <a:xfrm>
              <a:off x="36" y="852"/>
              <a:ext cx="1875" cy="2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>
                  <a:latin typeface="Times New Roman" panose="02020603050405020304" pitchFamily="18" charset="0"/>
                </a:rPr>
                <a:t>STEPS: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1.Draw rectangle of above size and 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  divide it in two equal vertical parts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2.Consider left part for construction.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  Divide height and length in equal 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  number of parts and name those 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  1,2,3,4,5&amp; 6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3.Join vertical 1,2,3,4,5 &amp; 6 to the 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   top center of  rectangle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4.Similarly draw upward vertical 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   lines from horizontal1,2,3,4,5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  And wherever these lines intersect 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  previously drawn inclined lines in 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  sequence Mark those points and 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  further join in smooth possible curve.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5.Repeat the construction on right side 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  rectangle also.Join all in sequence.  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  </a:t>
              </a:r>
              <a:r>
                <a:rPr lang="en-US" sz="1400" b="1">
                  <a:latin typeface="Times New Roman" panose="02020603050405020304" pitchFamily="18" charset="0"/>
                </a:rPr>
                <a:t>This locus is Parabola.</a:t>
              </a:r>
            </a:p>
            <a:p>
              <a:r>
                <a:rPr lang="en-US" sz="1400">
                  <a:latin typeface="Times New Roman" panose="02020603050405020304" pitchFamily="18" charset="0"/>
                </a:rPr>
                <a:t>.</a:t>
              </a:r>
            </a:p>
          </p:txBody>
        </p:sp>
      </p:grpSp>
      <p:grpSp>
        <p:nvGrpSpPr>
          <p:cNvPr id="12350" name="Group 93"/>
          <p:cNvGrpSpPr>
            <a:grpSpLocks/>
          </p:cNvGrpSpPr>
          <p:nvPr/>
        </p:nvGrpSpPr>
        <p:grpSpPr bwMode="auto">
          <a:xfrm>
            <a:off x="8016875" y="6629400"/>
            <a:ext cx="1096963" cy="182563"/>
            <a:chOff x="5050" y="29"/>
            <a:chExt cx="691" cy="115"/>
          </a:xfrm>
        </p:grpSpPr>
        <p:sp>
          <p:nvSpPr>
            <p:cNvPr id="12377" name="AutoShape 94">
              <a:hlinkClick r:id="rId2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26" name="AutoShape 95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2379" name="AutoShape 96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2380" name="AutoShape 97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2381" name="AutoShape 98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2382" name="AutoShape 99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  <p:sp>
        <p:nvSpPr>
          <p:cNvPr id="12390" name="Line 102"/>
          <p:cNvSpPr>
            <a:spLocks noChangeShapeType="1"/>
          </p:cNvSpPr>
          <p:nvPr/>
        </p:nvSpPr>
        <p:spPr bwMode="auto">
          <a:xfrm flipH="1" flipV="1">
            <a:off x="1933575" y="1855788"/>
            <a:ext cx="1624013" cy="39497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" name="Arc 103"/>
          <p:cNvSpPr>
            <a:spLocks/>
          </p:cNvSpPr>
          <p:nvPr/>
        </p:nvSpPr>
        <p:spPr bwMode="auto">
          <a:xfrm flipH="1">
            <a:off x="3203575" y="5243513"/>
            <a:ext cx="352425" cy="554037"/>
          </a:xfrm>
          <a:custGeom>
            <a:avLst/>
            <a:gdLst>
              <a:gd name="T0" fmla="*/ 59389 w 13702"/>
              <a:gd name="T1" fmla="*/ 0 h 21476"/>
              <a:gd name="T2" fmla="*/ 352425 w 13702"/>
              <a:gd name="T3" fmla="*/ 123263 h 21476"/>
              <a:gd name="T4" fmla="*/ 0 w 13702"/>
              <a:gd name="T5" fmla="*/ 554037 h 2147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702" h="21476" fill="none" extrusionOk="0">
                <a:moveTo>
                  <a:pt x="2309" y="-1"/>
                </a:moveTo>
                <a:cubicBezTo>
                  <a:pt x="6490" y="449"/>
                  <a:pt x="10450" y="2110"/>
                  <a:pt x="13701" y="4778"/>
                </a:cubicBezTo>
              </a:path>
              <a:path w="13702" h="21476" stroke="0" extrusionOk="0">
                <a:moveTo>
                  <a:pt x="2309" y="-1"/>
                </a:moveTo>
                <a:cubicBezTo>
                  <a:pt x="6490" y="449"/>
                  <a:pt x="10450" y="2110"/>
                  <a:pt x="13701" y="4778"/>
                </a:cubicBezTo>
                <a:lnTo>
                  <a:pt x="0" y="21476"/>
                </a:lnTo>
                <a:lnTo>
                  <a:pt x="2309" y="-1"/>
                </a:lnTo>
                <a:close/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92" name="Arc 104"/>
          <p:cNvSpPr>
            <a:spLocks/>
          </p:cNvSpPr>
          <p:nvPr/>
        </p:nvSpPr>
        <p:spPr bwMode="auto">
          <a:xfrm flipH="1">
            <a:off x="2987675" y="4729163"/>
            <a:ext cx="352425" cy="554037"/>
          </a:xfrm>
          <a:custGeom>
            <a:avLst/>
            <a:gdLst>
              <a:gd name="T0" fmla="*/ 51704 w 13680"/>
              <a:gd name="T1" fmla="*/ 0 h 21507"/>
              <a:gd name="T2" fmla="*/ 352425 w 13680"/>
              <a:gd name="T3" fmla="*/ 123446 h 21507"/>
              <a:gd name="T4" fmla="*/ 0 w 13680"/>
              <a:gd name="T5" fmla="*/ 554037 h 2150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680" h="21507" fill="none" extrusionOk="0">
                <a:moveTo>
                  <a:pt x="2006" y="0"/>
                </a:moveTo>
                <a:cubicBezTo>
                  <a:pt x="6288" y="399"/>
                  <a:pt x="10352" y="2068"/>
                  <a:pt x="13680" y="4791"/>
                </a:cubicBezTo>
              </a:path>
              <a:path w="13680" h="21507" stroke="0" extrusionOk="0">
                <a:moveTo>
                  <a:pt x="2006" y="0"/>
                </a:moveTo>
                <a:cubicBezTo>
                  <a:pt x="6288" y="399"/>
                  <a:pt x="10352" y="2068"/>
                  <a:pt x="13680" y="4791"/>
                </a:cubicBezTo>
                <a:lnTo>
                  <a:pt x="0" y="21507"/>
                </a:lnTo>
                <a:lnTo>
                  <a:pt x="2006" y="0"/>
                </a:lnTo>
                <a:close/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93" name="Arc 105"/>
          <p:cNvSpPr>
            <a:spLocks/>
          </p:cNvSpPr>
          <p:nvPr/>
        </p:nvSpPr>
        <p:spPr bwMode="auto">
          <a:xfrm flipH="1">
            <a:off x="2767013" y="4206875"/>
            <a:ext cx="360362" cy="557213"/>
          </a:xfrm>
          <a:custGeom>
            <a:avLst/>
            <a:gdLst>
              <a:gd name="T0" fmla="*/ 0 w 13958"/>
              <a:gd name="T1" fmla="*/ 0 h 21600"/>
              <a:gd name="T2" fmla="*/ 360362 w 13958"/>
              <a:gd name="T3" fmla="*/ 131951 h 21600"/>
              <a:gd name="T4" fmla="*/ 0 w 13958"/>
              <a:gd name="T5" fmla="*/ 557213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958" h="21600" fill="none" extrusionOk="0">
                <a:moveTo>
                  <a:pt x="0" y="0"/>
                </a:moveTo>
                <a:cubicBezTo>
                  <a:pt x="5111" y="0"/>
                  <a:pt x="10056" y="1812"/>
                  <a:pt x="13957" y="5115"/>
                </a:cubicBezTo>
              </a:path>
              <a:path w="13958" h="21600" stroke="0" extrusionOk="0">
                <a:moveTo>
                  <a:pt x="0" y="0"/>
                </a:moveTo>
                <a:cubicBezTo>
                  <a:pt x="5111" y="0"/>
                  <a:pt x="10056" y="1812"/>
                  <a:pt x="13957" y="5115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94" name="Arc 106"/>
          <p:cNvSpPr>
            <a:spLocks/>
          </p:cNvSpPr>
          <p:nvPr/>
        </p:nvSpPr>
        <p:spPr bwMode="auto">
          <a:xfrm flipH="1">
            <a:off x="2547938" y="3689350"/>
            <a:ext cx="373062" cy="557213"/>
          </a:xfrm>
          <a:custGeom>
            <a:avLst/>
            <a:gdLst>
              <a:gd name="T0" fmla="*/ 0 w 14456"/>
              <a:gd name="T1" fmla="*/ 0 h 21600"/>
              <a:gd name="T2" fmla="*/ 373062 w 14456"/>
              <a:gd name="T3" fmla="*/ 143199 h 21600"/>
              <a:gd name="T4" fmla="*/ 0 w 14456"/>
              <a:gd name="T5" fmla="*/ 557213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56" h="21600" fill="none" extrusionOk="0">
                <a:moveTo>
                  <a:pt x="0" y="0"/>
                </a:moveTo>
                <a:cubicBezTo>
                  <a:pt x="5339" y="0"/>
                  <a:pt x="10489" y="1977"/>
                  <a:pt x="14456" y="5550"/>
                </a:cubicBezTo>
              </a:path>
              <a:path w="14456" h="21600" stroke="0" extrusionOk="0">
                <a:moveTo>
                  <a:pt x="0" y="0"/>
                </a:moveTo>
                <a:cubicBezTo>
                  <a:pt x="5339" y="0"/>
                  <a:pt x="10489" y="1977"/>
                  <a:pt x="14456" y="555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95" name="Arc 107"/>
          <p:cNvSpPr>
            <a:spLocks/>
          </p:cNvSpPr>
          <p:nvPr/>
        </p:nvSpPr>
        <p:spPr bwMode="auto">
          <a:xfrm flipH="1">
            <a:off x="2363788" y="3178175"/>
            <a:ext cx="336550" cy="557213"/>
          </a:xfrm>
          <a:custGeom>
            <a:avLst/>
            <a:gdLst>
              <a:gd name="T0" fmla="*/ 0 w 13039"/>
              <a:gd name="T1" fmla="*/ 0 h 21600"/>
              <a:gd name="T2" fmla="*/ 336550 w 13039"/>
              <a:gd name="T3" fmla="*/ 112990 h 21600"/>
              <a:gd name="T4" fmla="*/ 0 w 13039"/>
              <a:gd name="T5" fmla="*/ 557213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039" h="21600" fill="none" extrusionOk="0">
                <a:moveTo>
                  <a:pt x="0" y="0"/>
                </a:moveTo>
                <a:cubicBezTo>
                  <a:pt x="4707" y="0"/>
                  <a:pt x="9286" y="1537"/>
                  <a:pt x="13039" y="4379"/>
                </a:cubicBezTo>
              </a:path>
              <a:path w="13039" h="21600" stroke="0" extrusionOk="0">
                <a:moveTo>
                  <a:pt x="0" y="0"/>
                </a:moveTo>
                <a:cubicBezTo>
                  <a:pt x="4707" y="0"/>
                  <a:pt x="9286" y="1537"/>
                  <a:pt x="13039" y="4379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96" name="Arc 108"/>
          <p:cNvSpPr>
            <a:spLocks/>
          </p:cNvSpPr>
          <p:nvPr/>
        </p:nvSpPr>
        <p:spPr bwMode="auto">
          <a:xfrm flipH="1">
            <a:off x="2136775" y="2663825"/>
            <a:ext cx="355600" cy="557213"/>
          </a:xfrm>
          <a:custGeom>
            <a:avLst/>
            <a:gdLst>
              <a:gd name="T0" fmla="*/ 0 w 13809"/>
              <a:gd name="T1" fmla="*/ 0 h 21600"/>
              <a:gd name="T2" fmla="*/ 355600 w 13809"/>
              <a:gd name="T3" fmla="*/ 128752 h 21600"/>
              <a:gd name="T4" fmla="*/ 0 w 13809"/>
              <a:gd name="T5" fmla="*/ 557213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809" h="21600" fill="none" extrusionOk="0">
                <a:moveTo>
                  <a:pt x="0" y="0"/>
                </a:moveTo>
                <a:cubicBezTo>
                  <a:pt x="5044" y="0"/>
                  <a:pt x="9930" y="1765"/>
                  <a:pt x="13809" y="4990"/>
                </a:cubicBezTo>
              </a:path>
              <a:path w="13809" h="21600" stroke="0" extrusionOk="0">
                <a:moveTo>
                  <a:pt x="0" y="0"/>
                </a:moveTo>
                <a:cubicBezTo>
                  <a:pt x="5044" y="0"/>
                  <a:pt x="9930" y="1765"/>
                  <a:pt x="13809" y="499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97" name="Line 109"/>
          <p:cNvSpPr>
            <a:spLocks noChangeShapeType="1"/>
          </p:cNvSpPr>
          <p:nvPr/>
        </p:nvSpPr>
        <p:spPr bwMode="auto">
          <a:xfrm flipV="1">
            <a:off x="2281238" y="1766888"/>
            <a:ext cx="1273175" cy="9350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8" name="Line 110"/>
          <p:cNvSpPr>
            <a:spLocks noChangeShapeType="1"/>
          </p:cNvSpPr>
          <p:nvPr/>
        </p:nvSpPr>
        <p:spPr bwMode="auto">
          <a:xfrm flipV="1">
            <a:off x="2490788" y="2427288"/>
            <a:ext cx="1066800" cy="7937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9" name="Line 111"/>
          <p:cNvSpPr>
            <a:spLocks noChangeShapeType="1"/>
          </p:cNvSpPr>
          <p:nvPr/>
        </p:nvSpPr>
        <p:spPr bwMode="auto">
          <a:xfrm flipV="1">
            <a:off x="2698750" y="3074988"/>
            <a:ext cx="863600" cy="660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00" name="Line 112"/>
          <p:cNvSpPr>
            <a:spLocks noChangeShapeType="1"/>
          </p:cNvSpPr>
          <p:nvPr/>
        </p:nvSpPr>
        <p:spPr bwMode="auto">
          <a:xfrm flipV="1">
            <a:off x="2921000" y="3760788"/>
            <a:ext cx="641350" cy="4857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01" name="Line 113"/>
          <p:cNvSpPr>
            <a:spLocks noChangeShapeType="1"/>
          </p:cNvSpPr>
          <p:nvPr/>
        </p:nvSpPr>
        <p:spPr bwMode="auto">
          <a:xfrm flipV="1">
            <a:off x="3127375" y="4446588"/>
            <a:ext cx="427038" cy="3175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02" name="Line 114"/>
          <p:cNvSpPr>
            <a:spLocks noChangeShapeType="1"/>
          </p:cNvSpPr>
          <p:nvPr/>
        </p:nvSpPr>
        <p:spPr bwMode="auto">
          <a:xfrm flipV="1">
            <a:off x="3338513" y="5132388"/>
            <a:ext cx="219075" cy="15081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03" name="Line 115"/>
          <p:cNvSpPr>
            <a:spLocks noChangeShapeType="1"/>
          </p:cNvSpPr>
          <p:nvPr/>
        </p:nvSpPr>
        <p:spPr bwMode="auto">
          <a:xfrm>
            <a:off x="3554413" y="5805488"/>
            <a:ext cx="2828925" cy="10064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04" name="Arc 116"/>
          <p:cNvSpPr>
            <a:spLocks/>
          </p:cNvSpPr>
          <p:nvPr/>
        </p:nvSpPr>
        <p:spPr bwMode="auto">
          <a:xfrm flipV="1">
            <a:off x="3554413" y="5805488"/>
            <a:ext cx="455612" cy="250825"/>
          </a:xfrm>
          <a:custGeom>
            <a:avLst/>
            <a:gdLst>
              <a:gd name="T0" fmla="*/ 380816 w 21600"/>
              <a:gd name="T1" fmla="*/ 0 h 11858"/>
              <a:gd name="T2" fmla="*/ 455612 w 21600"/>
              <a:gd name="T3" fmla="*/ 250825 h 11858"/>
              <a:gd name="T4" fmla="*/ 0 w 21600"/>
              <a:gd name="T5" fmla="*/ 250825 h 1185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1858" fill="none" extrusionOk="0">
                <a:moveTo>
                  <a:pt x="18054" y="-1"/>
                </a:moveTo>
                <a:cubicBezTo>
                  <a:pt x="20367" y="3522"/>
                  <a:pt x="21600" y="7644"/>
                  <a:pt x="21600" y="11858"/>
                </a:cubicBezTo>
              </a:path>
              <a:path w="21600" h="11858" stroke="0" extrusionOk="0">
                <a:moveTo>
                  <a:pt x="18054" y="-1"/>
                </a:moveTo>
                <a:cubicBezTo>
                  <a:pt x="20367" y="3522"/>
                  <a:pt x="21600" y="7644"/>
                  <a:pt x="21600" y="11858"/>
                </a:cubicBezTo>
                <a:lnTo>
                  <a:pt x="0" y="11858"/>
                </a:lnTo>
                <a:lnTo>
                  <a:pt x="18054" y="-1"/>
                </a:lnTo>
                <a:close/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05" name="Arc 117"/>
          <p:cNvSpPr>
            <a:spLocks/>
          </p:cNvSpPr>
          <p:nvPr/>
        </p:nvSpPr>
        <p:spPr bwMode="auto">
          <a:xfrm flipV="1">
            <a:off x="3981450" y="5953125"/>
            <a:ext cx="455613" cy="268288"/>
          </a:xfrm>
          <a:custGeom>
            <a:avLst/>
            <a:gdLst>
              <a:gd name="T0" fmla="*/ 369300 w 21600"/>
              <a:gd name="T1" fmla="*/ 0 h 12650"/>
              <a:gd name="T2" fmla="*/ 455613 w 21600"/>
              <a:gd name="T3" fmla="*/ 268288 h 12650"/>
              <a:gd name="T4" fmla="*/ 0 w 21600"/>
              <a:gd name="T5" fmla="*/ 268288 h 126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2650" fill="none" extrusionOk="0">
                <a:moveTo>
                  <a:pt x="17508" y="-1"/>
                </a:moveTo>
                <a:cubicBezTo>
                  <a:pt x="20168" y="3681"/>
                  <a:pt x="21600" y="8107"/>
                  <a:pt x="21600" y="12650"/>
                </a:cubicBezTo>
              </a:path>
              <a:path w="21600" h="12650" stroke="0" extrusionOk="0">
                <a:moveTo>
                  <a:pt x="17508" y="-1"/>
                </a:moveTo>
                <a:cubicBezTo>
                  <a:pt x="20168" y="3681"/>
                  <a:pt x="21600" y="8107"/>
                  <a:pt x="21600" y="12650"/>
                </a:cubicBezTo>
                <a:lnTo>
                  <a:pt x="0" y="12650"/>
                </a:lnTo>
                <a:lnTo>
                  <a:pt x="17508" y="-1"/>
                </a:lnTo>
                <a:close/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06" name="Arc 118"/>
          <p:cNvSpPr>
            <a:spLocks/>
          </p:cNvSpPr>
          <p:nvPr/>
        </p:nvSpPr>
        <p:spPr bwMode="auto">
          <a:xfrm flipV="1">
            <a:off x="4413250" y="6102350"/>
            <a:ext cx="455613" cy="303213"/>
          </a:xfrm>
          <a:custGeom>
            <a:avLst/>
            <a:gdLst>
              <a:gd name="T0" fmla="*/ 341583 w 21600"/>
              <a:gd name="T1" fmla="*/ 0 h 14294"/>
              <a:gd name="T2" fmla="*/ 455613 w 21600"/>
              <a:gd name="T3" fmla="*/ 303213 h 14294"/>
              <a:gd name="T4" fmla="*/ 0 w 21600"/>
              <a:gd name="T5" fmla="*/ 303213 h 1429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4294" fill="none" extrusionOk="0">
                <a:moveTo>
                  <a:pt x="16193" y="0"/>
                </a:moveTo>
                <a:cubicBezTo>
                  <a:pt x="19677" y="3946"/>
                  <a:pt x="21600" y="9029"/>
                  <a:pt x="21600" y="14294"/>
                </a:cubicBezTo>
              </a:path>
              <a:path w="21600" h="14294" stroke="0" extrusionOk="0">
                <a:moveTo>
                  <a:pt x="16193" y="0"/>
                </a:moveTo>
                <a:cubicBezTo>
                  <a:pt x="19677" y="3946"/>
                  <a:pt x="21600" y="9029"/>
                  <a:pt x="21600" y="14294"/>
                </a:cubicBezTo>
                <a:lnTo>
                  <a:pt x="0" y="14294"/>
                </a:lnTo>
                <a:lnTo>
                  <a:pt x="16193" y="0"/>
                </a:lnTo>
                <a:close/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07" name="Arc 119"/>
          <p:cNvSpPr>
            <a:spLocks/>
          </p:cNvSpPr>
          <p:nvPr/>
        </p:nvSpPr>
        <p:spPr bwMode="auto">
          <a:xfrm flipV="1">
            <a:off x="4845050" y="6256338"/>
            <a:ext cx="455613" cy="309562"/>
          </a:xfrm>
          <a:custGeom>
            <a:avLst/>
            <a:gdLst>
              <a:gd name="T0" fmla="*/ 335656 w 21600"/>
              <a:gd name="T1" fmla="*/ 0 h 14606"/>
              <a:gd name="T2" fmla="*/ 455613 w 21600"/>
              <a:gd name="T3" fmla="*/ 309562 h 14606"/>
              <a:gd name="T4" fmla="*/ 0 w 21600"/>
              <a:gd name="T5" fmla="*/ 309562 h 146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4606" fill="none" extrusionOk="0">
                <a:moveTo>
                  <a:pt x="15913" y="-1"/>
                </a:moveTo>
                <a:cubicBezTo>
                  <a:pt x="19570" y="3984"/>
                  <a:pt x="21600" y="9197"/>
                  <a:pt x="21600" y="14606"/>
                </a:cubicBezTo>
              </a:path>
              <a:path w="21600" h="14606" stroke="0" extrusionOk="0">
                <a:moveTo>
                  <a:pt x="15913" y="-1"/>
                </a:moveTo>
                <a:cubicBezTo>
                  <a:pt x="19570" y="3984"/>
                  <a:pt x="21600" y="9197"/>
                  <a:pt x="21600" y="14606"/>
                </a:cubicBezTo>
                <a:lnTo>
                  <a:pt x="0" y="14606"/>
                </a:lnTo>
                <a:lnTo>
                  <a:pt x="15913" y="-1"/>
                </a:lnTo>
                <a:close/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08" name="Arc 120"/>
          <p:cNvSpPr>
            <a:spLocks/>
          </p:cNvSpPr>
          <p:nvPr/>
        </p:nvSpPr>
        <p:spPr bwMode="auto">
          <a:xfrm flipV="1">
            <a:off x="5273675" y="6410325"/>
            <a:ext cx="455613" cy="303213"/>
          </a:xfrm>
          <a:custGeom>
            <a:avLst/>
            <a:gdLst>
              <a:gd name="T0" fmla="*/ 341583 w 21600"/>
              <a:gd name="T1" fmla="*/ 0 h 14294"/>
              <a:gd name="T2" fmla="*/ 455613 w 21600"/>
              <a:gd name="T3" fmla="*/ 303213 h 14294"/>
              <a:gd name="T4" fmla="*/ 0 w 21600"/>
              <a:gd name="T5" fmla="*/ 303213 h 1429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4294" fill="none" extrusionOk="0">
                <a:moveTo>
                  <a:pt x="16193" y="0"/>
                </a:moveTo>
                <a:cubicBezTo>
                  <a:pt x="19677" y="3946"/>
                  <a:pt x="21600" y="9029"/>
                  <a:pt x="21600" y="14294"/>
                </a:cubicBezTo>
              </a:path>
              <a:path w="21600" h="14294" stroke="0" extrusionOk="0">
                <a:moveTo>
                  <a:pt x="16193" y="0"/>
                </a:moveTo>
                <a:cubicBezTo>
                  <a:pt x="19677" y="3946"/>
                  <a:pt x="21600" y="9029"/>
                  <a:pt x="21600" y="14294"/>
                </a:cubicBezTo>
                <a:lnTo>
                  <a:pt x="0" y="14294"/>
                </a:lnTo>
                <a:lnTo>
                  <a:pt x="16193" y="0"/>
                </a:lnTo>
                <a:close/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09" name="Arc 121"/>
          <p:cNvSpPr>
            <a:spLocks/>
          </p:cNvSpPr>
          <p:nvPr/>
        </p:nvSpPr>
        <p:spPr bwMode="auto">
          <a:xfrm flipV="1">
            <a:off x="5703888" y="6561138"/>
            <a:ext cx="455612" cy="293687"/>
          </a:xfrm>
          <a:custGeom>
            <a:avLst/>
            <a:gdLst>
              <a:gd name="T0" fmla="*/ 349745 w 21600"/>
              <a:gd name="T1" fmla="*/ 0 h 13844"/>
              <a:gd name="T2" fmla="*/ 455612 w 21600"/>
              <a:gd name="T3" fmla="*/ 293687 h 13844"/>
              <a:gd name="T4" fmla="*/ 0 w 21600"/>
              <a:gd name="T5" fmla="*/ 293687 h 138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3844" fill="none" extrusionOk="0">
                <a:moveTo>
                  <a:pt x="16580" y="0"/>
                </a:moveTo>
                <a:cubicBezTo>
                  <a:pt x="19823" y="3884"/>
                  <a:pt x="21600" y="8783"/>
                  <a:pt x="21600" y="13844"/>
                </a:cubicBezTo>
              </a:path>
              <a:path w="21600" h="13844" stroke="0" extrusionOk="0">
                <a:moveTo>
                  <a:pt x="16580" y="0"/>
                </a:moveTo>
                <a:cubicBezTo>
                  <a:pt x="19823" y="3884"/>
                  <a:pt x="21600" y="8783"/>
                  <a:pt x="21600" y="13844"/>
                </a:cubicBezTo>
                <a:lnTo>
                  <a:pt x="0" y="13844"/>
                </a:lnTo>
                <a:lnTo>
                  <a:pt x="16580" y="0"/>
                </a:lnTo>
                <a:close/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10" name="Line 122"/>
          <p:cNvSpPr>
            <a:spLocks noChangeShapeType="1"/>
          </p:cNvSpPr>
          <p:nvPr/>
        </p:nvSpPr>
        <p:spPr bwMode="auto">
          <a:xfrm flipH="1" flipV="1">
            <a:off x="6072188" y="5791200"/>
            <a:ext cx="57150" cy="9239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11" name="Line 123"/>
          <p:cNvSpPr>
            <a:spLocks noChangeShapeType="1"/>
          </p:cNvSpPr>
          <p:nvPr/>
        </p:nvSpPr>
        <p:spPr bwMode="auto">
          <a:xfrm flipH="1" flipV="1">
            <a:off x="5614988" y="5799138"/>
            <a:ext cx="84137" cy="76676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12" name="Line 124"/>
          <p:cNvSpPr>
            <a:spLocks noChangeShapeType="1"/>
          </p:cNvSpPr>
          <p:nvPr/>
        </p:nvSpPr>
        <p:spPr bwMode="auto">
          <a:xfrm flipH="1" flipV="1">
            <a:off x="5208588" y="5805488"/>
            <a:ext cx="65087" cy="6064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13" name="Line 125"/>
          <p:cNvSpPr>
            <a:spLocks noChangeShapeType="1"/>
          </p:cNvSpPr>
          <p:nvPr/>
        </p:nvSpPr>
        <p:spPr bwMode="auto">
          <a:xfrm flipH="1" flipV="1">
            <a:off x="4776788" y="5799138"/>
            <a:ext cx="68262" cy="463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14" name="Line 126"/>
          <p:cNvSpPr>
            <a:spLocks noChangeShapeType="1"/>
          </p:cNvSpPr>
          <p:nvPr/>
        </p:nvSpPr>
        <p:spPr bwMode="auto">
          <a:xfrm flipH="1" flipV="1">
            <a:off x="4344988" y="5799138"/>
            <a:ext cx="68262" cy="3111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15" name="Line 127"/>
          <p:cNvSpPr>
            <a:spLocks noChangeShapeType="1"/>
          </p:cNvSpPr>
          <p:nvPr/>
        </p:nvSpPr>
        <p:spPr bwMode="auto">
          <a:xfrm flipH="1" flipV="1">
            <a:off x="3938588" y="5805488"/>
            <a:ext cx="42862" cy="1492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6890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2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2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1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1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1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1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1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1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1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1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12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12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12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12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Par">
                      <p:stCondLst>
                        <p:cond delay="indefinite"/>
                      </p:stCondLst>
                      <p:childTnLst>
                        <p:par>
                          <p:cTn id="2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12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12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12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12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 nodeType="clickPar">
                      <p:stCondLst>
                        <p:cond delay="indefinite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 nodeType="clickPar">
                      <p:stCondLst>
                        <p:cond delay="indefinite"/>
                      </p:stCondLst>
                      <p:childTnLst>
                        <p:par>
                          <p:cTn id="2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12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12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 nodeType="clickPar">
                      <p:stCondLst>
                        <p:cond delay="indefinite"/>
                      </p:stCondLst>
                      <p:childTnLst>
                        <p:par>
                          <p:cTn id="2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 nodeType="clickPar">
                      <p:stCondLst>
                        <p:cond delay="indefinite"/>
                      </p:stCondLst>
                      <p:childTnLst>
                        <p:par>
                          <p:cTn id="2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12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12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 nodeType="clickPar">
                      <p:stCondLst>
                        <p:cond delay="indefinite"/>
                      </p:stCondLst>
                      <p:childTnLst>
                        <p:par>
                          <p:cTn id="2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12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12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Par">
                      <p:stCondLst>
                        <p:cond delay="indefinite"/>
                      </p:stCondLst>
                      <p:childTnLst>
                        <p:par>
                          <p:cTn id="2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1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 nodeType="clickPar">
                      <p:stCondLst>
                        <p:cond delay="indefinite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6" dur="500" fill="hold"/>
                                        <p:tgtEl>
                                          <p:spTgt spid="12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500" fill="hold"/>
                                        <p:tgtEl>
                                          <p:spTgt spid="12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12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00" fill="hold"/>
                                        <p:tgtEl>
                                          <p:spTgt spid="12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 nodeType="clickPar">
                      <p:stCondLst>
                        <p:cond delay="indefinite"/>
                      </p:stCondLst>
                      <p:childTnLst>
                        <p:par>
                          <p:cTn id="3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2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4" dur="500" fill="hold"/>
                                        <p:tgtEl>
                                          <p:spTgt spid="12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500" fill="hold"/>
                                        <p:tgtEl>
                                          <p:spTgt spid="12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12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500" fill="hold"/>
                                        <p:tgtEl>
                                          <p:spTgt spid="12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 nodeType="clickPar">
                      <p:stCondLst>
                        <p:cond delay="indefinite"/>
                      </p:stCondLst>
                      <p:childTnLst>
                        <p:par>
                          <p:cTn id="3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2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 nodeType="clickPar">
                      <p:stCondLst>
                        <p:cond delay="indefinite"/>
                      </p:stCondLst>
                      <p:childTnLst>
                        <p:par>
                          <p:cTn id="3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7" dur="500" fill="hold"/>
                                        <p:tgtEl>
                                          <p:spTgt spid="12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500" fill="hold"/>
                                        <p:tgtEl>
                                          <p:spTgt spid="12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500" fill="hold"/>
                                        <p:tgtEl>
                                          <p:spTgt spid="123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500" fill="hold"/>
                                        <p:tgtEl>
                                          <p:spTgt spid="123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 nodeType="clickPar">
                      <p:stCondLst>
                        <p:cond delay="indefinite"/>
                      </p:stCondLst>
                      <p:childTnLst>
                        <p:par>
                          <p:cTn id="3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5" dur="500" fill="hold"/>
                                        <p:tgtEl>
                                          <p:spTgt spid="12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2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2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500" fill="hold"/>
                                        <p:tgtEl>
                                          <p:spTgt spid="12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 nodeType="clickPar">
                      <p:stCondLst>
                        <p:cond delay="indefinite"/>
                      </p:stCondLst>
                      <p:childTnLst>
                        <p:par>
                          <p:cTn id="3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3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 nodeType="clickPar">
                      <p:stCondLst>
                        <p:cond delay="indefinite"/>
                      </p:stCondLst>
                      <p:childTnLst>
                        <p:par>
                          <p:cTn id="3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8" dur="500" fill="hold"/>
                                        <p:tgtEl>
                                          <p:spTgt spid="12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500" fill="hold"/>
                                        <p:tgtEl>
                                          <p:spTgt spid="12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500" fill="hold"/>
                                        <p:tgtEl>
                                          <p:spTgt spid="12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12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 nodeType="clickPar">
                      <p:stCondLst>
                        <p:cond delay="indefinite"/>
                      </p:stCondLst>
                      <p:childTnLst>
                        <p:par>
                          <p:cTn id="3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4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6" dur="500" fill="hold"/>
                                        <p:tgtEl>
                                          <p:spTgt spid="12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500" fill="hold"/>
                                        <p:tgtEl>
                                          <p:spTgt spid="12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500" fill="hold"/>
                                        <p:tgtEl>
                                          <p:spTgt spid="12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500" fill="hold"/>
                                        <p:tgtEl>
                                          <p:spTgt spid="12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 nodeType="clickPar">
                      <p:stCondLst>
                        <p:cond delay="indefinite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4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 nodeType="clickPar">
                      <p:stCondLst>
                        <p:cond delay="indefinite"/>
                      </p:stCondLst>
                      <p:childTnLst>
                        <p:par>
                          <p:cTn id="3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9" dur="500" fill="hold"/>
                                        <p:tgtEl>
                                          <p:spTgt spid="12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500" fill="hold"/>
                                        <p:tgtEl>
                                          <p:spTgt spid="12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12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00" fill="hold"/>
                                        <p:tgtEl>
                                          <p:spTgt spid="12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 nodeType="clickPar">
                      <p:stCondLst>
                        <p:cond delay="indefinite"/>
                      </p:stCondLst>
                      <p:childTnLst>
                        <p:par>
                          <p:cTn id="3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7" dur="500" fill="hold"/>
                                        <p:tgtEl>
                                          <p:spTgt spid="12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500" fill="hold"/>
                                        <p:tgtEl>
                                          <p:spTgt spid="12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2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2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 nodeType="clickPar">
                      <p:stCondLst>
                        <p:cond delay="indefinite"/>
                      </p:stCondLst>
                      <p:childTnLst>
                        <p:par>
                          <p:cTn id="3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5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 nodeType="clickPar">
                      <p:stCondLst>
                        <p:cond delay="indefinite"/>
                      </p:stCondLst>
                      <p:childTnLst>
                        <p:par>
                          <p:cTn id="3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0" dur="500" fill="hold"/>
                                        <p:tgtEl>
                                          <p:spTgt spid="12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1" dur="500" fill="hold"/>
                                        <p:tgtEl>
                                          <p:spTgt spid="12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2" dur="500" fill="hold"/>
                                        <p:tgtEl>
                                          <p:spTgt spid="12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500" fill="hold"/>
                                        <p:tgtEl>
                                          <p:spTgt spid="12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 nodeType="clickPar">
                      <p:stCondLst>
                        <p:cond delay="indefinite"/>
                      </p:stCondLst>
                      <p:childTnLst>
                        <p:par>
                          <p:cTn id="3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6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8" dur="500" fill="hold"/>
                                        <p:tgtEl>
                                          <p:spTgt spid="12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9" dur="500" fill="hold"/>
                                        <p:tgtEl>
                                          <p:spTgt spid="12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00" fill="hold"/>
                                        <p:tgtEl>
                                          <p:spTgt spid="12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500" fill="hold"/>
                                        <p:tgtEl>
                                          <p:spTgt spid="12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 nodeType="clickPar">
                      <p:stCondLst>
                        <p:cond delay="indefinite"/>
                      </p:stCondLst>
                      <p:childTnLst>
                        <p:par>
                          <p:cTn id="4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6" dur="500" fill="hold"/>
                                        <p:tgtEl>
                                          <p:spTgt spid="12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7" dur="500" fill="hold"/>
                                        <p:tgtEl>
                                          <p:spTgt spid="12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 nodeType="clickPar">
                      <p:stCondLst>
                        <p:cond delay="indefinite"/>
                      </p:stCondLst>
                      <p:childTnLst>
                        <p:par>
                          <p:cTn id="4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2" dur="500" fill="hold"/>
                                        <p:tgtEl>
                                          <p:spTgt spid="12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3" dur="500" fill="hold"/>
                                        <p:tgtEl>
                                          <p:spTgt spid="12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 nodeType="clickPar">
                      <p:stCondLst>
                        <p:cond delay="indefinite"/>
                      </p:stCondLst>
                      <p:childTnLst>
                        <p:par>
                          <p:cTn id="4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8" dur="500"/>
                                        <p:tgtEl>
                                          <p:spTgt spid="12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 nodeType="clickPar">
                      <p:stCondLst>
                        <p:cond delay="indefinite"/>
                      </p:stCondLst>
                      <p:childTnLst>
                        <p:par>
                          <p:cTn id="4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3" dur="500"/>
                                        <p:tgtEl>
                                          <p:spTgt spid="1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 nodeType="clickPar">
                      <p:stCondLst>
                        <p:cond delay="indefinite"/>
                      </p:stCondLst>
                      <p:childTnLst>
                        <p:par>
                          <p:cTn id="4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8" dur="500"/>
                                        <p:tgtEl>
                                          <p:spTgt spid="1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 nodeType="clickPar">
                      <p:stCondLst>
                        <p:cond delay="indefinite"/>
                      </p:stCondLst>
                      <p:childTnLst>
                        <p:par>
                          <p:cTn id="4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3" dur="500"/>
                                        <p:tgtEl>
                                          <p:spTgt spid="1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 nodeType="clickPar">
                      <p:stCondLst>
                        <p:cond delay="indefinite"/>
                      </p:stCondLst>
                      <p:childTnLst>
                        <p:par>
                          <p:cTn id="4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8" dur="500"/>
                                        <p:tgtEl>
                                          <p:spTgt spid="1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 nodeType="clickPar">
                      <p:stCondLst>
                        <p:cond delay="indefinite"/>
                      </p:stCondLst>
                      <p:childTnLst>
                        <p:par>
                          <p:cTn id="4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3" dur="500" fill="hold"/>
                                        <p:tgtEl>
                                          <p:spTgt spid="12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4" dur="500" fill="hold"/>
                                        <p:tgtEl>
                                          <p:spTgt spid="12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500" fill="hold"/>
                                        <p:tgtEl>
                                          <p:spTgt spid="12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6" dur="500" fill="hold"/>
                                        <p:tgtEl>
                                          <p:spTgt spid="12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 nodeType="clickPar">
                      <p:stCondLst>
                        <p:cond delay="indefinite"/>
                      </p:stCondLst>
                      <p:childTnLst>
                        <p:par>
                          <p:cTn id="4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1" dur="5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5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 nodeType="clickPar">
                      <p:stCondLst>
                        <p:cond delay="indefinite"/>
                      </p:stCondLst>
                      <p:childTnLst>
                        <p:par>
                          <p:cTn id="4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7" dur="5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8" dur="5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 nodeType="clickPar">
                      <p:stCondLst>
                        <p:cond delay="indefinite"/>
                      </p:stCondLst>
                      <p:childTnLst>
                        <p:par>
                          <p:cTn id="4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1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3" dur="500" fill="hold"/>
                                        <p:tgtEl>
                                          <p:spTgt spid="12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4" dur="500" fill="hold"/>
                                        <p:tgtEl>
                                          <p:spTgt spid="12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2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2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 nodeType="clickPar">
                      <p:stCondLst>
                        <p:cond delay="indefinite"/>
                      </p:stCondLst>
                      <p:childTnLst>
                        <p:par>
                          <p:cTn id="4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9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2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2" dur="500" fill="hold"/>
                                        <p:tgtEl>
                                          <p:spTgt spid="12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00" fill="hold"/>
                                        <p:tgtEl>
                                          <p:spTgt spid="12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4" dur="500" fill="hold"/>
                                        <p:tgtEl>
                                          <p:spTgt spid="12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 nodeType="clickPar">
                      <p:stCondLst>
                        <p:cond delay="indefinite"/>
                      </p:stCondLst>
                      <p:childTnLst>
                        <p:par>
                          <p:cTn id="4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7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9" dur="500" fill="hold"/>
                                        <p:tgtEl>
                                          <p:spTgt spid="12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00" fill="hold"/>
                                        <p:tgtEl>
                                          <p:spTgt spid="12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1" dur="500" fill="hold"/>
                                        <p:tgtEl>
                                          <p:spTgt spid="12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2" dur="500" fill="hold"/>
                                        <p:tgtEl>
                                          <p:spTgt spid="12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 nodeType="clickPar">
                      <p:stCondLst>
                        <p:cond delay="indefinite"/>
                      </p:stCondLst>
                      <p:childTnLst>
                        <p:par>
                          <p:cTn id="4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7" dur="500" fill="hold"/>
                                        <p:tgtEl>
                                          <p:spTgt spid="12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8" dur="500" fill="hold"/>
                                        <p:tgtEl>
                                          <p:spTgt spid="12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9" dur="500" fill="hold"/>
                                        <p:tgtEl>
                                          <p:spTgt spid="12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0" dur="500" fill="hold"/>
                                        <p:tgtEl>
                                          <p:spTgt spid="12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 nodeType="clickPar">
                      <p:stCondLst>
                        <p:cond delay="indefinite"/>
                      </p:stCondLst>
                      <p:childTnLst>
                        <p:par>
                          <p:cTn id="4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3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5" dur="500" fill="hold"/>
                                        <p:tgtEl>
                                          <p:spTgt spid="12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6" dur="500" fill="hold"/>
                                        <p:tgtEl>
                                          <p:spTgt spid="12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7" dur="500" fill="hold"/>
                                        <p:tgtEl>
                                          <p:spTgt spid="12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500" fill="hold"/>
                                        <p:tgtEl>
                                          <p:spTgt spid="12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 nodeType="clickPar">
                      <p:stCondLst>
                        <p:cond delay="indefinite"/>
                      </p:stCondLst>
                      <p:childTnLst>
                        <p:par>
                          <p:cTn id="5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3" dur="500" fill="hold"/>
                                        <p:tgtEl>
                                          <p:spTgt spid="12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4" dur="500" fill="hold"/>
                                        <p:tgtEl>
                                          <p:spTgt spid="12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 nodeType="clickPar">
                      <p:stCondLst>
                        <p:cond delay="indefinite"/>
                      </p:stCondLst>
                      <p:childTnLst>
                        <p:par>
                          <p:cTn id="5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9" dur="500"/>
                                        <p:tgtEl>
                                          <p:spTgt spid="1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 nodeType="clickPar">
                      <p:stCondLst>
                        <p:cond delay="indefinite"/>
                      </p:stCondLst>
                      <p:childTnLst>
                        <p:par>
                          <p:cTn id="5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4" dur="500"/>
                                        <p:tgtEl>
                                          <p:spTgt spid="1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nimBg="1"/>
      <p:bldP spid="12291" grpId="0" animBg="1"/>
      <p:bldP spid="12292" grpId="0" animBg="1"/>
      <p:bldP spid="12293" grpId="0" animBg="1"/>
      <p:bldP spid="12294" grpId="0" animBg="1"/>
      <p:bldP spid="12295" grpId="0" animBg="1"/>
      <p:bldP spid="12296" grpId="0" animBg="1"/>
      <p:bldP spid="12297" grpId="0" animBg="1"/>
      <p:bldP spid="12298" grpId="0" animBg="1"/>
      <p:bldP spid="12299" grpId="0" animBg="1"/>
      <p:bldP spid="12300" grpId="0" animBg="1"/>
      <p:bldP spid="12301" grpId="0" animBg="1"/>
      <p:bldP spid="12302" grpId="0" autoUpdateAnimBg="0"/>
      <p:bldP spid="12303" grpId="0" autoUpdateAnimBg="0"/>
      <p:bldP spid="12304" grpId="0" autoUpdateAnimBg="0"/>
      <p:bldP spid="12305" grpId="0" autoUpdateAnimBg="0"/>
      <p:bldP spid="12306" grpId="0" autoUpdateAnimBg="0"/>
      <p:bldP spid="12307" grpId="0" autoUpdateAnimBg="0"/>
      <p:bldP spid="12308" grpId="0" autoUpdateAnimBg="0"/>
      <p:bldP spid="12309" grpId="0" autoUpdateAnimBg="0"/>
      <p:bldP spid="12310" grpId="0" autoUpdateAnimBg="0"/>
      <p:bldP spid="12311" grpId="0" autoUpdateAnimBg="0"/>
      <p:bldP spid="12312" grpId="0" autoUpdateAnimBg="0"/>
      <p:bldP spid="12313" grpId="0" autoUpdateAnimBg="0"/>
      <p:bldP spid="12314" grpId="0" animBg="1"/>
      <p:bldP spid="12315" grpId="0" animBg="1"/>
      <p:bldP spid="12316" grpId="0" animBg="1"/>
      <p:bldP spid="12317" grpId="0" animBg="1"/>
      <p:bldP spid="12318" grpId="0" animBg="1"/>
      <p:bldP spid="12319" grpId="0" animBg="1"/>
      <p:bldP spid="12320" grpId="0" animBg="1"/>
      <p:bldP spid="12321" grpId="0" animBg="1"/>
      <p:bldP spid="12334" grpId="0" animBg="1"/>
      <p:bldP spid="12335" grpId="0" animBg="1"/>
      <p:bldP spid="12336" grpId="0" animBg="1"/>
      <p:bldP spid="12337" grpId="0" animBg="1"/>
      <p:bldP spid="12338" grpId="0" animBg="1"/>
      <p:bldP spid="12351" grpId="0" animBg="1"/>
      <p:bldP spid="12352" grpId="0" animBg="1"/>
      <p:bldP spid="12353" grpId="0" animBg="1"/>
      <p:bldP spid="12354" grpId="0" animBg="1"/>
      <p:bldP spid="12355" grpId="0" animBg="1"/>
      <p:bldP spid="12362" grpId="0" animBg="1"/>
      <p:bldP spid="12363" grpId="0" animBg="1"/>
      <p:bldP spid="12364" grpId="0" animBg="1"/>
      <p:bldP spid="12365" grpId="0" animBg="1"/>
      <p:bldP spid="12366" grpId="0" animBg="1"/>
      <p:bldP spid="12367" grpId="0" animBg="1"/>
      <p:bldP spid="12368" grpId="0" animBg="1"/>
      <p:bldP spid="12369" grpId="0" animBg="1"/>
      <p:bldP spid="12370" grpId="0" animBg="1"/>
      <p:bldP spid="12371" grpId="0" animBg="1"/>
      <p:bldP spid="12372" grpId="0" animBg="1"/>
      <p:bldP spid="12373" grpId="0" animBg="1"/>
      <p:bldP spid="12390" grpId="0" animBg="1"/>
      <p:bldP spid="12391" grpId="0" animBg="1"/>
      <p:bldP spid="12392" grpId="0" animBg="1"/>
      <p:bldP spid="12393" grpId="0" animBg="1"/>
      <p:bldP spid="12394" grpId="0" animBg="1"/>
      <p:bldP spid="12395" grpId="0" animBg="1"/>
      <p:bldP spid="12396" grpId="0" animBg="1"/>
      <p:bldP spid="12397" grpId="0" animBg="1"/>
      <p:bldP spid="12398" grpId="0" animBg="1"/>
      <p:bldP spid="12399" grpId="0" animBg="1"/>
      <p:bldP spid="12400" grpId="0" animBg="1"/>
      <p:bldP spid="12401" grpId="0" animBg="1"/>
      <p:bldP spid="12402" grpId="0" animBg="1"/>
      <p:bldP spid="12403" grpId="0" animBg="1"/>
      <p:bldP spid="12404" grpId="0" animBg="1"/>
      <p:bldP spid="12405" grpId="0" animBg="1"/>
      <p:bldP spid="12406" grpId="0" animBg="1"/>
      <p:bldP spid="12407" grpId="0" animBg="1"/>
      <p:bldP spid="12408" grpId="0" animBg="1"/>
      <p:bldP spid="12409" grpId="0" animBg="1"/>
      <p:bldP spid="12410" grpId="0" animBg="1"/>
      <p:bldP spid="12411" grpId="0" animBg="1"/>
      <p:bldP spid="12412" grpId="0" animBg="1"/>
      <p:bldP spid="12413" grpId="0" animBg="1"/>
      <p:bldP spid="12414" grpId="0" animBg="1"/>
      <p:bldP spid="124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Line 2"/>
          <p:cNvSpPr>
            <a:spLocks noChangeShapeType="1"/>
          </p:cNvSpPr>
          <p:nvPr/>
        </p:nvSpPr>
        <p:spPr bwMode="auto">
          <a:xfrm>
            <a:off x="3200400" y="838200"/>
            <a:ext cx="0" cy="434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3" name="Line 3"/>
          <p:cNvSpPr>
            <a:spLocks noChangeShapeType="1"/>
          </p:cNvSpPr>
          <p:nvPr/>
        </p:nvSpPr>
        <p:spPr bwMode="auto">
          <a:xfrm>
            <a:off x="3200400" y="5181600"/>
            <a:ext cx="5486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4229100" y="36861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3200400" y="3733800"/>
            <a:ext cx="10668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4267200" y="3733800"/>
            <a:ext cx="0" cy="1447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4229100" y="3457575"/>
            <a:ext cx="292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2895600" y="5181600"/>
            <a:ext cx="322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latin typeface="Times New Roman" panose="02020603050405020304" pitchFamily="18" charset="0"/>
              </a:rPr>
              <a:t>O</a:t>
            </a:r>
          </a:p>
        </p:txBody>
      </p:sp>
      <p:grpSp>
        <p:nvGrpSpPr>
          <p:cNvPr id="15369" name="Group 9"/>
          <p:cNvGrpSpPr>
            <a:grpSpLocks/>
          </p:cNvGrpSpPr>
          <p:nvPr/>
        </p:nvGrpSpPr>
        <p:grpSpPr bwMode="auto">
          <a:xfrm>
            <a:off x="2117725" y="3733800"/>
            <a:ext cx="1158875" cy="1447800"/>
            <a:chOff x="758" y="2352"/>
            <a:chExt cx="730" cy="912"/>
          </a:xfrm>
        </p:grpSpPr>
        <p:grpSp>
          <p:nvGrpSpPr>
            <p:cNvPr id="13377" name="Group 10"/>
            <p:cNvGrpSpPr>
              <a:grpSpLocks/>
            </p:cNvGrpSpPr>
            <p:nvPr/>
          </p:nvGrpSpPr>
          <p:grpSpPr bwMode="auto">
            <a:xfrm>
              <a:off x="1008" y="2352"/>
              <a:ext cx="480" cy="912"/>
              <a:chOff x="1008" y="2352"/>
              <a:chExt cx="480" cy="912"/>
            </a:xfrm>
          </p:grpSpPr>
          <p:sp>
            <p:nvSpPr>
              <p:cNvPr id="13379" name="Line 11"/>
              <p:cNvSpPr>
                <a:spLocks noChangeShapeType="1"/>
              </p:cNvSpPr>
              <p:nvPr/>
            </p:nvSpPr>
            <p:spPr bwMode="auto">
              <a:xfrm>
                <a:off x="1152" y="2352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80" name="Line 12"/>
              <p:cNvSpPr>
                <a:spLocks noChangeShapeType="1"/>
              </p:cNvSpPr>
              <p:nvPr/>
            </p:nvSpPr>
            <p:spPr bwMode="auto">
              <a:xfrm flipH="1">
                <a:off x="1008" y="3264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81" name="Line 13"/>
              <p:cNvSpPr>
                <a:spLocks noChangeShapeType="1"/>
              </p:cNvSpPr>
              <p:nvPr/>
            </p:nvSpPr>
            <p:spPr bwMode="auto">
              <a:xfrm flipH="1">
                <a:off x="1008" y="2352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378" name="Text Box 14"/>
            <p:cNvSpPr txBox="1">
              <a:spLocks noChangeArrowheads="1"/>
            </p:cNvSpPr>
            <p:nvPr/>
          </p:nvSpPr>
          <p:spPr bwMode="auto">
            <a:xfrm>
              <a:off x="758" y="2743"/>
              <a:ext cx="43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>
                  <a:latin typeface="Times New Roman" panose="02020603050405020304" pitchFamily="18" charset="0"/>
                </a:rPr>
                <a:t>40 mm</a:t>
              </a:r>
            </a:p>
          </p:txBody>
        </p:sp>
      </p:grpSp>
      <p:grpSp>
        <p:nvGrpSpPr>
          <p:cNvPr id="15375" name="Group 15"/>
          <p:cNvGrpSpPr>
            <a:grpSpLocks/>
          </p:cNvGrpSpPr>
          <p:nvPr/>
        </p:nvGrpSpPr>
        <p:grpSpPr bwMode="auto">
          <a:xfrm>
            <a:off x="3200400" y="5105400"/>
            <a:ext cx="1066800" cy="762000"/>
            <a:chOff x="1440" y="3216"/>
            <a:chExt cx="672" cy="480"/>
          </a:xfrm>
        </p:grpSpPr>
        <p:grpSp>
          <p:nvGrpSpPr>
            <p:cNvPr id="13372" name="Group 16"/>
            <p:cNvGrpSpPr>
              <a:grpSpLocks/>
            </p:cNvGrpSpPr>
            <p:nvPr/>
          </p:nvGrpSpPr>
          <p:grpSpPr bwMode="auto">
            <a:xfrm>
              <a:off x="1440" y="3216"/>
              <a:ext cx="672" cy="480"/>
              <a:chOff x="1440" y="3216"/>
              <a:chExt cx="672" cy="480"/>
            </a:xfrm>
          </p:grpSpPr>
          <p:sp>
            <p:nvSpPr>
              <p:cNvPr id="13374" name="Line 17"/>
              <p:cNvSpPr>
                <a:spLocks noChangeShapeType="1"/>
              </p:cNvSpPr>
              <p:nvPr/>
            </p:nvSpPr>
            <p:spPr bwMode="auto">
              <a:xfrm>
                <a:off x="1440" y="3504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75" name="Line 18"/>
              <p:cNvSpPr>
                <a:spLocks noChangeShapeType="1"/>
              </p:cNvSpPr>
              <p:nvPr/>
            </p:nvSpPr>
            <p:spPr bwMode="auto">
              <a:xfrm>
                <a:off x="1440" y="32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76" name="Line 19"/>
              <p:cNvSpPr>
                <a:spLocks noChangeShapeType="1"/>
              </p:cNvSpPr>
              <p:nvPr/>
            </p:nvSpPr>
            <p:spPr bwMode="auto">
              <a:xfrm>
                <a:off x="2112" y="321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373" name="Text Box 20"/>
            <p:cNvSpPr txBox="1">
              <a:spLocks noChangeArrowheads="1"/>
            </p:cNvSpPr>
            <p:nvPr/>
          </p:nvSpPr>
          <p:spPr bwMode="auto">
            <a:xfrm>
              <a:off x="1584" y="3504"/>
              <a:ext cx="43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1400">
                  <a:latin typeface="Times New Roman" panose="02020603050405020304" pitchFamily="18" charset="0"/>
                </a:rPr>
                <a:t>30 mm</a:t>
              </a:r>
            </a:p>
          </p:txBody>
        </p:sp>
      </p:grpSp>
      <p:sp>
        <p:nvSpPr>
          <p:cNvPr id="15381" name="Line 21"/>
          <p:cNvSpPr>
            <a:spLocks noChangeShapeType="1"/>
          </p:cNvSpPr>
          <p:nvPr/>
        </p:nvSpPr>
        <p:spPr bwMode="auto">
          <a:xfrm>
            <a:off x="4267200" y="37338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2" name="Line 22"/>
          <p:cNvSpPr>
            <a:spLocks noChangeShapeType="1"/>
          </p:cNvSpPr>
          <p:nvPr/>
        </p:nvSpPr>
        <p:spPr bwMode="auto">
          <a:xfrm flipV="1">
            <a:off x="4267200" y="838200"/>
            <a:ext cx="0" cy="28956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3" name="Oval 23"/>
          <p:cNvSpPr>
            <a:spLocks noChangeArrowheads="1"/>
          </p:cNvSpPr>
          <p:nvPr/>
        </p:nvSpPr>
        <p:spPr bwMode="auto">
          <a:xfrm>
            <a:off x="42291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5384" name="Oval 24"/>
          <p:cNvSpPr>
            <a:spLocks noChangeArrowheads="1"/>
          </p:cNvSpPr>
          <p:nvPr/>
        </p:nvSpPr>
        <p:spPr bwMode="auto">
          <a:xfrm>
            <a:off x="42291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5385" name="Oval 25"/>
          <p:cNvSpPr>
            <a:spLocks noChangeArrowheads="1"/>
          </p:cNvSpPr>
          <p:nvPr/>
        </p:nvSpPr>
        <p:spPr bwMode="auto">
          <a:xfrm>
            <a:off x="4229100" y="4800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5386" name="Oval 26"/>
          <p:cNvSpPr>
            <a:spLocks noChangeArrowheads="1"/>
          </p:cNvSpPr>
          <p:nvPr/>
        </p:nvSpPr>
        <p:spPr bwMode="auto">
          <a:xfrm>
            <a:off x="3886200" y="36957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5387" name="Oval 27"/>
          <p:cNvSpPr>
            <a:spLocks noChangeArrowheads="1"/>
          </p:cNvSpPr>
          <p:nvPr/>
        </p:nvSpPr>
        <p:spPr bwMode="auto">
          <a:xfrm>
            <a:off x="3552825" y="36957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5388" name="Text Box 28"/>
          <p:cNvSpPr txBox="1">
            <a:spLocks noChangeArrowheads="1"/>
          </p:cNvSpPr>
          <p:nvPr/>
        </p:nvSpPr>
        <p:spPr bwMode="auto">
          <a:xfrm>
            <a:off x="4238625" y="39624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389" name="Text Box 29"/>
          <p:cNvSpPr txBox="1">
            <a:spLocks noChangeArrowheads="1"/>
          </p:cNvSpPr>
          <p:nvPr/>
        </p:nvSpPr>
        <p:spPr bwMode="auto">
          <a:xfrm>
            <a:off x="4238625" y="43434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390" name="Text Box 30"/>
          <p:cNvSpPr txBox="1">
            <a:spLocks noChangeArrowheads="1"/>
          </p:cNvSpPr>
          <p:nvPr/>
        </p:nvSpPr>
        <p:spPr bwMode="auto">
          <a:xfrm>
            <a:off x="4238625" y="473392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5391" name="Text Box 31"/>
          <p:cNvSpPr txBox="1">
            <a:spLocks noChangeArrowheads="1"/>
          </p:cNvSpPr>
          <p:nvPr/>
        </p:nvSpPr>
        <p:spPr bwMode="auto">
          <a:xfrm>
            <a:off x="3686175" y="34861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0033CC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392" name="Text Box 32"/>
          <p:cNvSpPr txBox="1">
            <a:spLocks noChangeArrowheads="1"/>
          </p:cNvSpPr>
          <p:nvPr/>
        </p:nvSpPr>
        <p:spPr bwMode="auto">
          <a:xfrm>
            <a:off x="3343275" y="34861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0033CC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393" name="Line 33"/>
          <p:cNvSpPr>
            <a:spLocks noChangeShapeType="1"/>
          </p:cNvSpPr>
          <p:nvPr/>
        </p:nvSpPr>
        <p:spPr bwMode="auto">
          <a:xfrm flipV="1">
            <a:off x="3200400" y="3733800"/>
            <a:ext cx="1371600" cy="1447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4" name="Line 34"/>
          <p:cNvSpPr>
            <a:spLocks noChangeShapeType="1"/>
          </p:cNvSpPr>
          <p:nvPr/>
        </p:nvSpPr>
        <p:spPr bwMode="auto">
          <a:xfrm flipV="1">
            <a:off x="3200400" y="3733800"/>
            <a:ext cx="2209800" cy="1447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5" name="Line 35"/>
          <p:cNvSpPr>
            <a:spLocks noChangeShapeType="1"/>
          </p:cNvSpPr>
          <p:nvPr/>
        </p:nvSpPr>
        <p:spPr bwMode="auto">
          <a:xfrm flipV="1">
            <a:off x="3200400" y="3733800"/>
            <a:ext cx="4343400" cy="1447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6" name="Line 36"/>
          <p:cNvSpPr>
            <a:spLocks noChangeShapeType="1"/>
          </p:cNvSpPr>
          <p:nvPr/>
        </p:nvSpPr>
        <p:spPr bwMode="auto">
          <a:xfrm flipV="1">
            <a:off x="3200400" y="3048000"/>
            <a:ext cx="1066800" cy="21336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7" name="Line 37"/>
          <p:cNvSpPr>
            <a:spLocks noChangeShapeType="1"/>
          </p:cNvSpPr>
          <p:nvPr/>
        </p:nvSpPr>
        <p:spPr bwMode="auto">
          <a:xfrm flipV="1">
            <a:off x="3200400" y="1295400"/>
            <a:ext cx="1066800" cy="3886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8" name="Text Box 38"/>
          <p:cNvSpPr txBox="1">
            <a:spLocks noChangeArrowheads="1"/>
          </p:cNvSpPr>
          <p:nvPr/>
        </p:nvSpPr>
        <p:spPr bwMode="auto">
          <a:xfrm>
            <a:off x="4572000" y="35052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399" name="Text Box 39"/>
          <p:cNvSpPr txBox="1">
            <a:spLocks noChangeArrowheads="1"/>
          </p:cNvSpPr>
          <p:nvPr/>
        </p:nvSpPr>
        <p:spPr bwMode="auto">
          <a:xfrm>
            <a:off x="5410200" y="35052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400" name="Text Box 40"/>
          <p:cNvSpPr txBox="1">
            <a:spLocks noChangeArrowheads="1"/>
          </p:cNvSpPr>
          <p:nvPr/>
        </p:nvSpPr>
        <p:spPr bwMode="auto">
          <a:xfrm>
            <a:off x="7467600" y="350520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5401" name="Text Box 41"/>
          <p:cNvSpPr txBox="1">
            <a:spLocks noChangeArrowheads="1"/>
          </p:cNvSpPr>
          <p:nvPr/>
        </p:nvSpPr>
        <p:spPr bwMode="auto">
          <a:xfrm>
            <a:off x="4057650" y="2800350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0033CC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402" name="Text Box 42"/>
          <p:cNvSpPr txBox="1">
            <a:spLocks noChangeArrowheads="1"/>
          </p:cNvSpPr>
          <p:nvPr/>
        </p:nvSpPr>
        <p:spPr bwMode="auto">
          <a:xfrm>
            <a:off x="4038600" y="1057275"/>
            <a:ext cx="273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0033CC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403" name="Line 43"/>
          <p:cNvSpPr>
            <a:spLocks noChangeShapeType="1"/>
          </p:cNvSpPr>
          <p:nvPr/>
        </p:nvSpPr>
        <p:spPr bwMode="auto">
          <a:xfrm>
            <a:off x="4572000" y="3733800"/>
            <a:ext cx="0" cy="3810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4" name="Line 44"/>
          <p:cNvSpPr>
            <a:spLocks noChangeShapeType="1"/>
          </p:cNvSpPr>
          <p:nvPr/>
        </p:nvSpPr>
        <p:spPr bwMode="auto">
          <a:xfrm>
            <a:off x="5410200" y="3733800"/>
            <a:ext cx="0" cy="685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5" name="Line 45"/>
          <p:cNvSpPr>
            <a:spLocks noChangeShapeType="1"/>
          </p:cNvSpPr>
          <p:nvPr/>
        </p:nvSpPr>
        <p:spPr bwMode="auto">
          <a:xfrm>
            <a:off x="7543800" y="3733800"/>
            <a:ext cx="0" cy="1219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6" name="Line 46"/>
          <p:cNvSpPr>
            <a:spLocks noChangeShapeType="1"/>
          </p:cNvSpPr>
          <p:nvPr/>
        </p:nvSpPr>
        <p:spPr bwMode="auto">
          <a:xfrm>
            <a:off x="4267200" y="4067175"/>
            <a:ext cx="381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7" name="Line 47"/>
          <p:cNvSpPr>
            <a:spLocks noChangeShapeType="1"/>
          </p:cNvSpPr>
          <p:nvPr/>
        </p:nvSpPr>
        <p:spPr bwMode="auto">
          <a:xfrm>
            <a:off x="4267200" y="4457700"/>
            <a:ext cx="1143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8" name="Line 48"/>
          <p:cNvSpPr>
            <a:spLocks noChangeShapeType="1"/>
          </p:cNvSpPr>
          <p:nvPr/>
        </p:nvSpPr>
        <p:spPr bwMode="auto">
          <a:xfrm>
            <a:off x="4267200" y="4829175"/>
            <a:ext cx="32766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9" name="Oval 49"/>
          <p:cNvSpPr>
            <a:spLocks noChangeArrowheads="1"/>
          </p:cNvSpPr>
          <p:nvPr/>
        </p:nvSpPr>
        <p:spPr bwMode="auto">
          <a:xfrm>
            <a:off x="4533900" y="401955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5410" name="Oval 50"/>
          <p:cNvSpPr>
            <a:spLocks noChangeArrowheads="1"/>
          </p:cNvSpPr>
          <p:nvPr/>
        </p:nvSpPr>
        <p:spPr bwMode="auto">
          <a:xfrm>
            <a:off x="5362575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5411" name="Oval 51"/>
          <p:cNvSpPr>
            <a:spLocks noChangeArrowheads="1"/>
          </p:cNvSpPr>
          <p:nvPr/>
        </p:nvSpPr>
        <p:spPr bwMode="auto">
          <a:xfrm>
            <a:off x="7505700" y="47910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5412" name="Line 52"/>
          <p:cNvSpPr>
            <a:spLocks noChangeShapeType="1"/>
          </p:cNvSpPr>
          <p:nvPr/>
        </p:nvSpPr>
        <p:spPr bwMode="auto">
          <a:xfrm flipV="1">
            <a:off x="3914775" y="3048000"/>
            <a:ext cx="0" cy="685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3" name="Line 53"/>
          <p:cNvSpPr>
            <a:spLocks noChangeShapeType="1"/>
          </p:cNvSpPr>
          <p:nvPr/>
        </p:nvSpPr>
        <p:spPr bwMode="auto">
          <a:xfrm flipV="1">
            <a:off x="3581400" y="1295400"/>
            <a:ext cx="0" cy="2438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4" name="Line 54"/>
          <p:cNvSpPr>
            <a:spLocks noChangeShapeType="1"/>
          </p:cNvSpPr>
          <p:nvPr/>
        </p:nvSpPr>
        <p:spPr bwMode="auto">
          <a:xfrm flipH="1">
            <a:off x="3886200" y="3048000"/>
            <a:ext cx="381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5" name="Line 55"/>
          <p:cNvSpPr>
            <a:spLocks noChangeShapeType="1"/>
          </p:cNvSpPr>
          <p:nvPr/>
        </p:nvSpPr>
        <p:spPr bwMode="auto">
          <a:xfrm flipH="1">
            <a:off x="3505200" y="1295400"/>
            <a:ext cx="762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6" name="Oval 56"/>
          <p:cNvSpPr>
            <a:spLocks noChangeArrowheads="1"/>
          </p:cNvSpPr>
          <p:nvPr/>
        </p:nvSpPr>
        <p:spPr bwMode="auto">
          <a:xfrm>
            <a:off x="3867150" y="30003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5417" name="Oval 57"/>
          <p:cNvSpPr>
            <a:spLocks noChangeArrowheads="1"/>
          </p:cNvSpPr>
          <p:nvPr/>
        </p:nvSpPr>
        <p:spPr bwMode="auto">
          <a:xfrm>
            <a:off x="3533775" y="12573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5418" name="Arc 58"/>
          <p:cNvSpPr>
            <a:spLocks/>
          </p:cNvSpPr>
          <p:nvPr/>
        </p:nvSpPr>
        <p:spPr bwMode="auto">
          <a:xfrm rot="10790053">
            <a:off x="3554413" y="1030288"/>
            <a:ext cx="1311275" cy="2717800"/>
          </a:xfrm>
          <a:custGeom>
            <a:avLst/>
            <a:gdLst>
              <a:gd name="T0" fmla="*/ 596205 w 21600"/>
              <a:gd name="T1" fmla="*/ 0 h 19238"/>
              <a:gd name="T2" fmla="*/ 1311275 w 21600"/>
              <a:gd name="T3" fmla="*/ 2717800 h 19238"/>
              <a:gd name="T4" fmla="*/ 0 w 21600"/>
              <a:gd name="T5" fmla="*/ 2717800 h 1923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9238" fill="none" extrusionOk="0">
                <a:moveTo>
                  <a:pt x="9821" y="-1"/>
                </a:moveTo>
                <a:cubicBezTo>
                  <a:pt x="17050" y="3690"/>
                  <a:pt x="21600" y="11121"/>
                  <a:pt x="21600" y="19238"/>
                </a:cubicBezTo>
              </a:path>
              <a:path w="21600" h="19238" stroke="0" extrusionOk="0">
                <a:moveTo>
                  <a:pt x="9821" y="-1"/>
                </a:moveTo>
                <a:cubicBezTo>
                  <a:pt x="17050" y="3690"/>
                  <a:pt x="21600" y="11121"/>
                  <a:pt x="21600" y="19238"/>
                </a:cubicBezTo>
                <a:lnTo>
                  <a:pt x="0" y="19238"/>
                </a:lnTo>
                <a:lnTo>
                  <a:pt x="9821" y="-1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19" name="Arc 59"/>
          <p:cNvSpPr>
            <a:spLocks/>
          </p:cNvSpPr>
          <p:nvPr/>
        </p:nvSpPr>
        <p:spPr bwMode="auto">
          <a:xfrm rot="16271548" flipH="1">
            <a:off x="5240337" y="2420938"/>
            <a:ext cx="1355725" cy="3371850"/>
          </a:xfrm>
          <a:custGeom>
            <a:avLst/>
            <a:gdLst>
              <a:gd name="T0" fmla="*/ 298071 w 21600"/>
              <a:gd name="T1" fmla="*/ 0 h 21071"/>
              <a:gd name="T2" fmla="*/ 1355725 w 21600"/>
              <a:gd name="T3" fmla="*/ 3371850 h 21071"/>
              <a:gd name="T4" fmla="*/ 0 w 21600"/>
              <a:gd name="T5" fmla="*/ 3371850 h 210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071" fill="none" extrusionOk="0">
                <a:moveTo>
                  <a:pt x="4749" y="-1"/>
                </a:moveTo>
                <a:cubicBezTo>
                  <a:pt x="14601" y="2220"/>
                  <a:pt x="21600" y="10971"/>
                  <a:pt x="21600" y="21071"/>
                </a:cubicBezTo>
              </a:path>
              <a:path w="21600" h="21071" stroke="0" extrusionOk="0">
                <a:moveTo>
                  <a:pt x="4749" y="-1"/>
                </a:moveTo>
                <a:cubicBezTo>
                  <a:pt x="14601" y="2220"/>
                  <a:pt x="21600" y="10971"/>
                  <a:pt x="21600" y="21071"/>
                </a:cubicBezTo>
                <a:lnTo>
                  <a:pt x="0" y="21071"/>
                </a:lnTo>
                <a:lnTo>
                  <a:pt x="4749" y="-1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62" name="Text Box 60"/>
          <p:cNvSpPr txBox="1">
            <a:spLocks noChangeArrowheads="1"/>
          </p:cNvSpPr>
          <p:nvPr/>
        </p:nvSpPr>
        <p:spPr bwMode="auto">
          <a:xfrm>
            <a:off x="6321425" y="76200"/>
            <a:ext cx="2614613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b="1" u="sng">
                <a:solidFill>
                  <a:srgbClr val="FF0066"/>
                </a:solidFill>
                <a:latin typeface="Times New Roman" panose="02020603050405020304" pitchFamily="18" charset="0"/>
              </a:rPr>
              <a:t>HYPERBOLA</a:t>
            </a:r>
          </a:p>
          <a:p>
            <a:pPr algn="ctr"/>
            <a:r>
              <a:rPr lang="en-US" sz="1400" b="1" u="sng">
                <a:solidFill>
                  <a:schemeClr val="accent2"/>
                </a:solidFill>
                <a:latin typeface="Times New Roman" panose="02020603050405020304" pitchFamily="18" charset="0"/>
              </a:rPr>
              <a:t>THROUGH A POINT </a:t>
            </a:r>
          </a:p>
          <a:p>
            <a:pPr algn="ctr"/>
            <a:r>
              <a:rPr lang="en-US" sz="1400" b="1" u="sng">
                <a:solidFill>
                  <a:schemeClr val="accent2"/>
                </a:solidFill>
                <a:latin typeface="Times New Roman" panose="02020603050405020304" pitchFamily="18" charset="0"/>
              </a:rPr>
              <a:t>OF KNOWN CO-ORDINATES</a:t>
            </a:r>
          </a:p>
        </p:txBody>
      </p:sp>
      <p:sp>
        <p:nvSpPr>
          <p:cNvPr id="15421" name="Rectangle 61"/>
          <p:cNvSpPr>
            <a:spLocks noChangeArrowheads="1"/>
          </p:cNvSpPr>
          <p:nvPr/>
        </p:nvSpPr>
        <p:spPr bwMode="auto">
          <a:xfrm>
            <a:off x="228601" y="741363"/>
            <a:ext cx="2133599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 i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Steps:</a:t>
            </a:r>
            <a:endParaRPr lang="en-US" sz="14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horizontal line from P to right side. 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vertical line from P upward.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horizontal line from P, mark some points taking any distance and name them after P-1, 2,3,4 etc.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1-2-3-4 points to pole O. Let them cut part [P-B] also at 1,2,3,4 points.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horizontal 1,2,3,4 draw vertical lines downwards and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vertical 1,2,3,4 points  [from P-B] draw horizontal lines.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from 1 horizontal and line from 1 vertical will meet at P</a:t>
            </a:r>
            <a:r>
              <a:rPr lang="en-US" sz="12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.Similarly mark P</a:t>
            </a:r>
            <a:r>
              <a:rPr lang="en-US" sz="12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</a:t>
            </a:r>
            <a:r>
              <a:rPr lang="en-US" sz="12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</a:t>
            </a:r>
            <a:r>
              <a:rPr lang="en-US" sz="12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8)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the procedure by marking four points on upward vertical line from P and joining all those to pole O. Name this points P</a:t>
            </a:r>
            <a:r>
              <a:rPr lang="en-US" sz="12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</a:t>
            </a:r>
            <a:r>
              <a:rPr lang="en-US" sz="12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</a:t>
            </a:r>
            <a:r>
              <a:rPr lang="en-US" sz="12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 and join them by smooth curve.</a:t>
            </a:r>
          </a:p>
          <a:p>
            <a:endParaRPr 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5422" name="Text Box 62"/>
          <p:cNvSpPr txBox="1">
            <a:spLocks noChangeArrowheads="1"/>
          </p:cNvSpPr>
          <p:nvPr/>
        </p:nvSpPr>
        <p:spPr bwMode="auto">
          <a:xfrm>
            <a:off x="365125" y="163513"/>
            <a:ext cx="468947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b="1">
                <a:solidFill>
                  <a:srgbClr val="FF0066"/>
                </a:solidFill>
                <a:latin typeface="Times New Roman" panose="02020603050405020304" pitchFamily="18" charset="0"/>
              </a:rPr>
              <a:t>Problem No.10:</a:t>
            </a:r>
            <a:r>
              <a:rPr lang="en-US" sz="1400">
                <a:latin typeface="Times New Roman" panose="02020603050405020304" pitchFamily="18" charset="0"/>
              </a:rPr>
              <a:t> Point P is 40 mm and 30 mm from horizontal </a:t>
            </a:r>
          </a:p>
          <a:p>
            <a:r>
              <a:rPr lang="en-US" sz="1400">
                <a:latin typeface="Times New Roman" panose="02020603050405020304" pitchFamily="18" charset="0"/>
              </a:rPr>
              <a:t>and vertical axes respectively.Draw Hyperbola through it. </a:t>
            </a:r>
          </a:p>
        </p:txBody>
      </p:sp>
      <p:grpSp>
        <p:nvGrpSpPr>
          <p:cNvPr id="13365" name="Group 63"/>
          <p:cNvGrpSpPr>
            <a:grpSpLocks/>
          </p:cNvGrpSpPr>
          <p:nvPr/>
        </p:nvGrpSpPr>
        <p:grpSpPr bwMode="auto">
          <a:xfrm>
            <a:off x="8016875" y="6629400"/>
            <a:ext cx="1096963" cy="182563"/>
            <a:chOff x="5050" y="29"/>
            <a:chExt cx="691" cy="115"/>
          </a:xfrm>
        </p:grpSpPr>
        <p:sp>
          <p:nvSpPr>
            <p:cNvPr id="13366" name="AutoShape 64">
              <a:hlinkClick r:id="rId2" action="ppaction://hlinksldjump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050" y="29"/>
              <a:ext cx="115" cy="115"/>
            </a:xfrm>
            <a:prstGeom prst="actionButtonHome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3367" name="AutoShape 65">
              <a:hlinkClick r:id="" action="ppaction://hlinkshowjump?jump=previous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280" y="29"/>
              <a:ext cx="116" cy="115"/>
            </a:xfrm>
            <a:prstGeom prst="actionButtonBackPrevious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3368" name="AutoShape 66">
              <a:hlinkClick r:id="" action="ppaction://hlinkshowjump?jump=nex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396" y="29"/>
              <a:ext cx="115" cy="115"/>
            </a:xfrm>
            <a:prstGeom prst="actionButtonForwardNex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3369" name="AutoShape 67">
              <a:hlinkClick r:id="" action="ppaction://hlinkshowjump?jump=fir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165" y="29"/>
              <a:ext cx="115" cy="115"/>
            </a:xfrm>
            <a:prstGeom prst="actionButtonBeginning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3370" name="AutoShape 68">
              <a:hlinkClick r:id="" action="ppaction://hlinkshowjump?jump=lastslide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511" y="29"/>
              <a:ext cx="115" cy="115"/>
            </a:xfrm>
            <a:prstGeom prst="actionButtonEnd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13371" name="AutoShape 69">
              <a:hlinkClick r:id="" action="ppaction://hlinkshowjump?jump=endshow" highlightClick="1"/>
            </p:cNvPr>
            <p:cNvSpPr>
              <a:spLocks noChangeAspect="1" noChangeArrowheads="1"/>
            </p:cNvSpPr>
            <p:nvPr/>
          </p:nvSpPr>
          <p:spPr bwMode="auto">
            <a:xfrm>
              <a:off x="5626" y="29"/>
              <a:ext cx="115" cy="115"/>
            </a:xfrm>
            <a:prstGeom prst="actionButtonBlank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375486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5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5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5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5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5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5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5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5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5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5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5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5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5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5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5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5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5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5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5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5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9" dur="5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4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9" dur="5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4" dur="500"/>
                                        <p:tgtEl>
                                          <p:spTgt spid="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9" dur="500"/>
                                        <p:tgtEl>
                                          <p:spTgt spid="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15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5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5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15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5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15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5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5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15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5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15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15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15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15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5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5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5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15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15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5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5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15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15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15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15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15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15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15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15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15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5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5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15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15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15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 nodeType="clickPar">
                      <p:stCondLst>
                        <p:cond delay="indefinite"/>
                      </p:stCondLst>
                      <p:childTnLst>
                        <p:par>
                          <p:cTn id="2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6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15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15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 nodeType="clickPar">
                      <p:stCondLst>
                        <p:cond delay="indefinite"/>
                      </p:stCondLst>
                      <p:childTnLst>
                        <p:par>
                          <p:cTn id="2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2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15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15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15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15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15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15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8" dur="500" fill="hold"/>
                                        <p:tgtEl>
                                          <p:spTgt spid="15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15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15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15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Par">
                      <p:stCondLst>
                        <p:cond delay="indefinite"/>
                      </p:stCondLst>
                      <p:childTnLst>
                        <p:par>
                          <p:cTn id="2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4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15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15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5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5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 nodeType="clickPar">
                      <p:stCondLst>
                        <p:cond delay="indefinite"/>
                      </p:stCondLst>
                      <p:childTnLst>
                        <p:par>
                          <p:cTn id="3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15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500" fill="hold"/>
                                        <p:tgtEl>
                                          <p:spTgt spid="1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500" fill="hold"/>
                                        <p:tgtEl>
                                          <p:spTgt spid="15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500" fill="hold"/>
                                        <p:tgtEl>
                                          <p:spTgt spid="15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 nodeType="clickPar">
                      <p:stCondLst>
                        <p:cond delay="indefinite"/>
                      </p:stCondLst>
                      <p:childTnLst>
                        <p:par>
                          <p:cTn id="3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2" dur="500" fill="hold"/>
                                        <p:tgtEl>
                                          <p:spTgt spid="15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15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 nodeType="clickPar">
                      <p:stCondLst>
                        <p:cond delay="indefinite"/>
                      </p:stCondLst>
                      <p:childTnLst>
                        <p:par>
                          <p:cTn id="3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6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15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15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 nodeType="clickPar">
                      <p:stCondLst>
                        <p:cond delay="indefinite"/>
                      </p:stCondLst>
                      <p:childTnLst>
                        <p:par>
                          <p:cTn id="3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4" dur="500"/>
                                        <p:tgtEl>
                                          <p:spTgt spid="1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 nodeType="clickPar">
                      <p:stCondLst>
                        <p:cond delay="indefinite"/>
                      </p:stCondLst>
                      <p:childTnLst>
                        <p:par>
                          <p:cTn id="3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9" dur="500"/>
                                        <p:tgtEl>
                                          <p:spTgt spid="1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nimBg="1"/>
      <p:bldP spid="15363" grpId="0" animBg="1"/>
      <p:bldP spid="15364" grpId="0" animBg="1"/>
      <p:bldP spid="15365" grpId="0" animBg="1"/>
      <p:bldP spid="15366" grpId="0" animBg="1"/>
      <p:bldP spid="15367" grpId="0" autoUpdateAnimBg="0"/>
      <p:bldP spid="15368" grpId="0" autoUpdateAnimBg="0"/>
      <p:bldP spid="15381" grpId="0" animBg="1"/>
      <p:bldP spid="15382" grpId="0" animBg="1"/>
      <p:bldP spid="15383" grpId="0" animBg="1"/>
      <p:bldP spid="15384" grpId="0" animBg="1"/>
      <p:bldP spid="15385" grpId="0" animBg="1"/>
      <p:bldP spid="15386" grpId="0" animBg="1"/>
      <p:bldP spid="15387" grpId="0" animBg="1"/>
      <p:bldP spid="15388" grpId="0" autoUpdateAnimBg="0"/>
      <p:bldP spid="15389" grpId="0" autoUpdateAnimBg="0"/>
      <p:bldP spid="15390" grpId="0" autoUpdateAnimBg="0"/>
      <p:bldP spid="15391" grpId="0" autoUpdateAnimBg="0"/>
      <p:bldP spid="15392" grpId="0" autoUpdateAnimBg="0"/>
      <p:bldP spid="15393" grpId="0" animBg="1"/>
      <p:bldP spid="15394" grpId="0" animBg="1"/>
      <p:bldP spid="15395" grpId="0" animBg="1"/>
      <p:bldP spid="15396" grpId="0" animBg="1"/>
      <p:bldP spid="15397" grpId="0" animBg="1"/>
      <p:bldP spid="15398" grpId="0" autoUpdateAnimBg="0"/>
      <p:bldP spid="15399" grpId="0" autoUpdateAnimBg="0"/>
      <p:bldP spid="15400" grpId="0" autoUpdateAnimBg="0"/>
      <p:bldP spid="15401" grpId="0" autoUpdateAnimBg="0"/>
      <p:bldP spid="15402" grpId="0" autoUpdateAnimBg="0"/>
      <p:bldP spid="15403" grpId="0" animBg="1"/>
      <p:bldP spid="15404" grpId="0" animBg="1"/>
      <p:bldP spid="15405" grpId="0" animBg="1"/>
      <p:bldP spid="15406" grpId="0" animBg="1"/>
      <p:bldP spid="15407" grpId="0" animBg="1"/>
      <p:bldP spid="15408" grpId="0" animBg="1"/>
      <p:bldP spid="15409" grpId="0" animBg="1"/>
      <p:bldP spid="15410" grpId="0" animBg="1"/>
      <p:bldP spid="15411" grpId="0" animBg="1"/>
      <p:bldP spid="15412" grpId="0" animBg="1"/>
      <p:bldP spid="15413" grpId="0" animBg="1"/>
      <p:bldP spid="15414" grpId="0" animBg="1"/>
      <p:bldP spid="15415" grpId="0" animBg="1"/>
      <p:bldP spid="15416" grpId="0" animBg="1"/>
      <p:bldP spid="15417" grpId="0" animBg="1"/>
      <p:bldP spid="15418" grpId="0" animBg="1"/>
      <p:bldP spid="15419" grpId="0" animBg="1"/>
      <p:bldP spid="15421" grpId="0" autoUpdateAnimBg="0"/>
      <p:bldP spid="15422" grpId="0" autoUpdateAnimBg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gif"/></Relationships>
</file>

<file path=ppt/theme/theme1.xml><?xml version="1.0" encoding="utf-8"?>
<a:theme xmlns:a="http://schemas.openxmlformats.org/drawingml/2006/main" name="Default Design">
  <a:themeElements>
    <a:clrScheme name="Default Design 9">
      <a:dk1>
        <a:srgbClr val="000000"/>
      </a:dk1>
      <a:lt1>
        <a:srgbClr val="000000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just" defTabSz="914400" rtl="0" eaLnBrk="1" fontAlgn="base" latinLnBrk="0" hangingPunct="1">
          <a:lnSpc>
            <a:spcPct val="130000"/>
          </a:lnSpc>
          <a:spcBef>
            <a:spcPct val="50000"/>
          </a:spcBef>
          <a:spcAft>
            <a:spcPct val="0"/>
          </a:spcAft>
          <a:buClrTx/>
          <a:buSzTx/>
          <a:buFontTx/>
          <a:buBlip>
            <a:blip xmlns:r="http://schemas.openxmlformats.org/officeDocument/2006/relationships" r:embed="rId1"/>
          </a:buBlip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rgbClr val="6E4B8B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just" defTabSz="914400" rtl="0" eaLnBrk="1" fontAlgn="base" latinLnBrk="0" hangingPunct="1">
          <a:lnSpc>
            <a:spcPct val="130000"/>
          </a:lnSpc>
          <a:spcBef>
            <a:spcPct val="50000"/>
          </a:spcBef>
          <a:spcAft>
            <a:spcPct val="0"/>
          </a:spcAft>
          <a:buClrTx/>
          <a:buSzTx/>
          <a:buFontTx/>
          <a:buBlip>
            <a:blip xmlns:r="http://schemas.openxmlformats.org/officeDocument/2006/relationships" r:embed="rId1"/>
          </a:buBlip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rgbClr val="6E4B8B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000000"/>
        </a:dk1>
        <a:lt1>
          <a:srgbClr val="000000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AAAAAA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3289</TotalTime>
  <Words>2695</Words>
  <Application>Microsoft Office PowerPoint</Application>
  <PresentationFormat>On-screen Show (4:3)</PresentationFormat>
  <Paragraphs>583</Paragraphs>
  <Slides>37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9" baseType="lpstr">
      <vt:lpstr>Default Design</vt:lpstr>
      <vt:lpstr>Bitmap Image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D.D.I.T.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Mechanical Dept.</dc:creator>
  <cp:lastModifiedBy>Nit-5</cp:lastModifiedBy>
  <cp:revision>386</cp:revision>
  <dcterms:created xsi:type="dcterms:W3CDTF">2001-07-11T10:43:16Z</dcterms:created>
  <dcterms:modified xsi:type="dcterms:W3CDTF">2020-11-27T09:58:17Z</dcterms:modified>
</cp:coreProperties>
</file>